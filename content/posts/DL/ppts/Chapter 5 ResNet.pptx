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notesMasterIdLst>
    <p:notesMasterId r:id="rId47"/>
  </p:notesMasterIdLst>
  <p:sldIdLst>
    <p:sldId id="256" r:id="rId2"/>
    <p:sldId id="259" r:id="rId3"/>
    <p:sldId id="261" r:id="rId4"/>
    <p:sldId id="262" r:id="rId5"/>
    <p:sldId id="263" r:id="rId6"/>
    <p:sldId id="264" r:id="rId7"/>
    <p:sldId id="267" r:id="rId8"/>
    <p:sldId id="269" r:id="rId9"/>
    <p:sldId id="265" r:id="rId10"/>
    <p:sldId id="268" r:id="rId11"/>
    <p:sldId id="272" r:id="rId12"/>
    <p:sldId id="273" r:id="rId13"/>
    <p:sldId id="274" r:id="rId14"/>
    <p:sldId id="275" r:id="rId15"/>
    <p:sldId id="278" r:id="rId16"/>
    <p:sldId id="277" r:id="rId17"/>
    <p:sldId id="276" r:id="rId18"/>
    <p:sldId id="280" r:id="rId19"/>
    <p:sldId id="281" r:id="rId20"/>
    <p:sldId id="279" r:id="rId21"/>
    <p:sldId id="282" r:id="rId22"/>
    <p:sldId id="285" r:id="rId23"/>
    <p:sldId id="286" r:id="rId24"/>
    <p:sldId id="287" r:id="rId25"/>
    <p:sldId id="288" r:id="rId26"/>
    <p:sldId id="289" r:id="rId27"/>
    <p:sldId id="290" r:id="rId28"/>
    <p:sldId id="284" r:id="rId29"/>
    <p:sldId id="301" r:id="rId30"/>
    <p:sldId id="306" r:id="rId31"/>
    <p:sldId id="305" r:id="rId32"/>
    <p:sldId id="302" r:id="rId33"/>
    <p:sldId id="303" r:id="rId34"/>
    <p:sldId id="304" r:id="rId35"/>
    <p:sldId id="283" r:id="rId36"/>
    <p:sldId id="291" r:id="rId37"/>
    <p:sldId id="292" r:id="rId38"/>
    <p:sldId id="293" r:id="rId39"/>
    <p:sldId id="294" r:id="rId40"/>
    <p:sldId id="295" r:id="rId41"/>
    <p:sldId id="297" r:id="rId42"/>
    <p:sldId id="298" r:id="rId43"/>
    <p:sldId id="296" r:id="rId44"/>
    <p:sldId id="299" r:id="rId45"/>
    <p:sldId id="300" r:id="rId4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C89EF96-8CEA-46FF-86C4-4CE0E7609802}" styleName="淺色樣式 3 - 輔色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E8B1032C-EA38-4F05-BA0D-38AFFFC7BED3}" styleName="淺色樣式 3 - 輔色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9CF1AB2-1976-4502-BF36-3FF5EA218861}" styleName="中等深淺樣式 4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B4B98B0-60AC-42C2-AFA5-B58CD77FA1E5}" styleName="淺色樣式 1 - 輔色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436" autoAdjust="0"/>
    <p:restoredTop sz="94660"/>
  </p:normalViewPr>
  <p:slideViewPr>
    <p:cSldViewPr snapToGrid="0">
      <p:cViewPr varScale="1">
        <p:scale>
          <a:sx n="107" d="100"/>
          <a:sy n="107" d="100"/>
        </p:scale>
        <p:origin x="176" y="264"/>
      </p:cViewPr>
      <p:guideLst/>
    </p:cSldViewPr>
  </p:slideViewPr>
  <p:notesTextViewPr>
    <p:cViewPr>
      <p:scale>
        <a:sx n="1" d="1"/>
        <a:sy n="1" d="1"/>
      </p:scale>
      <p:origin x="0" y="0"/>
    </p:cViewPr>
  </p:notesTextViewPr>
  <p:notesViewPr>
    <p:cSldViewPr snapToGrid="0">
      <p:cViewPr varScale="1">
        <p:scale>
          <a:sx n="73" d="100"/>
          <a:sy n="73" d="100"/>
        </p:scale>
        <p:origin x="3216" y="1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D5E851-B301-8440-A31A-2666B5099906}" type="datetimeFigureOut">
              <a:rPr kumimoji="1" lang="zh-TW" altLang="en-US" smtClean="0"/>
              <a:t>2026/5/6</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7913E7-7146-234E-81D5-B698B33CD06E}" type="slidenum">
              <a:rPr kumimoji="1" lang="zh-TW" altLang="en-US" smtClean="0"/>
              <a:t>‹#›</a:t>
            </a:fld>
            <a:endParaRPr kumimoji="1" lang="zh-TW" altLang="en-US"/>
          </a:p>
        </p:txBody>
      </p:sp>
    </p:spTree>
    <p:extLst>
      <p:ext uri="{BB962C8B-B14F-4D97-AF65-F5344CB8AC3E}">
        <p14:creationId xmlns:p14="http://schemas.microsoft.com/office/powerpoint/2010/main" val="825726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r>
              <a:rPr lang="en-US" altLang="zh-TW"/>
              <a:t>Wilson Ren</a:t>
            </a:r>
            <a:endParaRPr lang="en-US" altLang="zh-TW"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a:xfrm>
            <a:off x="1097279" y="6446838"/>
            <a:ext cx="6818262"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a:xfrm>
            <a:off x="10993582" y="6446838"/>
            <a:ext cx="780010" cy="365125"/>
          </a:xfrm>
          <a:prstGeom prst="rect">
            <a:avLst/>
          </a:prstGeom>
        </p:spPr>
        <p:txBody>
          <a:bodyPr/>
          <a:lstStyle/>
          <a:p>
            <a:r>
              <a:rPr lang="en-US" altLang="zh-TW" dirty="0"/>
              <a:t>Deep Learning</a:t>
            </a:r>
          </a:p>
        </p:txBody>
      </p:sp>
      <p:sp>
        <p:nvSpPr>
          <p:cNvPr id="7" name="標題 6">
            <a:extLst>
              <a:ext uri="{FF2B5EF4-FFF2-40B4-BE49-F238E27FC236}">
                <a16:creationId xmlns:a16="http://schemas.microsoft.com/office/drawing/2014/main" id="{C3795BDB-1CA7-B881-D67A-FEC0E195553F}"/>
              </a:ext>
            </a:extLst>
          </p:cNvPr>
          <p:cNvSpPr>
            <a:spLocks noGrp="1"/>
          </p:cNvSpPr>
          <p:nvPr>
            <p:ph type="title"/>
          </p:nvPr>
        </p:nvSpPr>
        <p:spPr/>
        <p:txBody>
          <a:bodyPr/>
          <a:lstStyle/>
          <a:p>
            <a:r>
              <a:rPr kumimoji="1" lang="zh-TW" altLang="en-US"/>
              <a:t>按一下以編輯母片標題樣式</a:t>
            </a:r>
          </a:p>
        </p:txBody>
      </p:sp>
    </p:spTree>
    <p:extLst>
      <p:ext uri="{BB962C8B-B14F-4D97-AF65-F5344CB8AC3E}">
        <p14:creationId xmlns:p14="http://schemas.microsoft.com/office/powerpoint/2010/main" val="39603602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r>
              <a:rPr lang="en-US" altLang="zh-TW"/>
              <a:t>Wilson Ren</a:t>
            </a:r>
            <a:endParaRPr lang="en-US" altLang="zh-TW"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a:xfrm>
            <a:off x="1097279" y="6446838"/>
            <a:ext cx="6818262" cy="365125"/>
          </a:xfrm>
          <a:prstGeom prst="rect">
            <a:avLst/>
          </a:prstGeom>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a:xfrm>
            <a:off x="10993582" y="6446838"/>
            <a:ext cx="780010" cy="365125"/>
          </a:xfrm>
          <a:prstGeom prst="rect">
            <a:avLst/>
          </a:prstGeom>
        </p:spPr>
        <p:txBody>
          <a:bodyPr/>
          <a:lstStyle/>
          <a:p>
            <a:r>
              <a:rPr lang="en-US" altLang="zh-TW" dirty="0"/>
              <a:t>Deep Learning</a:t>
            </a:r>
          </a:p>
        </p:txBody>
      </p:sp>
    </p:spTree>
    <p:extLst>
      <p:ext uri="{BB962C8B-B14F-4D97-AF65-F5344CB8AC3E}">
        <p14:creationId xmlns:p14="http://schemas.microsoft.com/office/powerpoint/2010/main" val="3806969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r>
              <a:rPr lang="en-US" altLang="zh-TW"/>
              <a:t>Wilson Ren</a:t>
            </a:r>
            <a:endParaRPr lang="en-US" altLang="zh-TW"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a:xfrm>
            <a:off x="1097279" y="6446838"/>
            <a:ext cx="6818262" cy="365125"/>
          </a:xfrm>
          <a:prstGeom prst="rect">
            <a:avLst/>
          </a:prstGeom>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a:xfrm>
            <a:off x="10993582" y="6446838"/>
            <a:ext cx="780010" cy="365125"/>
          </a:xfrm>
          <a:prstGeom prst="rect">
            <a:avLst/>
          </a:prstGeom>
        </p:spPr>
        <p:txBody>
          <a:bodyPr/>
          <a:lstStyle/>
          <a:p>
            <a:r>
              <a:rPr lang="en-US" altLang="zh-TW" dirty="0"/>
              <a:t>Deep Learning</a:t>
            </a:r>
          </a:p>
        </p:txBody>
      </p:sp>
    </p:spTree>
    <p:extLst>
      <p:ext uri="{BB962C8B-B14F-4D97-AF65-F5344CB8AC3E}">
        <p14:creationId xmlns:p14="http://schemas.microsoft.com/office/powerpoint/2010/main" val="11092853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r>
              <a:rPr lang="en-US" altLang="zh-TW"/>
              <a:t>Wilson Ren</a:t>
            </a:r>
            <a:endParaRPr lang="en-US" altLang="zh-TW"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a:xfrm>
            <a:off x="1097279" y="6446838"/>
            <a:ext cx="6818262"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a:xfrm>
            <a:off x="10993582" y="6446838"/>
            <a:ext cx="780010" cy="365125"/>
          </a:xfrm>
          <a:prstGeom prst="rect">
            <a:avLst/>
          </a:prstGeom>
        </p:spPr>
        <p:txBody>
          <a:bodyPr/>
          <a:lstStyle/>
          <a:p>
            <a:r>
              <a:rPr lang="en-US" altLang="zh-TW" dirty="0"/>
              <a:t>Deep Learning</a:t>
            </a:r>
          </a:p>
        </p:txBody>
      </p:sp>
    </p:spTree>
    <p:extLst>
      <p:ext uri="{BB962C8B-B14F-4D97-AF65-F5344CB8AC3E}">
        <p14:creationId xmlns:p14="http://schemas.microsoft.com/office/powerpoint/2010/main" val="4850843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r>
              <a:rPr lang="en-US" altLang="zh-TW"/>
              <a:t>Wilson Ren</a:t>
            </a:r>
            <a:endParaRPr lang="en-US" altLang="zh-TW"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a:xfrm>
            <a:off x="1097279" y="6446838"/>
            <a:ext cx="6818262" cy="365125"/>
          </a:xfrm>
          <a:prstGeom prst="rect">
            <a:avLst/>
          </a:prstGeom>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a:xfrm>
            <a:off x="10993582" y="6446838"/>
            <a:ext cx="780010" cy="365125"/>
          </a:xfrm>
          <a:prstGeom prst="rect">
            <a:avLst/>
          </a:prstGeom>
        </p:spPr>
        <p:txBody>
          <a:bodyPr/>
          <a:lstStyle/>
          <a:p>
            <a:r>
              <a:rPr lang="en-US" altLang="zh-TW" dirty="0"/>
              <a:t>Deep Learning</a:t>
            </a:r>
          </a:p>
        </p:txBody>
      </p:sp>
    </p:spTree>
    <p:extLst>
      <p:ext uri="{BB962C8B-B14F-4D97-AF65-F5344CB8AC3E}">
        <p14:creationId xmlns:p14="http://schemas.microsoft.com/office/powerpoint/2010/main" val="21142380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r>
              <a:rPr lang="en-US" altLang="zh-TW"/>
              <a:t>Wilson Ren</a:t>
            </a:r>
            <a:endParaRPr lang="en-US" altLang="zh-TW"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a:xfrm>
            <a:off x="1097279" y="6446838"/>
            <a:ext cx="6818262" cy="365125"/>
          </a:xfrm>
          <a:prstGeom prst="rect">
            <a:avLst/>
          </a:prstGeom>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a:xfrm>
            <a:off x="10993582" y="6446838"/>
            <a:ext cx="780010" cy="365125"/>
          </a:xfrm>
          <a:prstGeom prst="rect">
            <a:avLst/>
          </a:prstGeom>
        </p:spPr>
        <p:txBody>
          <a:bodyPr/>
          <a:lstStyle/>
          <a:p>
            <a:r>
              <a:rPr lang="en-US" altLang="zh-TW" dirty="0"/>
              <a:t>Deep Learning</a:t>
            </a:r>
          </a:p>
        </p:txBody>
      </p:sp>
    </p:spTree>
    <p:extLst>
      <p:ext uri="{BB962C8B-B14F-4D97-AF65-F5344CB8AC3E}">
        <p14:creationId xmlns:p14="http://schemas.microsoft.com/office/powerpoint/2010/main" val="7812941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a:p>
        </p:txBody>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r>
              <a:rPr lang="en-US" altLang="zh-TW"/>
              <a:t>Wilson Ren</a:t>
            </a:r>
            <a:endParaRPr lang="en-US" altLang="zh-TW"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a:xfrm>
            <a:off x="1097279" y="6446838"/>
            <a:ext cx="6818262" cy="365125"/>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a:xfrm>
            <a:off x="10993582" y="6446838"/>
            <a:ext cx="780010" cy="365125"/>
          </a:xfrm>
          <a:prstGeom prst="rect">
            <a:avLst/>
          </a:prstGeom>
        </p:spPr>
        <p:txBody>
          <a:bodyPr/>
          <a:lstStyle/>
          <a:p>
            <a:r>
              <a:rPr lang="en-US" altLang="zh-TW" dirty="0"/>
              <a:t>Deep Learning</a:t>
            </a:r>
          </a:p>
        </p:txBody>
      </p:sp>
    </p:spTree>
    <p:extLst>
      <p:ext uri="{BB962C8B-B14F-4D97-AF65-F5344CB8AC3E}">
        <p14:creationId xmlns:p14="http://schemas.microsoft.com/office/powerpoint/2010/main" val="3407069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dirty="0"/>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chemeClr val="tx1"/>
                </a:solidFill>
              </a:defRPr>
            </a:lvl1pPr>
          </a:lstStyle>
          <a:p>
            <a:r>
              <a:rPr lang="en-US" altLang="zh-TW"/>
              <a:t>Wilson Ren</a:t>
            </a:r>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900">
                <a:solidFill>
                  <a:srgbClr val="FFFFFF"/>
                </a:solidFill>
              </a:defRPr>
            </a:lvl1pPr>
          </a:lstStyle>
          <a:p>
            <a:r>
              <a:rPr lang="en-US" dirty="0"/>
              <a:t>Deep Learning</a:t>
            </a:r>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1249936"/>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Lst>
  <p:hf hdr="0" ftr="0"/>
  <p:txStyles>
    <p:titleStyle>
      <a:lvl1pPr algn="l" defTabSz="914400" rtl="0" eaLnBrk="1" latinLnBrk="0" hangingPunct="1">
        <a:lnSpc>
          <a:spcPct val="90000"/>
        </a:lnSpc>
        <a:spcBef>
          <a:spcPct val="0"/>
        </a:spcBef>
        <a:buNone/>
        <a:defRPr sz="53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4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20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6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6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6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github.com/kgruiz/PlotNeuralNet" TargetMode="External"/><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hyperlink" Target="https://arxiv.org/pdf/2103.03404"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arxiv.org/abs/1811.03567" TargetMode="External"/><Relationship Id="rId2" Type="http://schemas.openxmlformats.org/officeDocument/2006/relationships/hyperlink" Target="https://arxiv.org/abs/1604.03640" TargetMode="External"/><Relationship Id="rId1" Type="http://schemas.openxmlformats.org/officeDocument/2006/relationships/slideLayout" Target="../slideLayouts/slideLayout2.xml"/><Relationship Id="rId4" Type="http://schemas.openxmlformats.org/officeDocument/2006/relationships/hyperlink" Target="https://pmc.ncbi.nlm.nih.gov/articles/PMC7614541/"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5.xml.rels><?xml version="1.0" encoding="UTF-8" standalone="yes"?>
<Relationships xmlns="http://schemas.openxmlformats.org/package/2006/relationships"><Relationship Id="rId8" Type="http://schemas.openxmlformats.org/officeDocument/2006/relationships/image" Target="../media/image37.jpg"/><Relationship Id="rId3" Type="http://schemas.openxmlformats.org/officeDocument/2006/relationships/image" Target="../media/image32.png"/><Relationship Id="rId7" Type="http://schemas.openxmlformats.org/officeDocument/2006/relationships/image" Target="../media/image36.jpg"/><Relationship Id="rId2" Type="http://schemas.openxmlformats.org/officeDocument/2006/relationships/image" Target="../media/image31.jpg"/><Relationship Id="rId1" Type="http://schemas.openxmlformats.org/officeDocument/2006/relationships/slideLayout" Target="../slideLayouts/slideLayout2.xml"/><Relationship Id="rId6" Type="http://schemas.openxmlformats.org/officeDocument/2006/relationships/image" Target="../media/image35.jpg"/><Relationship Id="rId5" Type="http://schemas.openxmlformats.org/officeDocument/2006/relationships/image" Target="../media/image34.png"/><Relationship Id="rId4" Type="http://schemas.openxmlformats.org/officeDocument/2006/relationships/image" Target="../media/image3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8.png"/><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39.xml.rels><?xml version="1.0" encoding="UTF-8" standalone="yes"?>
<Relationships xmlns="http://schemas.openxmlformats.org/package/2006/relationships"><Relationship Id="rId2" Type="http://schemas.openxmlformats.org/officeDocument/2006/relationships/image" Target="../media/image38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9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0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0" name="Rectangle 109">
            <a:extLst>
              <a:ext uri="{FF2B5EF4-FFF2-40B4-BE49-F238E27FC236}">
                <a16:creationId xmlns:a16="http://schemas.microsoft.com/office/drawing/2014/main" id="{39E3965E-AC41-4711-9D10-E25ABB132D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a:p>
        </p:txBody>
      </p:sp>
      <p:cxnSp>
        <p:nvCxnSpPr>
          <p:cNvPr id="112" name="Straight Connector 111">
            <a:extLst>
              <a:ext uri="{FF2B5EF4-FFF2-40B4-BE49-F238E27FC236}">
                <a16:creationId xmlns:a16="http://schemas.microsoft.com/office/drawing/2014/main" id="{1F5DC8C3-BA5F-4EED-BB9A-A14272BD82A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useBgFill="1">
        <p:nvSpPr>
          <p:cNvPr id="114" name="Rectangle 113">
            <a:extLst>
              <a:ext uri="{FF2B5EF4-FFF2-40B4-BE49-F238E27FC236}">
                <a16:creationId xmlns:a16="http://schemas.microsoft.com/office/drawing/2014/main" id="{33428ACC-71EC-4171-9527-10983BA6B4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標題 1">
            <a:extLst>
              <a:ext uri="{FF2B5EF4-FFF2-40B4-BE49-F238E27FC236}">
                <a16:creationId xmlns:a16="http://schemas.microsoft.com/office/drawing/2014/main" id="{85B19F76-33F3-4DB4-91A0-510A8FE2A916}"/>
              </a:ext>
            </a:extLst>
          </p:cNvPr>
          <p:cNvSpPr>
            <a:spLocks noGrp="1"/>
          </p:cNvSpPr>
          <p:nvPr>
            <p:ph type="ctrTitle"/>
          </p:nvPr>
        </p:nvSpPr>
        <p:spPr>
          <a:xfrm>
            <a:off x="8141110" y="639098"/>
            <a:ext cx="3401961" cy="3494790"/>
          </a:xfrm>
        </p:spPr>
        <p:txBody>
          <a:bodyPr vert="horz" lIns="91440" tIns="45720" rIns="91440" bIns="45720" rtlCol="0" anchor="b">
            <a:normAutofit/>
          </a:bodyPr>
          <a:lstStyle/>
          <a:p>
            <a:r>
              <a:rPr lang="en-US" altLang="zh-TW" sz="5400">
                <a:solidFill>
                  <a:schemeClr val="tx1">
                    <a:lumMod val="85000"/>
                    <a:lumOff val="15000"/>
                  </a:schemeClr>
                </a:solidFill>
              </a:rPr>
              <a:t>ResNet</a:t>
            </a:r>
          </a:p>
        </p:txBody>
      </p:sp>
      <p:sp>
        <p:nvSpPr>
          <p:cNvPr id="3" name="副標題 2">
            <a:extLst>
              <a:ext uri="{FF2B5EF4-FFF2-40B4-BE49-F238E27FC236}">
                <a16:creationId xmlns:a16="http://schemas.microsoft.com/office/drawing/2014/main" id="{35262B4D-3674-44E6-AC6B-FAEDB090D61E}"/>
              </a:ext>
            </a:extLst>
          </p:cNvPr>
          <p:cNvSpPr>
            <a:spLocks noGrp="1"/>
          </p:cNvSpPr>
          <p:nvPr>
            <p:ph type="subTitle" idx="1"/>
          </p:nvPr>
        </p:nvSpPr>
        <p:spPr>
          <a:xfrm>
            <a:off x="8141110" y="4455621"/>
            <a:ext cx="3417990" cy="1238616"/>
          </a:xfrm>
        </p:spPr>
        <p:txBody>
          <a:bodyPr vert="horz" lIns="91440" tIns="45720" rIns="91440" bIns="45720" rtlCol="0">
            <a:normAutofit/>
          </a:bodyPr>
          <a:lstStyle/>
          <a:p>
            <a:r>
              <a:rPr lang="en-US" altLang="zh-TW" sz="2000" dirty="0">
                <a:solidFill>
                  <a:schemeClr val="tx1">
                    <a:lumMod val="85000"/>
                    <a:lumOff val="15000"/>
                  </a:schemeClr>
                </a:solidFill>
              </a:rPr>
              <a:t>Chapter 5</a:t>
            </a:r>
          </a:p>
        </p:txBody>
      </p:sp>
      <p:pic>
        <p:nvPicPr>
          <p:cNvPr id="5" name="圖形 4">
            <a:extLst>
              <a:ext uri="{FF2B5EF4-FFF2-40B4-BE49-F238E27FC236}">
                <a16:creationId xmlns:a16="http://schemas.microsoft.com/office/drawing/2014/main" id="{0B898B95-0C2B-2F5A-EAA8-E907FC2F125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63029" y="640081"/>
            <a:ext cx="5054156" cy="5054156"/>
          </a:xfrm>
          <a:prstGeom prst="rect">
            <a:avLst/>
          </a:prstGeom>
        </p:spPr>
      </p:pic>
      <p:cxnSp>
        <p:nvCxnSpPr>
          <p:cNvPr id="116" name="Straight Connector 115">
            <a:extLst>
              <a:ext uri="{FF2B5EF4-FFF2-40B4-BE49-F238E27FC236}">
                <a16:creationId xmlns:a16="http://schemas.microsoft.com/office/drawing/2014/main" id="{BA22713B-ABB6-4391-97F9-0449A2B9B66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209305" y="4294754"/>
            <a:ext cx="320040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18" name="Rectangle 117">
            <a:extLst>
              <a:ext uri="{FF2B5EF4-FFF2-40B4-BE49-F238E27FC236}">
                <a16:creationId xmlns:a16="http://schemas.microsoft.com/office/drawing/2014/main" id="{8D4480B4-953D-41FA-9052-09AB3A026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a:p>
        </p:txBody>
      </p:sp>
      <p:sp>
        <p:nvSpPr>
          <p:cNvPr id="8" name="投影片編號版面配置區 4">
            <a:extLst>
              <a:ext uri="{FF2B5EF4-FFF2-40B4-BE49-F238E27FC236}">
                <a16:creationId xmlns:a16="http://schemas.microsoft.com/office/drawing/2014/main" id="{9918F90A-E918-55A6-FF90-3163BE918873}"/>
              </a:ext>
            </a:extLst>
          </p:cNvPr>
          <p:cNvSpPr>
            <a:spLocks noGrp="1"/>
          </p:cNvSpPr>
          <p:nvPr>
            <p:ph type="sldNum" sz="quarter" idx="12"/>
          </p:nvPr>
        </p:nvSpPr>
        <p:spPr>
          <a:xfrm>
            <a:off x="10993582" y="6446838"/>
            <a:ext cx="780010" cy="365125"/>
          </a:xfrm>
        </p:spPr>
        <p:txBody>
          <a:bodyPr vert="horz" lIns="91440" tIns="45720" rIns="91440" bIns="45720" rtlCol="0" anchor="ctr">
            <a:normAutofit/>
          </a:bodyPr>
          <a:lstStyle/>
          <a:p>
            <a:pPr>
              <a:lnSpc>
                <a:spcPct val="90000"/>
              </a:lnSpc>
              <a:spcAft>
                <a:spcPts val="600"/>
              </a:spcAft>
            </a:pPr>
            <a:r>
              <a:rPr lang="en-US" altLang="zh-TW" dirty="0"/>
              <a:t>Deep Learning</a:t>
            </a:r>
          </a:p>
        </p:txBody>
      </p:sp>
    </p:spTree>
    <p:extLst>
      <p:ext uri="{BB962C8B-B14F-4D97-AF65-F5344CB8AC3E}">
        <p14:creationId xmlns:p14="http://schemas.microsoft.com/office/powerpoint/2010/main" val="750206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19FFCF3-4909-F3F4-EE84-FC53565ACDAB}"/>
              </a:ext>
            </a:extLst>
          </p:cNvPr>
          <p:cNvSpPr>
            <a:spLocks noGrp="1"/>
          </p:cNvSpPr>
          <p:nvPr>
            <p:ph type="title"/>
          </p:nvPr>
        </p:nvSpPr>
        <p:spPr/>
        <p:txBody>
          <a:bodyPr/>
          <a:lstStyle/>
          <a:p>
            <a:r>
              <a:rPr lang="zh-TW" altLang="en-US" dirty="0"/>
              <a:t>破碎梯度現象</a:t>
            </a:r>
            <a:endParaRPr kumimoji="1" lang="zh-TW" altLang="en-US" dirty="0"/>
          </a:p>
        </p:txBody>
      </p:sp>
      <p:sp>
        <p:nvSpPr>
          <p:cNvPr id="3" name="內容版面配置區 2">
            <a:extLst>
              <a:ext uri="{FF2B5EF4-FFF2-40B4-BE49-F238E27FC236}">
                <a16:creationId xmlns:a16="http://schemas.microsoft.com/office/drawing/2014/main" id="{D157BB0D-7866-5FCF-6DFE-EDC02DC6ED3B}"/>
              </a:ext>
            </a:extLst>
          </p:cNvPr>
          <p:cNvSpPr>
            <a:spLocks noGrp="1"/>
          </p:cNvSpPr>
          <p:nvPr>
            <p:ph idx="1"/>
          </p:nvPr>
        </p:nvSpPr>
        <p:spPr/>
        <p:txBody>
          <a:bodyPr/>
          <a:lstStyle/>
          <a:p>
            <a:r>
              <a:rPr kumimoji="1" lang="zh-TW" altLang="en-US" dirty="0"/>
              <a:t>在 </a:t>
            </a:r>
            <a:r>
              <a:rPr kumimoji="1" lang="en-US" altLang="zh-TW" dirty="0" err="1"/>
              <a:t>ResNet</a:t>
            </a:r>
            <a:r>
              <a:rPr kumimoji="1" lang="zh-TW" altLang="en-US" dirty="0"/>
              <a:t> 論文開頭，作者提出了深層神經網路的一個重要問題 </a:t>
            </a:r>
            <a:r>
              <a:rPr kumimoji="1" lang="en-US" altLang="zh-TW" dirty="0"/>
              <a:t>–</a:t>
            </a:r>
            <a:r>
              <a:rPr kumimoji="1" lang="zh-TW" altLang="en-US" dirty="0"/>
              <a:t> 退化（</a:t>
            </a:r>
            <a:r>
              <a:rPr kumimoji="1" lang="en-US" altLang="zh-TW" dirty="0"/>
              <a:t>degradation</a:t>
            </a:r>
            <a:r>
              <a:rPr kumimoji="1" lang="zh-TW" altLang="en-US" dirty="0"/>
              <a:t>）。也就是指，當網路深度增加到某個程度後，模型反而會變得難以訓練（</a:t>
            </a:r>
            <a:r>
              <a:rPr kumimoji="1" lang="en-US" altLang="zh-TW" dirty="0"/>
              <a:t>train </a:t>
            </a:r>
            <a:r>
              <a:rPr kumimoji="1" lang="zh-TW" altLang="en-US" dirty="0"/>
              <a:t>不起來）。論文中以 </a:t>
            </a:r>
            <a:r>
              <a:rPr kumimoji="1" lang="en-US" altLang="zh-TW" dirty="0"/>
              <a:t>CIFAR-10 </a:t>
            </a:r>
            <a:r>
              <a:rPr kumimoji="1" lang="zh-TW" altLang="en-US" dirty="0"/>
              <a:t>為例，展示了 </a:t>
            </a:r>
            <a:r>
              <a:rPr kumimoji="1" lang="en-US" altLang="zh-TW" dirty="0"/>
              <a:t>20 </a:t>
            </a:r>
            <a:r>
              <a:rPr kumimoji="1" lang="zh-TW" altLang="en-US" dirty="0"/>
              <a:t>層網路的表現竟然比 </a:t>
            </a:r>
            <a:r>
              <a:rPr kumimoji="1" lang="en-US" altLang="zh-TW" dirty="0"/>
              <a:t>56 </a:t>
            </a:r>
            <a:r>
              <a:rPr kumimoji="1" lang="zh-TW" altLang="en-US" dirty="0"/>
              <a:t>層網路更好。</a:t>
            </a:r>
          </a:p>
        </p:txBody>
      </p:sp>
      <p:sp>
        <p:nvSpPr>
          <p:cNvPr id="4" name="日期版面配置區 3">
            <a:extLst>
              <a:ext uri="{FF2B5EF4-FFF2-40B4-BE49-F238E27FC236}">
                <a16:creationId xmlns:a16="http://schemas.microsoft.com/office/drawing/2014/main" id="{8A1E955C-CE24-79C6-0B54-6ED240CFA42E}"/>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91BC7FDB-2160-5E8F-DEB8-8B57EDBABBF3}"/>
              </a:ext>
            </a:extLst>
          </p:cNvPr>
          <p:cNvSpPr>
            <a:spLocks noGrp="1"/>
          </p:cNvSpPr>
          <p:nvPr>
            <p:ph type="sldNum" sz="quarter" idx="12"/>
          </p:nvPr>
        </p:nvSpPr>
        <p:spPr/>
        <p:txBody>
          <a:bodyPr/>
          <a:lstStyle/>
          <a:p>
            <a:r>
              <a:rPr lang="en-US" altLang="zh-TW" dirty="0"/>
              <a:t>Deep Learning</a:t>
            </a:r>
          </a:p>
        </p:txBody>
      </p:sp>
      <p:pic>
        <p:nvPicPr>
          <p:cNvPr id="7" name="圖片 6" descr="一張含有 文字, 行, 字型, 圖表 的圖片&#10;&#10;AI 產生的內容可能不正確。">
            <a:extLst>
              <a:ext uri="{FF2B5EF4-FFF2-40B4-BE49-F238E27FC236}">
                <a16:creationId xmlns:a16="http://schemas.microsoft.com/office/drawing/2014/main" id="{06D5031B-A058-1D3C-36C1-DE22DAB0C4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56704" y="3888739"/>
            <a:ext cx="6678592" cy="226922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文字方塊 7">
            <a:extLst>
              <a:ext uri="{FF2B5EF4-FFF2-40B4-BE49-F238E27FC236}">
                <a16:creationId xmlns:a16="http://schemas.microsoft.com/office/drawing/2014/main" id="{FD81DE8D-EAC2-7232-DEA9-C04A0F0DCB15}"/>
              </a:ext>
            </a:extLst>
          </p:cNvPr>
          <p:cNvSpPr txBox="1"/>
          <p:nvPr/>
        </p:nvSpPr>
        <p:spPr>
          <a:xfrm>
            <a:off x="9908376" y="5316603"/>
            <a:ext cx="1865216" cy="923330"/>
          </a:xfrm>
          <a:prstGeom prst="rect">
            <a:avLst/>
          </a:prstGeom>
          <a:noFill/>
        </p:spPr>
        <p:txBody>
          <a:bodyPr wrap="square" rtlCol="0">
            <a:spAutoFit/>
          </a:bodyPr>
          <a:lstStyle/>
          <a:p>
            <a:r>
              <a:rPr kumimoji="1" lang="zh-TW" altLang="en-US" dirty="0"/>
              <a:t>*</a:t>
            </a:r>
            <a:r>
              <a:rPr kumimoji="1" lang="en-US" altLang="zh-TW" dirty="0"/>
              <a:t>.</a:t>
            </a:r>
            <a:r>
              <a:rPr kumimoji="1" lang="zh-TW" altLang="en-US" dirty="0"/>
              <a:t> </a:t>
            </a:r>
            <a:r>
              <a:rPr kumimoji="1" lang="en-US" altLang="zh-TW" dirty="0" err="1"/>
              <a:t>ResNet</a:t>
            </a:r>
            <a:r>
              <a:rPr kumimoji="1" lang="zh-TW" altLang="en-US" dirty="0"/>
              <a:t> 論文： </a:t>
            </a:r>
            <a:r>
              <a:rPr kumimoji="1" lang="en-US" altLang="zh-TW" dirty="0"/>
              <a:t>https://</a:t>
            </a:r>
            <a:r>
              <a:rPr kumimoji="1" lang="en-US" altLang="zh-TW" dirty="0" err="1"/>
              <a:t>arxiv.org</a:t>
            </a:r>
            <a:r>
              <a:rPr kumimoji="1" lang="en-US" altLang="zh-TW" dirty="0"/>
              <a:t>/pdf/1512.03385</a:t>
            </a:r>
            <a:endParaRPr kumimoji="1" lang="zh-TW" altLang="en-US" dirty="0"/>
          </a:p>
        </p:txBody>
      </p:sp>
    </p:spTree>
    <p:extLst>
      <p:ext uri="{BB962C8B-B14F-4D97-AF65-F5344CB8AC3E}">
        <p14:creationId xmlns:p14="http://schemas.microsoft.com/office/powerpoint/2010/main" val="34474856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C1DE3E7-51F7-7D86-A112-5F8D266B31EC}"/>
              </a:ext>
            </a:extLst>
          </p:cNvPr>
          <p:cNvSpPr>
            <a:spLocks noGrp="1"/>
          </p:cNvSpPr>
          <p:nvPr>
            <p:ph type="title"/>
          </p:nvPr>
        </p:nvSpPr>
        <p:spPr/>
        <p:txBody>
          <a:bodyPr/>
          <a:lstStyle/>
          <a:p>
            <a:r>
              <a:rPr lang="zh-TW" altLang="en-US" dirty="0"/>
              <a:t>破碎梯度現象</a:t>
            </a:r>
            <a:endParaRPr kumimoji="1" lang="zh-TW" altLang="en-US" dirty="0"/>
          </a:p>
        </p:txBody>
      </p:sp>
      <p:sp>
        <p:nvSpPr>
          <p:cNvPr id="3" name="內容版面配置區 2">
            <a:extLst>
              <a:ext uri="{FF2B5EF4-FFF2-40B4-BE49-F238E27FC236}">
                <a16:creationId xmlns:a16="http://schemas.microsoft.com/office/drawing/2014/main" id="{30F7FA7C-6C38-8479-5BA6-A712521A8C0B}"/>
              </a:ext>
            </a:extLst>
          </p:cNvPr>
          <p:cNvSpPr>
            <a:spLocks noGrp="1"/>
          </p:cNvSpPr>
          <p:nvPr>
            <p:ph idx="1"/>
          </p:nvPr>
        </p:nvSpPr>
        <p:spPr/>
        <p:txBody>
          <a:bodyPr/>
          <a:lstStyle/>
          <a:p>
            <a:r>
              <a:rPr kumimoji="1" lang="zh-TW" altLang="en-US" dirty="0"/>
              <a:t>需要注意的是，退化問題並不是 </a:t>
            </a:r>
            <a:r>
              <a:rPr kumimoji="1" lang="en-US" altLang="zh-TW" dirty="0"/>
              <a:t>overfitting </a:t>
            </a:r>
            <a:r>
              <a:rPr kumimoji="1" lang="zh-TW" altLang="en-US" dirty="0"/>
              <a:t>所造成的。</a:t>
            </a:r>
            <a:r>
              <a:rPr kumimoji="1" lang="en-US" altLang="zh-TW" dirty="0"/>
              <a:t>56 </a:t>
            </a:r>
            <a:r>
              <a:rPr kumimoji="1" lang="zh-TW" altLang="en-US" dirty="0"/>
              <a:t>層網路的 </a:t>
            </a:r>
            <a:r>
              <a:rPr kumimoji="1" lang="en-US" altLang="zh-TW" dirty="0"/>
              <a:t>training loss </a:t>
            </a:r>
            <a:r>
              <a:rPr kumimoji="1" lang="zh-TW" altLang="en-US" dirty="0"/>
              <a:t>仍然很高，甚至高於 </a:t>
            </a:r>
            <a:r>
              <a:rPr kumimoji="1" lang="en-US" altLang="zh-TW" dirty="0"/>
              <a:t>20 </a:t>
            </a:r>
            <a:r>
              <a:rPr kumimoji="1" lang="zh-TW" altLang="en-US" dirty="0"/>
              <a:t>層網路。核心問題：</a:t>
            </a:r>
            <a:endParaRPr kumimoji="1" lang="en-US" altLang="zh-TW" dirty="0"/>
          </a:p>
          <a:p>
            <a:pPr>
              <a:buFont typeface="Wingdings" pitchFamily="2" charset="2"/>
              <a:buChar char="n"/>
            </a:pPr>
            <a:r>
              <a:rPr kumimoji="1" lang="zh-TW" altLang="en-US" dirty="0"/>
              <a:t> 為什麼網路變深之後反而會 </a:t>
            </a:r>
            <a:r>
              <a:rPr kumimoji="1" lang="en-US" altLang="zh-TW" dirty="0"/>
              <a:t>train </a:t>
            </a:r>
            <a:r>
              <a:rPr kumimoji="1" lang="zh-TW" altLang="en-US" dirty="0"/>
              <a:t>不起來？</a:t>
            </a:r>
            <a:endParaRPr kumimoji="1" lang="en-US" altLang="zh-TW" dirty="0"/>
          </a:p>
          <a:p>
            <a:pPr>
              <a:buFont typeface="Wingdings" pitchFamily="2" charset="2"/>
              <a:buChar char="n"/>
            </a:pPr>
            <a:r>
              <a:rPr kumimoji="1" lang="zh-TW" altLang="en-US" dirty="0"/>
              <a:t> 又該如何解決這個問題，才能讓人類持續建造更深的網路，使深度神經網路變得更強大？</a:t>
            </a:r>
            <a:endParaRPr kumimoji="1" lang="en-US" altLang="zh-TW" dirty="0"/>
          </a:p>
          <a:p>
            <a:pPr marL="0" indent="0">
              <a:buNone/>
            </a:pPr>
            <a:r>
              <a:rPr kumimoji="1" lang="zh-TW" altLang="en-US" dirty="0"/>
              <a:t>首先，這種「網路深到一定程度後就會</a:t>
            </a:r>
            <a:r>
              <a:rPr kumimoji="1" lang="en-US" altLang="zh-TW" dirty="0"/>
              <a:t>train</a:t>
            </a:r>
            <a:r>
              <a:rPr kumimoji="1" lang="zh-TW" altLang="en-US" dirty="0"/>
              <a:t>不起來」的現象尚未完全被理解。但目前電腦科學家已經有些推測。</a:t>
            </a:r>
          </a:p>
          <a:p>
            <a:pPr marL="0" indent="0">
              <a:buNone/>
            </a:pPr>
            <a:endParaRPr kumimoji="1" lang="en-US" altLang="zh-TW" dirty="0"/>
          </a:p>
        </p:txBody>
      </p:sp>
      <p:sp>
        <p:nvSpPr>
          <p:cNvPr id="4" name="日期版面配置區 3">
            <a:extLst>
              <a:ext uri="{FF2B5EF4-FFF2-40B4-BE49-F238E27FC236}">
                <a16:creationId xmlns:a16="http://schemas.microsoft.com/office/drawing/2014/main" id="{7FEF6885-7F25-8A6A-AF08-292EF5110670}"/>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A16417BF-6ACA-ABFD-51A0-DED310ADB329}"/>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11043658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337DC6F-456D-1C18-BC70-5AE7104DAEA9}"/>
              </a:ext>
            </a:extLst>
          </p:cNvPr>
          <p:cNvSpPr>
            <a:spLocks noGrp="1"/>
          </p:cNvSpPr>
          <p:nvPr>
            <p:ph type="title"/>
          </p:nvPr>
        </p:nvSpPr>
        <p:spPr/>
        <p:txBody>
          <a:bodyPr/>
          <a:lstStyle/>
          <a:p>
            <a:r>
              <a:rPr lang="zh-TW" altLang="en-US" dirty="0"/>
              <a:t>破碎梯度現象</a:t>
            </a:r>
            <a:endParaRPr kumimoji="1" lang="zh-TW" altLang="en-US" dirty="0"/>
          </a:p>
        </p:txBody>
      </p:sp>
      <p:sp>
        <p:nvSpPr>
          <p:cNvPr id="3" name="內容版面配置區 2">
            <a:extLst>
              <a:ext uri="{FF2B5EF4-FFF2-40B4-BE49-F238E27FC236}">
                <a16:creationId xmlns:a16="http://schemas.microsoft.com/office/drawing/2014/main" id="{B3298ACC-9339-DE34-60AC-68D883CBCD42}"/>
              </a:ext>
            </a:extLst>
          </p:cNvPr>
          <p:cNvSpPr>
            <a:spLocks noGrp="1"/>
          </p:cNvSpPr>
          <p:nvPr>
            <p:ph idx="1"/>
          </p:nvPr>
        </p:nvSpPr>
        <p:spPr>
          <a:xfrm>
            <a:off x="347241" y="2108201"/>
            <a:ext cx="11644131" cy="4338637"/>
          </a:xfrm>
        </p:spPr>
        <p:txBody>
          <a:bodyPr>
            <a:normAutofit/>
          </a:bodyPr>
          <a:lstStyle/>
          <a:p>
            <a:r>
              <a:rPr lang="en-US" altLang="zh-TW" dirty="0"/>
              <a:t>2018</a:t>
            </a:r>
            <a:r>
              <a:rPr lang="zh-TW" altLang="en-US" dirty="0"/>
              <a:t> 年時，電腦科學家發現：</a:t>
            </a:r>
            <a:endParaRPr lang="en-US" altLang="zh-TW" dirty="0"/>
          </a:p>
          <a:p>
            <a:pPr>
              <a:buFont typeface="Wingdings" pitchFamily="2" charset="2"/>
              <a:buChar char="l"/>
            </a:pPr>
            <a:r>
              <a:rPr lang="zh-TW" altLang="en-US" dirty="0"/>
              <a:t> 對於淺層網路，當輸入值發生變化時，網路輸出值相對於輸入值的梯度較平滑。也就是說，相鄰輸入值所對應的梯度通常具有一定的相關性。</a:t>
            </a:r>
            <a:endParaRPr lang="en-US" altLang="zh-TW" dirty="0"/>
          </a:p>
          <a:p>
            <a:pPr>
              <a:buFont typeface="Wingdings" pitchFamily="2" charset="2"/>
              <a:buChar char="l"/>
            </a:pPr>
            <a:r>
              <a:rPr lang="zh-TW" altLang="en-US" dirty="0"/>
              <a:t> 對於深層網路，輸入值只要有很小的改變，網路輸出值相對於輸入值的梯度就可能劇烈變化。在深層網路中，這種相關性會隨著深度迅速下降，甚至接近於零。這種現象被稱為梯度破碎（</a:t>
            </a:r>
            <a:r>
              <a:rPr lang="en-US" altLang="zh-TW" dirty="0"/>
              <a:t>shattered gradients</a:t>
            </a:r>
            <a:r>
              <a:rPr lang="zh-TW" altLang="en-US" dirty="0"/>
              <a:t> </a:t>
            </a:r>
            <a:r>
              <a:rPr lang="en-US" altLang="zh-TW" dirty="0"/>
              <a:t>phenomenon</a:t>
            </a:r>
            <a:r>
              <a:rPr lang="zh-TW" altLang="en-US" dirty="0"/>
              <a:t>）。</a:t>
            </a:r>
            <a:endParaRPr lang="en-US" altLang="zh-TW" dirty="0"/>
          </a:p>
          <a:p>
            <a:pPr marL="0" indent="0">
              <a:buNone/>
            </a:pPr>
            <a:endParaRPr lang="en-US" altLang="zh-TW" sz="1900" dirty="0"/>
          </a:p>
          <a:p>
            <a:pPr marL="0" indent="0">
              <a:buNone/>
            </a:pPr>
            <a:r>
              <a:rPr lang="zh-TW" altLang="en-US" sz="1900" dirty="0"/>
              <a:t>*</a:t>
            </a:r>
            <a:r>
              <a:rPr lang="en-US" altLang="zh-TW" sz="1900" dirty="0"/>
              <a:t>.</a:t>
            </a:r>
            <a:r>
              <a:rPr lang="zh-TW" altLang="en-US" sz="1900" dirty="0"/>
              <a:t> 在訓練深度神經網路時，我們需要計算損失函數對權重的梯度。為什麼論文卻在計算輸出值對輸入值的梯度？這是因為根據 </a:t>
            </a:r>
            <a:r>
              <a:rPr lang="en-US" altLang="zh-TW" sz="1900" dirty="0"/>
              <a:t>Chain</a:t>
            </a:r>
            <a:r>
              <a:rPr lang="zh-TW" altLang="en-US" sz="1900" dirty="0"/>
              <a:t> </a:t>
            </a:r>
            <a:r>
              <a:rPr lang="en-US" altLang="zh-TW" sz="1900" dirty="0"/>
              <a:t>Rule</a:t>
            </a:r>
            <a:r>
              <a:rPr lang="zh-TW" altLang="en-US" sz="1900" dirty="0"/>
              <a:t>，損失函數對權重的梯度包含了網路輸出對某一層神經元輸出的梯度。因此，如果這些梯度在深層網路中變得像隨機噪音一樣不穩定，那麼權重更新也會受到影響，使得網路變得難以訓練。</a:t>
            </a:r>
            <a:endParaRPr lang="en-US" altLang="zh-TW" sz="1900" dirty="0"/>
          </a:p>
        </p:txBody>
      </p:sp>
      <p:sp>
        <p:nvSpPr>
          <p:cNvPr id="4" name="日期版面配置區 3">
            <a:extLst>
              <a:ext uri="{FF2B5EF4-FFF2-40B4-BE49-F238E27FC236}">
                <a16:creationId xmlns:a16="http://schemas.microsoft.com/office/drawing/2014/main" id="{37D80DB7-2203-B70A-1098-0F394CB85537}"/>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6FAFFB5F-7D4F-BBFF-B2E0-BF5BD1BC82DC}"/>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40950600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CF5940B-A532-2896-EA3F-8862B3831A3E}"/>
              </a:ext>
            </a:extLst>
          </p:cNvPr>
          <p:cNvSpPr>
            <a:spLocks noGrp="1"/>
          </p:cNvSpPr>
          <p:nvPr>
            <p:ph type="title"/>
          </p:nvPr>
        </p:nvSpPr>
        <p:spPr/>
        <p:txBody>
          <a:bodyPr/>
          <a:lstStyle/>
          <a:p>
            <a:r>
              <a:rPr lang="zh-TW" altLang="en-US" dirty="0"/>
              <a:t>破碎梯度現象</a:t>
            </a:r>
            <a:endParaRPr kumimoji="1" lang="zh-TW" altLang="en-US" dirty="0"/>
          </a:p>
        </p:txBody>
      </p:sp>
      <p:sp>
        <p:nvSpPr>
          <p:cNvPr id="4" name="日期版面配置區 3">
            <a:extLst>
              <a:ext uri="{FF2B5EF4-FFF2-40B4-BE49-F238E27FC236}">
                <a16:creationId xmlns:a16="http://schemas.microsoft.com/office/drawing/2014/main" id="{7462161B-5926-E72D-A0AA-0FC0585DD490}"/>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8B125F71-16CD-E622-C78D-E96772262135}"/>
              </a:ext>
            </a:extLst>
          </p:cNvPr>
          <p:cNvSpPr>
            <a:spLocks noGrp="1"/>
          </p:cNvSpPr>
          <p:nvPr>
            <p:ph type="sldNum" sz="quarter" idx="12"/>
          </p:nvPr>
        </p:nvSpPr>
        <p:spPr/>
        <p:txBody>
          <a:bodyPr/>
          <a:lstStyle/>
          <a:p>
            <a:r>
              <a:rPr lang="en-US" altLang="zh-TW" dirty="0"/>
              <a:t>Deep Learning</a:t>
            </a:r>
          </a:p>
        </p:txBody>
      </p:sp>
      <p:sp>
        <p:nvSpPr>
          <p:cNvPr id="13" name="文字方塊 12">
            <a:extLst>
              <a:ext uri="{FF2B5EF4-FFF2-40B4-BE49-F238E27FC236}">
                <a16:creationId xmlns:a16="http://schemas.microsoft.com/office/drawing/2014/main" id="{4F2D9C00-D3CB-8F57-BA11-8B297B28ADAC}"/>
              </a:ext>
            </a:extLst>
          </p:cNvPr>
          <p:cNvSpPr txBox="1"/>
          <p:nvPr/>
        </p:nvSpPr>
        <p:spPr>
          <a:xfrm>
            <a:off x="802671" y="5478141"/>
            <a:ext cx="2866503" cy="369332"/>
          </a:xfrm>
          <a:prstGeom prst="rect">
            <a:avLst/>
          </a:prstGeom>
          <a:noFill/>
        </p:spPr>
        <p:txBody>
          <a:bodyPr wrap="square">
            <a:spAutoFit/>
          </a:bodyPr>
          <a:lstStyle/>
          <a:p>
            <a:r>
              <a:rPr lang="zh-TW" altLang="en-US" dirty="0"/>
              <a:t>1-layer feedforward </a:t>
            </a:r>
            <a:r>
              <a:rPr lang="en-US" altLang="zh-TW" dirty="0"/>
              <a:t>network</a:t>
            </a:r>
            <a:endParaRPr lang="zh-TW" altLang="en-US" dirty="0"/>
          </a:p>
        </p:txBody>
      </p:sp>
      <p:sp>
        <p:nvSpPr>
          <p:cNvPr id="17" name="文字方塊 16">
            <a:extLst>
              <a:ext uri="{FF2B5EF4-FFF2-40B4-BE49-F238E27FC236}">
                <a16:creationId xmlns:a16="http://schemas.microsoft.com/office/drawing/2014/main" id="{AB88E6A0-7894-94E6-0BC7-534267323D50}"/>
              </a:ext>
            </a:extLst>
          </p:cNvPr>
          <p:cNvSpPr txBox="1"/>
          <p:nvPr/>
        </p:nvSpPr>
        <p:spPr>
          <a:xfrm>
            <a:off x="4363735" y="5473014"/>
            <a:ext cx="3109972" cy="369332"/>
          </a:xfrm>
          <a:prstGeom prst="rect">
            <a:avLst/>
          </a:prstGeom>
          <a:noFill/>
        </p:spPr>
        <p:txBody>
          <a:bodyPr wrap="square">
            <a:spAutoFit/>
          </a:bodyPr>
          <a:lstStyle/>
          <a:p>
            <a:r>
              <a:rPr lang="en-US" altLang="zh-TW" dirty="0"/>
              <a:t>24</a:t>
            </a:r>
            <a:r>
              <a:rPr lang="zh-TW" altLang="en-US" dirty="0"/>
              <a:t>-layer feedforward </a:t>
            </a:r>
            <a:r>
              <a:rPr lang="en-US" altLang="zh-TW" dirty="0"/>
              <a:t>network</a:t>
            </a:r>
            <a:endParaRPr lang="zh-TW" altLang="en-US" dirty="0"/>
          </a:p>
        </p:txBody>
      </p:sp>
      <p:pic>
        <p:nvPicPr>
          <p:cNvPr id="23" name="圖片 22" descr="一張含有 行, 繪圖, 圖表, 字型 的圖片&#10;&#10;AI 產生的內容可能不正確。">
            <a:extLst>
              <a:ext uri="{FF2B5EF4-FFF2-40B4-BE49-F238E27FC236}">
                <a16:creationId xmlns:a16="http://schemas.microsoft.com/office/drawing/2014/main" id="{221DA455-EE43-4790-15E2-9EF424066B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2672" y="2190234"/>
            <a:ext cx="6512367" cy="247753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25" name="直線箭頭接點 24">
            <a:extLst>
              <a:ext uri="{FF2B5EF4-FFF2-40B4-BE49-F238E27FC236}">
                <a16:creationId xmlns:a16="http://schemas.microsoft.com/office/drawing/2014/main" id="{992E233A-01C6-47B4-51CC-429763F88AF5}"/>
              </a:ext>
            </a:extLst>
          </p:cNvPr>
          <p:cNvCxnSpPr>
            <a:cxnSpLocks/>
          </p:cNvCxnSpPr>
          <p:nvPr/>
        </p:nvCxnSpPr>
        <p:spPr>
          <a:xfrm flipV="1">
            <a:off x="5604078" y="3849773"/>
            <a:ext cx="17362" cy="16283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直線箭頭接點 28">
            <a:extLst>
              <a:ext uri="{FF2B5EF4-FFF2-40B4-BE49-F238E27FC236}">
                <a16:creationId xmlns:a16="http://schemas.microsoft.com/office/drawing/2014/main" id="{E0083170-9B7C-633A-C68E-C397D5EC5C20}"/>
              </a:ext>
            </a:extLst>
          </p:cNvPr>
          <p:cNvCxnSpPr>
            <a:cxnSpLocks/>
          </p:cNvCxnSpPr>
          <p:nvPr/>
        </p:nvCxnSpPr>
        <p:spPr>
          <a:xfrm flipV="1">
            <a:off x="2363165" y="3801741"/>
            <a:ext cx="150471" cy="18130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文字方塊 30">
            <a:extLst>
              <a:ext uri="{FF2B5EF4-FFF2-40B4-BE49-F238E27FC236}">
                <a16:creationId xmlns:a16="http://schemas.microsoft.com/office/drawing/2014/main" id="{79590AD0-7756-3692-E4D7-CFDFE08B3C29}"/>
              </a:ext>
            </a:extLst>
          </p:cNvPr>
          <p:cNvSpPr txBox="1"/>
          <p:nvPr/>
        </p:nvSpPr>
        <p:spPr>
          <a:xfrm>
            <a:off x="7973615" y="2690335"/>
            <a:ext cx="3409972" cy="1477328"/>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zh-TW" altLang="en-US" dirty="0"/>
              <a:t>從這張論文中的圖可以看到，當層數增加到 </a:t>
            </a:r>
            <a:r>
              <a:rPr kumimoji="1" lang="en-US" altLang="zh-TW" dirty="0"/>
              <a:t>24</a:t>
            </a:r>
            <a:r>
              <a:rPr kumimoji="1" lang="zh-TW" altLang="en-US" dirty="0"/>
              <a:t> 層後，梯度變得非常破碎。</a:t>
            </a:r>
            <a:endParaRPr kumimoji="1" lang="en-US" altLang="zh-TW" dirty="0"/>
          </a:p>
          <a:p>
            <a:endParaRPr kumimoji="1" lang="en-US" altLang="zh-TW" dirty="0"/>
          </a:p>
          <a:p>
            <a:r>
              <a:rPr kumimoji="1" lang="zh-TW" altLang="en-US" dirty="0"/>
              <a:t>*</a:t>
            </a:r>
            <a:r>
              <a:rPr kumimoji="1" lang="en-US" altLang="zh-TW" dirty="0"/>
              <a:t>.</a:t>
            </a:r>
            <a:r>
              <a:rPr kumimoji="1" lang="zh-TW" altLang="en-US" dirty="0"/>
              <a:t> </a:t>
            </a:r>
            <a:r>
              <a:rPr kumimoji="1" lang="en-US" altLang="zh-TW" dirty="0"/>
              <a:t>https://</a:t>
            </a:r>
            <a:r>
              <a:rPr kumimoji="1" lang="en-US" altLang="zh-TW" dirty="0" err="1"/>
              <a:t>arxiv.org</a:t>
            </a:r>
            <a:r>
              <a:rPr kumimoji="1" lang="en-US" altLang="zh-TW" dirty="0"/>
              <a:t>/pdf/1702.08591</a:t>
            </a:r>
            <a:endParaRPr kumimoji="1" lang="zh-TW" altLang="en-US" dirty="0"/>
          </a:p>
        </p:txBody>
      </p:sp>
    </p:spTree>
    <p:extLst>
      <p:ext uri="{BB962C8B-B14F-4D97-AF65-F5344CB8AC3E}">
        <p14:creationId xmlns:p14="http://schemas.microsoft.com/office/powerpoint/2010/main" val="32895536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752744-0D4F-A211-30EF-7443863EB907}"/>
              </a:ext>
            </a:extLst>
          </p:cNvPr>
          <p:cNvSpPr>
            <a:spLocks noGrp="1"/>
          </p:cNvSpPr>
          <p:nvPr>
            <p:ph type="title"/>
          </p:nvPr>
        </p:nvSpPr>
        <p:spPr/>
        <p:txBody>
          <a:bodyPr/>
          <a:lstStyle/>
          <a:p>
            <a:r>
              <a:rPr lang="zh-TW" altLang="en-US" dirty="0"/>
              <a:t>破碎梯度現象</a:t>
            </a:r>
            <a:endParaRPr kumimoji="1" lang="zh-TW" altLang="en-US" dirty="0"/>
          </a:p>
        </p:txBody>
      </p:sp>
      <p:pic>
        <p:nvPicPr>
          <p:cNvPr id="7" name="內容版面配置區 6" descr="一張含有 文字, 行, 繪圖, 圖表 的圖片&#10;&#10;AI 產生的內容可能不正確。">
            <a:extLst>
              <a:ext uri="{FF2B5EF4-FFF2-40B4-BE49-F238E27FC236}">
                <a16:creationId xmlns:a16="http://schemas.microsoft.com/office/drawing/2014/main" id="{02737983-7D44-6894-97A9-305DC430595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88426" y="2108200"/>
            <a:ext cx="4784498" cy="376078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日期版面配置區 3">
            <a:extLst>
              <a:ext uri="{FF2B5EF4-FFF2-40B4-BE49-F238E27FC236}">
                <a16:creationId xmlns:a16="http://schemas.microsoft.com/office/drawing/2014/main" id="{7C4C7DBA-13F7-7172-7A94-556D2869E3A3}"/>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E6051552-C84C-334F-9762-E5677E588393}"/>
              </a:ext>
            </a:extLst>
          </p:cNvPr>
          <p:cNvSpPr>
            <a:spLocks noGrp="1"/>
          </p:cNvSpPr>
          <p:nvPr>
            <p:ph type="sldNum" sz="quarter" idx="12"/>
          </p:nvPr>
        </p:nvSpPr>
        <p:spPr/>
        <p:txBody>
          <a:bodyPr/>
          <a:lstStyle/>
          <a:p>
            <a:r>
              <a:rPr lang="en-US" altLang="zh-TW" dirty="0"/>
              <a:t>Deep Learning</a:t>
            </a:r>
          </a:p>
        </p:txBody>
      </p:sp>
      <p:sp>
        <p:nvSpPr>
          <p:cNvPr id="8" name="文字方塊 7">
            <a:extLst>
              <a:ext uri="{FF2B5EF4-FFF2-40B4-BE49-F238E27FC236}">
                <a16:creationId xmlns:a16="http://schemas.microsoft.com/office/drawing/2014/main" id="{C3483E16-6715-7532-4915-3383FDA57619}"/>
              </a:ext>
            </a:extLst>
          </p:cNvPr>
          <p:cNvSpPr txBox="1"/>
          <p:nvPr/>
        </p:nvSpPr>
        <p:spPr>
          <a:xfrm>
            <a:off x="8518967" y="5879940"/>
            <a:ext cx="3409972" cy="369332"/>
          </a:xfrm>
          <a:prstGeom prst="rect">
            <a:avLst/>
          </a:prstGeom>
          <a:noFill/>
        </p:spPr>
        <p:txBody>
          <a:bodyPr wrap="none" rtlCol="0">
            <a:spAutoFit/>
          </a:bodyPr>
          <a:lstStyle/>
          <a:p>
            <a:r>
              <a:rPr kumimoji="1" lang="zh-TW" altLang="en-US" dirty="0"/>
              <a:t>*</a:t>
            </a:r>
            <a:r>
              <a:rPr kumimoji="1" lang="en-US" altLang="zh-TW" dirty="0"/>
              <a:t>.</a:t>
            </a:r>
            <a:r>
              <a:rPr kumimoji="1" lang="zh-TW" altLang="en-US" dirty="0"/>
              <a:t> </a:t>
            </a:r>
            <a:r>
              <a:rPr kumimoji="1" lang="en-US" altLang="zh-TW" dirty="0"/>
              <a:t>https://</a:t>
            </a:r>
            <a:r>
              <a:rPr kumimoji="1" lang="en-US" altLang="zh-TW" dirty="0" err="1"/>
              <a:t>arxiv.org</a:t>
            </a:r>
            <a:r>
              <a:rPr kumimoji="1" lang="en-US" altLang="zh-TW" dirty="0"/>
              <a:t>/pdf/1702.08591</a:t>
            </a:r>
            <a:endParaRPr kumimoji="1" lang="zh-TW" altLang="en-US" dirty="0"/>
          </a:p>
        </p:txBody>
      </p:sp>
      <p:cxnSp>
        <p:nvCxnSpPr>
          <p:cNvPr id="9" name="直線箭頭接點 8">
            <a:extLst>
              <a:ext uri="{FF2B5EF4-FFF2-40B4-BE49-F238E27FC236}">
                <a16:creationId xmlns:a16="http://schemas.microsoft.com/office/drawing/2014/main" id="{2C8992B5-C17D-D7A9-8E23-41DAA58CB330}"/>
              </a:ext>
            </a:extLst>
          </p:cNvPr>
          <p:cNvCxnSpPr>
            <a:cxnSpLocks/>
          </p:cNvCxnSpPr>
          <p:nvPr/>
        </p:nvCxnSpPr>
        <p:spPr>
          <a:xfrm flipH="1">
            <a:off x="4363656" y="5602147"/>
            <a:ext cx="2639028" cy="925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文字方塊 14">
            <a:extLst>
              <a:ext uri="{FF2B5EF4-FFF2-40B4-BE49-F238E27FC236}">
                <a16:creationId xmlns:a16="http://schemas.microsoft.com/office/drawing/2014/main" id="{184177CD-519C-2B4D-4C46-57B1594F3371}"/>
              </a:ext>
            </a:extLst>
          </p:cNvPr>
          <p:cNvSpPr txBox="1"/>
          <p:nvPr/>
        </p:nvSpPr>
        <p:spPr>
          <a:xfrm>
            <a:off x="7002684" y="5233609"/>
            <a:ext cx="3044141" cy="646331"/>
          </a:xfrm>
          <a:prstGeom prst="rect">
            <a:avLst/>
          </a:prstGeom>
          <a:noFill/>
        </p:spPr>
        <p:txBody>
          <a:bodyPr wrap="square">
            <a:spAutoFit/>
          </a:bodyPr>
          <a:lstStyle/>
          <a:p>
            <a:r>
              <a:rPr lang="en-US" altLang="zh-TW" dirty="0"/>
              <a:t>Lag</a:t>
            </a:r>
            <a:r>
              <a:rPr lang="zh-TW" altLang="en-US" dirty="0"/>
              <a:t> 是指兩個梯度之間在其對應的輸入空間上的距離。</a:t>
            </a:r>
          </a:p>
        </p:txBody>
      </p:sp>
    </p:spTree>
    <p:extLst>
      <p:ext uri="{BB962C8B-B14F-4D97-AF65-F5344CB8AC3E}">
        <p14:creationId xmlns:p14="http://schemas.microsoft.com/office/powerpoint/2010/main" val="24945768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D8311F5-9D5E-132D-DEEF-27A3471BCDC9}"/>
              </a:ext>
            </a:extLst>
          </p:cNvPr>
          <p:cNvSpPr>
            <a:spLocks noGrp="1"/>
          </p:cNvSpPr>
          <p:nvPr>
            <p:ph type="title"/>
          </p:nvPr>
        </p:nvSpPr>
        <p:spPr/>
        <p:txBody>
          <a:bodyPr/>
          <a:lstStyle/>
          <a:p>
            <a:r>
              <a:rPr lang="zh-TW" altLang="en-US" dirty="0"/>
              <a:t>破碎梯度現象</a:t>
            </a:r>
            <a:endParaRPr kumimoji="1" lang="zh-TW" altLang="en-US" dirty="0"/>
          </a:p>
        </p:txBody>
      </p:sp>
      <p:sp>
        <p:nvSpPr>
          <p:cNvPr id="3" name="內容版面配置區 2">
            <a:extLst>
              <a:ext uri="{FF2B5EF4-FFF2-40B4-BE49-F238E27FC236}">
                <a16:creationId xmlns:a16="http://schemas.microsoft.com/office/drawing/2014/main" id="{0D8209CF-48A2-4FE6-0917-0382F8DE2E5A}"/>
              </a:ext>
            </a:extLst>
          </p:cNvPr>
          <p:cNvSpPr>
            <a:spLocks noGrp="1"/>
          </p:cNvSpPr>
          <p:nvPr>
            <p:ph idx="1"/>
          </p:nvPr>
        </p:nvSpPr>
        <p:spPr/>
        <p:txBody>
          <a:bodyPr/>
          <a:lstStyle/>
          <a:p>
            <a:r>
              <a:rPr kumimoji="1" lang="zh-TW" altLang="en-US" dirty="0"/>
              <a:t>因此，退化問題的主要原因很可能是梯度破碎現象。</a:t>
            </a:r>
            <a:endParaRPr kumimoji="1" lang="en-US" altLang="zh-TW" dirty="0"/>
          </a:p>
          <a:p>
            <a:r>
              <a:rPr kumimoji="1" lang="zh-TW" altLang="en-US" dirty="0"/>
              <a:t>由於退化問題，訓練過深的神經網路變得非常困難。為了解決這個問題，研究者提出了 </a:t>
            </a:r>
            <a:r>
              <a:rPr kumimoji="1" lang="en-US" altLang="zh-TW" dirty="0" err="1"/>
              <a:t>ResNet</a:t>
            </a:r>
            <a:r>
              <a:rPr kumimoji="1" lang="en-US" altLang="zh-TW" dirty="0"/>
              <a:t> </a:t>
            </a:r>
            <a:r>
              <a:rPr kumimoji="1" lang="zh-TW" altLang="en-US" dirty="0"/>
              <a:t>架構，使得我們能夠成功訓練非常深的神經網路。</a:t>
            </a:r>
            <a:endParaRPr kumimoji="1" lang="en-US" altLang="zh-TW" dirty="0"/>
          </a:p>
          <a:p>
            <a:r>
              <a:rPr kumimoji="1" lang="en-US" altLang="zh-TW" dirty="0" err="1"/>
              <a:t>ResNet</a:t>
            </a:r>
            <a:r>
              <a:rPr kumimoji="1" lang="en-US" altLang="zh-TW" dirty="0"/>
              <a:t> </a:t>
            </a:r>
            <a:r>
              <a:rPr kumimoji="1" lang="zh-TW" altLang="en-US" dirty="0"/>
              <a:t>的結構也已經被發現可以有效緩解梯度破碎現象。</a:t>
            </a:r>
          </a:p>
        </p:txBody>
      </p:sp>
      <p:sp>
        <p:nvSpPr>
          <p:cNvPr id="4" name="日期版面配置區 3">
            <a:extLst>
              <a:ext uri="{FF2B5EF4-FFF2-40B4-BE49-F238E27FC236}">
                <a16:creationId xmlns:a16="http://schemas.microsoft.com/office/drawing/2014/main" id="{431DC444-89F0-BBA0-8365-A45D4CCD7A0D}"/>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33C652B7-57B1-AEE5-C434-E1563CAFF5B9}"/>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40630708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ECD5FB6-8903-2368-A0F4-B94A25D55AC4}"/>
              </a:ext>
            </a:extLst>
          </p:cNvPr>
          <p:cNvSpPr>
            <a:spLocks noGrp="1"/>
          </p:cNvSpPr>
          <p:nvPr>
            <p:ph type="title"/>
          </p:nvPr>
        </p:nvSpPr>
        <p:spPr/>
        <p:txBody>
          <a:bodyPr/>
          <a:lstStyle/>
          <a:p>
            <a:r>
              <a:rPr kumimoji="1" lang="en-US" altLang="zh-TW" dirty="0" err="1"/>
              <a:t>ResNet</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F154C8B3-E883-CF24-D181-E562120CB680}"/>
                  </a:ext>
                </a:extLst>
              </p:cNvPr>
              <p:cNvSpPr>
                <a:spLocks noGrp="1"/>
              </p:cNvSpPr>
              <p:nvPr>
                <p:ph idx="1"/>
              </p:nvPr>
            </p:nvSpPr>
            <p:spPr>
              <a:xfrm>
                <a:off x="381965" y="2108201"/>
                <a:ext cx="11391627" cy="3980083"/>
              </a:xfrm>
            </p:spPr>
            <p:txBody>
              <a:bodyPr>
                <a:normAutofit/>
              </a:bodyPr>
              <a:lstStyle/>
              <a:p>
                <a:r>
                  <a:rPr kumimoji="1" lang="en-US" altLang="zh-TW" dirty="0" err="1"/>
                  <a:t>ResNet</a:t>
                </a:r>
                <a:r>
                  <a:rPr kumimoji="1" lang="zh-TW" altLang="en-US" dirty="0"/>
                  <a:t>（</a:t>
                </a:r>
                <a:r>
                  <a:rPr kumimoji="1" lang="en-US" altLang="zh-TW" dirty="0"/>
                  <a:t>Residual Network</a:t>
                </a:r>
                <a:r>
                  <a:rPr kumimoji="1" lang="zh-TW" altLang="en-US" dirty="0"/>
                  <a:t>，殘差網路） 是由由何愷明、張祥雨、任少卿和孫劍等電腦科學家所開發，其成果在 </a:t>
                </a:r>
                <a:r>
                  <a:rPr kumimoji="1" lang="en-US" altLang="zh-TW" dirty="0"/>
                  <a:t>2015</a:t>
                </a:r>
                <a:r>
                  <a:rPr kumimoji="1" lang="zh-TW" altLang="en-US" dirty="0"/>
                  <a:t> 年的 </a:t>
                </a:r>
                <a:r>
                  <a:rPr kumimoji="1" lang="en-US" altLang="zh-TW" dirty="0"/>
                  <a:t>ImageNet</a:t>
                </a:r>
                <a:r>
                  <a:rPr kumimoji="1" lang="zh-TW" altLang="en-US" dirty="0"/>
                  <a:t> 大規模視覺辨識挑戰賽中奪冠。</a:t>
                </a:r>
                <a:endParaRPr kumimoji="1" lang="en-US" altLang="zh-TW" dirty="0"/>
              </a:p>
              <a:p>
                <a:r>
                  <a:rPr kumimoji="1" lang="zh-TW" altLang="en-US" dirty="0"/>
                  <a:t>其原理如下：想像你有一張「不太清楚的圖片」</a:t>
                </a:r>
                <a14:m>
                  <m:oMath xmlns:m="http://schemas.openxmlformats.org/officeDocument/2006/math">
                    <m:r>
                      <a:rPr kumimoji="1" lang="zh-TW" altLang="en-US" i="1" dirty="0">
                        <a:latin typeface="Cambria Math" panose="02040503050406030204" pitchFamily="18" charset="0"/>
                      </a:rPr>
                      <m:t>𝑥</m:t>
                    </m:r>
                  </m:oMath>
                </a14:m>
                <a:r>
                  <a:rPr kumimoji="1" lang="zh-TW" altLang="en-US" dirty="0"/>
                  <a:t>，而我們希望可以訓練出一個深度神經網路 </a:t>
                </a:r>
                <a14:m>
                  <m:oMath xmlns:m="http://schemas.openxmlformats.org/officeDocument/2006/math">
                    <m:r>
                      <a:rPr kumimoji="1" lang="en-US" altLang="zh-TW" i="1" dirty="0">
                        <a:latin typeface="Cambria Math" panose="02040503050406030204" pitchFamily="18" charset="0"/>
                      </a:rPr>
                      <m:t>𝐻</m:t>
                    </m:r>
                  </m:oMath>
                </a14:m>
                <a:r>
                  <a:rPr kumimoji="1" lang="zh-TW" altLang="en-US" dirty="0"/>
                  <a:t>，用途為將不清楚圖片轉為清晰圖片 </a:t>
                </a:r>
                <a14:m>
                  <m:oMath xmlns:m="http://schemas.openxmlformats.org/officeDocument/2006/math">
                    <m:r>
                      <a:rPr kumimoji="1" lang="en-US" altLang="zh-TW" i="1">
                        <a:latin typeface="Cambria Math" panose="02040503050406030204" pitchFamily="18" charset="0"/>
                      </a:rPr>
                      <m:t>𝐻</m:t>
                    </m:r>
                    <m:r>
                      <a:rPr kumimoji="1" lang="en-US" altLang="zh-TW" i="1">
                        <a:latin typeface="Cambria Math" panose="02040503050406030204" pitchFamily="18" charset="0"/>
                      </a:rPr>
                      <m:t>(</m:t>
                    </m:r>
                    <m:r>
                      <a:rPr kumimoji="1" lang="en-US" altLang="zh-TW" i="1">
                        <a:latin typeface="Cambria Math" panose="02040503050406030204" pitchFamily="18" charset="0"/>
                      </a:rPr>
                      <m:t>𝑥</m:t>
                    </m:r>
                    <m:r>
                      <a:rPr kumimoji="1" lang="en-US" altLang="zh-TW" i="1">
                        <a:latin typeface="Cambria Math" panose="02040503050406030204" pitchFamily="18" charset="0"/>
                      </a:rPr>
                      <m:t>)</m:t>
                    </m:r>
                  </m:oMath>
                </a14:m>
                <a:r>
                  <a:rPr kumimoji="1" lang="zh-TW" altLang="en-US" dirty="0"/>
                  <a:t>。</a:t>
                </a:r>
                <a:endParaRPr kumimoji="1" lang="en-US" altLang="zh-TW" dirty="0"/>
              </a:p>
              <a:p>
                <a:pPr>
                  <a:buFont typeface="Wingdings" pitchFamily="2" charset="2"/>
                  <a:buChar char="n"/>
                </a:pPr>
                <a:r>
                  <a:rPr kumimoji="1" lang="zh-TW" altLang="en-US" dirty="0"/>
                  <a:t> 傳統做法是讓深度神經網路直接學習出這樣的函數。但這是一個非常困難的任務，容易學不出來！！</a:t>
                </a:r>
                <a:endParaRPr kumimoji="1" lang="en-US" altLang="zh-TW" dirty="0"/>
              </a:p>
              <a:p>
                <a:pPr>
                  <a:buFont typeface="Wingdings" pitchFamily="2" charset="2"/>
                  <a:buChar char="n"/>
                </a:pPr>
                <a:r>
                  <a:rPr kumimoji="1" lang="zh-TW" altLang="en-US" dirty="0"/>
                  <a:t> </a:t>
                </a:r>
                <a:r>
                  <a:rPr kumimoji="1" lang="en-US" altLang="zh-TW" dirty="0" err="1"/>
                  <a:t>ResNet</a:t>
                </a:r>
                <a:r>
                  <a:rPr kumimoji="1" lang="en-US" altLang="zh-TW" dirty="0"/>
                  <a:t> </a:t>
                </a:r>
                <a:r>
                  <a:rPr kumimoji="1" lang="zh-TW" altLang="en-US" dirty="0"/>
                  <a:t>做法是讓網路不用直接去學如何生成清楚圖片，而是生成「模糊圖片」與「清晰圖片」之間的差異 </a:t>
                </a:r>
                <a14:m>
                  <m:oMath xmlns:m="http://schemas.openxmlformats.org/officeDocument/2006/math">
                    <m:r>
                      <a:rPr kumimoji="1" lang="en-US" altLang="zh-TW" i="1" dirty="0" smtClean="0">
                        <a:latin typeface="Cambria Math" panose="02040503050406030204" pitchFamily="18" charset="0"/>
                      </a:rPr>
                      <m:t>𝐹</m:t>
                    </m:r>
                    <m:r>
                      <a:rPr kumimoji="1" lang="en-US" altLang="zh-TW" i="1" dirty="0" smtClean="0">
                        <a:latin typeface="Cambria Math" panose="02040503050406030204" pitchFamily="18" charset="0"/>
                      </a:rPr>
                      <m:t>(</m:t>
                    </m:r>
                    <m:r>
                      <a:rPr kumimoji="1" lang="en-US" altLang="zh-TW" i="1" dirty="0" smtClean="0">
                        <a:latin typeface="Cambria Math" panose="02040503050406030204" pitchFamily="18" charset="0"/>
                      </a:rPr>
                      <m:t>𝑥</m:t>
                    </m:r>
                    <m:r>
                      <a:rPr kumimoji="1" lang="en-US" altLang="zh-TW" i="1" dirty="0" smtClean="0">
                        <a:latin typeface="Cambria Math" panose="02040503050406030204" pitchFamily="18" charset="0"/>
                      </a:rPr>
                      <m:t>)</m:t>
                    </m:r>
                  </m:oMath>
                </a14:m>
                <a:r>
                  <a:rPr kumimoji="1" lang="zh-TW" altLang="en-US" dirty="0"/>
                  <a:t>。這個差異被稱為殘差（</a:t>
                </a:r>
                <a:r>
                  <a:rPr kumimoji="1" lang="en-US" altLang="zh-TW" dirty="0"/>
                  <a:t>Residual</a:t>
                </a:r>
                <a:r>
                  <a:rPr kumimoji="1" lang="zh-TW" altLang="en-US" dirty="0"/>
                  <a:t>）。</a:t>
                </a:r>
                <a:endParaRPr kumimoji="1" lang="en-US" altLang="zh-TW" dirty="0"/>
              </a:p>
            </p:txBody>
          </p:sp>
        </mc:Choice>
        <mc:Fallback xmlns="">
          <p:sp>
            <p:nvSpPr>
              <p:cNvPr id="3" name="內容版面配置區 2">
                <a:extLst>
                  <a:ext uri="{FF2B5EF4-FFF2-40B4-BE49-F238E27FC236}">
                    <a16:creationId xmlns:a16="http://schemas.microsoft.com/office/drawing/2014/main" id="{F154C8B3-E883-CF24-D181-E562120CB680}"/>
                  </a:ext>
                </a:extLst>
              </p:cNvPr>
              <p:cNvSpPr>
                <a:spLocks noGrp="1" noRot="1" noChangeAspect="1" noMove="1" noResize="1" noEditPoints="1" noAdjustHandles="1" noChangeArrowheads="1" noChangeShapeType="1" noTextEdit="1"/>
              </p:cNvSpPr>
              <p:nvPr>
                <p:ph idx="1"/>
              </p:nvPr>
            </p:nvSpPr>
            <p:spPr>
              <a:xfrm>
                <a:off x="381965" y="2108201"/>
                <a:ext cx="11391627" cy="3980083"/>
              </a:xfrm>
              <a:blipFill>
                <a:blip r:embed="rId2"/>
                <a:stretch>
                  <a:fillRect l="-1561" t="-1274" r="-669"/>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6FF1B84E-C745-04B6-AFE3-76014567C44F}"/>
              </a:ext>
            </a:extLst>
          </p:cNvPr>
          <p:cNvSpPr>
            <a:spLocks noGrp="1"/>
          </p:cNvSpPr>
          <p:nvPr>
            <p:ph type="dt" sz="half" idx="10"/>
          </p:nvPr>
        </p:nvSpPr>
        <p:spPr/>
        <p:txBody>
          <a:bodyPr/>
          <a:lstStyle/>
          <a:p>
            <a:r>
              <a:rPr lang="en-US" altLang="zh-TW" dirty="0"/>
              <a:t>Wilson Ren</a:t>
            </a:r>
          </a:p>
        </p:txBody>
      </p:sp>
      <p:sp>
        <p:nvSpPr>
          <p:cNvPr id="5" name="投影片編號版面配置區 4">
            <a:extLst>
              <a:ext uri="{FF2B5EF4-FFF2-40B4-BE49-F238E27FC236}">
                <a16:creationId xmlns:a16="http://schemas.microsoft.com/office/drawing/2014/main" id="{6AEC07E0-0D71-4D2B-DA32-D33DA252A192}"/>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17416650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A05B76-235A-0885-8EED-445084679B7D}"/>
              </a:ext>
            </a:extLst>
          </p:cNvPr>
          <p:cNvSpPr>
            <a:spLocks noGrp="1"/>
          </p:cNvSpPr>
          <p:nvPr>
            <p:ph type="title"/>
          </p:nvPr>
        </p:nvSpPr>
        <p:spPr/>
        <p:txBody>
          <a:bodyPr/>
          <a:lstStyle/>
          <a:p>
            <a:r>
              <a:rPr kumimoji="1" lang="en-US" altLang="zh-TW" dirty="0" err="1"/>
              <a:t>ResNet</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50D029BD-CC12-3E99-CABA-54942B4564B0}"/>
                  </a:ext>
                </a:extLst>
              </p:cNvPr>
              <p:cNvSpPr>
                <a:spLocks noGrp="1"/>
              </p:cNvSpPr>
              <p:nvPr>
                <p:ph idx="1"/>
              </p:nvPr>
            </p:nvSpPr>
            <p:spPr/>
            <p:txBody>
              <a:bodyPr>
                <a:normAutofit/>
              </a:bodyPr>
              <a:lstStyle/>
              <a:p>
                <a:r>
                  <a:rPr kumimoji="1" lang="zh-TW" altLang="en-US" dirty="0"/>
                  <a:t>深度神經網路變成在學習</a:t>
                </a:r>
                <a14:m>
                  <m:oMath xmlns:m="http://schemas.openxmlformats.org/officeDocument/2006/math">
                    <m:r>
                      <a:rPr kumimoji="1" lang="en-US" altLang="zh-TW" i="1" dirty="0">
                        <a:latin typeface="Cambria Math" panose="02040503050406030204" pitchFamily="18" charset="0"/>
                      </a:rPr>
                      <m:t>𝐹</m:t>
                    </m:r>
                    <m:r>
                      <a:rPr kumimoji="1" lang="en-US" altLang="zh-TW" i="1" dirty="0">
                        <a:latin typeface="Cambria Math" panose="02040503050406030204" pitchFamily="18" charset="0"/>
                      </a:rPr>
                      <m:t>(</m:t>
                    </m:r>
                    <m:r>
                      <a:rPr kumimoji="1" lang="en-US" altLang="zh-TW" i="1" dirty="0">
                        <a:latin typeface="Cambria Math" panose="02040503050406030204" pitchFamily="18" charset="0"/>
                      </a:rPr>
                      <m:t>𝑥</m:t>
                    </m:r>
                    <m:r>
                      <a:rPr kumimoji="1" lang="en-US" altLang="zh-TW" i="1" dirty="0">
                        <a:latin typeface="Cambria Math" panose="02040503050406030204" pitchFamily="18" charset="0"/>
                      </a:rPr>
                      <m:t>) </m:t>
                    </m:r>
                  </m:oMath>
                </a14:m>
                <a:r>
                  <a:rPr kumimoji="1" lang="zh-TW" altLang="en-US" dirty="0"/>
                  <a:t>，使得：</a:t>
                </a:r>
                <a:endParaRPr kumimoji="1" lang="en-US" altLang="zh-TW" dirty="0"/>
              </a:p>
              <a:p>
                <a:pPr algn="ctr"/>
                <a14:m>
                  <m:oMath xmlns:m="http://schemas.openxmlformats.org/officeDocument/2006/math">
                    <m:r>
                      <a:rPr kumimoji="1" lang="en-US" altLang="zh-TW" i="1" dirty="0" smtClean="0">
                        <a:latin typeface="Cambria Math" panose="02040503050406030204" pitchFamily="18" charset="0"/>
                      </a:rPr>
                      <m:t>𝐹</m:t>
                    </m:r>
                    <m:r>
                      <a:rPr kumimoji="1" lang="en-US" altLang="zh-TW" i="1" dirty="0">
                        <a:latin typeface="Cambria Math" panose="02040503050406030204" pitchFamily="18" charset="0"/>
                      </a:rPr>
                      <m:t>(</m:t>
                    </m:r>
                    <m:r>
                      <a:rPr kumimoji="1" lang="en-US" altLang="zh-TW" i="1" dirty="0">
                        <a:latin typeface="Cambria Math" panose="02040503050406030204" pitchFamily="18" charset="0"/>
                      </a:rPr>
                      <m:t>𝑥</m:t>
                    </m:r>
                    <m:r>
                      <a:rPr kumimoji="1" lang="en-US" altLang="zh-TW" i="1" dirty="0">
                        <a:latin typeface="Cambria Math" panose="02040503050406030204" pitchFamily="18" charset="0"/>
                      </a:rPr>
                      <m:t>)=</m:t>
                    </m:r>
                    <m:r>
                      <a:rPr kumimoji="1" lang="en-US" altLang="zh-TW" i="1" dirty="0">
                        <a:latin typeface="Cambria Math" panose="02040503050406030204" pitchFamily="18" charset="0"/>
                      </a:rPr>
                      <m:t>𝐻</m:t>
                    </m:r>
                    <m:r>
                      <a:rPr kumimoji="1" lang="en-US" altLang="zh-TW" i="1" dirty="0">
                        <a:latin typeface="Cambria Math" panose="02040503050406030204" pitchFamily="18" charset="0"/>
                      </a:rPr>
                      <m:t>(</m:t>
                    </m:r>
                    <m:r>
                      <a:rPr kumimoji="1" lang="en-US" altLang="zh-TW" i="1" dirty="0">
                        <a:latin typeface="Cambria Math" panose="02040503050406030204" pitchFamily="18" charset="0"/>
                      </a:rPr>
                      <m:t>𝑥</m:t>
                    </m:r>
                    <m:r>
                      <a:rPr kumimoji="1" lang="en-US" altLang="zh-TW" i="1" dirty="0">
                        <a:latin typeface="Cambria Math" panose="02040503050406030204" pitchFamily="18" charset="0"/>
                      </a:rPr>
                      <m:t>)−</m:t>
                    </m:r>
                    <m:r>
                      <a:rPr kumimoji="1" lang="en-US" altLang="zh-TW" i="1" dirty="0" smtClean="0">
                        <a:latin typeface="Cambria Math" panose="02040503050406030204" pitchFamily="18" charset="0"/>
                      </a:rPr>
                      <m:t>𝑥</m:t>
                    </m:r>
                  </m:oMath>
                </a14:m>
                <a:endParaRPr kumimoji="1" lang="en-US" altLang="zh-TW" dirty="0"/>
              </a:p>
              <a:p>
                <a:r>
                  <a:rPr kumimoji="1" lang="zh-TW" altLang="en-US" dirty="0"/>
                  <a:t>也就是「需要改變什麼才能讓模糊圖片變清楚」。因為網路只要學會「怎麼改進原本的輸入」就好，比直接學完整映射容易很多。最後，只需要將式子改為：</a:t>
                </a:r>
                <a:endParaRPr kumimoji="1" lang="en-US" altLang="zh-TW" dirty="0"/>
              </a:p>
              <a:p>
                <a:pPr marL="0" indent="0">
                  <a:buNone/>
                </a:pPr>
                <a14:m>
                  <m:oMathPara xmlns:m="http://schemas.openxmlformats.org/officeDocument/2006/math">
                    <m:oMathParaPr>
                      <m:jc m:val="center"/>
                    </m:oMathParaPr>
                    <m:oMath xmlns:m="http://schemas.openxmlformats.org/officeDocument/2006/math">
                      <m:r>
                        <a:rPr kumimoji="1" lang="en-US" altLang="zh-TW" i="1" dirty="0">
                          <a:latin typeface="Cambria Math" panose="02040503050406030204" pitchFamily="18" charset="0"/>
                        </a:rPr>
                        <m:t>𝐻</m:t>
                      </m:r>
                      <m:d>
                        <m:dPr>
                          <m:ctrlPr>
                            <a:rPr kumimoji="1" lang="en-US" altLang="zh-TW" i="1" dirty="0">
                              <a:latin typeface="Cambria Math" panose="02040503050406030204" pitchFamily="18" charset="0"/>
                            </a:rPr>
                          </m:ctrlPr>
                        </m:dPr>
                        <m:e>
                          <m:r>
                            <a:rPr kumimoji="1" lang="en-US" altLang="zh-TW" i="1" dirty="0">
                              <a:latin typeface="Cambria Math" panose="02040503050406030204" pitchFamily="18" charset="0"/>
                            </a:rPr>
                            <m:t>𝑥</m:t>
                          </m:r>
                        </m:e>
                      </m:d>
                      <m:r>
                        <a:rPr kumimoji="1" lang="en-US" altLang="zh-TW" b="0" i="1" dirty="0" smtClean="0">
                          <a:latin typeface="Cambria Math" panose="02040503050406030204" pitchFamily="18" charset="0"/>
                        </a:rPr>
                        <m:t>=</m:t>
                      </m:r>
                      <m:r>
                        <a:rPr kumimoji="1" lang="en-US" altLang="zh-TW" b="0" i="1" dirty="0" smtClean="0">
                          <a:latin typeface="Cambria Math" panose="02040503050406030204" pitchFamily="18" charset="0"/>
                        </a:rPr>
                        <m:t>𝐹</m:t>
                      </m:r>
                      <m:d>
                        <m:dPr>
                          <m:ctrlPr>
                            <a:rPr kumimoji="1" lang="en-US" altLang="zh-TW" b="0" i="1" dirty="0" smtClean="0">
                              <a:latin typeface="Cambria Math" panose="02040503050406030204" pitchFamily="18" charset="0"/>
                            </a:rPr>
                          </m:ctrlPr>
                        </m:dPr>
                        <m:e>
                          <m:r>
                            <a:rPr kumimoji="1" lang="en-US" altLang="zh-TW" b="0" i="1" dirty="0" smtClean="0">
                              <a:latin typeface="Cambria Math" panose="02040503050406030204" pitchFamily="18" charset="0"/>
                            </a:rPr>
                            <m:t>𝑥</m:t>
                          </m:r>
                        </m:e>
                      </m:d>
                      <m:r>
                        <a:rPr kumimoji="1" lang="en-US" altLang="zh-TW" b="0" i="1" dirty="0" smtClean="0">
                          <a:latin typeface="Cambria Math" panose="02040503050406030204" pitchFamily="18" charset="0"/>
                        </a:rPr>
                        <m:t>+</m:t>
                      </m:r>
                      <m:r>
                        <a:rPr kumimoji="1" lang="en-US" altLang="zh-TW" b="0" i="1" dirty="0" smtClean="0">
                          <a:latin typeface="Cambria Math" panose="02040503050406030204" pitchFamily="18" charset="0"/>
                        </a:rPr>
                        <m:t>𝑥</m:t>
                      </m:r>
                    </m:oMath>
                  </m:oMathPara>
                </a14:m>
                <a:endParaRPr kumimoji="1" lang="en-US" altLang="zh-TW" dirty="0"/>
              </a:p>
              <a:p>
                <a:r>
                  <a:rPr kumimoji="1" lang="zh-TW" altLang="en-US" dirty="0"/>
                  <a:t>即可得到 </a:t>
                </a:r>
                <a:r>
                  <a:rPr kumimoji="1" lang="en-US" altLang="zh-TW" dirty="0" err="1"/>
                  <a:t>ResNet</a:t>
                </a:r>
                <a:r>
                  <a:rPr kumimoji="1" lang="zh-TW" altLang="en-US" dirty="0"/>
                  <a:t> 的核心理念公式。</a:t>
                </a:r>
                <a:endParaRPr kumimoji="1" lang="en-US" altLang="zh-TW" dirty="0"/>
              </a:p>
            </p:txBody>
          </p:sp>
        </mc:Choice>
        <mc:Fallback xmlns="">
          <p:sp>
            <p:nvSpPr>
              <p:cNvPr id="3" name="內容版面配置區 2">
                <a:extLst>
                  <a:ext uri="{FF2B5EF4-FFF2-40B4-BE49-F238E27FC236}">
                    <a16:creationId xmlns:a16="http://schemas.microsoft.com/office/drawing/2014/main" id="{50D029BD-CC12-3E99-CABA-54942B4564B0}"/>
                  </a:ext>
                </a:extLst>
              </p:cNvPr>
              <p:cNvSpPr>
                <a:spLocks noGrp="1" noRot="1" noChangeAspect="1" noMove="1" noResize="1" noEditPoints="1" noAdjustHandles="1" noChangeArrowheads="1" noChangeShapeType="1" noTextEdit="1"/>
              </p:cNvSpPr>
              <p:nvPr>
                <p:ph idx="1"/>
              </p:nvPr>
            </p:nvSpPr>
            <p:spPr>
              <a:blipFill>
                <a:blip r:embed="rId2"/>
                <a:stretch>
                  <a:fillRect l="-1009" t="-1347"/>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8D4A575E-20E6-94B8-8019-38E9D4F2BA8B}"/>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1494BC63-BE83-6217-6C36-6D1C40D24659}"/>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16418891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77CF416-DDDB-3DCE-8275-606B9BAA4FF6}"/>
              </a:ext>
            </a:extLst>
          </p:cNvPr>
          <p:cNvSpPr>
            <a:spLocks noGrp="1"/>
          </p:cNvSpPr>
          <p:nvPr>
            <p:ph type="title"/>
          </p:nvPr>
        </p:nvSpPr>
        <p:spPr/>
        <p:txBody>
          <a:bodyPr/>
          <a:lstStyle/>
          <a:p>
            <a:r>
              <a:rPr kumimoji="1" lang="en-US" altLang="zh-TW" dirty="0" err="1"/>
              <a:t>ResNet</a:t>
            </a:r>
            <a:endParaRPr kumimoji="1" lang="zh-TW" altLang="en-US" dirty="0"/>
          </a:p>
        </p:txBody>
      </p:sp>
      <p:sp>
        <p:nvSpPr>
          <p:cNvPr id="3" name="內容版面配置區 2">
            <a:extLst>
              <a:ext uri="{FF2B5EF4-FFF2-40B4-BE49-F238E27FC236}">
                <a16:creationId xmlns:a16="http://schemas.microsoft.com/office/drawing/2014/main" id="{E24DD5C0-F503-224B-8C1E-D82A26C7556F}"/>
              </a:ext>
            </a:extLst>
          </p:cNvPr>
          <p:cNvSpPr>
            <a:spLocks noGrp="1"/>
          </p:cNvSpPr>
          <p:nvPr>
            <p:ph idx="1"/>
          </p:nvPr>
        </p:nvSpPr>
        <p:spPr>
          <a:xfrm>
            <a:off x="365586" y="2108201"/>
            <a:ext cx="6926465" cy="3760891"/>
          </a:xfrm>
        </p:spPr>
        <p:txBody>
          <a:bodyPr/>
          <a:lstStyle/>
          <a:p>
            <a:r>
              <a:rPr kumimoji="1" lang="zh-TW" altLang="en-US" dirty="0"/>
              <a:t>根據此核心理念公式，</a:t>
            </a:r>
            <a:r>
              <a:rPr kumimoji="1" lang="en-US" altLang="zh-TW" dirty="0" err="1"/>
              <a:t>ResNet</a:t>
            </a:r>
            <a:r>
              <a:rPr kumimoji="1" lang="zh-TW" altLang="en-US" dirty="0"/>
              <a:t> 作者提出了 </a:t>
            </a:r>
            <a:r>
              <a:rPr kumimoji="1" lang="en-US" altLang="zh-TW" dirty="0"/>
              <a:t>residual block</a:t>
            </a:r>
            <a:r>
              <a:rPr kumimoji="1" lang="zh-TW" altLang="en-US" dirty="0"/>
              <a:t> 的架構。此架構中網路的輸入和輸出之間被加入一種連接。這個連接被稱為 </a:t>
            </a:r>
            <a:r>
              <a:rPr kumimoji="1" lang="en-US" altLang="zh-TW" dirty="0"/>
              <a:t>shortcut connection</a:t>
            </a:r>
            <a:r>
              <a:rPr kumimoji="1" lang="zh-TW" altLang="en-US" dirty="0"/>
              <a:t>，也就是將輸入直接加到輸出的上。</a:t>
            </a:r>
            <a:endParaRPr kumimoji="1" lang="en-US" altLang="zh-TW" dirty="0"/>
          </a:p>
          <a:p>
            <a:r>
              <a:rPr kumimoji="1" lang="zh-TW" altLang="en-US" dirty="0"/>
              <a:t>除了架構設計上的意義，這種設計在數學上也帶來了幾個優勢：</a:t>
            </a:r>
            <a:endParaRPr kumimoji="1" lang="en-US" altLang="zh-TW" dirty="0"/>
          </a:p>
          <a:p>
            <a:pPr marL="457200" indent="-457200">
              <a:buFont typeface="+mj-lt"/>
              <a:buAutoNum type="arabicPeriod"/>
            </a:pPr>
            <a:r>
              <a:rPr kumimoji="1" lang="zh-TW" altLang="en-US" dirty="0"/>
              <a:t>在 </a:t>
            </a:r>
            <a:r>
              <a:rPr kumimoji="1" lang="en-US" altLang="zh-TW" dirty="0"/>
              <a:t>Forward</a:t>
            </a:r>
            <a:r>
              <a:rPr kumimoji="1" lang="zh-TW" altLang="en-US" dirty="0"/>
              <a:t> </a:t>
            </a:r>
            <a:r>
              <a:rPr kumimoji="1" lang="en-US" altLang="zh-TW" dirty="0"/>
              <a:t>Propagation</a:t>
            </a:r>
            <a:r>
              <a:rPr kumimoji="1" lang="zh-TW" altLang="en-US" dirty="0"/>
              <a:t> 中有更好的訊號傳遞。</a:t>
            </a:r>
            <a:endParaRPr kumimoji="1" lang="en-US" altLang="zh-TW" dirty="0"/>
          </a:p>
          <a:p>
            <a:pPr marL="457200" indent="-457200">
              <a:buFont typeface="+mj-lt"/>
              <a:buAutoNum type="arabicPeriod"/>
            </a:pPr>
            <a:r>
              <a:rPr kumimoji="1" lang="zh-TW" altLang="en-US" dirty="0"/>
              <a:t>在 </a:t>
            </a:r>
            <a:r>
              <a:rPr kumimoji="1" lang="en-US" altLang="zh-TW" dirty="0"/>
              <a:t>Backward</a:t>
            </a:r>
            <a:r>
              <a:rPr kumimoji="1" lang="zh-TW" altLang="en-US" dirty="0"/>
              <a:t> </a:t>
            </a:r>
            <a:r>
              <a:rPr kumimoji="1" lang="en-US" altLang="zh-TW" dirty="0"/>
              <a:t>Propagation</a:t>
            </a:r>
            <a:r>
              <a:rPr kumimoji="1" lang="zh-TW" altLang="en-US" dirty="0"/>
              <a:t> 中可緩解梯度消失問題。</a:t>
            </a:r>
            <a:endParaRPr kumimoji="1" lang="en-US" altLang="zh-TW" dirty="0"/>
          </a:p>
        </p:txBody>
      </p:sp>
      <p:sp>
        <p:nvSpPr>
          <p:cNvPr id="4" name="日期版面配置區 3">
            <a:extLst>
              <a:ext uri="{FF2B5EF4-FFF2-40B4-BE49-F238E27FC236}">
                <a16:creationId xmlns:a16="http://schemas.microsoft.com/office/drawing/2014/main" id="{136E70BD-398B-131E-5591-E646E5548B57}"/>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F48ECB06-93C0-3517-9427-802A430A9A6E}"/>
              </a:ext>
            </a:extLst>
          </p:cNvPr>
          <p:cNvSpPr>
            <a:spLocks noGrp="1"/>
          </p:cNvSpPr>
          <p:nvPr>
            <p:ph type="sldNum" sz="quarter" idx="12"/>
          </p:nvPr>
        </p:nvSpPr>
        <p:spPr/>
        <p:txBody>
          <a:bodyPr/>
          <a:lstStyle/>
          <a:p>
            <a:r>
              <a:rPr lang="en-US" altLang="zh-TW" dirty="0"/>
              <a:t>Deep Learning</a:t>
            </a:r>
          </a:p>
        </p:txBody>
      </p:sp>
      <p:pic>
        <p:nvPicPr>
          <p:cNvPr id="7" name="圖片 6" descr="一張含有 圖表, 文字, 字型, 行 的圖片&#10;&#10;AI 產生的內容可能不正確。">
            <a:extLst>
              <a:ext uri="{FF2B5EF4-FFF2-40B4-BE49-F238E27FC236}">
                <a16:creationId xmlns:a16="http://schemas.microsoft.com/office/drawing/2014/main" id="{055D1019-F4CB-F874-6699-32F7EC9D8D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75598" y="3013760"/>
            <a:ext cx="3607989" cy="194977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395797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232D483-4060-C41D-5850-5AF6CB013796}"/>
              </a:ext>
            </a:extLst>
          </p:cNvPr>
          <p:cNvSpPr>
            <a:spLocks noGrp="1"/>
          </p:cNvSpPr>
          <p:nvPr>
            <p:ph type="title"/>
          </p:nvPr>
        </p:nvSpPr>
        <p:spPr/>
        <p:txBody>
          <a:bodyPr/>
          <a:lstStyle/>
          <a:p>
            <a:r>
              <a:rPr kumimoji="1" lang="en-US" altLang="zh-TW" dirty="0" err="1"/>
              <a:t>ResNet</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3FD14D39-5B61-2776-639A-C3ABE94B6F65}"/>
                  </a:ext>
                </a:extLst>
              </p:cNvPr>
              <p:cNvSpPr>
                <a:spLocks noGrp="1"/>
              </p:cNvSpPr>
              <p:nvPr>
                <p:ph idx="1"/>
              </p:nvPr>
            </p:nvSpPr>
            <p:spPr>
              <a:xfrm>
                <a:off x="717630" y="2108201"/>
                <a:ext cx="10857054" cy="3760891"/>
              </a:xfrm>
            </p:spPr>
            <p:txBody>
              <a:bodyPr/>
              <a:lstStyle/>
              <a:p>
                <a:r>
                  <a:rPr kumimoji="1" lang="zh-TW" altLang="en-US" dirty="0"/>
                  <a:t>在 </a:t>
                </a:r>
                <a:r>
                  <a:rPr kumimoji="1" lang="en-US" altLang="zh-TW" dirty="0"/>
                  <a:t>Forward</a:t>
                </a:r>
                <a:r>
                  <a:rPr kumimoji="1" lang="zh-TW" altLang="en-US" dirty="0"/>
                  <a:t> </a:t>
                </a:r>
                <a:r>
                  <a:rPr kumimoji="1" lang="en-US" altLang="zh-TW" dirty="0"/>
                  <a:t>Propagation</a:t>
                </a:r>
                <a:r>
                  <a:rPr kumimoji="1" lang="zh-TW" altLang="en-US" dirty="0"/>
                  <a:t> 中第 </a:t>
                </a:r>
                <a14:m>
                  <m:oMath xmlns:m="http://schemas.openxmlformats.org/officeDocument/2006/math">
                    <m:r>
                      <a:rPr kumimoji="1" lang="en-US" altLang="zh-TW" i="1">
                        <a:latin typeface="Cambria Math" panose="02040503050406030204" pitchFamily="18" charset="0"/>
                      </a:rPr>
                      <m:t>𝑙</m:t>
                    </m:r>
                  </m:oMath>
                </a14:m>
                <a:r>
                  <a:rPr kumimoji="1" lang="zh-TW" altLang="en-US" dirty="0"/>
                  <a:t> 與 </a:t>
                </a:r>
                <a14:m>
                  <m:oMath xmlns:m="http://schemas.openxmlformats.org/officeDocument/2006/math">
                    <m:r>
                      <a:rPr kumimoji="1" lang="en-US" altLang="zh-TW" i="1">
                        <a:latin typeface="Cambria Math" panose="02040503050406030204" pitchFamily="18" charset="0"/>
                      </a:rPr>
                      <m:t>𝑙</m:t>
                    </m:r>
                    <m:r>
                      <a:rPr kumimoji="1" lang="en-US" altLang="zh-TW" i="1">
                        <a:latin typeface="Cambria Math" panose="02040503050406030204" pitchFamily="18" charset="0"/>
                      </a:rPr>
                      <m:t>+1</m:t>
                    </m:r>
                  </m:oMath>
                </a14:m>
                <a:r>
                  <a:rPr kumimoji="1" lang="zh-TW" altLang="en-US" dirty="0"/>
                  <a:t> 層的關係是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𝑥</m:t>
                        </m:r>
                      </m:e>
                      <m:sub>
                        <m:r>
                          <a:rPr kumimoji="1" lang="en-US" altLang="zh-TW" i="1">
                            <a:latin typeface="Cambria Math" panose="02040503050406030204" pitchFamily="18" charset="0"/>
                          </a:rPr>
                          <m:t>𝑙</m:t>
                        </m:r>
                        <m:r>
                          <a:rPr kumimoji="1" lang="en-US" altLang="zh-TW" i="1">
                            <a:latin typeface="Cambria Math" panose="02040503050406030204" pitchFamily="18" charset="0"/>
                          </a:rPr>
                          <m:t>+1</m:t>
                        </m:r>
                      </m:sub>
                    </m:sSub>
                    <m:r>
                      <a:rPr kumimoji="1" lang="en-US" altLang="zh-TW" i="1">
                        <a:latin typeface="Cambria Math" panose="02040503050406030204" pitchFamily="18" charset="0"/>
                      </a:rPr>
                      <m:t>=</m:t>
                    </m:r>
                    <m:r>
                      <a:rPr kumimoji="1" lang="en-US" altLang="zh-TW" i="1">
                        <a:latin typeface="Cambria Math" panose="02040503050406030204" pitchFamily="18" charset="0"/>
                      </a:rPr>
                      <m:t>𝐹</m:t>
                    </m:r>
                    <m:d>
                      <m:dPr>
                        <m:ctrlPr>
                          <a:rPr kumimoji="1" lang="en-US" altLang="zh-TW" i="1">
                            <a:latin typeface="Cambria Math" panose="02040503050406030204" pitchFamily="18" charset="0"/>
                          </a:rPr>
                        </m:ctrlPr>
                      </m:d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𝑥</m:t>
                            </m:r>
                          </m:e>
                          <m:sub>
                            <m:r>
                              <a:rPr kumimoji="1" lang="en-US" altLang="zh-TW" i="1">
                                <a:latin typeface="Cambria Math" panose="02040503050406030204" pitchFamily="18" charset="0"/>
                              </a:rPr>
                              <m:t>𝑙</m:t>
                            </m:r>
                          </m:sub>
                        </m:sSub>
                      </m:e>
                    </m:d>
                    <m:r>
                      <a:rPr kumimoji="1" lang="en-US" altLang="zh-TW" i="1">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𝑥</m:t>
                        </m:r>
                      </m:e>
                      <m:sub>
                        <m:r>
                          <a:rPr kumimoji="1" lang="en-US" altLang="zh-TW" i="1">
                            <a:latin typeface="Cambria Math" panose="02040503050406030204" pitchFamily="18" charset="0"/>
                          </a:rPr>
                          <m:t>𝑙</m:t>
                        </m:r>
                      </m:sub>
                    </m:sSub>
                  </m:oMath>
                </a14:m>
                <a:r>
                  <a:rPr kumimoji="1" lang="zh-TW" altLang="en-US" dirty="0"/>
                  <a:t>。</a:t>
                </a:r>
                <a:endParaRPr kumimoji="1" lang="en-US" altLang="zh-TW" dirty="0"/>
              </a:p>
              <a:p>
                <a:r>
                  <a:rPr kumimoji="1" lang="zh-TW" altLang="en-US" dirty="0"/>
                  <a:t>第 </a:t>
                </a:r>
                <a14:m>
                  <m:oMath xmlns:m="http://schemas.openxmlformats.org/officeDocument/2006/math">
                    <m:r>
                      <a:rPr kumimoji="1" lang="en-US" altLang="zh-TW" i="1">
                        <a:latin typeface="Cambria Math" panose="02040503050406030204" pitchFamily="18" charset="0"/>
                      </a:rPr>
                      <m:t>𝑙</m:t>
                    </m:r>
                    <m:r>
                      <a:rPr kumimoji="1" lang="en-US" altLang="zh-TW" i="1">
                        <a:latin typeface="Cambria Math" panose="02040503050406030204" pitchFamily="18" charset="0"/>
                      </a:rPr>
                      <m:t>+1</m:t>
                    </m:r>
                  </m:oMath>
                </a14:m>
                <a:r>
                  <a:rPr kumimoji="1" lang="zh-TW" altLang="en-US" dirty="0"/>
                  <a:t> 與 </a:t>
                </a:r>
                <a14:m>
                  <m:oMath xmlns:m="http://schemas.openxmlformats.org/officeDocument/2006/math">
                    <m:r>
                      <a:rPr kumimoji="1" lang="en-US" altLang="zh-TW" i="1">
                        <a:latin typeface="Cambria Math" panose="02040503050406030204" pitchFamily="18" charset="0"/>
                      </a:rPr>
                      <m:t>𝑙</m:t>
                    </m:r>
                    <m:r>
                      <a:rPr kumimoji="1" lang="en-US" altLang="zh-TW" i="1">
                        <a:latin typeface="Cambria Math" panose="02040503050406030204" pitchFamily="18" charset="0"/>
                      </a:rPr>
                      <m:t>+2</m:t>
                    </m:r>
                  </m:oMath>
                </a14:m>
                <a:r>
                  <a:rPr kumimoji="1" lang="zh-TW" altLang="en-US" dirty="0"/>
                  <a:t> 層的關係是：</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𝑥</m:t>
                        </m:r>
                      </m:e>
                      <m:sub>
                        <m:r>
                          <a:rPr kumimoji="1" lang="en-US" altLang="zh-TW" i="1">
                            <a:latin typeface="Cambria Math" panose="02040503050406030204" pitchFamily="18" charset="0"/>
                          </a:rPr>
                          <m:t>𝑙</m:t>
                        </m:r>
                        <m:r>
                          <a:rPr kumimoji="1" lang="en-US" altLang="zh-TW" i="1">
                            <a:latin typeface="Cambria Math" panose="02040503050406030204" pitchFamily="18" charset="0"/>
                          </a:rPr>
                          <m:t>+2</m:t>
                        </m:r>
                      </m:sub>
                    </m:sSub>
                    <m:r>
                      <a:rPr kumimoji="1" lang="en-US" altLang="zh-TW" i="1">
                        <a:latin typeface="Cambria Math" panose="02040503050406030204" pitchFamily="18" charset="0"/>
                      </a:rPr>
                      <m:t>=</m:t>
                    </m:r>
                    <m:r>
                      <a:rPr kumimoji="1" lang="en-US" altLang="zh-TW" i="1">
                        <a:latin typeface="Cambria Math" panose="02040503050406030204" pitchFamily="18" charset="0"/>
                      </a:rPr>
                      <m:t>𝐹</m:t>
                    </m:r>
                    <m:d>
                      <m:dPr>
                        <m:ctrlPr>
                          <a:rPr kumimoji="1" lang="en-US" altLang="zh-TW" i="1">
                            <a:latin typeface="Cambria Math" panose="02040503050406030204" pitchFamily="18" charset="0"/>
                          </a:rPr>
                        </m:ctrlPr>
                      </m:d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𝑥</m:t>
                            </m:r>
                          </m:e>
                          <m:sub>
                            <m:r>
                              <a:rPr kumimoji="1" lang="en-US" altLang="zh-TW" i="1">
                                <a:latin typeface="Cambria Math" panose="02040503050406030204" pitchFamily="18" charset="0"/>
                              </a:rPr>
                              <m:t>𝑙</m:t>
                            </m:r>
                            <m:r>
                              <a:rPr kumimoji="1" lang="en-US" altLang="zh-TW" i="1">
                                <a:latin typeface="Cambria Math" panose="02040503050406030204" pitchFamily="18" charset="0"/>
                              </a:rPr>
                              <m:t>+1</m:t>
                            </m:r>
                          </m:sub>
                        </m:sSub>
                      </m:e>
                    </m:d>
                    <m:r>
                      <a:rPr kumimoji="1" lang="en-US" altLang="zh-TW" i="1">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𝑥</m:t>
                        </m:r>
                      </m:e>
                      <m:sub>
                        <m:r>
                          <a:rPr kumimoji="1" lang="en-US" altLang="zh-TW" i="1">
                            <a:latin typeface="Cambria Math" panose="02040503050406030204" pitchFamily="18" charset="0"/>
                          </a:rPr>
                          <m:t>𝑙</m:t>
                        </m:r>
                        <m:r>
                          <a:rPr kumimoji="1" lang="en-US" altLang="zh-TW" i="1">
                            <a:latin typeface="Cambria Math" panose="02040503050406030204" pitchFamily="18" charset="0"/>
                          </a:rPr>
                          <m:t>+1</m:t>
                        </m:r>
                      </m:sub>
                    </m:sSub>
                    <m:r>
                      <a:rPr kumimoji="1" lang="en-US" altLang="zh-TW">
                        <a:latin typeface="Cambria Math" panose="02040503050406030204" pitchFamily="18" charset="0"/>
                      </a:rPr>
                      <m:t>=</m:t>
                    </m:r>
                    <m:r>
                      <a:rPr kumimoji="1" lang="en-US" altLang="zh-TW" i="1">
                        <a:latin typeface="Cambria Math" panose="02040503050406030204" pitchFamily="18" charset="0"/>
                      </a:rPr>
                      <m:t>𝐹</m:t>
                    </m:r>
                    <m:d>
                      <m:dPr>
                        <m:ctrlPr>
                          <a:rPr kumimoji="1" lang="en-US" altLang="zh-TW" i="1">
                            <a:latin typeface="Cambria Math" panose="02040503050406030204" pitchFamily="18" charset="0"/>
                          </a:rPr>
                        </m:ctrlPr>
                      </m:d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𝑥</m:t>
                            </m:r>
                          </m:e>
                          <m:sub>
                            <m:r>
                              <a:rPr kumimoji="1" lang="en-US" altLang="zh-TW" i="1">
                                <a:latin typeface="Cambria Math" panose="02040503050406030204" pitchFamily="18" charset="0"/>
                              </a:rPr>
                              <m:t>𝑙</m:t>
                            </m:r>
                            <m:r>
                              <a:rPr kumimoji="1" lang="en-US" altLang="zh-TW" i="1">
                                <a:latin typeface="Cambria Math" panose="02040503050406030204" pitchFamily="18" charset="0"/>
                              </a:rPr>
                              <m:t>+1</m:t>
                            </m:r>
                          </m:sub>
                        </m:sSub>
                      </m:e>
                    </m:d>
                    <m:r>
                      <a:rPr kumimoji="1" lang="en-US" altLang="zh-TW" i="1">
                        <a:latin typeface="Cambria Math" panose="02040503050406030204" pitchFamily="18" charset="0"/>
                      </a:rPr>
                      <m:t>+</m:t>
                    </m:r>
                    <m:r>
                      <a:rPr kumimoji="1" lang="en-US" altLang="zh-TW" i="1">
                        <a:latin typeface="Cambria Math" panose="02040503050406030204" pitchFamily="18" charset="0"/>
                      </a:rPr>
                      <m:t>𝐹</m:t>
                    </m:r>
                    <m:d>
                      <m:dPr>
                        <m:ctrlPr>
                          <a:rPr kumimoji="1" lang="en-US" altLang="zh-TW" i="1">
                            <a:latin typeface="Cambria Math" panose="02040503050406030204" pitchFamily="18" charset="0"/>
                          </a:rPr>
                        </m:ctrlPr>
                      </m:d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𝑥</m:t>
                            </m:r>
                          </m:e>
                          <m:sub>
                            <m:r>
                              <a:rPr kumimoji="1" lang="en-US" altLang="zh-TW" i="1">
                                <a:latin typeface="Cambria Math" panose="02040503050406030204" pitchFamily="18" charset="0"/>
                              </a:rPr>
                              <m:t>𝑙</m:t>
                            </m:r>
                          </m:sub>
                        </m:sSub>
                      </m:e>
                    </m:d>
                    <m:r>
                      <a:rPr kumimoji="1" lang="en-US" altLang="zh-TW" i="1">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𝑥</m:t>
                        </m:r>
                      </m:e>
                      <m:sub>
                        <m:r>
                          <a:rPr kumimoji="1" lang="en-US" altLang="zh-TW" i="1">
                            <a:latin typeface="Cambria Math" panose="02040503050406030204" pitchFamily="18" charset="0"/>
                          </a:rPr>
                          <m:t>𝑙</m:t>
                        </m:r>
                      </m:sub>
                    </m:sSub>
                  </m:oMath>
                </a14:m>
                <a:r>
                  <a:rPr kumimoji="1" lang="zh-TW" altLang="en-US" dirty="0"/>
                  <a:t>。</a:t>
                </a:r>
                <a:endParaRPr kumimoji="1" lang="en-US" altLang="zh-TW" dirty="0"/>
              </a:p>
              <a:p>
                <a:r>
                  <a:rPr kumimoji="1" lang="zh-TW" altLang="en-US" dirty="0"/>
                  <a:t>因此，我們知道第 </a:t>
                </a:r>
                <a14:m>
                  <m:oMath xmlns:m="http://schemas.openxmlformats.org/officeDocument/2006/math">
                    <m:r>
                      <a:rPr kumimoji="1" lang="en-US" altLang="zh-TW" i="1">
                        <a:latin typeface="Cambria Math" panose="02040503050406030204" pitchFamily="18" charset="0"/>
                      </a:rPr>
                      <m:t>𝐿</m:t>
                    </m:r>
                  </m:oMath>
                </a14:m>
                <a:r>
                  <a:rPr kumimoji="1" lang="zh-TW" altLang="en-US" dirty="0"/>
                  <a:t> 層的公式可以寫為：</a:t>
                </a:r>
                <a:endParaRPr kumimoji="1" lang="en-US" altLang="zh-TW" dirty="0"/>
              </a:p>
              <a:p>
                <a:pPr marL="0" indent="0">
                  <a:buNone/>
                </a:pPr>
                <a14:m>
                  <m:oMathPara xmlns:m="http://schemas.openxmlformats.org/officeDocument/2006/math">
                    <m:oMathParaPr>
                      <m:jc m:val="centerGroup"/>
                    </m:oMathParaPr>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𝑥</m:t>
                          </m:r>
                        </m:e>
                        <m:sub>
                          <m:r>
                            <a:rPr kumimoji="1" lang="en-US" altLang="zh-TW" i="1">
                              <a:latin typeface="Cambria Math" panose="02040503050406030204" pitchFamily="18" charset="0"/>
                            </a:rPr>
                            <m:t>𝐿</m:t>
                          </m:r>
                        </m:sub>
                      </m:sSub>
                      <m:r>
                        <a:rPr kumimoji="1" lang="en-US" altLang="zh-TW" i="1">
                          <a:latin typeface="Cambria Math" panose="02040503050406030204" pitchFamily="18" charset="0"/>
                        </a:rPr>
                        <m:t>=</m:t>
                      </m:r>
                      <m:nary>
                        <m:naryPr>
                          <m:chr m:val="∑"/>
                          <m:ctrlPr>
                            <a:rPr kumimoji="1" lang="en-US" altLang="zh-TW" i="1">
                              <a:latin typeface="Cambria Math" panose="02040503050406030204" pitchFamily="18" charset="0"/>
                            </a:rPr>
                          </m:ctrlPr>
                        </m:naryPr>
                        <m:sub>
                          <m:r>
                            <m:rPr>
                              <m:brk m:alnAt="23"/>
                            </m:rPr>
                            <a:rPr kumimoji="1" lang="en-US" altLang="zh-TW" i="1">
                              <a:latin typeface="Cambria Math" panose="02040503050406030204" pitchFamily="18" charset="0"/>
                            </a:rPr>
                            <m:t>𝑖</m:t>
                          </m:r>
                          <m:r>
                            <a:rPr kumimoji="1" lang="en-US" altLang="zh-TW" i="1">
                              <a:latin typeface="Cambria Math" panose="02040503050406030204" pitchFamily="18" charset="0"/>
                            </a:rPr>
                            <m:t>=</m:t>
                          </m:r>
                          <m:r>
                            <a:rPr kumimoji="1" lang="en-US" altLang="zh-TW" i="1">
                              <a:latin typeface="Cambria Math" panose="02040503050406030204" pitchFamily="18" charset="0"/>
                            </a:rPr>
                            <m:t>𝑙</m:t>
                          </m:r>
                        </m:sub>
                        <m:sup>
                          <m:r>
                            <a:rPr kumimoji="1" lang="en-US" altLang="zh-TW" i="1">
                              <a:latin typeface="Cambria Math" panose="02040503050406030204" pitchFamily="18" charset="0"/>
                            </a:rPr>
                            <m:t>𝐿</m:t>
                          </m:r>
                          <m:r>
                            <a:rPr kumimoji="1" lang="en-US" altLang="zh-TW" i="1">
                              <a:latin typeface="Cambria Math" panose="02040503050406030204" pitchFamily="18" charset="0"/>
                            </a:rPr>
                            <m:t>−1</m:t>
                          </m:r>
                        </m:sup>
                        <m:e>
                          <m:r>
                            <a:rPr kumimoji="1" lang="en-US" altLang="zh-TW" i="1">
                              <a:latin typeface="Cambria Math" panose="02040503050406030204" pitchFamily="18" charset="0"/>
                            </a:rPr>
                            <m:t>𝐹</m:t>
                          </m:r>
                          <m:d>
                            <m:dPr>
                              <m:ctrlPr>
                                <a:rPr kumimoji="1" lang="en-US" altLang="zh-TW" i="1">
                                  <a:latin typeface="Cambria Math" panose="02040503050406030204" pitchFamily="18" charset="0"/>
                                </a:rPr>
                              </m:ctrlPr>
                            </m:d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𝑥</m:t>
                                  </m:r>
                                </m:e>
                                <m:sub>
                                  <m:r>
                                    <a:rPr kumimoji="1" lang="en-US" altLang="zh-TW" i="1">
                                      <a:latin typeface="Cambria Math" panose="02040503050406030204" pitchFamily="18" charset="0"/>
                                    </a:rPr>
                                    <m:t>𝑖</m:t>
                                  </m:r>
                                </m:sub>
                              </m:sSub>
                            </m:e>
                          </m:d>
                          <m:r>
                            <a:rPr kumimoji="1" lang="en-US" altLang="zh-TW" i="1">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𝑥</m:t>
                              </m:r>
                            </m:e>
                            <m:sub>
                              <m:r>
                                <a:rPr kumimoji="1" lang="en-US" altLang="zh-TW" i="1">
                                  <a:latin typeface="Cambria Math" panose="02040503050406030204" pitchFamily="18" charset="0"/>
                                </a:rPr>
                                <m:t>𝑙</m:t>
                              </m:r>
                            </m:sub>
                          </m:sSub>
                        </m:e>
                      </m:nary>
                    </m:oMath>
                  </m:oMathPara>
                </a14:m>
                <a:endParaRPr kumimoji="1" lang="en-US" altLang="zh-TW" dirty="0"/>
              </a:p>
              <a:p>
                <a:r>
                  <a:rPr kumimoji="1" lang="zh-TW" altLang="en-US" dirty="0"/>
                  <a:t>這個式子表明，總有一個訊號直接從較淺的 </a:t>
                </a:r>
                <a:r>
                  <a:rPr kumimoji="1" lang="en-US" altLang="zh-TW" dirty="0"/>
                  <a:t>block</a:t>
                </a:r>
                <a:r>
                  <a:rPr kumimoji="1" lang="zh-TW" altLang="en-US" dirty="0"/>
                  <a:t> </a:t>
                </a:r>
                <a14:m>
                  <m:oMath xmlns:m="http://schemas.openxmlformats.org/officeDocument/2006/math">
                    <m:r>
                      <a:rPr kumimoji="1" lang="en-US" altLang="zh-TW" i="1">
                        <a:latin typeface="Cambria Math" panose="02040503050406030204" pitchFamily="18" charset="0"/>
                      </a:rPr>
                      <m:t>𝑙</m:t>
                    </m:r>
                  </m:oMath>
                </a14:m>
                <a:r>
                  <a:rPr kumimoji="1" lang="zh-TW" altLang="en-US" dirty="0"/>
                  <a:t> 傳送到較深的 </a:t>
                </a:r>
                <a:r>
                  <a:rPr kumimoji="1" lang="en-US" altLang="zh-TW" dirty="0"/>
                  <a:t>block</a:t>
                </a:r>
                <a:r>
                  <a:rPr kumimoji="1" lang="zh-TW" altLang="en-US" dirty="0"/>
                  <a:t> 𝐿 。</a:t>
                </a:r>
              </a:p>
            </p:txBody>
          </p:sp>
        </mc:Choice>
        <mc:Fallback xmlns="">
          <p:sp>
            <p:nvSpPr>
              <p:cNvPr id="3" name="內容版面配置區 2">
                <a:extLst>
                  <a:ext uri="{FF2B5EF4-FFF2-40B4-BE49-F238E27FC236}">
                    <a16:creationId xmlns:a16="http://schemas.microsoft.com/office/drawing/2014/main" id="{3FD14D39-5B61-2776-639A-C3ABE94B6F65}"/>
                  </a:ext>
                </a:extLst>
              </p:cNvPr>
              <p:cNvSpPr>
                <a:spLocks noGrp="1" noRot="1" noChangeAspect="1" noMove="1" noResize="1" noEditPoints="1" noAdjustHandles="1" noChangeArrowheads="1" noChangeShapeType="1" noTextEdit="1"/>
              </p:cNvSpPr>
              <p:nvPr>
                <p:ph idx="1"/>
              </p:nvPr>
            </p:nvSpPr>
            <p:spPr>
              <a:xfrm>
                <a:off x="717630" y="2108201"/>
                <a:ext cx="10857054" cy="3760891"/>
              </a:xfrm>
              <a:blipFill>
                <a:blip r:embed="rId2"/>
                <a:stretch>
                  <a:fillRect l="-935" t="-1347" b="-17172"/>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D01BAAE3-DEC7-2588-5289-8CC4B0A5AD1F}"/>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E02574A0-2448-05D7-6BB4-D27640E59BC2}"/>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14637455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661C946-F879-788F-1E88-0172DB008043}"/>
              </a:ext>
            </a:extLst>
          </p:cNvPr>
          <p:cNvSpPr>
            <a:spLocks noGrp="1"/>
          </p:cNvSpPr>
          <p:nvPr>
            <p:ph type="title"/>
          </p:nvPr>
        </p:nvSpPr>
        <p:spPr/>
        <p:txBody>
          <a:bodyPr/>
          <a:lstStyle/>
          <a:p>
            <a:r>
              <a:rPr kumimoji="1" lang="en-US" altLang="zh-TW" dirty="0" err="1"/>
              <a:t>ResNet</a:t>
            </a:r>
            <a:endParaRPr kumimoji="1" lang="zh-TW" altLang="en-US" dirty="0"/>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C5AA87A1-5947-4E20-0429-633D4FBAD1AE}"/>
                  </a:ext>
                </a:extLst>
              </p:cNvPr>
              <p:cNvSpPr>
                <a:spLocks noGrp="1"/>
              </p:cNvSpPr>
              <p:nvPr>
                <p:ph idx="1"/>
              </p:nvPr>
            </p:nvSpPr>
            <p:spPr>
              <a:xfrm>
                <a:off x="244997" y="2096626"/>
                <a:ext cx="11702005" cy="4223151"/>
              </a:xfrm>
            </p:spPr>
            <p:txBody>
              <a:bodyPr>
                <a:noAutofit/>
              </a:bodyPr>
              <a:lstStyle/>
              <a:p>
                <a:r>
                  <a:rPr kumimoji="1" lang="zh-TW" altLang="en-US" dirty="0"/>
                  <a:t>雖然梯度消失問題並非退化問題的造成原因，但 </a:t>
                </a:r>
                <a:r>
                  <a:rPr kumimoji="1" lang="en-US" altLang="zh-TW" dirty="0" err="1"/>
                  <a:t>ResNet</a:t>
                </a:r>
                <a:r>
                  <a:rPr kumimoji="1" lang="zh-TW" altLang="en-US" dirty="0"/>
                  <a:t> 的架構也有助於緩解梯度消失：</a:t>
                </a:r>
                <a:endParaRPr kumimoji="1" lang="en-US" altLang="zh-TW" dirty="0"/>
              </a:p>
              <a:p>
                <a:pPr marL="0" indent="0">
                  <a:buNone/>
                </a:pPr>
                <a14:m>
                  <m:oMathPara xmlns:m="http://schemas.openxmlformats.org/officeDocument/2006/math">
                    <m:oMathParaPr>
                      <m:jc m:val="left"/>
                    </m:oMathParaPr>
                    <m:oMath xmlns:m="http://schemas.openxmlformats.org/officeDocument/2006/math">
                      <m:f>
                        <m:fPr>
                          <m:ctrlPr>
                            <a:rPr kumimoji="1" lang="en-US" altLang="zh-TW" i="1" smtClean="0">
                              <a:latin typeface="Cambria Math" panose="02040503050406030204" pitchFamily="18" charset="0"/>
                            </a:rPr>
                          </m:ctrlPr>
                        </m:fPr>
                        <m:num>
                          <m:r>
                            <a:rPr kumimoji="1" lang="en-US" altLang="zh-TW" i="1" smtClean="0">
                              <a:latin typeface="Cambria Math" panose="02040503050406030204" pitchFamily="18" charset="0"/>
                              <a:ea typeface="Cambria Math" panose="02040503050406030204" pitchFamily="18" charset="0"/>
                            </a:rPr>
                            <m:t>𝜕</m:t>
                          </m:r>
                          <m:r>
                            <a:rPr kumimoji="1" lang="en-US" altLang="zh-TW" b="0" i="1" smtClean="0">
                              <a:latin typeface="Cambria Math" panose="02040503050406030204" pitchFamily="18" charset="0"/>
                              <a:ea typeface="Cambria Math" panose="02040503050406030204" pitchFamily="18" charset="0"/>
                            </a:rPr>
                            <m:t>𝐿</m:t>
                          </m:r>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𝑥</m:t>
                              </m:r>
                            </m:e>
                            <m:sub>
                              <m:r>
                                <a:rPr kumimoji="1" lang="en-US" altLang="zh-TW" i="1">
                                  <a:latin typeface="Cambria Math" panose="02040503050406030204" pitchFamily="18" charset="0"/>
                                </a:rPr>
                                <m:t>𝑙</m:t>
                              </m:r>
                            </m:sub>
                          </m:sSub>
                        </m:den>
                      </m:f>
                      <m:r>
                        <a:rPr kumimoji="1" lang="en-US" altLang="zh-TW" b="0" i="1" smtClean="0">
                          <a:latin typeface="Cambria Math" panose="02040503050406030204" pitchFamily="18" charset="0"/>
                        </a:rPr>
                        <m:t>=</m:t>
                      </m:r>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𝐿</m:t>
                          </m:r>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𝑥</m:t>
                              </m:r>
                            </m:e>
                            <m:sub>
                              <m:r>
                                <a:rPr kumimoji="1" lang="en-US" altLang="zh-TW" b="0" i="1" smtClean="0">
                                  <a:latin typeface="Cambria Math" panose="02040503050406030204" pitchFamily="18" charset="0"/>
                                </a:rPr>
                                <m:t>𝐿</m:t>
                              </m:r>
                            </m:sub>
                          </m:sSub>
                        </m:den>
                      </m:f>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𝑥</m:t>
                              </m:r>
                            </m:e>
                            <m:sub>
                              <m:r>
                                <a:rPr kumimoji="1" lang="en-US" altLang="zh-TW" i="1">
                                  <a:latin typeface="Cambria Math" panose="02040503050406030204" pitchFamily="18" charset="0"/>
                                </a:rPr>
                                <m:t>𝐿</m:t>
                              </m:r>
                            </m:sub>
                          </m:sSub>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𝑥</m:t>
                              </m:r>
                            </m:e>
                            <m:sub>
                              <m:r>
                                <a:rPr kumimoji="1" lang="en-US" altLang="zh-TW" i="1">
                                  <a:latin typeface="Cambria Math" panose="02040503050406030204" pitchFamily="18" charset="0"/>
                                </a:rPr>
                                <m:t>𝑙</m:t>
                              </m:r>
                            </m:sub>
                          </m:sSub>
                        </m:den>
                      </m:f>
                      <m:r>
                        <a:rPr kumimoji="1" lang="en-US" altLang="zh-TW" b="0" i="1" smtClean="0">
                          <a:latin typeface="Cambria Math" panose="02040503050406030204" pitchFamily="18" charset="0"/>
                        </a:rPr>
                        <m:t>=</m:t>
                      </m:r>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𝐿</m:t>
                          </m:r>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𝑥</m:t>
                              </m:r>
                            </m:e>
                            <m:sub>
                              <m:r>
                                <a:rPr kumimoji="1" lang="en-US" altLang="zh-TW" i="1">
                                  <a:latin typeface="Cambria Math" panose="02040503050406030204" pitchFamily="18" charset="0"/>
                                </a:rPr>
                                <m:t>𝐿</m:t>
                              </m:r>
                            </m:sub>
                          </m:sSub>
                        </m:den>
                      </m:f>
                      <m:d>
                        <m:dPr>
                          <m:ctrlPr>
                            <a:rPr kumimoji="1" lang="en-US" altLang="zh-TW" b="0" i="1" smtClean="0">
                              <a:latin typeface="Cambria Math" panose="02040503050406030204" pitchFamily="18" charset="0"/>
                            </a:rPr>
                          </m:ctrlPr>
                        </m:dPr>
                        <m:e>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𝑥</m:t>
                                  </m:r>
                                </m:e>
                                <m:sub>
                                  <m:r>
                                    <a:rPr kumimoji="1" lang="en-US" altLang="zh-TW" i="1">
                                      <a:latin typeface="Cambria Math" panose="02040503050406030204" pitchFamily="18" charset="0"/>
                                    </a:rPr>
                                    <m:t>𝑙</m:t>
                                  </m:r>
                                </m:sub>
                              </m:sSub>
                            </m:den>
                          </m:f>
                          <m:nary>
                            <m:naryPr>
                              <m:chr m:val="∑"/>
                              <m:ctrlPr>
                                <a:rPr kumimoji="1" lang="en-US" altLang="zh-TW" i="1">
                                  <a:latin typeface="Cambria Math" panose="02040503050406030204" pitchFamily="18" charset="0"/>
                                </a:rPr>
                              </m:ctrlPr>
                            </m:naryPr>
                            <m:sub>
                              <m:r>
                                <m:rPr>
                                  <m:brk m:alnAt="23"/>
                                </m:rPr>
                                <a:rPr kumimoji="1" lang="en-US" altLang="zh-TW" i="1">
                                  <a:latin typeface="Cambria Math" panose="02040503050406030204" pitchFamily="18" charset="0"/>
                                </a:rPr>
                                <m:t>𝑖</m:t>
                              </m:r>
                              <m:r>
                                <a:rPr kumimoji="1" lang="en-US" altLang="zh-TW" i="1">
                                  <a:latin typeface="Cambria Math" panose="02040503050406030204" pitchFamily="18" charset="0"/>
                                </a:rPr>
                                <m:t>=</m:t>
                              </m:r>
                              <m:r>
                                <a:rPr kumimoji="1" lang="en-US" altLang="zh-TW" i="1">
                                  <a:latin typeface="Cambria Math" panose="02040503050406030204" pitchFamily="18" charset="0"/>
                                </a:rPr>
                                <m:t>𝑙</m:t>
                              </m:r>
                            </m:sub>
                            <m:sup>
                              <m:r>
                                <a:rPr kumimoji="1" lang="en-US" altLang="zh-TW" i="1">
                                  <a:latin typeface="Cambria Math" panose="02040503050406030204" pitchFamily="18" charset="0"/>
                                </a:rPr>
                                <m:t>𝐿</m:t>
                              </m:r>
                              <m:r>
                                <a:rPr kumimoji="1" lang="en-US" altLang="zh-TW" i="1">
                                  <a:latin typeface="Cambria Math" panose="02040503050406030204" pitchFamily="18" charset="0"/>
                                </a:rPr>
                                <m:t>−1</m:t>
                              </m:r>
                            </m:sup>
                            <m:e>
                              <m:r>
                                <a:rPr kumimoji="1" lang="en-US" altLang="zh-TW" i="1">
                                  <a:latin typeface="Cambria Math" panose="02040503050406030204" pitchFamily="18" charset="0"/>
                                </a:rPr>
                                <m:t>𝐹</m:t>
                              </m:r>
                              <m:d>
                                <m:dPr>
                                  <m:ctrlPr>
                                    <a:rPr kumimoji="1" lang="en-US" altLang="zh-TW" i="1">
                                      <a:latin typeface="Cambria Math" panose="02040503050406030204" pitchFamily="18" charset="0"/>
                                    </a:rPr>
                                  </m:ctrlPr>
                                </m:d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𝑥</m:t>
                                      </m:r>
                                    </m:e>
                                    <m:sub>
                                      <m:r>
                                        <a:rPr kumimoji="1" lang="en-US" altLang="zh-TW" i="1">
                                          <a:latin typeface="Cambria Math" panose="02040503050406030204" pitchFamily="18" charset="0"/>
                                        </a:rPr>
                                        <m:t>𝑖</m:t>
                                      </m:r>
                                    </m:sub>
                                  </m:sSub>
                                </m:e>
                              </m:d>
                              <m:r>
                                <a:rPr kumimoji="1" lang="en-US" altLang="zh-TW" i="1">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𝑥</m:t>
                                  </m:r>
                                </m:e>
                                <m:sub>
                                  <m:r>
                                    <a:rPr kumimoji="1" lang="en-US" altLang="zh-TW" i="1">
                                      <a:latin typeface="Cambria Math" panose="02040503050406030204" pitchFamily="18" charset="0"/>
                                    </a:rPr>
                                    <m:t>𝑙</m:t>
                                  </m:r>
                                </m:sub>
                              </m:sSub>
                            </m:e>
                          </m:nary>
                        </m:e>
                      </m:d>
                      <m:r>
                        <a:rPr kumimoji="1" lang="en-US" altLang="zh-TW" b="0" i="1" smtClean="0">
                          <a:latin typeface="Cambria Math" panose="02040503050406030204" pitchFamily="18" charset="0"/>
                        </a:rPr>
                        <m:t>=</m:t>
                      </m:r>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𝐿</m:t>
                          </m:r>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𝑥</m:t>
                              </m:r>
                            </m:e>
                            <m:sub>
                              <m:r>
                                <a:rPr kumimoji="1" lang="en-US" altLang="zh-TW" i="1">
                                  <a:latin typeface="Cambria Math" panose="02040503050406030204" pitchFamily="18" charset="0"/>
                                </a:rPr>
                                <m:t>𝐿</m:t>
                              </m:r>
                            </m:sub>
                          </m:sSub>
                        </m:den>
                      </m:f>
                      <m:d>
                        <m:dPr>
                          <m:ctrlPr>
                            <a:rPr kumimoji="1" lang="en-US" altLang="zh-TW" b="0" i="1" smtClean="0">
                              <a:latin typeface="Cambria Math" panose="02040503050406030204" pitchFamily="18" charset="0"/>
                            </a:rPr>
                          </m:ctrlPr>
                        </m:dPr>
                        <m:e>
                          <m:r>
                            <a:rPr kumimoji="1" lang="en-US" altLang="zh-TW" b="0" i="1" smtClean="0">
                              <a:latin typeface="Cambria Math" panose="02040503050406030204" pitchFamily="18" charset="0"/>
                            </a:rPr>
                            <m:t>1+</m:t>
                          </m:r>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𝑥</m:t>
                                  </m:r>
                                </m:e>
                                <m:sub>
                                  <m:r>
                                    <a:rPr kumimoji="1" lang="en-US" altLang="zh-TW" i="1">
                                      <a:latin typeface="Cambria Math" panose="02040503050406030204" pitchFamily="18" charset="0"/>
                                    </a:rPr>
                                    <m:t>𝑙</m:t>
                                  </m:r>
                                </m:sub>
                              </m:sSub>
                            </m:den>
                          </m:f>
                          <m:nary>
                            <m:naryPr>
                              <m:chr m:val="∑"/>
                              <m:ctrlPr>
                                <a:rPr kumimoji="1" lang="en-US" altLang="zh-TW" i="1" smtClean="0">
                                  <a:latin typeface="Cambria Math" panose="02040503050406030204" pitchFamily="18" charset="0"/>
                                </a:rPr>
                              </m:ctrlPr>
                            </m:naryPr>
                            <m:sub>
                              <m:r>
                                <m:rPr>
                                  <m:brk m:alnAt="23"/>
                                </m:rPr>
                                <a:rPr kumimoji="1" lang="en-US" altLang="zh-TW" i="1">
                                  <a:latin typeface="Cambria Math" panose="02040503050406030204" pitchFamily="18" charset="0"/>
                                </a:rPr>
                                <m:t>𝑖</m:t>
                              </m:r>
                              <m:r>
                                <a:rPr kumimoji="1" lang="en-US" altLang="zh-TW" i="1">
                                  <a:latin typeface="Cambria Math" panose="02040503050406030204" pitchFamily="18" charset="0"/>
                                </a:rPr>
                                <m:t>=</m:t>
                              </m:r>
                              <m:r>
                                <a:rPr kumimoji="1" lang="en-US" altLang="zh-TW" i="1">
                                  <a:latin typeface="Cambria Math" panose="02040503050406030204" pitchFamily="18" charset="0"/>
                                </a:rPr>
                                <m:t>𝑙</m:t>
                              </m:r>
                            </m:sub>
                            <m:sup>
                              <m:r>
                                <a:rPr kumimoji="1" lang="en-US" altLang="zh-TW" i="1">
                                  <a:latin typeface="Cambria Math" panose="02040503050406030204" pitchFamily="18" charset="0"/>
                                </a:rPr>
                                <m:t>𝐿</m:t>
                              </m:r>
                              <m:r>
                                <a:rPr kumimoji="1" lang="en-US" altLang="zh-TW" i="1">
                                  <a:latin typeface="Cambria Math" panose="02040503050406030204" pitchFamily="18" charset="0"/>
                                </a:rPr>
                                <m:t>−1</m:t>
                              </m:r>
                            </m:sup>
                            <m:e>
                              <m:r>
                                <a:rPr kumimoji="1" lang="en-US" altLang="zh-TW" i="1">
                                  <a:latin typeface="Cambria Math" panose="02040503050406030204" pitchFamily="18" charset="0"/>
                                </a:rPr>
                                <m:t>𝐹</m:t>
                              </m:r>
                              <m:d>
                                <m:dPr>
                                  <m:ctrlPr>
                                    <a:rPr kumimoji="1" lang="en-US" altLang="zh-TW" i="1">
                                      <a:latin typeface="Cambria Math" panose="02040503050406030204" pitchFamily="18" charset="0"/>
                                    </a:rPr>
                                  </m:ctrlPr>
                                </m:d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𝑥</m:t>
                                      </m:r>
                                    </m:e>
                                    <m:sub>
                                      <m:r>
                                        <a:rPr kumimoji="1" lang="en-US" altLang="zh-TW" i="1">
                                          <a:latin typeface="Cambria Math" panose="02040503050406030204" pitchFamily="18" charset="0"/>
                                        </a:rPr>
                                        <m:t>𝑖</m:t>
                                      </m:r>
                                    </m:sub>
                                  </m:sSub>
                                </m:e>
                              </m:d>
                            </m:e>
                          </m:nary>
                        </m:e>
                      </m:d>
                    </m:oMath>
                  </m:oMathPara>
                </a14:m>
                <a:endParaRPr kumimoji="1" lang="en-US" altLang="zh-TW" b="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kumimoji="1" lang="en-US" altLang="zh-TW" b="0" i="1" smtClean="0">
                          <a:latin typeface="Cambria Math" panose="02040503050406030204" pitchFamily="18" charset="0"/>
                        </a:rPr>
                        <m:t>=</m:t>
                      </m:r>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𝐿</m:t>
                          </m:r>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𝑥</m:t>
                              </m:r>
                            </m:e>
                            <m:sub>
                              <m:r>
                                <a:rPr kumimoji="1" lang="en-US" altLang="zh-TW" i="1">
                                  <a:latin typeface="Cambria Math" panose="02040503050406030204" pitchFamily="18" charset="0"/>
                                </a:rPr>
                                <m:t>𝐿</m:t>
                              </m:r>
                            </m:sub>
                          </m:sSub>
                        </m:den>
                      </m:f>
                      <m:r>
                        <a:rPr kumimoji="1" lang="en-US" altLang="zh-TW" b="0" i="1" smtClean="0">
                          <a:latin typeface="Cambria Math" panose="02040503050406030204" pitchFamily="18" charset="0"/>
                        </a:rPr>
                        <m:t>+</m:t>
                      </m:r>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𝐿</m:t>
                          </m:r>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𝑥</m:t>
                              </m:r>
                            </m:e>
                            <m:sub>
                              <m:r>
                                <a:rPr kumimoji="1" lang="en-US" altLang="zh-TW" i="1">
                                  <a:latin typeface="Cambria Math" panose="02040503050406030204" pitchFamily="18" charset="0"/>
                                </a:rPr>
                                <m:t>𝐿</m:t>
                              </m:r>
                            </m:sub>
                          </m:sSub>
                        </m:den>
                      </m:f>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𝑥</m:t>
                              </m:r>
                            </m:e>
                            <m:sub>
                              <m:r>
                                <a:rPr kumimoji="1" lang="en-US" altLang="zh-TW" i="1">
                                  <a:latin typeface="Cambria Math" panose="02040503050406030204" pitchFamily="18" charset="0"/>
                                </a:rPr>
                                <m:t>𝑙</m:t>
                              </m:r>
                            </m:sub>
                          </m:sSub>
                        </m:den>
                      </m:f>
                      <m:nary>
                        <m:naryPr>
                          <m:chr m:val="∑"/>
                          <m:ctrlPr>
                            <a:rPr kumimoji="1" lang="en-US" altLang="zh-TW" i="1">
                              <a:latin typeface="Cambria Math" panose="02040503050406030204" pitchFamily="18" charset="0"/>
                            </a:rPr>
                          </m:ctrlPr>
                        </m:naryPr>
                        <m:sub>
                          <m:r>
                            <m:rPr>
                              <m:brk m:alnAt="23"/>
                            </m:rPr>
                            <a:rPr kumimoji="1" lang="en-US" altLang="zh-TW" i="1">
                              <a:latin typeface="Cambria Math" panose="02040503050406030204" pitchFamily="18" charset="0"/>
                            </a:rPr>
                            <m:t>𝑖</m:t>
                          </m:r>
                          <m:r>
                            <a:rPr kumimoji="1" lang="en-US" altLang="zh-TW" i="1">
                              <a:latin typeface="Cambria Math" panose="02040503050406030204" pitchFamily="18" charset="0"/>
                            </a:rPr>
                            <m:t>=</m:t>
                          </m:r>
                          <m:r>
                            <a:rPr kumimoji="1" lang="en-US" altLang="zh-TW" i="1">
                              <a:latin typeface="Cambria Math" panose="02040503050406030204" pitchFamily="18" charset="0"/>
                            </a:rPr>
                            <m:t>𝑙</m:t>
                          </m:r>
                        </m:sub>
                        <m:sup>
                          <m:r>
                            <a:rPr kumimoji="1" lang="en-US" altLang="zh-TW" i="1">
                              <a:latin typeface="Cambria Math" panose="02040503050406030204" pitchFamily="18" charset="0"/>
                            </a:rPr>
                            <m:t>𝐿</m:t>
                          </m:r>
                          <m:r>
                            <a:rPr kumimoji="1" lang="en-US" altLang="zh-TW" i="1">
                              <a:latin typeface="Cambria Math" panose="02040503050406030204" pitchFamily="18" charset="0"/>
                            </a:rPr>
                            <m:t>−1</m:t>
                          </m:r>
                        </m:sup>
                        <m:e>
                          <m:r>
                            <a:rPr kumimoji="1" lang="en-US" altLang="zh-TW" i="1">
                              <a:latin typeface="Cambria Math" panose="02040503050406030204" pitchFamily="18" charset="0"/>
                            </a:rPr>
                            <m:t>𝐹</m:t>
                          </m:r>
                          <m:d>
                            <m:dPr>
                              <m:ctrlPr>
                                <a:rPr kumimoji="1" lang="en-US" altLang="zh-TW" i="1">
                                  <a:latin typeface="Cambria Math" panose="02040503050406030204" pitchFamily="18" charset="0"/>
                                </a:rPr>
                              </m:ctrlPr>
                            </m:d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𝑥</m:t>
                                  </m:r>
                                </m:e>
                                <m:sub>
                                  <m:r>
                                    <a:rPr kumimoji="1" lang="en-US" altLang="zh-TW" i="1">
                                      <a:latin typeface="Cambria Math" panose="02040503050406030204" pitchFamily="18" charset="0"/>
                                    </a:rPr>
                                    <m:t>𝑖</m:t>
                                  </m:r>
                                </m:sub>
                              </m:sSub>
                            </m:e>
                          </m:d>
                        </m:e>
                      </m:nary>
                    </m:oMath>
                  </m:oMathPara>
                </a14:m>
                <a:endParaRPr kumimoji="1" lang="en-US" altLang="zh-TW" b="0" dirty="0"/>
              </a:p>
              <a:p>
                <a:pPr marL="0" indent="0">
                  <a:buNone/>
                </a:pPr>
                <a:r>
                  <a:rPr kumimoji="1" lang="zh-TW" altLang="en-US" b="0" dirty="0"/>
                  <a:t>這個式子表示當我們在計算</a:t>
                </a:r>
                <a:r>
                  <a:rPr kumimoji="1" lang="zh-TW" altLang="en-US" dirty="0"/>
                  <a:t>淺層梯度 </a:t>
                </a:r>
                <a14:m>
                  <m:oMath xmlns:m="http://schemas.openxmlformats.org/officeDocument/2006/math">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𝐿</m:t>
                        </m:r>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𝑥</m:t>
                            </m:r>
                          </m:e>
                          <m:sub>
                            <m:r>
                              <a:rPr kumimoji="1" lang="en-US" altLang="zh-TW" i="1">
                                <a:latin typeface="Cambria Math" panose="02040503050406030204" pitchFamily="18" charset="0"/>
                              </a:rPr>
                              <m:t>𝑙</m:t>
                            </m:r>
                          </m:sub>
                        </m:sSub>
                      </m:den>
                    </m:f>
                  </m:oMath>
                </a14:m>
                <a:r>
                  <a:rPr kumimoji="1" lang="zh-TW" altLang="en-US" b="0" dirty="0"/>
                  <a:t> 時，有個深層梯度 </a:t>
                </a:r>
                <a14:m>
                  <m:oMath xmlns:m="http://schemas.openxmlformats.org/officeDocument/2006/math">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𝐿</m:t>
                        </m:r>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𝑥</m:t>
                            </m:r>
                          </m:e>
                          <m:sub>
                            <m:r>
                              <a:rPr kumimoji="1" lang="en-US" altLang="zh-TW" i="1">
                                <a:latin typeface="Cambria Math" panose="02040503050406030204" pitchFamily="18" charset="0"/>
                              </a:rPr>
                              <m:t>𝐿</m:t>
                            </m:r>
                          </m:sub>
                        </m:sSub>
                      </m:den>
                    </m:f>
                  </m:oMath>
                </a14:m>
                <a:r>
                  <a:rPr kumimoji="1" lang="zh-TW" altLang="en-US" b="0" dirty="0"/>
                  <a:t> 會被加上來。即使</a:t>
                </a:r>
                <a14:m>
                  <m:oMath xmlns:m="http://schemas.openxmlformats.org/officeDocument/2006/math">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𝑥</m:t>
                            </m:r>
                          </m:e>
                          <m:sub>
                            <m:r>
                              <a:rPr kumimoji="1" lang="en-US" altLang="zh-TW" i="1">
                                <a:latin typeface="Cambria Math" panose="02040503050406030204" pitchFamily="18" charset="0"/>
                              </a:rPr>
                              <m:t>𝑙</m:t>
                            </m:r>
                          </m:sub>
                        </m:sSub>
                      </m:den>
                    </m:f>
                    <m:nary>
                      <m:naryPr>
                        <m:chr m:val="∑"/>
                        <m:ctrlPr>
                          <a:rPr kumimoji="1" lang="en-US" altLang="zh-TW" i="1">
                            <a:latin typeface="Cambria Math" panose="02040503050406030204" pitchFamily="18" charset="0"/>
                          </a:rPr>
                        </m:ctrlPr>
                      </m:naryPr>
                      <m:sub>
                        <m:r>
                          <m:rPr>
                            <m:brk m:alnAt="23"/>
                          </m:rPr>
                          <a:rPr kumimoji="1" lang="en-US" altLang="zh-TW" i="1">
                            <a:latin typeface="Cambria Math" panose="02040503050406030204" pitchFamily="18" charset="0"/>
                          </a:rPr>
                          <m:t>𝑖</m:t>
                        </m:r>
                        <m:r>
                          <a:rPr kumimoji="1" lang="en-US" altLang="zh-TW" i="1">
                            <a:latin typeface="Cambria Math" panose="02040503050406030204" pitchFamily="18" charset="0"/>
                          </a:rPr>
                          <m:t>=</m:t>
                        </m:r>
                        <m:r>
                          <a:rPr kumimoji="1" lang="en-US" altLang="zh-TW" i="1">
                            <a:latin typeface="Cambria Math" panose="02040503050406030204" pitchFamily="18" charset="0"/>
                          </a:rPr>
                          <m:t>𝑙</m:t>
                        </m:r>
                      </m:sub>
                      <m:sup>
                        <m:r>
                          <a:rPr kumimoji="1" lang="en-US" altLang="zh-TW" i="1">
                            <a:latin typeface="Cambria Math" panose="02040503050406030204" pitchFamily="18" charset="0"/>
                          </a:rPr>
                          <m:t>𝐿</m:t>
                        </m:r>
                        <m:r>
                          <a:rPr kumimoji="1" lang="en-US" altLang="zh-TW" i="1">
                            <a:latin typeface="Cambria Math" panose="02040503050406030204" pitchFamily="18" charset="0"/>
                          </a:rPr>
                          <m:t>−1</m:t>
                        </m:r>
                      </m:sup>
                      <m:e>
                        <m:r>
                          <a:rPr kumimoji="1" lang="en-US" altLang="zh-TW" i="1">
                            <a:latin typeface="Cambria Math" panose="02040503050406030204" pitchFamily="18" charset="0"/>
                          </a:rPr>
                          <m:t>𝐹</m:t>
                        </m:r>
                        <m:d>
                          <m:dPr>
                            <m:ctrlPr>
                              <a:rPr kumimoji="1" lang="en-US" altLang="zh-TW" i="1">
                                <a:latin typeface="Cambria Math" panose="02040503050406030204" pitchFamily="18" charset="0"/>
                              </a:rPr>
                            </m:ctrlPr>
                          </m:d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𝑥</m:t>
                                </m:r>
                              </m:e>
                              <m:sub>
                                <m:r>
                                  <a:rPr kumimoji="1" lang="en-US" altLang="zh-TW" i="1">
                                    <a:latin typeface="Cambria Math" panose="02040503050406030204" pitchFamily="18" charset="0"/>
                                  </a:rPr>
                                  <m:t>𝑖</m:t>
                                </m:r>
                              </m:sub>
                            </m:sSub>
                          </m:e>
                        </m:d>
                      </m:e>
                    </m:nary>
                    <m:r>
                      <a:rPr kumimoji="1" lang="zh-TW" altLang="en-US" b="0" i="1" smtClean="0">
                        <a:latin typeface="Cambria Math" panose="02040503050406030204" pitchFamily="18" charset="0"/>
                      </a:rPr>
                      <m:t> </m:t>
                    </m:r>
                  </m:oMath>
                </a14:m>
                <a:r>
                  <a:rPr kumimoji="1" lang="zh-TW" altLang="en-US" b="0" dirty="0"/>
                  <a:t>值非常小，但因為 </a:t>
                </a:r>
                <a14:m>
                  <m:oMath xmlns:m="http://schemas.openxmlformats.org/officeDocument/2006/math">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𝐿</m:t>
                        </m:r>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𝑥</m:t>
                            </m:r>
                          </m:e>
                          <m:sub>
                            <m:r>
                              <a:rPr kumimoji="1" lang="en-US" altLang="zh-TW" i="1">
                                <a:latin typeface="Cambria Math" panose="02040503050406030204" pitchFamily="18" charset="0"/>
                              </a:rPr>
                              <m:t>𝐿</m:t>
                            </m:r>
                          </m:sub>
                        </m:sSub>
                      </m:den>
                    </m:f>
                    <m:r>
                      <a:rPr kumimoji="1" lang="zh-TW" altLang="en-US" b="0" i="1" smtClean="0">
                        <a:latin typeface="Cambria Math" panose="02040503050406030204" pitchFamily="18" charset="0"/>
                      </a:rPr>
                      <m:t> </m:t>
                    </m:r>
                  </m:oMath>
                </a14:m>
                <a:r>
                  <a:rPr kumimoji="1" lang="zh-TW" altLang="en-US" b="0" dirty="0"/>
                  <a:t>的存在，總梯度 </a:t>
                </a:r>
                <a14:m>
                  <m:oMath xmlns:m="http://schemas.openxmlformats.org/officeDocument/2006/math">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𝐿</m:t>
                        </m:r>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𝑥</m:t>
                            </m:r>
                          </m:e>
                          <m:sub>
                            <m:r>
                              <a:rPr kumimoji="1" lang="en-US" altLang="zh-TW" i="1">
                                <a:latin typeface="Cambria Math" panose="02040503050406030204" pitchFamily="18" charset="0"/>
                              </a:rPr>
                              <m:t>𝑙</m:t>
                            </m:r>
                          </m:sub>
                        </m:sSub>
                      </m:den>
                    </m:f>
                    <m:r>
                      <a:rPr kumimoji="1" lang="zh-TW" altLang="en-US" b="0" i="1" smtClean="0">
                        <a:latin typeface="Cambria Math" panose="02040503050406030204" pitchFamily="18" charset="0"/>
                      </a:rPr>
                      <m:t> </m:t>
                    </m:r>
                  </m:oMath>
                </a14:m>
                <a:r>
                  <a:rPr kumimoji="1" lang="zh-TW" altLang="en-US" b="0" dirty="0"/>
                  <a:t>不會完全消失。</a:t>
                </a:r>
                <a:endParaRPr kumimoji="1" lang="en-US" altLang="zh-TW" b="0" dirty="0"/>
              </a:p>
            </p:txBody>
          </p:sp>
        </mc:Choice>
        <mc:Fallback>
          <p:sp>
            <p:nvSpPr>
              <p:cNvPr id="3" name="內容版面配置區 2">
                <a:extLst>
                  <a:ext uri="{FF2B5EF4-FFF2-40B4-BE49-F238E27FC236}">
                    <a16:creationId xmlns:a16="http://schemas.microsoft.com/office/drawing/2014/main" id="{C5AA87A1-5947-4E20-0429-633D4FBAD1AE}"/>
                  </a:ext>
                </a:extLst>
              </p:cNvPr>
              <p:cNvSpPr>
                <a:spLocks noGrp="1" noRot="1" noChangeAspect="1" noMove="1" noResize="1" noEditPoints="1" noAdjustHandles="1" noChangeArrowheads="1" noChangeShapeType="1" noTextEdit="1"/>
              </p:cNvSpPr>
              <p:nvPr>
                <p:ph idx="1"/>
              </p:nvPr>
            </p:nvSpPr>
            <p:spPr>
              <a:xfrm>
                <a:off x="244997" y="2096626"/>
                <a:ext cx="11702005" cy="4223151"/>
              </a:xfrm>
              <a:blipFill>
                <a:blip r:embed="rId2"/>
                <a:stretch>
                  <a:fillRect l="-1627" t="-18318" r="-2495" b="-11111"/>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5F6890E7-7D93-6692-2A9D-A5F8983308F9}"/>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D91CD0BA-22E1-9DB1-D74E-3A2DDFAD2B1F}"/>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41563723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CDCDA94-C067-00F5-08C4-94CBC85C3AB0}"/>
              </a:ext>
            </a:extLst>
          </p:cNvPr>
          <p:cNvSpPr>
            <a:spLocks noGrp="1"/>
          </p:cNvSpPr>
          <p:nvPr>
            <p:ph type="title"/>
          </p:nvPr>
        </p:nvSpPr>
        <p:spPr/>
        <p:txBody>
          <a:bodyPr/>
          <a:lstStyle/>
          <a:p>
            <a:r>
              <a:rPr kumimoji="1" lang="en-US" altLang="zh-TW" dirty="0" err="1"/>
              <a:t>ResNet</a:t>
            </a:r>
            <a:r>
              <a:rPr kumimoji="1" lang="zh-TW" altLang="en-US" dirty="0"/>
              <a:t> 架構</a:t>
            </a:r>
          </a:p>
        </p:txBody>
      </p:sp>
      <p:sp>
        <p:nvSpPr>
          <p:cNvPr id="3" name="內容版面配置區 2">
            <a:extLst>
              <a:ext uri="{FF2B5EF4-FFF2-40B4-BE49-F238E27FC236}">
                <a16:creationId xmlns:a16="http://schemas.microsoft.com/office/drawing/2014/main" id="{EDFE78D4-0371-01FC-42A1-A63BE505F879}"/>
              </a:ext>
            </a:extLst>
          </p:cNvPr>
          <p:cNvSpPr>
            <a:spLocks noGrp="1"/>
          </p:cNvSpPr>
          <p:nvPr>
            <p:ph idx="1"/>
          </p:nvPr>
        </p:nvSpPr>
        <p:spPr>
          <a:xfrm>
            <a:off x="497711" y="2108201"/>
            <a:ext cx="11275881" cy="4176852"/>
          </a:xfrm>
        </p:spPr>
        <p:txBody>
          <a:bodyPr>
            <a:normAutofit lnSpcReduction="10000"/>
          </a:bodyPr>
          <a:lstStyle/>
          <a:p>
            <a:r>
              <a:rPr kumimoji="1" lang="zh-TW" altLang="en-US" dirty="0"/>
              <a:t>我們可以從論文中提供的這張圖看到 </a:t>
            </a:r>
            <a:r>
              <a:rPr kumimoji="1" lang="en-US" altLang="zh-TW" dirty="0"/>
              <a:t>shortcut connection </a:t>
            </a:r>
            <a:r>
              <a:rPr kumimoji="1" lang="zh-TW" altLang="en-US" dirty="0"/>
              <a:t>的設計，同時也能觀察到由 </a:t>
            </a:r>
            <a:r>
              <a:rPr kumimoji="1" lang="en-US" altLang="zh-TW" dirty="0"/>
              <a:t>34 </a:t>
            </a:r>
            <a:r>
              <a:rPr kumimoji="1" lang="zh-TW" altLang="en-US" dirty="0"/>
              <a:t>層卷積層所組成的網路結構。</a:t>
            </a:r>
            <a:endParaRPr kumimoji="1" lang="en-US" altLang="zh-TW" dirty="0"/>
          </a:p>
          <a:p>
            <a:endParaRPr kumimoji="1" lang="en-US" altLang="zh-TW" dirty="0"/>
          </a:p>
          <a:p>
            <a:endParaRPr kumimoji="1" lang="en-US" altLang="zh-TW" dirty="0"/>
          </a:p>
          <a:p>
            <a:endParaRPr kumimoji="1" lang="en-US" altLang="zh-TW" dirty="0"/>
          </a:p>
          <a:p>
            <a:endParaRPr kumimoji="1" lang="en-US" altLang="zh-TW" dirty="0"/>
          </a:p>
          <a:p>
            <a:endParaRPr kumimoji="1" lang="en-US" altLang="zh-TW" dirty="0"/>
          </a:p>
          <a:p>
            <a:r>
              <a:rPr kumimoji="1" lang="zh-TW" altLang="en-US" dirty="0"/>
              <a:t>除了 </a:t>
            </a:r>
            <a:r>
              <a:rPr kumimoji="1" lang="en-US" altLang="zh-TW" dirty="0"/>
              <a:t>ResNet-34 </a:t>
            </a:r>
            <a:r>
              <a:rPr kumimoji="1" lang="zh-TW" altLang="en-US" dirty="0"/>
              <a:t>之外，</a:t>
            </a:r>
            <a:r>
              <a:rPr kumimoji="1" lang="en-US" altLang="zh-TW" dirty="0" err="1"/>
              <a:t>ResNet</a:t>
            </a:r>
            <a:r>
              <a:rPr kumimoji="1" lang="en-US" altLang="zh-TW" dirty="0"/>
              <a:t> </a:t>
            </a:r>
            <a:r>
              <a:rPr kumimoji="1" lang="zh-TW" altLang="en-US" dirty="0"/>
              <a:t>家族還有很多成員。</a:t>
            </a:r>
            <a:r>
              <a:rPr kumimoji="1" lang="en-US" altLang="zh-TW" dirty="0" err="1"/>
              <a:t>Tensorflow</a:t>
            </a:r>
            <a:r>
              <a:rPr kumimoji="1" lang="zh-TW" altLang="en-US" dirty="0"/>
              <a:t> 內建的 </a:t>
            </a:r>
            <a:r>
              <a:rPr kumimoji="1" lang="en-US" altLang="zh-TW" dirty="0" err="1"/>
              <a:t>ResNet</a:t>
            </a:r>
            <a:r>
              <a:rPr kumimoji="1" lang="zh-TW" altLang="en-US" dirty="0"/>
              <a:t> 則是從 </a:t>
            </a:r>
            <a:r>
              <a:rPr kumimoji="1" lang="en-US" altLang="zh-TW" dirty="0"/>
              <a:t>ResNet-50</a:t>
            </a:r>
            <a:r>
              <a:rPr kumimoji="1" lang="zh-TW" altLang="en-US" dirty="0"/>
              <a:t> 開始，依序是 </a:t>
            </a:r>
            <a:r>
              <a:rPr kumimoji="1" lang="en-US" altLang="zh-TW" dirty="0"/>
              <a:t>50,</a:t>
            </a:r>
            <a:r>
              <a:rPr kumimoji="1" lang="zh-TW" altLang="en-US" dirty="0"/>
              <a:t> </a:t>
            </a:r>
            <a:r>
              <a:rPr kumimoji="1" lang="en-US" altLang="zh-TW" dirty="0"/>
              <a:t>101</a:t>
            </a:r>
            <a:r>
              <a:rPr kumimoji="1" lang="zh-TW" altLang="en-US" dirty="0"/>
              <a:t> 與 </a:t>
            </a:r>
            <a:r>
              <a:rPr kumimoji="1" lang="en-US" altLang="zh-TW" dirty="0"/>
              <a:t>152</a:t>
            </a:r>
            <a:r>
              <a:rPr kumimoji="1" lang="zh-TW" altLang="en-US" dirty="0"/>
              <a:t>。</a:t>
            </a:r>
            <a:endParaRPr kumimoji="1" lang="en-US" altLang="zh-TW" dirty="0"/>
          </a:p>
        </p:txBody>
      </p:sp>
      <p:sp>
        <p:nvSpPr>
          <p:cNvPr id="4" name="日期版面配置區 3">
            <a:extLst>
              <a:ext uri="{FF2B5EF4-FFF2-40B4-BE49-F238E27FC236}">
                <a16:creationId xmlns:a16="http://schemas.microsoft.com/office/drawing/2014/main" id="{F2F72872-D5A9-3017-8753-41ABC6854386}"/>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09981FDD-5E45-F806-75ED-A8A814C06547}"/>
              </a:ext>
            </a:extLst>
          </p:cNvPr>
          <p:cNvSpPr>
            <a:spLocks noGrp="1"/>
          </p:cNvSpPr>
          <p:nvPr>
            <p:ph type="sldNum" sz="quarter" idx="12"/>
          </p:nvPr>
        </p:nvSpPr>
        <p:spPr/>
        <p:txBody>
          <a:bodyPr/>
          <a:lstStyle/>
          <a:p>
            <a:r>
              <a:rPr lang="en-US" altLang="zh-TW" dirty="0"/>
              <a:t>Deep Learning</a:t>
            </a:r>
          </a:p>
        </p:txBody>
      </p:sp>
      <p:pic>
        <p:nvPicPr>
          <p:cNvPr id="11" name="圖片 10">
            <a:extLst>
              <a:ext uri="{FF2B5EF4-FFF2-40B4-BE49-F238E27FC236}">
                <a16:creationId xmlns:a16="http://schemas.microsoft.com/office/drawing/2014/main" id="{1E453429-A3A0-326D-22A9-26D7AB6F50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2992" y="3289725"/>
            <a:ext cx="10526015" cy="181380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0289818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EF9E4EE-764C-E728-B2C1-8214EB6D0E69}"/>
              </a:ext>
            </a:extLst>
          </p:cNvPr>
          <p:cNvSpPr>
            <a:spLocks noGrp="1"/>
          </p:cNvSpPr>
          <p:nvPr>
            <p:ph type="title"/>
          </p:nvPr>
        </p:nvSpPr>
        <p:spPr/>
        <p:txBody>
          <a:bodyPr>
            <a:normAutofit/>
          </a:bodyPr>
          <a:lstStyle/>
          <a:p>
            <a:r>
              <a:rPr kumimoji="1" lang="en-US" altLang="zh-TW" dirty="0"/>
              <a:t>Order</a:t>
            </a:r>
            <a:r>
              <a:rPr kumimoji="1" lang="zh-TW" altLang="en-US" dirty="0"/>
              <a:t> </a:t>
            </a:r>
            <a:r>
              <a:rPr kumimoji="1" lang="en-US" altLang="zh-TW" dirty="0"/>
              <a:t>of</a:t>
            </a:r>
            <a:r>
              <a:rPr kumimoji="1" lang="zh-TW" altLang="en-US" dirty="0"/>
              <a:t> </a:t>
            </a:r>
            <a:r>
              <a:rPr kumimoji="1" lang="en-US" altLang="zh-TW" dirty="0"/>
              <a:t>Operation</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42AE45F5-7965-DD65-0BB8-94C0A6666A6D}"/>
                  </a:ext>
                </a:extLst>
              </p:cNvPr>
              <p:cNvSpPr>
                <a:spLocks noGrp="1"/>
              </p:cNvSpPr>
              <p:nvPr>
                <p:ph idx="1"/>
              </p:nvPr>
            </p:nvSpPr>
            <p:spPr>
              <a:xfrm>
                <a:off x="347241" y="2108202"/>
                <a:ext cx="11632556" cy="4165276"/>
              </a:xfrm>
            </p:spPr>
            <p:txBody>
              <a:bodyPr>
                <a:normAutofit/>
              </a:bodyPr>
              <a:lstStyle/>
              <a:p>
                <a:r>
                  <a:rPr kumimoji="1" lang="zh-TW" altLang="en-US" dirty="0"/>
                  <a:t>殘差函數 </a:t>
                </a:r>
                <a14:m>
                  <m:oMath xmlns:m="http://schemas.openxmlformats.org/officeDocument/2006/math">
                    <m:r>
                      <a:rPr kumimoji="1" lang="en-US" altLang="zh-TW" i="1" dirty="0">
                        <a:latin typeface="Cambria Math" panose="02040503050406030204" pitchFamily="18" charset="0"/>
                      </a:rPr>
                      <m:t>𝐹</m:t>
                    </m:r>
                    <m:r>
                      <a:rPr kumimoji="1" lang="en-US" altLang="zh-TW" i="1" dirty="0">
                        <a:latin typeface="Cambria Math" panose="02040503050406030204" pitchFamily="18" charset="0"/>
                      </a:rPr>
                      <m:t>(</m:t>
                    </m:r>
                    <m:r>
                      <a:rPr kumimoji="1" lang="en-US" altLang="zh-TW" i="1" dirty="0">
                        <a:latin typeface="Cambria Math" panose="02040503050406030204" pitchFamily="18" charset="0"/>
                      </a:rPr>
                      <m:t>𝑥</m:t>
                    </m:r>
                    <m:r>
                      <a:rPr kumimoji="1" lang="en-US" altLang="zh-TW" i="1" dirty="0">
                        <a:latin typeface="Cambria Math" panose="02040503050406030204" pitchFamily="18" charset="0"/>
                      </a:rPr>
                      <m:t>)</m:t>
                    </m:r>
                  </m:oMath>
                </a14:m>
                <a:r>
                  <a:rPr kumimoji="1" lang="zh-TW" altLang="en-US" dirty="0"/>
                  <a:t>理論上可以是任何一種神經網路層（例如全連接層或卷積層），但其內部的運算順序（</a:t>
                </a:r>
                <a:r>
                  <a:rPr kumimoji="1" lang="en-US" altLang="zh-TW" dirty="0"/>
                  <a:t>Order</a:t>
                </a:r>
                <a:r>
                  <a:rPr kumimoji="1" lang="zh-TW" altLang="en-US" dirty="0"/>
                  <a:t> </a:t>
                </a:r>
                <a:r>
                  <a:rPr kumimoji="1" lang="en-US" altLang="zh-TW" dirty="0"/>
                  <a:t>of</a:t>
                </a:r>
                <a:r>
                  <a:rPr kumimoji="1" lang="zh-TW" altLang="en-US" dirty="0"/>
                  <a:t> </a:t>
                </a:r>
                <a:r>
                  <a:rPr kumimoji="1" lang="en-US" altLang="zh-TW" dirty="0"/>
                  <a:t>Operation</a:t>
                </a:r>
                <a:r>
                  <a:rPr kumimoji="1" lang="zh-TW" altLang="en-US" dirty="0"/>
                  <a:t>）很重要。</a:t>
                </a:r>
                <a:endParaRPr kumimoji="1" lang="en-US" altLang="zh-TW" dirty="0"/>
              </a:p>
              <a:p>
                <a:r>
                  <a:rPr kumimoji="1" lang="zh-TW" altLang="en-US" dirty="0"/>
                  <a:t>首先，</a:t>
                </a:r>
                <a:r>
                  <a:rPr kumimoji="1" lang="en-US" altLang="zh-TW" dirty="0"/>
                  <a:t>residual</a:t>
                </a:r>
                <a:r>
                  <a:rPr kumimoji="1" lang="zh-TW" altLang="en-US" dirty="0"/>
                  <a:t> </a:t>
                </a:r>
                <a:r>
                  <a:rPr kumimoji="1" lang="en-US" altLang="zh-TW" dirty="0"/>
                  <a:t>block</a:t>
                </a:r>
                <a:r>
                  <a:rPr kumimoji="1" lang="zh-TW" altLang="en-US" dirty="0"/>
                  <a:t> 內部必須包含像 </a:t>
                </a:r>
                <a:r>
                  <a:rPr kumimoji="1" lang="en-US" altLang="zh-TW" dirty="0" err="1"/>
                  <a:t>ReLU</a:t>
                </a:r>
                <a:r>
                  <a:rPr kumimoji="1" lang="en-US" altLang="zh-TW" dirty="0"/>
                  <a:t> </a:t>
                </a:r>
                <a:r>
                  <a:rPr kumimoji="1" lang="zh-TW" altLang="en-US" dirty="0"/>
                  <a:t>這樣的非線性激活函數，否則整個網路就會只是個線性模型。在一般的神經網路層中，</a:t>
                </a:r>
                <a:r>
                  <a:rPr kumimoji="1" lang="en-US" altLang="zh-TW" dirty="0" err="1"/>
                  <a:t>ReLU</a:t>
                </a:r>
                <a:r>
                  <a:rPr kumimoji="1" lang="en-US" altLang="zh-TW" dirty="0"/>
                  <a:t> </a:t>
                </a:r>
                <a:r>
                  <a:rPr kumimoji="1" lang="zh-TW" altLang="en-US" dirty="0"/>
                  <a:t>通常放在線性層後，因此輸出的值一定是非負值。</a:t>
                </a:r>
                <a:endParaRPr kumimoji="1" lang="en-US" altLang="zh-TW" dirty="0"/>
              </a:p>
              <a:p>
                <a:r>
                  <a:rPr kumimoji="1" lang="zh-TW" altLang="en-US" dirty="0"/>
                  <a:t>然而，如果在 </a:t>
                </a:r>
                <a:r>
                  <a:rPr kumimoji="1" lang="en-US" altLang="zh-TW" dirty="0"/>
                  <a:t>residual</a:t>
                </a:r>
                <a:r>
                  <a:rPr kumimoji="1" lang="zh-TW" altLang="en-US" dirty="0"/>
                  <a:t> </a:t>
                </a:r>
                <a:r>
                  <a:rPr kumimoji="1" lang="en-US" altLang="zh-TW" dirty="0"/>
                  <a:t>block</a:t>
                </a:r>
                <a:r>
                  <a:rPr kumimoji="1" lang="zh-TW" altLang="en-US" dirty="0"/>
                  <a:t> 中也採用這種設計，則 </a:t>
                </a:r>
                <a14:m>
                  <m:oMath xmlns:m="http://schemas.openxmlformats.org/officeDocument/2006/math">
                    <m:r>
                      <a:rPr kumimoji="1" lang="zh-TW" altLang="en-US" i="1" dirty="0" smtClean="0">
                        <a:latin typeface="Cambria Math" panose="02040503050406030204" pitchFamily="18" charset="0"/>
                      </a:rPr>
                      <m:t>𝑦</m:t>
                    </m:r>
                    <m:r>
                      <a:rPr kumimoji="1" lang="en-US" altLang="zh-TW" b="0" i="1" dirty="0" smtClean="0">
                        <a:latin typeface="Cambria Math" panose="02040503050406030204" pitchFamily="18" charset="0"/>
                      </a:rPr>
                      <m:t>=</m:t>
                    </m:r>
                    <m:r>
                      <a:rPr kumimoji="1" lang="en-US" altLang="zh-TW" b="0" i="1" dirty="0" smtClean="0">
                        <a:latin typeface="Cambria Math" panose="02040503050406030204" pitchFamily="18" charset="0"/>
                      </a:rPr>
                      <m:t>𝐹</m:t>
                    </m:r>
                    <m:d>
                      <m:dPr>
                        <m:ctrlPr>
                          <a:rPr kumimoji="1" lang="en-US" altLang="zh-TW" b="0" i="1" dirty="0" smtClean="0">
                            <a:latin typeface="Cambria Math" panose="02040503050406030204" pitchFamily="18" charset="0"/>
                          </a:rPr>
                        </m:ctrlPr>
                      </m:dPr>
                      <m:e>
                        <m:r>
                          <a:rPr kumimoji="1" lang="en-US" altLang="zh-TW" b="0" i="1" dirty="0" smtClean="0">
                            <a:latin typeface="Cambria Math" panose="02040503050406030204" pitchFamily="18" charset="0"/>
                          </a:rPr>
                          <m:t>𝑥</m:t>
                        </m:r>
                      </m:e>
                    </m:d>
                    <m:r>
                      <a:rPr kumimoji="1" lang="en-US" altLang="zh-TW" b="0" i="1" dirty="0" smtClean="0">
                        <a:latin typeface="Cambria Math" panose="02040503050406030204" pitchFamily="18" charset="0"/>
                      </a:rPr>
                      <m:t>+</m:t>
                    </m:r>
                    <m:r>
                      <a:rPr kumimoji="1" lang="en-US" altLang="zh-TW" b="0" i="1" dirty="0" smtClean="0">
                        <a:latin typeface="Cambria Math" panose="02040503050406030204" pitchFamily="18" charset="0"/>
                      </a:rPr>
                      <m:t>𝑥</m:t>
                    </m:r>
                  </m:oMath>
                </a14:m>
                <a:r>
                  <a:rPr kumimoji="1" lang="en-US" altLang="zh-TW" dirty="0"/>
                  <a:t> </a:t>
                </a:r>
                <a:r>
                  <a:rPr kumimoji="1" lang="zh-TW" altLang="en-US" dirty="0"/>
                  <a:t>中的 </a:t>
                </a:r>
                <a14:m>
                  <m:oMath xmlns:m="http://schemas.openxmlformats.org/officeDocument/2006/math">
                    <m:r>
                      <a:rPr kumimoji="1" lang="en-US" altLang="zh-TW" i="1" dirty="0" smtClean="0">
                        <a:latin typeface="Cambria Math" panose="02040503050406030204" pitchFamily="18" charset="0"/>
                      </a:rPr>
                      <m:t>𝐹</m:t>
                    </m:r>
                    <m:r>
                      <a:rPr kumimoji="1" lang="en-US" altLang="zh-TW" i="1" dirty="0" smtClean="0">
                        <a:latin typeface="Cambria Math" panose="02040503050406030204" pitchFamily="18" charset="0"/>
                      </a:rPr>
                      <m:t>(</m:t>
                    </m:r>
                    <m:r>
                      <a:rPr kumimoji="1" lang="en-US" altLang="zh-TW" i="1" dirty="0" smtClean="0">
                        <a:latin typeface="Cambria Math" panose="02040503050406030204" pitchFamily="18" charset="0"/>
                      </a:rPr>
                      <m:t>𝑥</m:t>
                    </m:r>
                    <m:r>
                      <a:rPr kumimoji="1" lang="en-US" altLang="zh-TW" i="1" dirty="0" smtClean="0">
                        <a:latin typeface="Cambria Math" panose="02040503050406030204" pitchFamily="18" charset="0"/>
                      </a:rPr>
                      <m:t>)</m:t>
                    </m:r>
                    <m:r>
                      <a:rPr kumimoji="1" lang="zh-TW" altLang="en-US" i="1" dirty="0" smtClean="0">
                        <a:latin typeface="Cambria Math" panose="02040503050406030204" pitchFamily="18" charset="0"/>
                      </a:rPr>
                      <m:t> </m:t>
                    </m:r>
                  </m:oMath>
                </a14:m>
                <a:r>
                  <a:rPr kumimoji="1" lang="zh-TW" altLang="en-US" dirty="0"/>
                  <a:t>只會是非負數，等於每個 </a:t>
                </a:r>
                <a:r>
                  <a:rPr kumimoji="1" lang="en-US" altLang="zh-TW" dirty="0"/>
                  <a:t>residual</a:t>
                </a:r>
                <a:r>
                  <a:rPr kumimoji="1" lang="zh-TW" altLang="en-US" dirty="0"/>
                  <a:t> </a:t>
                </a:r>
                <a:r>
                  <a:rPr kumimoji="1" lang="en-US" altLang="zh-TW" dirty="0"/>
                  <a:t>block</a:t>
                </a:r>
                <a:r>
                  <a:rPr kumimoji="1" lang="zh-TW" altLang="en-US" dirty="0"/>
                  <a:t> 都只能增加輸入的值而不能減少，這會限制模型的表達能力。</a:t>
                </a:r>
                <a:endParaRPr kumimoji="1" lang="en-US" altLang="zh-TW" dirty="0"/>
              </a:p>
              <a:p>
                <a:pPr marL="457200" indent="-457200">
                  <a:buFont typeface="+mj-lt"/>
                  <a:buAutoNum type="arabicPeriod"/>
                </a:pPr>
                <a:endParaRPr kumimoji="1" lang="en-US" altLang="zh-TW" dirty="0"/>
              </a:p>
            </p:txBody>
          </p:sp>
        </mc:Choice>
        <mc:Fallback xmlns="">
          <p:sp>
            <p:nvSpPr>
              <p:cNvPr id="3" name="內容版面配置區 2">
                <a:extLst>
                  <a:ext uri="{FF2B5EF4-FFF2-40B4-BE49-F238E27FC236}">
                    <a16:creationId xmlns:a16="http://schemas.microsoft.com/office/drawing/2014/main" id="{42AE45F5-7965-DD65-0BB8-94C0A6666A6D}"/>
                  </a:ext>
                </a:extLst>
              </p:cNvPr>
              <p:cNvSpPr>
                <a:spLocks noGrp="1" noRot="1" noChangeAspect="1" noMove="1" noResize="1" noEditPoints="1" noAdjustHandles="1" noChangeArrowheads="1" noChangeShapeType="1" noTextEdit="1"/>
              </p:cNvSpPr>
              <p:nvPr>
                <p:ph idx="1"/>
              </p:nvPr>
            </p:nvSpPr>
            <p:spPr>
              <a:xfrm>
                <a:off x="347241" y="2108202"/>
                <a:ext cx="11632556" cy="4165276"/>
              </a:xfrm>
              <a:blipFill>
                <a:blip r:embed="rId2"/>
                <a:stretch>
                  <a:fillRect l="-872" t="-1220" r="-1527"/>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073312DE-41E3-C1F2-0FDF-A9F5261CF9D2}"/>
              </a:ext>
            </a:extLst>
          </p:cNvPr>
          <p:cNvSpPr>
            <a:spLocks noGrp="1"/>
          </p:cNvSpPr>
          <p:nvPr>
            <p:ph type="dt" sz="half" idx="10"/>
          </p:nvPr>
        </p:nvSpPr>
        <p:spPr/>
        <p:txBody>
          <a:bodyPr/>
          <a:lstStyle/>
          <a:p>
            <a:r>
              <a:rPr lang="en-US" altLang="zh-TW" dirty="0"/>
              <a:t>Wilson Ren</a:t>
            </a:r>
          </a:p>
        </p:txBody>
      </p:sp>
      <p:sp>
        <p:nvSpPr>
          <p:cNvPr id="5" name="投影片編號版面配置區 4">
            <a:extLst>
              <a:ext uri="{FF2B5EF4-FFF2-40B4-BE49-F238E27FC236}">
                <a16:creationId xmlns:a16="http://schemas.microsoft.com/office/drawing/2014/main" id="{1A7421A6-FBA2-183A-4DCB-B56999FEB010}"/>
              </a:ext>
            </a:extLst>
          </p:cNvPr>
          <p:cNvSpPr>
            <a:spLocks noGrp="1"/>
          </p:cNvSpPr>
          <p:nvPr>
            <p:ph type="sldNum" sz="quarter" idx="12"/>
          </p:nvPr>
        </p:nvSpPr>
        <p:spPr/>
        <p:txBody>
          <a:bodyPr/>
          <a:lstStyle/>
          <a:p>
            <a:r>
              <a:rPr lang="en-US" altLang="zh-TW" dirty="0"/>
              <a:t>Deep Learning</a:t>
            </a:r>
          </a:p>
        </p:txBody>
      </p:sp>
      <p:pic>
        <p:nvPicPr>
          <p:cNvPr id="7" name="圖片 6" descr="一張含有 螢幕擷取畫面, 字型, 文字, 圖形 的圖片&#10;&#10;AI 產生的內容可能不正確。">
            <a:extLst>
              <a:ext uri="{FF2B5EF4-FFF2-40B4-BE49-F238E27FC236}">
                <a16:creationId xmlns:a16="http://schemas.microsoft.com/office/drawing/2014/main" id="{F153AB9D-5885-6A53-65BB-3440AD6F1E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47413" y="5282957"/>
            <a:ext cx="5958134" cy="874773"/>
          </a:xfrm>
          <a:prstGeom prst="rect">
            <a:avLst/>
          </a:prstGeom>
        </p:spPr>
      </p:pic>
    </p:spTree>
    <p:extLst>
      <p:ext uri="{BB962C8B-B14F-4D97-AF65-F5344CB8AC3E}">
        <p14:creationId xmlns:p14="http://schemas.microsoft.com/office/powerpoint/2010/main" val="5932468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2130C36-EE11-FABD-1D4E-2B50EE454676}"/>
              </a:ext>
            </a:extLst>
          </p:cNvPr>
          <p:cNvSpPr>
            <a:spLocks noGrp="1"/>
          </p:cNvSpPr>
          <p:nvPr>
            <p:ph type="title"/>
          </p:nvPr>
        </p:nvSpPr>
        <p:spPr/>
        <p:txBody>
          <a:bodyPr/>
          <a:lstStyle/>
          <a:p>
            <a:r>
              <a:rPr kumimoji="1" lang="en-US" altLang="zh-TW" dirty="0"/>
              <a:t>Order</a:t>
            </a:r>
            <a:r>
              <a:rPr kumimoji="1" lang="zh-TW" altLang="en-US" dirty="0"/>
              <a:t> </a:t>
            </a:r>
            <a:r>
              <a:rPr kumimoji="1" lang="en-US" altLang="zh-TW" dirty="0"/>
              <a:t>of</a:t>
            </a:r>
            <a:r>
              <a:rPr kumimoji="1" lang="zh-TW" altLang="en-US" dirty="0"/>
              <a:t> </a:t>
            </a:r>
            <a:r>
              <a:rPr kumimoji="1" lang="en-US" altLang="zh-TW" dirty="0"/>
              <a:t>Operation</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EDCB8FF5-6D41-76B5-2A8F-0F2F26001D00}"/>
                  </a:ext>
                </a:extLst>
              </p:cNvPr>
              <p:cNvSpPr>
                <a:spLocks noGrp="1"/>
              </p:cNvSpPr>
              <p:nvPr>
                <p:ph idx="1"/>
              </p:nvPr>
            </p:nvSpPr>
            <p:spPr/>
            <p:txBody>
              <a:bodyPr/>
              <a:lstStyle/>
              <a:p>
                <a:r>
                  <a:rPr kumimoji="1" lang="zh-TW" altLang="en-US" dirty="0"/>
                  <a:t>因此實務上通常會調整運算順序，先進行 </a:t>
                </a:r>
                <a:r>
                  <a:rPr kumimoji="1" lang="en-US" altLang="zh-TW" dirty="0" err="1"/>
                  <a:t>ReLU</a:t>
                </a:r>
                <a:r>
                  <a:rPr kumimoji="1" lang="zh-TW" altLang="en-US" dirty="0"/>
                  <a:t>，再做線性變換（例如卷積運算），讓 </a:t>
                </a:r>
                <a14:m>
                  <m:oMath xmlns:m="http://schemas.openxmlformats.org/officeDocument/2006/math">
                    <m:r>
                      <a:rPr kumimoji="1" lang="en-US" altLang="zh-TW" i="1" dirty="0">
                        <a:latin typeface="Cambria Math" panose="02040503050406030204" pitchFamily="18" charset="0"/>
                      </a:rPr>
                      <m:t>𝐹</m:t>
                    </m:r>
                    <m:d>
                      <m:dPr>
                        <m:ctrlPr>
                          <a:rPr kumimoji="1" lang="en-US" altLang="zh-TW" i="1" dirty="0">
                            <a:latin typeface="Cambria Math" panose="02040503050406030204" pitchFamily="18" charset="0"/>
                          </a:rPr>
                        </m:ctrlPr>
                      </m:dPr>
                      <m:e>
                        <m:r>
                          <a:rPr kumimoji="1" lang="en-US" altLang="zh-TW" i="1" dirty="0">
                            <a:latin typeface="Cambria Math" panose="02040503050406030204" pitchFamily="18" charset="0"/>
                          </a:rPr>
                          <m:t>𝑥</m:t>
                        </m:r>
                      </m:e>
                    </m:d>
                  </m:oMath>
                </a14:m>
                <a:r>
                  <a:rPr kumimoji="1" lang="zh-TW" altLang="en-US" dirty="0"/>
                  <a:t> 輸出可以是正或負。此外，實務上也通常會在單個 </a:t>
                </a:r>
                <a:r>
                  <a:rPr kumimoji="1" lang="en-US" altLang="zh-TW" dirty="0"/>
                  <a:t>residual</a:t>
                </a:r>
                <a:r>
                  <a:rPr kumimoji="1" lang="zh-TW" altLang="en-US" dirty="0"/>
                  <a:t> </a:t>
                </a:r>
                <a:r>
                  <a:rPr kumimoji="1" lang="en-US" altLang="zh-TW" dirty="0"/>
                  <a:t>blocks</a:t>
                </a:r>
                <a:r>
                  <a:rPr kumimoji="1" lang="zh-TW" altLang="en-US" dirty="0"/>
                  <a:t> 內部包含數個非線性激活函數與線性變換層。</a:t>
                </a:r>
                <a:endParaRPr kumimoji="1" lang="en-US" altLang="zh-TW" dirty="0"/>
              </a:p>
              <a:p>
                <a:r>
                  <a:rPr kumimoji="1" lang="zh-TW" altLang="en-US" dirty="0"/>
                  <a:t>因此，</a:t>
                </a:r>
                <a:r>
                  <a:rPr kumimoji="1" lang="en-US" altLang="zh-TW" dirty="0"/>
                  <a:t>residual</a:t>
                </a:r>
                <a:r>
                  <a:rPr kumimoji="1" lang="zh-TW" altLang="en-US" dirty="0"/>
                  <a:t> </a:t>
                </a:r>
                <a:r>
                  <a:rPr kumimoji="1" lang="en-US" altLang="zh-TW" dirty="0"/>
                  <a:t>block</a:t>
                </a:r>
                <a:r>
                  <a:rPr kumimoji="1" lang="zh-TW" altLang="en-US" dirty="0"/>
                  <a:t> 架構為：</a:t>
                </a:r>
                <a:endParaRPr kumimoji="1" lang="en-US" altLang="zh-TW" dirty="0"/>
              </a:p>
              <a:p>
                <a:endParaRPr kumimoji="1" lang="en-US" altLang="zh-TW" dirty="0"/>
              </a:p>
            </p:txBody>
          </p:sp>
        </mc:Choice>
        <mc:Fallback xmlns="">
          <p:sp>
            <p:nvSpPr>
              <p:cNvPr id="3" name="內容版面配置區 2">
                <a:extLst>
                  <a:ext uri="{FF2B5EF4-FFF2-40B4-BE49-F238E27FC236}">
                    <a16:creationId xmlns:a16="http://schemas.microsoft.com/office/drawing/2014/main" id="{EDCB8FF5-6D41-76B5-2A8F-0F2F26001D00}"/>
                  </a:ext>
                </a:extLst>
              </p:cNvPr>
              <p:cNvSpPr>
                <a:spLocks noGrp="1" noRot="1" noChangeAspect="1" noMove="1" noResize="1" noEditPoints="1" noAdjustHandles="1" noChangeArrowheads="1" noChangeShapeType="1" noTextEdit="1"/>
              </p:cNvSpPr>
              <p:nvPr>
                <p:ph idx="1"/>
              </p:nvPr>
            </p:nvSpPr>
            <p:spPr>
              <a:blipFill>
                <a:blip r:embed="rId2"/>
                <a:stretch>
                  <a:fillRect l="-1009" t="-1347" r="-1765"/>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8DF92D7C-10ED-8516-F779-7C83C0CDAD16}"/>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4C1163CF-4B48-AB69-722C-A0A01ED5F908}"/>
              </a:ext>
            </a:extLst>
          </p:cNvPr>
          <p:cNvSpPr>
            <a:spLocks noGrp="1"/>
          </p:cNvSpPr>
          <p:nvPr>
            <p:ph type="sldNum" sz="quarter" idx="12"/>
          </p:nvPr>
        </p:nvSpPr>
        <p:spPr/>
        <p:txBody>
          <a:bodyPr/>
          <a:lstStyle/>
          <a:p>
            <a:r>
              <a:rPr lang="en-US" altLang="zh-TW" dirty="0"/>
              <a:t>Deep Learning</a:t>
            </a:r>
          </a:p>
        </p:txBody>
      </p:sp>
      <p:pic>
        <p:nvPicPr>
          <p:cNvPr id="7" name="圖片 6">
            <a:extLst>
              <a:ext uri="{FF2B5EF4-FFF2-40B4-BE49-F238E27FC236}">
                <a16:creationId xmlns:a16="http://schemas.microsoft.com/office/drawing/2014/main" id="{079F147A-DC14-65AC-18B6-4B23826DC2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43877" y="4260199"/>
            <a:ext cx="8104245" cy="760320"/>
          </a:xfrm>
          <a:prstGeom prst="rect">
            <a:avLst/>
          </a:prstGeom>
        </p:spPr>
      </p:pic>
    </p:spTree>
    <p:extLst>
      <p:ext uri="{BB962C8B-B14F-4D97-AF65-F5344CB8AC3E}">
        <p14:creationId xmlns:p14="http://schemas.microsoft.com/office/powerpoint/2010/main" val="16503813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E52CE5-AB79-5A09-6748-4268B95A92F4}"/>
              </a:ext>
            </a:extLst>
          </p:cNvPr>
          <p:cNvSpPr>
            <a:spLocks noGrp="1"/>
          </p:cNvSpPr>
          <p:nvPr>
            <p:ph type="title"/>
          </p:nvPr>
        </p:nvSpPr>
        <p:spPr/>
        <p:txBody>
          <a:bodyPr/>
          <a:lstStyle/>
          <a:p>
            <a:r>
              <a:rPr kumimoji="1" lang="en-US" altLang="zh-TW" dirty="0"/>
              <a:t>Order</a:t>
            </a:r>
            <a:r>
              <a:rPr kumimoji="1" lang="zh-TW" altLang="en-US" dirty="0"/>
              <a:t> </a:t>
            </a:r>
            <a:r>
              <a:rPr kumimoji="1" lang="en-US" altLang="zh-TW" dirty="0"/>
              <a:t>of</a:t>
            </a:r>
            <a:r>
              <a:rPr kumimoji="1" lang="zh-TW" altLang="en-US" dirty="0"/>
              <a:t> </a:t>
            </a:r>
            <a:r>
              <a:rPr kumimoji="1" lang="en-US" altLang="zh-TW" dirty="0"/>
              <a:t>Operation</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B724FE65-6E34-BC8B-B2EC-FAE96FA8BED4}"/>
                  </a:ext>
                </a:extLst>
              </p:cNvPr>
              <p:cNvSpPr>
                <a:spLocks noGrp="1"/>
              </p:cNvSpPr>
              <p:nvPr>
                <p:ph idx="1"/>
              </p:nvPr>
            </p:nvSpPr>
            <p:spPr/>
            <p:txBody>
              <a:bodyPr>
                <a:normAutofit/>
              </a:bodyPr>
              <a:lstStyle/>
              <a:p>
                <a:r>
                  <a:rPr kumimoji="1" lang="zh-TW" altLang="en-US" dirty="0"/>
                  <a:t>另外你可能會注意到，如果輸入 </a:t>
                </a:r>
                <a14:m>
                  <m:oMath xmlns:m="http://schemas.openxmlformats.org/officeDocument/2006/math">
                    <m:r>
                      <a:rPr kumimoji="1" lang="en-US" altLang="zh-TW" i="1" dirty="0" smtClean="0">
                        <a:latin typeface="Cambria Math" panose="02040503050406030204" pitchFamily="18" charset="0"/>
                      </a:rPr>
                      <m:t>𝑥</m:t>
                    </m:r>
                  </m:oMath>
                </a14:m>
                <a:r>
                  <a:rPr kumimoji="1" lang="zh-TW" altLang="en-US" dirty="0"/>
                  <a:t> 的值全部為負，經過 </a:t>
                </a:r>
                <a:r>
                  <a:rPr kumimoji="1" lang="en-US" altLang="zh-TW" dirty="0" err="1"/>
                  <a:t>ReLU</a:t>
                </a:r>
                <a:r>
                  <a:rPr kumimoji="1" lang="en-US" altLang="zh-TW" dirty="0"/>
                  <a:t> </a:t>
                </a:r>
                <a:r>
                  <a:rPr kumimoji="1" lang="zh-TW" altLang="en-US" dirty="0"/>
                  <a:t>之後就會全部被截斷為 </a:t>
                </a:r>
                <a:r>
                  <a:rPr kumimoji="1" lang="en-US" altLang="zh-TW" dirty="0"/>
                  <a:t>0</a:t>
                </a:r>
                <a:r>
                  <a:rPr kumimoji="1" lang="zh-TW" altLang="en-US" dirty="0"/>
                  <a:t>。因此，在實務上通常會在網路最前面先使用一個線性層（例如卷積層），而不是直接從 </a:t>
                </a:r>
                <a:r>
                  <a:rPr kumimoji="1" lang="en-US" altLang="zh-TW" dirty="0"/>
                  <a:t>residual block </a:t>
                </a:r>
                <a:r>
                  <a:rPr kumimoji="1" lang="zh-TW" altLang="en-US" dirty="0"/>
                  <a:t>開始。</a:t>
                </a:r>
                <a:endParaRPr kumimoji="1" lang="en-US" altLang="zh-TW" dirty="0"/>
              </a:p>
              <a:p>
                <a:r>
                  <a:rPr kumimoji="1" lang="zh-TW" altLang="en-US" dirty="0"/>
                  <a:t>例如，在前面所提到的 </a:t>
                </a:r>
                <a:r>
                  <a:rPr kumimoji="1" lang="en-US" altLang="zh-TW" dirty="0" err="1"/>
                  <a:t>ResNet</a:t>
                </a:r>
                <a:r>
                  <a:rPr kumimoji="1" lang="en-US" altLang="zh-TW" dirty="0"/>
                  <a:t> </a:t>
                </a:r>
                <a:r>
                  <a:rPr kumimoji="1" lang="zh-TW" altLang="en-US" dirty="0"/>
                  <a:t>架構圖形中，我們也可以看到網路一開始是先經過一個卷積層，之後才開始堆疊 </a:t>
                </a:r>
                <a:r>
                  <a:rPr kumimoji="1" lang="en-US" altLang="zh-TW" dirty="0"/>
                  <a:t>residual blocks</a:t>
                </a:r>
                <a:r>
                  <a:rPr kumimoji="1" lang="zh-TW" altLang="en-US" dirty="0"/>
                  <a:t>。</a:t>
                </a:r>
              </a:p>
            </p:txBody>
          </p:sp>
        </mc:Choice>
        <mc:Fallback xmlns="">
          <p:sp>
            <p:nvSpPr>
              <p:cNvPr id="3" name="內容版面配置區 2">
                <a:extLst>
                  <a:ext uri="{FF2B5EF4-FFF2-40B4-BE49-F238E27FC236}">
                    <a16:creationId xmlns:a16="http://schemas.microsoft.com/office/drawing/2014/main" id="{B724FE65-6E34-BC8B-B2EC-FAE96FA8BED4}"/>
                  </a:ext>
                </a:extLst>
              </p:cNvPr>
              <p:cNvSpPr>
                <a:spLocks noGrp="1" noRot="1" noChangeAspect="1" noMove="1" noResize="1" noEditPoints="1" noAdjustHandles="1" noChangeArrowheads="1" noChangeShapeType="1" noTextEdit="1"/>
              </p:cNvSpPr>
              <p:nvPr>
                <p:ph idx="1"/>
              </p:nvPr>
            </p:nvSpPr>
            <p:spPr>
              <a:blipFill>
                <a:blip r:embed="rId2"/>
                <a:stretch>
                  <a:fillRect l="-1009" t="-1347" r="-1135"/>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F8DEF4DC-ABE4-69F4-DFAD-F9037F8F8D5F}"/>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5E4D7FB8-7740-968A-3C93-C6CD2EE38194}"/>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11052364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DB94865-3D5B-411F-C0EA-8742155F1DF9}"/>
              </a:ext>
            </a:extLst>
          </p:cNvPr>
          <p:cNvSpPr>
            <a:spLocks noGrp="1"/>
          </p:cNvSpPr>
          <p:nvPr>
            <p:ph type="title"/>
          </p:nvPr>
        </p:nvSpPr>
        <p:spPr/>
        <p:txBody>
          <a:bodyPr/>
          <a:lstStyle/>
          <a:p>
            <a:r>
              <a:rPr kumimoji="1" lang="en-US" altLang="zh-TW" dirty="0" err="1"/>
              <a:t>ResNet</a:t>
            </a:r>
            <a:r>
              <a:rPr kumimoji="1" lang="zh-TW" altLang="en-US" dirty="0"/>
              <a:t> 的梯度爆炸問題</a:t>
            </a:r>
          </a:p>
        </p:txBody>
      </p:sp>
      <p:sp>
        <p:nvSpPr>
          <p:cNvPr id="3" name="內容版面配置區 2">
            <a:extLst>
              <a:ext uri="{FF2B5EF4-FFF2-40B4-BE49-F238E27FC236}">
                <a16:creationId xmlns:a16="http://schemas.microsoft.com/office/drawing/2014/main" id="{8C231C28-7169-69A9-4080-32EA1B618B2E}"/>
              </a:ext>
            </a:extLst>
          </p:cNvPr>
          <p:cNvSpPr>
            <a:spLocks noGrp="1"/>
          </p:cNvSpPr>
          <p:nvPr>
            <p:ph idx="1"/>
          </p:nvPr>
        </p:nvSpPr>
        <p:spPr/>
        <p:txBody>
          <a:bodyPr/>
          <a:lstStyle/>
          <a:p>
            <a:r>
              <a:rPr kumimoji="1" lang="zh-TW" altLang="en-US" dirty="0"/>
              <a:t>前面的課程提到，在一般的神經網路中，如果權重沒有適當初始化，很容易出現梯度爆炸或梯度消失的問題，而 </a:t>
            </a:r>
            <a:r>
              <a:rPr kumimoji="1" lang="en-US" altLang="zh-TW" dirty="0"/>
              <a:t>He Initialization </a:t>
            </a:r>
            <a:r>
              <a:rPr kumimoji="1" lang="zh-TW" altLang="en-US" dirty="0"/>
              <a:t>可以在很大程度上緩解這些問題。</a:t>
            </a:r>
            <a:endParaRPr kumimoji="1" lang="en-US" altLang="zh-TW" dirty="0"/>
          </a:p>
          <a:p>
            <a:r>
              <a:rPr kumimoji="1" lang="zh-TW" altLang="en-US" dirty="0"/>
              <a:t>不過需要注意的是，在 </a:t>
            </a:r>
            <a:r>
              <a:rPr kumimoji="1" lang="en-US" altLang="zh-TW" dirty="0" err="1"/>
              <a:t>ResNet</a:t>
            </a:r>
            <a:r>
              <a:rPr kumimoji="1" lang="en-US" altLang="zh-TW" dirty="0"/>
              <a:t> </a:t>
            </a:r>
            <a:r>
              <a:rPr kumimoji="1" lang="zh-TW" altLang="en-US" dirty="0"/>
              <a:t>架構中，即使在 </a:t>
            </a:r>
            <a:r>
              <a:rPr kumimoji="1" lang="en-US" altLang="zh-TW" dirty="0"/>
              <a:t>residual block </a:t>
            </a:r>
            <a:r>
              <a:rPr kumimoji="1" lang="zh-TW" altLang="en-US" dirty="0"/>
              <a:t>內使用了 </a:t>
            </a:r>
            <a:r>
              <a:rPr kumimoji="1" lang="en-US" altLang="zh-TW" dirty="0"/>
              <a:t>He Initialization</a:t>
            </a:r>
            <a:r>
              <a:rPr kumimoji="1" lang="zh-TW" altLang="en-US" dirty="0"/>
              <a:t>，隨著網路進行 </a:t>
            </a:r>
            <a:r>
              <a:rPr kumimoji="1" lang="en-US" altLang="zh-TW" dirty="0"/>
              <a:t>forward propagation</a:t>
            </a:r>
            <a:r>
              <a:rPr kumimoji="1" lang="zh-TW" altLang="en-US" dirty="0"/>
              <a:t>，數值會呈現指數級增長、放大。這種現象會進一步在反向傳播時導致梯度爆炸。</a:t>
            </a:r>
            <a:endParaRPr kumimoji="1" lang="en-US" altLang="zh-TW" dirty="0"/>
          </a:p>
          <a:p>
            <a:r>
              <a:rPr kumimoji="1" lang="zh-TW" altLang="en-US" dirty="0"/>
              <a:t>那麼，為什麼數值會出現指數級增長呢？請考慮以下的情況。</a:t>
            </a:r>
          </a:p>
        </p:txBody>
      </p:sp>
      <p:sp>
        <p:nvSpPr>
          <p:cNvPr id="4" name="日期版面配置區 3">
            <a:extLst>
              <a:ext uri="{FF2B5EF4-FFF2-40B4-BE49-F238E27FC236}">
                <a16:creationId xmlns:a16="http://schemas.microsoft.com/office/drawing/2014/main" id="{298724CC-30F8-3EC0-664A-1C91D5E14962}"/>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F053661B-681E-A89B-A94C-B81B934156CD}"/>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17859763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37A12FC-ADCB-DA29-CA9A-D3A35D765F5A}"/>
              </a:ext>
            </a:extLst>
          </p:cNvPr>
          <p:cNvSpPr>
            <a:spLocks noGrp="1"/>
          </p:cNvSpPr>
          <p:nvPr>
            <p:ph type="title"/>
          </p:nvPr>
        </p:nvSpPr>
        <p:spPr/>
        <p:txBody>
          <a:bodyPr/>
          <a:lstStyle/>
          <a:p>
            <a:r>
              <a:rPr kumimoji="1" lang="en-US" altLang="zh-TW" dirty="0" err="1"/>
              <a:t>ResNet</a:t>
            </a:r>
            <a:r>
              <a:rPr kumimoji="1" lang="zh-TW" altLang="en-US" dirty="0"/>
              <a:t> 的梯度爆炸問題</a:t>
            </a: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A68EF5D5-92A8-6063-0578-34FA4C4E0B60}"/>
                  </a:ext>
                </a:extLst>
              </p:cNvPr>
              <p:cNvSpPr>
                <a:spLocks noGrp="1"/>
              </p:cNvSpPr>
              <p:nvPr>
                <p:ph idx="1"/>
              </p:nvPr>
            </p:nvSpPr>
            <p:spPr/>
            <p:txBody>
              <a:bodyPr>
                <a:normAutofit/>
              </a:bodyPr>
              <a:lstStyle/>
              <a:p>
                <a:r>
                  <a:rPr kumimoji="1" lang="en-US" altLang="zh-TW" dirty="0"/>
                  <a:t>He Initialization </a:t>
                </a:r>
                <a:r>
                  <a:rPr kumimoji="1" lang="zh-TW" altLang="en-US" dirty="0"/>
                  <a:t>可以確保紫色區塊 </a:t>
                </a:r>
                <a14:m>
                  <m:oMath xmlns:m="http://schemas.openxmlformats.org/officeDocument/2006/math">
                    <m:r>
                      <a:rPr kumimoji="1" lang="en-US" altLang="zh-TW" i="1" dirty="0" smtClean="0">
                        <a:latin typeface="Cambria Math" panose="02040503050406030204" pitchFamily="18" charset="0"/>
                      </a:rPr>
                      <m:t>𝐹</m:t>
                    </m:r>
                    <m:r>
                      <a:rPr kumimoji="1" lang="zh-TW" altLang="en-US" b="0" i="1" dirty="0" smtClean="0">
                        <a:latin typeface="Cambria Math" panose="02040503050406030204" pitchFamily="18" charset="0"/>
                      </a:rPr>
                      <m:t> </m:t>
                    </m:r>
                  </m:oMath>
                </a14:m>
                <a:r>
                  <a:rPr kumimoji="1" lang="zh-TW" altLang="en-US" dirty="0"/>
                  <a:t>在運算前後的 </a:t>
                </a:r>
                <a:r>
                  <a:rPr kumimoji="1" lang="en-US" altLang="zh-TW" dirty="0"/>
                  <a:t>variance </a:t>
                </a:r>
                <a:r>
                  <a:rPr kumimoji="1" lang="zh-TW" altLang="en-US" dirty="0"/>
                  <a:t>保持不變。然而，由於 </a:t>
                </a:r>
                <a:r>
                  <a:rPr kumimoji="1" lang="en-US" altLang="zh-TW" dirty="0"/>
                  <a:t>shortcut connection </a:t>
                </a:r>
                <a:r>
                  <a:rPr kumimoji="1" lang="zh-TW" altLang="en-US" dirty="0"/>
                  <a:t>的存在，每個紫色區塊的輸入都會被直接加回輸出，因此每經過一層，輸出的 </a:t>
                </a:r>
                <a:r>
                  <a:rPr kumimoji="1" lang="en-US" altLang="zh-TW" dirty="0"/>
                  <a:t>variance </a:t>
                </a:r>
                <a:r>
                  <a:rPr kumimoji="1" lang="zh-TW" altLang="en-US" dirty="0"/>
                  <a:t>都會增加（圖中的紅色數字表示 </a:t>
                </a:r>
                <a:r>
                  <a:rPr kumimoji="1" lang="en-US" altLang="zh-TW" dirty="0"/>
                  <a:t>variance</a:t>
                </a:r>
                <a:r>
                  <a:rPr kumimoji="1" lang="zh-TW" altLang="en-US" dirty="0"/>
                  <a:t>）。</a:t>
                </a:r>
                <a:endParaRPr kumimoji="1" lang="en-US" altLang="zh-TW" dirty="0"/>
              </a:p>
              <a:p>
                <a:r>
                  <a:rPr kumimoji="1" lang="zh-TW" altLang="en-US" dirty="0"/>
                  <a:t>隨著層數增加，</a:t>
                </a:r>
                <a:r>
                  <a:rPr kumimoji="1" lang="en-US" altLang="zh-TW" dirty="0"/>
                  <a:t>variance </a:t>
                </a:r>
                <a:r>
                  <a:rPr kumimoji="1" lang="zh-TW" altLang="en-US" dirty="0"/>
                  <a:t>便會逐層累積，最終呈現指數式增長。例如，下圖中的 </a:t>
                </a:r>
                <a14:m>
                  <m:oMath xmlns:m="http://schemas.openxmlformats.org/officeDocument/2006/math">
                    <m:r>
                      <a:rPr kumimoji="1" lang="en-US" altLang="zh-TW" b="0" i="1" smtClean="0">
                        <a:latin typeface="Cambria Math" panose="02040503050406030204" pitchFamily="18" charset="0"/>
                      </a:rPr>
                      <m:t>𝑥</m:t>
                    </m:r>
                  </m:oMath>
                </a14:m>
                <a:r>
                  <a:rPr kumimoji="1" lang="zh-TW" altLang="en-US" dirty="0"/>
                  <a:t> 經過三層的 </a:t>
                </a:r>
                <a:r>
                  <a:rPr kumimoji="1" lang="en-US" altLang="zh-TW" dirty="0"/>
                  <a:t>residual</a:t>
                </a:r>
                <a:r>
                  <a:rPr kumimoji="1" lang="zh-TW" altLang="en-US" dirty="0"/>
                  <a:t> </a:t>
                </a:r>
                <a:r>
                  <a:rPr kumimoji="1" lang="en-US" altLang="zh-TW" dirty="0"/>
                  <a:t>block</a:t>
                </a:r>
                <a:r>
                  <a:rPr kumimoji="1" lang="zh-TW" altLang="en-US" dirty="0"/>
                  <a:t> 之後，</a:t>
                </a:r>
                <a:r>
                  <a:rPr kumimoji="1" lang="en-US" altLang="zh-TW" dirty="0"/>
                  <a:t>variance</a:t>
                </a:r>
                <a:r>
                  <a:rPr kumimoji="1" lang="zh-TW" altLang="en-US" dirty="0"/>
                  <a:t> 就變成了 </a:t>
                </a:r>
                <a14:m>
                  <m:oMath xmlns:m="http://schemas.openxmlformats.org/officeDocument/2006/math">
                    <m:sSup>
                      <m:sSupPr>
                        <m:ctrlPr>
                          <a:rPr kumimoji="1" lang="en-US" altLang="zh-TW" i="1" smtClean="0">
                            <a:latin typeface="Cambria Math" panose="02040503050406030204" pitchFamily="18" charset="0"/>
                          </a:rPr>
                        </m:ctrlPr>
                      </m:sSupPr>
                      <m:e>
                        <m:r>
                          <a:rPr kumimoji="1" lang="en-US" altLang="zh-TW" b="0" i="1" smtClean="0">
                            <a:latin typeface="Cambria Math" panose="02040503050406030204" pitchFamily="18" charset="0"/>
                          </a:rPr>
                          <m:t>2</m:t>
                        </m:r>
                      </m:e>
                      <m:sup>
                        <m:r>
                          <a:rPr kumimoji="1" lang="en-US" altLang="zh-TW" b="0" i="1" smtClean="0">
                            <a:latin typeface="Cambria Math" panose="02040503050406030204" pitchFamily="18" charset="0"/>
                          </a:rPr>
                          <m:t>3</m:t>
                        </m:r>
                      </m:sup>
                    </m:sSup>
                    <m:r>
                      <a:rPr kumimoji="1" lang="en-US" altLang="zh-TW" b="0" i="1" smtClean="0">
                        <a:latin typeface="Cambria Math" panose="02040503050406030204" pitchFamily="18" charset="0"/>
                      </a:rPr>
                      <m:t>=8</m:t>
                    </m:r>
                  </m:oMath>
                </a14:m>
                <a:r>
                  <a:rPr kumimoji="1" lang="zh-TW" altLang="en-US" dirty="0"/>
                  <a:t>。</a:t>
                </a:r>
              </a:p>
            </p:txBody>
          </p:sp>
        </mc:Choice>
        <mc:Fallback xmlns="">
          <p:sp>
            <p:nvSpPr>
              <p:cNvPr id="3" name="內容版面配置區 2">
                <a:extLst>
                  <a:ext uri="{FF2B5EF4-FFF2-40B4-BE49-F238E27FC236}">
                    <a16:creationId xmlns:a16="http://schemas.microsoft.com/office/drawing/2014/main" id="{A68EF5D5-92A8-6063-0578-34FA4C4E0B60}"/>
                  </a:ext>
                </a:extLst>
              </p:cNvPr>
              <p:cNvSpPr>
                <a:spLocks noGrp="1" noRot="1" noChangeAspect="1" noMove="1" noResize="1" noEditPoints="1" noAdjustHandles="1" noChangeArrowheads="1" noChangeShapeType="1" noTextEdit="1"/>
              </p:cNvSpPr>
              <p:nvPr>
                <p:ph idx="1"/>
              </p:nvPr>
            </p:nvSpPr>
            <p:spPr>
              <a:blipFill>
                <a:blip r:embed="rId2"/>
                <a:stretch>
                  <a:fillRect l="-1009" t="-1347" r="-1639"/>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76864682-14F8-7A00-7401-A99A49C0CAE5}"/>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C8C2E7E4-CD21-15D6-92D4-D9CE4E5EFBE7}"/>
              </a:ext>
            </a:extLst>
          </p:cNvPr>
          <p:cNvSpPr>
            <a:spLocks noGrp="1"/>
          </p:cNvSpPr>
          <p:nvPr>
            <p:ph type="sldNum" sz="quarter" idx="12"/>
          </p:nvPr>
        </p:nvSpPr>
        <p:spPr/>
        <p:txBody>
          <a:bodyPr/>
          <a:lstStyle/>
          <a:p>
            <a:r>
              <a:rPr lang="en-US" altLang="zh-TW" dirty="0"/>
              <a:t>Deep Learning</a:t>
            </a:r>
          </a:p>
        </p:txBody>
      </p:sp>
      <p:pic>
        <p:nvPicPr>
          <p:cNvPr id="7" name="圖片 6">
            <a:extLst>
              <a:ext uri="{FF2B5EF4-FFF2-40B4-BE49-F238E27FC236}">
                <a16:creationId xmlns:a16="http://schemas.microsoft.com/office/drawing/2014/main" id="{ED3AD0D8-A74C-69F9-BE5B-8220AAF322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9800" y="5249130"/>
            <a:ext cx="7772400" cy="908835"/>
          </a:xfrm>
          <a:prstGeom prst="rect">
            <a:avLst/>
          </a:prstGeom>
        </p:spPr>
      </p:pic>
    </p:spTree>
    <p:extLst>
      <p:ext uri="{BB962C8B-B14F-4D97-AF65-F5344CB8AC3E}">
        <p14:creationId xmlns:p14="http://schemas.microsoft.com/office/powerpoint/2010/main" val="30632901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EC22262-0403-0E14-7262-FBF468E188C2}"/>
              </a:ext>
            </a:extLst>
          </p:cNvPr>
          <p:cNvSpPr>
            <a:spLocks noGrp="1"/>
          </p:cNvSpPr>
          <p:nvPr>
            <p:ph type="title"/>
          </p:nvPr>
        </p:nvSpPr>
        <p:spPr/>
        <p:txBody>
          <a:bodyPr/>
          <a:lstStyle/>
          <a:p>
            <a:r>
              <a:rPr kumimoji="1" lang="en-US" altLang="zh-TW" dirty="0" err="1"/>
              <a:t>ResNet</a:t>
            </a:r>
            <a:r>
              <a:rPr kumimoji="1" lang="zh-TW" altLang="en-US" dirty="0"/>
              <a:t> 的梯度爆炸問題</a:t>
            </a:r>
          </a:p>
        </p:txBody>
      </p:sp>
      <p:sp>
        <p:nvSpPr>
          <p:cNvPr id="3" name="內容版面配置區 2">
            <a:extLst>
              <a:ext uri="{FF2B5EF4-FFF2-40B4-BE49-F238E27FC236}">
                <a16:creationId xmlns:a16="http://schemas.microsoft.com/office/drawing/2014/main" id="{25EDF347-253B-2BE8-A533-06E01EAF1810}"/>
              </a:ext>
            </a:extLst>
          </p:cNvPr>
          <p:cNvSpPr>
            <a:spLocks noGrp="1"/>
          </p:cNvSpPr>
          <p:nvPr>
            <p:ph idx="1"/>
          </p:nvPr>
        </p:nvSpPr>
        <p:spPr/>
        <p:txBody>
          <a:bodyPr/>
          <a:lstStyle/>
          <a:p>
            <a:r>
              <a:rPr kumimoji="1" lang="zh-TW" altLang="en-US" dirty="0"/>
              <a:t>為了解決這個問題，研究人員提出在 </a:t>
            </a:r>
            <a:r>
              <a:rPr kumimoji="1" lang="en-US" altLang="zh-TW" dirty="0"/>
              <a:t>residual block </a:t>
            </a:r>
            <a:r>
              <a:rPr kumimoji="1" lang="zh-TW" altLang="en-US" dirty="0"/>
              <a:t>中使用 </a:t>
            </a:r>
            <a:r>
              <a:rPr kumimoji="1" lang="en-US" altLang="zh-TW" dirty="0"/>
              <a:t>Batch Normalization (BN)</a:t>
            </a:r>
            <a:r>
              <a:rPr kumimoji="1" lang="zh-TW" altLang="en-US" dirty="0"/>
              <a:t>。在每個 </a:t>
            </a:r>
            <a:r>
              <a:rPr kumimoji="1" lang="en-US" altLang="zh-TW" dirty="0"/>
              <a:t>residual block </a:t>
            </a:r>
            <a:r>
              <a:rPr kumimoji="1" lang="zh-TW" altLang="en-US" dirty="0"/>
              <a:t>的第一層加入 </a:t>
            </a:r>
            <a:r>
              <a:rPr kumimoji="1" lang="en-US" altLang="zh-TW" dirty="0"/>
              <a:t>BN</a:t>
            </a:r>
            <a:r>
              <a:rPr kumimoji="1" lang="zh-TW" altLang="en-US" dirty="0"/>
              <a:t>，可以讓每一層的輸入維持 </a:t>
            </a:r>
            <a:r>
              <a:rPr kumimoji="1" lang="en-US" altLang="zh-TW" dirty="0"/>
              <a:t>variance</a:t>
            </a:r>
            <a:r>
              <a:rPr kumimoji="1" lang="zh-TW" altLang="en-US" dirty="0"/>
              <a:t> 為 </a:t>
            </a:r>
            <a:r>
              <a:rPr kumimoji="1" lang="en-US" altLang="zh-TW" dirty="0"/>
              <a:t>1</a:t>
            </a:r>
            <a:r>
              <a:rPr kumimoji="1" lang="zh-TW" altLang="en-US" dirty="0"/>
              <a:t>。再搭配 </a:t>
            </a:r>
            <a:r>
              <a:rPr kumimoji="1" lang="en-US" altLang="zh-TW" dirty="0"/>
              <a:t>He Initialization </a:t>
            </a:r>
            <a:r>
              <a:rPr kumimoji="1" lang="zh-TW" altLang="en-US" dirty="0"/>
              <a:t>，輸出的</a:t>
            </a:r>
            <a:r>
              <a:rPr kumimoji="1" lang="en-US" altLang="zh-TW" dirty="0"/>
              <a:t> variance </a:t>
            </a:r>
            <a:r>
              <a:rPr kumimoji="1" lang="zh-TW" altLang="en-US" dirty="0"/>
              <a:t>也能維持在 </a:t>
            </a:r>
            <a:r>
              <a:rPr kumimoji="1" lang="en-US" altLang="zh-TW" dirty="0"/>
              <a:t>1</a:t>
            </a:r>
            <a:r>
              <a:rPr kumimoji="1" lang="zh-TW" altLang="en-US" dirty="0"/>
              <a:t>。如此一來，隨著 </a:t>
            </a:r>
            <a:r>
              <a:rPr kumimoji="1" lang="en-US" altLang="zh-TW" dirty="0"/>
              <a:t>residual block </a:t>
            </a:r>
            <a:r>
              <a:rPr kumimoji="1" lang="zh-TW" altLang="en-US" dirty="0"/>
              <a:t>數量增加，整體 </a:t>
            </a:r>
            <a:r>
              <a:rPr kumimoji="1" lang="en-US" altLang="zh-TW" dirty="0"/>
              <a:t>variance</a:t>
            </a:r>
            <a:r>
              <a:rPr kumimoji="1" lang="zh-TW" altLang="en-US" dirty="0"/>
              <a:t> 只會線性增長。</a:t>
            </a:r>
            <a:endParaRPr kumimoji="1" lang="en-US" altLang="zh-TW" dirty="0"/>
          </a:p>
          <a:p>
            <a:endParaRPr kumimoji="1" lang="zh-TW" altLang="en-US" dirty="0"/>
          </a:p>
        </p:txBody>
      </p:sp>
      <p:sp>
        <p:nvSpPr>
          <p:cNvPr id="4" name="日期版面配置區 3">
            <a:extLst>
              <a:ext uri="{FF2B5EF4-FFF2-40B4-BE49-F238E27FC236}">
                <a16:creationId xmlns:a16="http://schemas.microsoft.com/office/drawing/2014/main" id="{E1E33E7A-B092-B020-45DA-731DBC5D2DA1}"/>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444FEAC2-D55B-72CC-3F58-071F3F660DE4}"/>
              </a:ext>
            </a:extLst>
          </p:cNvPr>
          <p:cNvSpPr>
            <a:spLocks noGrp="1"/>
          </p:cNvSpPr>
          <p:nvPr>
            <p:ph type="sldNum" sz="quarter" idx="12"/>
          </p:nvPr>
        </p:nvSpPr>
        <p:spPr/>
        <p:txBody>
          <a:bodyPr/>
          <a:lstStyle/>
          <a:p>
            <a:r>
              <a:rPr lang="en-US" altLang="zh-TW" dirty="0"/>
              <a:t>Deep Learning</a:t>
            </a:r>
          </a:p>
        </p:txBody>
      </p:sp>
      <p:pic>
        <p:nvPicPr>
          <p:cNvPr id="7" name="圖片 6">
            <a:extLst>
              <a:ext uri="{FF2B5EF4-FFF2-40B4-BE49-F238E27FC236}">
                <a16:creationId xmlns:a16="http://schemas.microsoft.com/office/drawing/2014/main" id="{F8015DF0-0E3B-4583-D22F-E429C3E449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1692" y="4699373"/>
            <a:ext cx="10309576" cy="842535"/>
          </a:xfrm>
          <a:prstGeom prst="rect">
            <a:avLst/>
          </a:prstGeom>
        </p:spPr>
      </p:pic>
    </p:spTree>
    <p:extLst>
      <p:ext uri="{BB962C8B-B14F-4D97-AF65-F5344CB8AC3E}">
        <p14:creationId xmlns:p14="http://schemas.microsoft.com/office/powerpoint/2010/main" val="29993147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68B2EDB-A807-F147-8365-FC3E9B1AFD07}"/>
              </a:ext>
            </a:extLst>
          </p:cNvPr>
          <p:cNvSpPr>
            <a:spLocks noGrp="1"/>
          </p:cNvSpPr>
          <p:nvPr>
            <p:ph type="title"/>
          </p:nvPr>
        </p:nvSpPr>
        <p:spPr/>
        <p:txBody>
          <a:bodyPr/>
          <a:lstStyle/>
          <a:p>
            <a:r>
              <a:rPr kumimoji="1" lang="en-US" altLang="zh-TW" dirty="0" err="1"/>
              <a:t>ResNet</a:t>
            </a:r>
            <a:r>
              <a:rPr kumimoji="1" lang="zh-TW" altLang="en-US" dirty="0"/>
              <a:t> 的梯度爆炸問題</a:t>
            </a:r>
          </a:p>
        </p:txBody>
      </p:sp>
      <p:sp>
        <p:nvSpPr>
          <p:cNvPr id="3" name="內容版面配置區 2">
            <a:extLst>
              <a:ext uri="{FF2B5EF4-FFF2-40B4-BE49-F238E27FC236}">
                <a16:creationId xmlns:a16="http://schemas.microsoft.com/office/drawing/2014/main" id="{16DE8614-A759-7491-E42D-363D8B309B96}"/>
              </a:ext>
            </a:extLst>
          </p:cNvPr>
          <p:cNvSpPr>
            <a:spLocks noGrp="1"/>
          </p:cNvSpPr>
          <p:nvPr>
            <p:ph idx="1"/>
          </p:nvPr>
        </p:nvSpPr>
        <p:spPr>
          <a:xfrm>
            <a:off x="254644" y="2108201"/>
            <a:ext cx="4143736" cy="3760891"/>
          </a:xfrm>
        </p:spPr>
        <p:txBody>
          <a:bodyPr>
            <a:normAutofit lnSpcReduction="10000"/>
          </a:bodyPr>
          <a:lstStyle/>
          <a:p>
            <a:r>
              <a:rPr kumimoji="1" lang="en-US" altLang="zh-TW" dirty="0"/>
              <a:t>2016 </a:t>
            </a:r>
            <a:r>
              <a:rPr kumimoji="1" lang="zh-TW" altLang="en-US" dirty="0"/>
              <a:t>年，</a:t>
            </a:r>
            <a:r>
              <a:rPr kumimoji="1" lang="en-US" altLang="zh-TW" dirty="0" err="1"/>
              <a:t>ResNet</a:t>
            </a:r>
            <a:r>
              <a:rPr kumimoji="1" lang="en-US" altLang="zh-TW" dirty="0"/>
              <a:t> </a:t>
            </a:r>
            <a:r>
              <a:rPr kumimoji="1" lang="zh-TW" altLang="en-US" dirty="0"/>
              <a:t>的原作者發表論文，提出了將 </a:t>
            </a:r>
            <a:r>
              <a:rPr kumimoji="1" lang="en-US" altLang="zh-TW" dirty="0"/>
              <a:t>Batch Normalization </a:t>
            </a:r>
            <a:r>
              <a:rPr kumimoji="1" lang="zh-TW" altLang="en-US" dirty="0"/>
              <a:t>放在</a:t>
            </a:r>
            <a:r>
              <a:rPr kumimoji="1" lang="en-US" altLang="zh-TW" dirty="0"/>
              <a:t> </a:t>
            </a:r>
            <a:r>
              <a:rPr kumimoji="1" lang="en-US" altLang="zh-TW" dirty="0" err="1"/>
              <a:t>ReLU</a:t>
            </a:r>
            <a:r>
              <a:rPr kumimoji="1" lang="en-US" altLang="zh-TW" dirty="0"/>
              <a:t> </a:t>
            </a:r>
            <a:r>
              <a:rPr kumimoji="1" lang="zh-TW" altLang="en-US" dirty="0"/>
              <a:t>與卷積層之前的這種架構。這種設計被稱為 </a:t>
            </a:r>
            <a:r>
              <a:rPr kumimoji="1" lang="en-US" altLang="zh-TW" dirty="0" err="1"/>
              <a:t>ResNet</a:t>
            </a:r>
            <a:r>
              <a:rPr kumimoji="1" lang="en-US" altLang="zh-TW" dirty="0"/>
              <a:t> v2</a:t>
            </a:r>
            <a:r>
              <a:rPr kumimoji="1" lang="zh-TW" altLang="en-US" dirty="0"/>
              <a:t>。</a:t>
            </a:r>
            <a:endParaRPr kumimoji="1" lang="en-US" altLang="zh-TW" dirty="0"/>
          </a:p>
          <a:p>
            <a:r>
              <a:rPr kumimoji="1" lang="zh-TW" altLang="en-US" dirty="0"/>
              <a:t>另外，</a:t>
            </a:r>
            <a:r>
              <a:rPr kumimoji="1" lang="en-US" altLang="zh-TW" dirty="0"/>
              <a:t>TensorFlow </a:t>
            </a:r>
            <a:r>
              <a:rPr kumimoji="1" lang="zh-TW" altLang="en-US" dirty="0"/>
              <a:t>也內建支援這種排序版本的 </a:t>
            </a:r>
            <a:r>
              <a:rPr kumimoji="1" lang="en-US" altLang="zh-TW" dirty="0" err="1"/>
              <a:t>ResNet</a:t>
            </a:r>
            <a:r>
              <a:rPr kumimoji="1" lang="zh-TW" altLang="en-US" dirty="0"/>
              <a:t>。</a:t>
            </a:r>
            <a:endParaRPr kumimoji="1" lang="en-US" altLang="zh-TW" dirty="0"/>
          </a:p>
          <a:p>
            <a:endParaRPr kumimoji="1" lang="en-US" altLang="zh-TW" dirty="0"/>
          </a:p>
          <a:p>
            <a:r>
              <a:rPr kumimoji="1" lang="zh-TW" altLang="en-US" sz="2000" dirty="0"/>
              <a:t>*</a:t>
            </a:r>
            <a:r>
              <a:rPr kumimoji="1" lang="en-US" altLang="zh-TW" sz="2000" dirty="0"/>
              <a:t>.</a:t>
            </a:r>
            <a:r>
              <a:rPr kumimoji="1" lang="zh-TW" altLang="en-US" sz="2000" dirty="0"/>
              <a:t> </a:t>
            </a:r>
            <a:r>
              <a:rPr kumimoji="1" lang="en-US" altLang="zh-TW" sz="2000" dirty="0"/>
              <a:t>https://</a:t>
            </a:r>
            <a:r>
              <a:rPr kumimoji="1" lang="en-US" altLang="zh-TW" sz="2000" dirty="0" err="1"/>
              <a:t>arxiv.org</a:t>
            </a:r>
            <a:r>
              <a:rPr kumimoji="1" lang="en-US" altLang="zh-TW" sz="2000" dirty="0"/>
              <a:t>/pdf/1603.05027</a:t>
            </a:r>
            <a:endParaRPr kumimoji="1" lang="zh-TW" altLang="en-US" sz="2000" dirty="0"/>
          </a:p>
        </p:txBody>
      </p:sp>
      <p:sp>
        <p:nvSpPr>
          <p:cNvPr id="4" name="日期版面配置區 3">
            <a:extLst>
              <a:ext uri="{FF2B5EF4-FFF2-40B4-BE49-F238E27FC236}">
                <a16:creationId xmlns:a16="http://schemas.microsoft.com/office/drawing/2014/main" id="{AEF04836-9B78-AF4B-9674-CB5D0A3E0AFE}"/>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65232ABB-1FF3-DF97-9EA1-128D1F692BC8}"/>
              </a:ext>
            </a:extLst>
          </p:cNvPr>
          <p:cNvSpPr>
            <a:spLocks noGrp="1"/>
          </p:cNvSpPr>
          <p:nvPr>
            <p:ph type="sldNum" sz="quarter" idx="12"/>
          </p:nvPr>
        </p:nvSpPr>
        <p:spPr/>
        <p:txBody>
          <a:bodyPr/>
          <a:lstStyle/>
          <a:p>
            <a:r>
              <a:rPr lang="en-US" altLang="zh-TW" dirty="0"/>
              <a:t>Deep Learning</a:t>
            </a:r>
          </a:p>
        </p:txBody>
      </p:sp>
      <p:pic>
        <p:nvPicPr>
          <p:cNvPr id="7" name="圖片 6" descr="一張含有 文字, 螢幕擷取畫面, 字型, 行 的圖片&#10;&#10;AI 產生的內容可能不正確。">
            <a:extLst>
              <a:ext uri="{FF2B5EF4-FFF2-40B4-BE49-F238E27FC236}">
                <a16:creationId xmlns:a16="http://schemas.microsoft.com/office/drawing/2014/main" id="{F4C2666C-ADEC-EB9F-5262-417E3AC98E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37728" y="2108201"/>
            <a:ext cx="1729682" cy="365733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圖片 8" descr="一張含有 文字, 螢幕擷取畫面, 字型 的圖片&#10;&#10;AI 產生的內容可能不正確。">
            <a:extLst>
              <a:ext uri="{FF2B5EF4-FFF2-40B4-BE49-F238E27FC236}">
                <a16:creationId xmlns:a16="http://schemas.microsoft.com/office/drawing/2014/main" id="{480504F7-D853-7AF1-8AC6-93B786A8BB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98088" y="916482"/>
            <a:ext cx="2826981" cy="164175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1" name="圖片 10" descr="一張含有 文字, 螢幕擷取畫面, 字型, 網頁 的圖片&#10;&#10;AI 產生的內容可能不正確。">
            <a:extLst>
              <a:ext uri="{FF2B5EF4-FFF2-40B4-BE49-F238E27FC236}">
                <a16:creationId xmlns:a16="http://schemas.microsoft.com/office/drawing/2014/main" id="{B09751F6-B2F6-036C-83E7-F1AF258B646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27149" y="2747730"/>
            <a:ext cx="4767403" cy="331271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4674157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13F6227-25BA-4F42-7EDF-4D43426383FE}"/>
              </a:ext>
            </a:extLst>
          </p:cNvPr>
          <p:cNvSpPr>
            <a:spLocks noGrp="1"/>
          </p:cNvSpPr>
          <p:nvPr>
            <p:ph type="title"/>
          </p:nvPr>
        </p:nvSpPr>
        <p:spPr/>
        <p:txBody>
          <a:bodyPr/>
          <a:lstStyle/>
          <a:p>
            <a:r>
              <a:rPr kumimoji="1" lang="en-US" altLang="zh-TW" dirty="0" err="1"/>
              <a:t>ResNet</a:t>
            </a:r>
            <a:r>
              <a:rPr kumimoji="1" lang="zh-TW" altLang="en-US" dirty="0"/>
              <a:t> 的梯度爆炸問題</a:t>
            </a:r>
          </a:p>
        </p:txBody>
      </p:sp>
      <p:sp>
        <p:nvSpPr>
          <p:cNvPr id="3" name="內容版面配置區 2">
            <a:extLst>
              <a:ext uri="{FF2B5EF4-FFF2-40B4-BE49-F238E27FC236}">
                <a16:creationId xmlns:a16="http://schemas.microsoft.com/office/drawing/2014/main" id="{0FFE9708-84B5-25F7-15FB-6F1766CFF1BB}"/>
              </a:ext>
            </a:extLst>
          </p:cNvPr>
          <p:cNvSpPr>
            <a:spLocks noGrp="1"/>
          </p:cNvSpPr>
          <p:nvPr>
            <p:ph idx="1"/>
          </p:nvPr>
        </p:nvSpPr>
        <p:spPr/>
        <p:txBody>
          <a:bodyPr/>
          <a:lstStyle/>
          <a:p>
            <a:r>
              <a:rPr kumimoji="1" lang="en-US" altLang="zh-TW" dirty="0"/>
              <a:t>Final</a:t>
            </a:r>
            <a:r>
              <a:rPr kumimoji="1" lang="zh-TW" altLang="en-US" dirty="0"/>
              <a:t> </a:t>
            </a:r>
            <a:r>
              <a:rPr kumimoji="1" lang="en-US" altLang="zh-TW" dirty="0"/>
              <a:t>Version</a:t>
            </a:r>
            <a:r>
              <a:rPr kumimoji="1" lang="zh-TW" altLang="en-US" dirty="0"/>
              <a:t> </a:t>
            </a:r>
            <a:r>
              <a:rPr kumimoji="1" lang="en-US" altLang="zh-TW" dirty="0"/>
              <a:t>of</a:t>
            </a:r>
            <a:r>
              <a:rPr kumimoji="1" lang="zh-TW" altLang="en-US" dirty="0"/>
              <a:t> </a:t>
            </a:r>
            <a:r>
              <a:rPr kumimoji="1" lang="en-US" altLang="zh-TW" dirty="0"/>
              <a:t>residual</a:t>
            </a:r>
            <a:r>
              <a:rPr kumimoji="1" lang="zh-TW" altLang="en-US" dirty="0"/>
              <a:t> </a:t>
            </a:r>
            <a:r>
              <a:rPr kumimoji="1" lang="en-US" altLang="zh-TW" dirty="0"/>
              <a:t>block</a:t>
            </a:r>
            <a:r>
              <a:rPr kumimoji="1" lang="zh-TW" altLang="en-US" dirty="0"/>
              <a:t>：</a:t>
            </a:r>
            <a:endParaRPr kumimoji="1" lang="en-US" altLang="zh-TW" dirty="0"/>
          </a:p>
        </p:txBody>
      </p:sp>
      <p:sp>
        <p:nvSpPr>
          <p:cNvPr id="4" name="日期版面配置區 3">
            <a:extLst>
              <a:ext uri="{FF2B5EF4-FFF2-40B4-BE49-F238E27FC236}">
                <a16:creationId xmlns:a16="http://schemas.microsoft.com/office/drawing/2014/main" id="{717D9311-2D24-5992-F873-0A782BF620C9}"/>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9833021C-536D-BE9D-6883-7EC964D569D4}"/>
              </a:ext>
            </a:extLst>
          </p:cNvPr>
          <p:cNvSpPr>
            <a:spLocks noGrp="1"/>
          </p:cNvSpPr>
          <p:nvPr>
            <p:ph type="sldNum" sz="quarter" idx="12"/>
          </p:nvPr>
        </p:nvSpPr>
        <p:spPr/>
        <p:txBody>
          <a:bodyPr/>
          <a:lstStyle/>
          <a:p>
            <a:r>
              <a:rPr lang="en-US" altLang="zh-TW" dirty="0"/>
              <a:t>Deep Learning</a:t>
            </a:r>
          </a:p>
        </p:txBody>
      </p:sp>
      <p:pic>
        <p:nvPicPr>
          <p:cNvPr id="7" name="圖片 6">
            <a:extLst>
              <a:ext uri="{FF2B5EF4-FFF2-40B4-BE49-F238E27FC236}">
                <a16:creationId xmlns:a16="http://schemas.microsoft.com/office/drawing/2014/main" id="{4FA91A4C-F1C0-D231-C37D-A6298A1A78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6586" y="2761116"/>
            <a:ext cx="9707001" cy="667884"/>
          </a:xfrm>
          <a:prstGeom prst="rect">
            <a:avLst/>
          </a:prstGeom>
        </p:spPr>
      </p:pic>
    </p:spTree>
    <p:extLst>
      <p:ext uri="{BB962C8B-B14F-4D97-AF65-F5344CB8AC3E}">
        <p14:creationId xmlns:p14="http://schemas.microsoft.com/office/powerpoint/2010/main" val="29840274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6C27CA7-45D6-AF38-9D9E-CE2223D750ED}"/>
              </a:ext>
            </a:extLst>
          </p:cNvPr>
          <p:cNvSpPr>
            <a:spLocks noGrp="1"/>
          </p:cNvSpPr>
          <p:nvPr>
            <p:ph type="title"/>
          </p:nvPr>
        </p:nvSpPr>
        <p:spPr/>
        <p:txBody>
          <a:bodyPr/>
          <a:lstStyle/>
          <a:p>
            <a:r>
              <a:rPr kumimoji="1" lang="en-US" altLang="zh-TW" dirty="0" err="1"/>
              <a:t>ResNet</a:t>
            </a:r>
            <a:r>
              <a:rPr kumimoji="1" lang="zh-TW" altLang="en-US" dirty="0"/>
              <a:t> 其餘事項</a:t>
            </a:r>
          </a:p>
        </p:txBody>
      </p:sp>
      <p:sp>
        <p:nvSpPr>
          <p:cNvPr id="3" name="內容版面配置區 2">
            <a:extLst>
              <a:ext uri="{FF2B5EF4-FFF2-40B4-BE49-F238E27FC236}">
                <a16:creationId xmlns:a16="http://schemas.microsoft.com/office/drawing/2014/main" id="{5243FAF0-2627-667B-052D-B7F63FCD61F3}"/>
              </a:ext>
            </a:extLst>
          </p:cNvPr>
          <p:cNvSpPr>
            <a:spLocks noGrp="1"/>
          </p:cNvSpPr>
          <p:nvPr>
            <p:ph idx="1"/>
          </p:nvPr>
        </p:nvSpPr>
        <p:spPr/>
        <p:txBody>
          <a:bodyPr/>
          <a:lstStyle/>
          <a:p>
            <a:r>
              <a:rPr kumimoji="1" lang="zh-TW" altLang="en-US" dirty="0"/>
              <a:t>在 </a:t>
            </a:r>
            <a:r>
              <a:rPr kumimoji="1" lang="en-US" altLang="zh-TW" dirty="0"/>
              <a:t>2015</a:t>
            </a:r>
            <a:r>
              <a:rPr kumimoji="1" lang="zh-TW" altLang="en-US" dirty="0"/>
              <a:t>、</a:t>
            </a:r>
            <a:r>
              <a:rPr kumimoji="1" lang="en-US" altLang="zh-TW" dirty="0"/>
              <a:t>2016 </a:t>
            </a:r>
            <a:r>
              <a:rPr kumimoji="1" lang="zh-TW" altLang="en-US" dirty="0"/>
              <a:t>年，</a:t>
            </a:r>
            <a:r>
              <a:rPr kumimoji="1" lang="en-US" altLang="zh-TW" dirty="0" err="1"/>
              <a:t>ResNet</a:t>
            </a:r>
            <a:r>
              <a:rPr kumimoji="1" lang="en-US" altLang="zh-TW" dirty="0"/>
              <a:t> </a:t>
            </a:r>
            <a:r>
              <a:rPr kumimoji="1" lang="zh-TW" altLang="en-US" dirty="0"/>
              <a:t>的研究者發現使用 </a:t>
            </a:r>
            <a:r>
              <a:rPr kumimoji="1" lang="en-US" altLang="zh-TW" dirty="0"/>
              <a:t>residual block </a:t>
            </a:r>
            <a:r>
              <a:rPr kumimoji="1" lang="zh-TW" altLang="en-US" dirty="0"/>
              <a:t>可以讓原本無法訓練的超深神經網路成功訓練。然而，這當時只是觀察到的現象。人類尚不清楚超深網路難以訓練的根本原因，只是找到了一種可行的解法。</a:t>
            </a:r>
            <a:endParaRPr kumimoji="1" lang="en-US" altLang="zh-TW" dirty="0"/>
          </a:p>
          <a:p>
            <a:r>
              <a:rPr kumimoji="1" lang="zh-TW" altLang="en-US" dirty="0"/>
              <a:t>到了 </a:t>
            </a:r>
            <a:r>
              <a:rPr kumimoji="1" lang="en-US" altLang="zh-TW" dirty="0"/>
              <a:t>2017</a:t>
            </a:r>
            <a:r>
              <a:rPr kumimoji="1" lang="zh-TW" altLang="en-US" dirty="0"/>
              <a:t>、</a:t>
            </a:r>
            <a:r>
              <a:rPr kumimoji="1" lang="en-US" altLang="zh-TW" dirty="0"/>
              <a:t>2018 </a:t>
            </a:r>
            <a:r>
              <a:rPr kumimoji="1" lang="zh-TW" altLang="en-US" dirty="0"/>
              <a:t>年，其他研究者提出推論，認為超深網路難以訓練的原因來自於破碎梯度現象。在破碎梯度現象的論文中也提到，</a:t>
            </a:r>
            <a:r>
              <a:rPr kumimoji="1" lang="en-US" altLang="zh-TW" dirty="0" err="1"/>
              <a:t>ResNet</a:t>
            </a:r>
            <a:r>
              <a:rPr kumimoji="1" lang="en-US" altLang="zh-TW" dirty="0"/>
              <a:t> </a:t>
            </a:r>
            <a:r>
              <a:rPr kumimoji="1" lang="zh-TW" altLang="en-US" dirty="0"/>
              <a:t>能夠緩解梯度破碎的問題。</a:t>
            </a:r>
            <a:endParaRPr kumimoji="1" lang="en-US" altLang="zh-TW" dirty="0"/>
          </a:p>
          <a:p>
            <a:r>
              <a:rPr kumimoji="1" lang="zh-TW" altLang="en-US" dirty="0"/>
              <a:t>以下圖表即出自該論文：</a:t>
            </a:r>
            <a:endParaRPr kumimoji="1" lang="en-US" altLang="zh-TW" dirty="0"/>
          </a:p>
        </p:txBody>
      </p:sp>
      <p:sp>
        <p:nvSpPr>
          <p:cNvPr id="4" name="日期版面配置區 3">
            <a:extLst>
              <a:ext uri="{FF2B5EF4-FFF2-40B4-BE49-F238E27FC236}">
                <a16:creationId xmlns:a16="http://schemas.microsoft.com/office/drawing/2014/main" id="{BA0FBAA9-B3E3-4105-A156-779F9EB1E8AD}"/>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DEE58B83-5BBE-9179-966A-C459AFA3FAE6}"/>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21580816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4D8F58-80B2-AEA2-1AF6-2BFE0F09FA39}"/>
              </a:ext>
            </a:extLst>
          </p:cNvPr>
          <p:cNvSpPr>
            <a:spLocks noGrp="1"/>
          </p:cNvSpPr>
          <p:nvPr>
            <p:ph type="title"/>
          </p:nvPr>
        </p:nvSpPr>
        <p:spPr/>
        <p:txBody>
          <a:bodyPr/>
          <a:lstStyle/>
          <a:p>
            <a:r>
              <a:rPr kumimoji="1" lang="en-US" altLang="zh-TW" dirty="0" err="1"/>
              <a:t>ResNet</a:t>
            </a:r>
            <a:r>
              <a:rPr kumimoji="1" lang="zh-TW" altLang="en-US" dirty="0"/>
              <a:t> 其餘事項</a:t>
            </a:r>
          </a:p>
        </p:txBody>
      </p:sp>
      <p:pic>
        <p:nvPicPr>
          <p:cNvPr id="7" name="內容版面配置區 6" descr="一張含有 行, 繪圖, 圖表, 字型 的圖片&#10;&#10;AI 產生的內容可能不正確。">
            <a:extLst>
              <a:ext uri="{FF2B5EF4-FFF2-40B4-BE49-F238E27FC236}">
                <a16:creationId xmlns:a16="http://schemas.microsoft.com/office/drawing/2014/main" id="{36FA3887-F717-BEB0-7524-7A39DAD305A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97280" y="2131431"/>
            <a:ext cx="10058400" cy="259513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日期版面配置區 3">
            <a:extLst>
              <a:ext uri="{FF2B5EF4-FFF2-40B4-BE49-F238E27FC236}">
                <a16:creationId xmlns:a16="http://schemas.microsoft.com/office/drawing/2014/main" id="{3FA25A2C-7040-EBE0-7CFD-BD889E5B6BE0}"/>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B90B2696-1168-E360-5F37-7D89FE70C5A2}"/>
              </a:ext>
            </a:extLst>
          </p:cNvPr>
          <p:cNvSpPr>
            <a:spLocks noGrp="1"/>
          </p:cNvSpPr>
          <p:nvPr>
            <p:ph type="sldNum" sz="quarter" idx="12"/>
          </p:nvPr>
        </p:nvSpPr>
        <p:spPr/>
        <p:txBody>
          <a:bodyPr/>
          <a:lstStyle/>
          <a:p>
            <a:r>
              <a:rPr lang="en-US" altLang="zh-TW" dirty="0"/>
              <a:t>Deep Learning</a:t>
            </a:r>
          </a:p>
        </p:txBody>
      </p:sp>
      <p:sp>
        <p:nvSpPr>
          <p:cNvPr id="8" name="文字方塊 7">
            <a:extLst>
              <a:ext uri="{FF2B5EF4-FFF2-40B4-BE49-F238E27FC236}">
                <a16:creationId xmlns:a16="http://schemas.microsoft.com/office/drawing/2014/main" id="{A100D9EE-5F41-1626-8BD1-EB0E8FA12EA9}"/>
              </a:ext>
            </a:extLst>
          </p:cNvPr>
          <p:cNvSpPr txBox="1"/>
          <p:nvPr/>
        </p:nvSpPr>
        <p:spPr>
          <a:xfrm>
            <a:off x="4363735" y="5473014"/>
            <a:ext cx="3109972" cy="646331"/>
          </a:xfrm>
          <a:prstGeom prst="rect">
            <a:avLst/>
          </a:prstGeom>
          <a:noFill/>
        </p:spPr>
        <p:txBody>
          <a:bodyPr wrap="square">
            <a:spAutoFit/>
          </a:bodyPr>
          <a:lstStyle/>
          <a:p>
            <a:r>
              <a:rPr lang="en-US" altLang="zh-TW" dirty="0"/>
              <a:t>24</a:t>
            </a:r>
            <a:r>
              <a:rPr lang="zh-TW" altLang="en-US" dirty="0"/>
              <a:t>-layer feedforward </a:t>
            </a:r>
            <a:r>
              <a:rPr lang="en-US" altLang="zh-TW" dirty="0"/>
              <a:t>network</a:t>
            </a:r>
            <a:r>
              <a:rPr lang="zh-TW" altLang="en-US" dirty="0"/>
              <a:t>，可觀察到梯度非常破碎</a:t>
            </a:r>
          </a:p>
        </p:txBody>
      </p:sp>
      <p:cxnSp>
        <p:nvCxnSpPr>
          <p:cNvPr id="9" name="直線箭頭接點 8">
            <a:extLst>
              <a:ext uri="{FF2B5EF4-FFF2-40B4-BE49-F238E27FC236}">
                <a16:creationId xmlns:a16="http://schemas.microsoft.com/office/drawing/2014/main" id="{687103A6-B411-12BA-CCE8-0B5C73F90706}"/>
              </a:ext>
            </a:extLst>
          </p:cNvPr>
          <p:cNvCxnSpPr>
            <a:cxnSpLocks/>
          </p:cNvCxnSpPr>
          <p:nvPr/>
        </p:nvCxnSpPr>
        <p:spPr>
          <a:xfrm flipV="1">
            <a:off x="5604078" y="3849773"/>
            <a:ext cx="17362" cy="16283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直線箭頭接點 9">
            <a:extLst>
              <a:ext uri="{FF2B5EF4-FFF2-40B4-BE49-F238E27FC236}">
                <a16:creationId xmlns:a16="http://schemas.microsoft.com/office/drawing/2014/main" id="{3E4FD8A4-1011-9593-75DE-B00AD52D2D65}"/>
              </a:ext>
            </a:extLst>
          </p:cNvPr>
          <p:cNvCxnSpPr>
            <a:cxnSpLocks/>
          </p:cNvCxnSpPr>
          <p:nvPr/>
        </p:nvCxnSpPr>
        <p:spPr>
          <a:xfrm flipV="1">
            <a:off x="2363165" y="3801741"/>
            <a:ext cx="150471" cy="18130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文字方塊 10">
            <a:extLst>
              <a:ext uri="{FF2B5EF4-FFF2-40B4-BE49-F238E27FC236}">
                <a16:creationId xmlns:a16="http://schemas.microsoft.com/office/drawing/2014/main" id="{40C41B42-A15C-9007-D27E-98C47B9BF606}"/>
              </a:ext>
            </a:extLst>
          </p:cNvPr>
          <p:cNvSpPr txBox="1"/>
          <p:nvPr/>
        </p:nvSpPr>
        <p:spPr>
          <a:xfrm>
            <a:off x="1097280" y="5614775"/>
            <a:ext cx="3109972" cy="646331"/>
          </a:xfrm>
          <a:prstGeom prst="rect">
            <a:avLst/>
          </a:prstGeom>
          <a:noFill/>
        </p:spPr>
        <p:txBody>
          <a:bodyPr wrap="square">
            <a:spAutoFit/>
          </a:bodyPr>
          <a:lstStyle/>
          <a:p>
            <a:r>
              <a:rPr lang="en-US" altLang="zh-TW" dirty="0"/>
              <a:t>1</a:t>
            </a:r>
            <a:r>
              <a:rPr lang="zh-TW" altLang="en-US" dirty="0"/>
              <a:t>-layer feedforward </a:t>
            </a:r>
            <a:r>
              <a:rPr lang="en-US" altLang="zh-TW" dirty="0"/>
              <a:t>network</a:t>
            </a:r>
            <a:r>
              <a:rPr lang="zh-TW" altLang="en-US" dirty="0"/>
              <a:t>，沒有破碎梯度問題</a:t>
            </a:r>
          </a:p>
        </p:txBody>
      </p:sp>
      <p:cxnSp>
        <p:nvCxnSpPr>
          <p:cNvPr id="12" name="直線箭頭接點 11">
            <a:extLst>
              <a:ext uri="{FF2B5EF4-FFF2-40B4-BE49-F238E27FC236}">
                <a16:creationId xmlns:a16="http://schemas.microsoft.com/office/drawing/2014/main" id="{A2C54112-B0D1-B912-A03E-D149940C9BF7}"/>
              </a:ext>
            </a:extLst>
          </p:cNvPr>
          <p:cNvCxnSpPr>
            <a:cxnSpLocks/>
          </p:cNvCxnSpPr>
          <p:nvPr/>
        </p:nvCxnSpPr>
        <p:spPr>
          <a:xfrm flipV="1">
            <a:off x="9645572" y="3858709"/>
            <a:ext cx="17362" cy="16283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文字方塊 12">
            <a:extLst>
              <a:ext uri="{FF2B5EF4-FFF2-40B4-BE49-F238E27FC236}">
                <a16:creationId xmlns:a16="http://schemas.microsoft.com/office/drawing/2014/main" id="{E89A5DEA-43D5-7DFF-B84A-BD344C0905EE}"/>
              </a:ext>
            </a:extLst>
          </p:cNvPr>
          <p:cNvSpPr txBox="1"/>
          <p:nvPr/>
        </p:nvSpPr>
        <p:spPr>
          <a:xfrm>
            <a:off x="8225001" y="5494989"/>
            <a:ext cx="3109972" cy="646331"/>
          </a:xfrm>
          <a:prstGeom prst="rect">
            <a:avLst/>
          </a:prstGeom>
          <a:noFill/>
        </p:spPr>
        <p:txBody>
          <a:bodyPr wrap="square">
            <a:spAutoFit/>
          </a:bodyPr>
          <a:lstStyle/>
          <a:p>
            <a:r>
              <a:rPr lang="en-US" altLang="zh-TW" dirty="0"/>
              <a:t>50-layer</a:t>
            </a:r>
            <a:r>
              <a:rPr lang="zh-TW" altLang="en-US" dirty="0"/>
              <a:t> </a:t>
            </a:r>
            <a:r>
              <a:rPr lang="en-US" altLang="zh-TW" dirty="0" err="1"/>
              <a:t>ResNet</a:t>
            </a:r>
            <a:r>
              <a:rPr lang="zh-TW" altLang="en-US" dirty="0"/>
              <a:t>，也沒有明顯的破碎梯度問題</a:t>
            </a:r>
          </a:p>
        </p:txBody>
      </p:sp>
      <p:sp>
        <p:nvSpPr>
          <p:cNvPr id="14" name="文字方塊 13">
            <a:extLst>
              <a:ext uri="{FF2B5EF4-FFF2-40B4-BE49-F238E27FC236}">
                <a16:creationId xmlns:a16="http://schemas.microsoft.com/office/drawing/2014/main" id="{A2B0FE67-CA0E-C3A8-E27F-04861A5C2EC6}"/>
              </a:ext>
            </a:extLst>
          </p:cNvPr>
          <p:cNvSpPr txBox="1"/>
          <p:nvPr/>
        </p:nvSpPr>
        <p:spPr>
          <a:xfrm>
            <a:off x="7738099" y="1243225"/>
            <a:ext cx="3409972" cy="36933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kumimoji="1" lang="zh-TW" altLang="en-US" dirty="0"/>
              <a:t>*</a:t>
            </a:r>
            <a:r>
              <a:rPr kumimoji="1" lang="en-US" altLang="zh-TW" dirty="0"/>
              <a:t>.</a:t>
            </a:r>
            <a:r>
              <a:rPr kumimoji="1" lang="zh-TW" altLang="en-US" dirty="0"/>
              <a:t> </a:t>
            </a:r>
            <a:r>
              <a:rPr kumimoji="1" lang="en-US" altLang="zh-TW" dirty="0"/>
              <a:t>https://</a:t>
            </a:r>
            <a:r>
              <a:rPr kumimoji="1" lang="en-US" altLang="zh-TW" dirty="0" err="1"/>
              <a:t>arxiv.org</a:t>
            </a:r>
            <a:r>
              <a:rPr kumimoji="1" lang="en-US" altLang="zh-TW" dirty="0"/>
              <a:t>/pdf/1702.08591</a:t>
            </a:r>
            <a:endParaRPr kumimoji="1" lang="zh-TW" altLang="en-US" dirty="0"/>
          </a:p>
        </p:txBody>
      </p:sp>
    </p:spTree>
    <p:extLst>
      <p:ext uri="{BB962C8B-B14F-4D97-AF65-F5344CB8AC3E}">
        <p14:creationId xmlns:p14="http://schemas.microsoft.com/office/powerpoint/2010/main" val="2086564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AC9D3E2-C220-EB24-2C29-732B32CD2658}"/>
              </a:ext>
            </a:extLst>
          </p:cNvPr>
          <p:cNvSpPr>
            <a:spLocks noGrp="1"/>
          </p:cNvSpPr>
          <p:nvPr>
            <p:ph type="title"/>
          </p:nvPr>
        </p:nvSpPr>
        <p:spPr/>
        <p:txBody>
          <a:bodyPr/>
          <a:lstStyle/>
          <a:p>
            <a:r>
              <a:rPr kumimoji="1" lang="en-US" altLang="zh-TW" dirty="0" err="1"/>
              <a:t>ResNet</a:t>
            </a:r>
            <a:r>
              <a:rPr kumimoji="1" lang="zh-TW" altLang="en-US" dirty="0"/>
              <a:t> 其餘事項</a:t>
            </a:r>
          </a:p>
        </p:txBody>
      </p:sp>
      <p:pic>
        <p:nvPicPr>
          <p:cNvPr id="7" name="內容版面配置區 6" descr="一張含有 文字, 行, 繪圖, 圖表 的圖片&#10;&#10;AI 產生的內容可能不正確。">
            <a:extLst>
              <a:ext uri="{FF2B5EF4-FFF2-40B4-BE49-F238E27FC236}">
                <a16:creationId xmlns:a16="http://schemas.microsoft.com/office/drawing/2014/main" id="{34700503-B7E7-F17F-07C3-5B4B5E29997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27263" y="2115344"/>
            <a:ext cx="7797800" cy="37465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日期版面配置區 3">
            <a:extLst>
              <a:ext uri="{FF2B5EF4-FFF2-40B4-BE49-F238E27FC236}">
                <a16:creationId xmlns:a16="http://schemas.microsoft.com/office/drawing/2014/main" id="{B7D466B3-C7AD-DB8D-1586-70CBFA8E0418}"/>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D70F348C-7FC1-1208-3974-ACDD995F87ED}"/>
              </a:ext>
            </a:extLst>
          </p:cNvPr>
          <p:cNvSpPr>
            <a:spLocks noGrp="1"/>
          </p:cNvSpPr>
          <p:nvPr>
            <p:ph type="sldNum" sz="quarter" idx="12"/>
          </p:nvPr>
        </p:nvSpPr>
        <p:spPr/>
        <p:txBody>
          <a:bodyPr/>
          <a:lstStyle/>
          <a:p>
            <a:r>
              <a:rPr lang="en-US" altLang="zh-TW" dirty="0"/>
              <a:t>Deep Learning</a:t>
            </a:r>
          </a:p>
        </p:txBody>
      </p:sp>
      <p:sp>
        <p:nvSpPr>
          <p:cNvPr id="8" name="文字方塊 7">
            <a:extLst>
              <a:ext uri="{FF2B5EF4-FFF2-40B4-BE49-F238E27FC236}">
                <a16:creationId xmlns:a16="http://schemas.microsoft.com/office/drawing/2014/main" id="{AA00B352-681A-9A9E-40B2-91399358AD3A}"/>
              </a:ext>
            </a:extLst>
          </p:cNvPr>
          <p:cNvSpPr txBox="1"/>
          <p:nvPr/>
        </p:nvSpPr>
        <p:spPr>
          <a:xfrm>
            <a:off x="7738099" y="1243225"/>
            <a:ext cx="3409972" cy="36933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kumimoji="1" lang="zh-TW" altLang="en-US" dirty="0"/>
              <a:t>*</a:t>
            </a:r>
            <a:r>
              <a:rPr kumimoji="1" lang="en-US" altLang="zh-TW" dirty="0"/>
              <a:t>.</a:t>
            </a:r>
            <a:r>
              <a:rPr kumimoji="1" lang="zh-TW" altLang="en-US" dirty="0"/>
              <a:t> </a:t>
            </a:r>
            <a:r>
              <a:rPr kumimoji="1" lang="en-US" altLang="zh-TW" dirty="0"/>
              <a:t>https://</a:t>
            </a:r>
            <a:r>
              <a:rPr kumimoji="1" lang="en-US" altLang="zh-TW" dirty="0" err="1"/>
              <a:t>arxiv.org</a:t>
            </a:r>
            <a:r>
              <a:rPr kumimoji="1" lang="en-US" altLang="zh-TW" dirty="0"/>
              <a:t>/pdf/1702.08591</a:t>
            </a:r>
            <a:endParaRPr kumimoji="1" lang="zh-TW" altLang="en-US" dirty="0"/>
          </a:p>
        </p:txBody>
      </p:sp>
    </p:spTree>
    <p:extLst>
      <p:ext uri="{BB962C8B-B14F-4D97-AF65-F5344CB8AC3E}">
        <p14:creationId xmlns:p14="http://schemas.microsoft.com/office/powerpoint/2010/main" val="23355268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547364D-CB37-F8C1-52F9-D5C7D9B91E89}"/>
              </a:ext>
            </a:extLst>
          </p:cNvPr>
          <p:cNvSpPr>
            <a:spLocks noGrp="1"/>
          </p:cNvSpPr>
          <p:nvPr>
            <p:ph type="title"/>
          </p:nvPr>
        </p:nvSpPr>
        <p:spPr/>
        <p:txBody>
          <a:bodyPr/>
          <a:lstStyle/>
          <a:p>
            <a:r>
              <a:rPr kumimoji="1" lang="zh-TW" altLang="en-US" dirty="0"/>
              <a:t>各種 </a:t>
            </a:r>
            <a:r>
              <a:rPr kumimoji="1" lang="en-US" altLang="zh-TW" dirty="0"/>
              <a:t>CNN</a:t>
            </a:r>
            <a:r>
              <a:rPr kumimoji="1" lang="zh-TW" altLang="en-US" dirty="0"/>
              <a:t> 的層數比較</a:t>
            </a:r>
          </a:p>
        </p:txBody>
      </p:sp>
      <p:graphicFrame>
        <p:nvGraphicFramePr>
          <p:cNvPr id="7" name="內容版面配置區 6">
            <a:extLst>
              <a:ext uri="{FF2B5EF4-FFF2-40B4-BE49-F238E27FC236}">
                <a16:creationId xmlns:a16="http://schemas.microsoft.com/office/drawing/2014/main" id="{82D3771B-00E4-6650-45BA-733BFF0416D4}"/>
              </a:ext>
            </a:extLst>
          </p:cNvPr>
          <p:cNvGraphicFramePr>
            <a:graphicFrameLocks noGrp="1"/>
          </p:cNvGraphicFramePr>
          <p:nvPr>
            <p:ph idx="1"/>
            <p:extLst>
              <p:ext uri="{D42A27DB-BD31-4B8C-83A1-F6EECF244321}">
                <p14:modId xmlns:p14="http://schemas.microsoft.com/office/powerpoint/2010/main" val="484352420"/>
              </p:ext>
            </p:extLst>
          </p:nvPr>
        </p:nvGraphicFramePr>
        <p:xfrm>
          <a:off x="1096962" y="2108200"/>
          <a:ext cx="9896619" cy="4049531"/>
        </p:xfrm>
        <a:graphic>
          <a:graphicData uri="http://schemas.openxmlformats.org/drawingml/2006/table">
            <a:tbl>
              <a:tblPr firstRow="1" bandRow="1">
                <a:tableStyleId>{5C22544A-7EE6-4342-B048-85BDC9FD1C3A}</a:tableStyleId>
              </a:tblPr>
              <a:tblGrid>
                <a:gridCol w="1341131">
                  <a:extLst>
                    <a:ext uri="{9D8B030D-6E8A-4147-A177-3AD203B41FA5}">
                      <a16:colId xmlns:a16="http://schemas.microsoft.com/office/drawing/2014/main" val="3299057101"/>
                    </a:ext>
                  </a:extLst>
                </a:gridCol>
                <a:gridCol w="1960287">
                  <a:extLst>
                    <a:ext uri="{9D8B030D-6E8A-4147-A177-3AD203B41FA5}">
                      <a16:colId xmlns:a16="http://schemas.microsoft.com/office/drawing/2014/main" val="2338867967"/>
                    </a:ext>
                  </a:extLst>
                </a:gridCol>
                <a:gridCol w="2372810">
                  <a:extLst>
                    <a:ext uri="{9D8B030D-6E8A-4147-A177-3AD203B41FA5}">
                      <a16:colId xmlns:a16="http://schemas.microsoft.com/office/drawing/2014/main" val="2111957989"/>
                    </a:ext>
                  </a:extLst>
                </a:gridCol>
                <a:gridCol w="4222391">
                  <a:extLst>
                    <a:ext uri="{9D8B030D-6E8A-4147-A177-3AD203B41FA5}">
                      <a16:colId xmlns:a16="http://schemas.microsoft.com/office/drawing/2014/main" val="2129807419"/>
                    </a:ext>
                  </a:extLst>
                </a:gridCol>
              </a:tblGrid>
              <a:tr h="1009035">
                <a:tc>
                  <a:txBody>
                    <a:bodyPr/>
                    <a:lstStyle/>
                    <a:p>
                      <a:r>
                        <a:rPr lang="en-US" altLang="zh-TW" dirty="0"/>
                        <a:t>CNN</a:t>
                      </a:r>
                      <a:r>
                        <a:rPr lang="zh-TW" altLang="en-US" dirty="0"/>
                        <a:t> 種類</a:t>
                      </a:r>
                    </a:p>
                  </a:txBody>
                  <a:tcPr anchor="ctr"/>
                </a:tc>
                <a:tc>
                  <a:txBody>
                    <a:bodyPr/>
                    <a:lstStyle/>
                    <a:p>
                      <a:r>
                        <a:rPr lang="zh-TW" altLang="en-US" dirty="0"/>
                        <a:t>典型層數</a:t>
                      </a:r>
                    </a:p>
                  </a:txBody>
                  <a:tcPr anchor="ctr"/>
                </a:tc>
                <a:tc>
                  <a:txBody>
                    <a:bodyPr/>
                    <a:lstStyle/>
                    <a:p>
                      <a:r>
                        <a:rPr lang="zh-TW" altLang="en-US" dirty="0"/>
                        <a:t>發表年份</a:t>
                      </a:r>
                    </a:p>
                  </a:txBody>
                  <a:tcPr anchor="ctr"/>
                </a:tc>
                <a:tc>
                  <a:txBody>
                    <a:bodyPr/>
                    <a:lstStyle/>
                    <a:p>
                      <a:r>
                        <a:rPr lang="zh-TW" altLang="en-US" dirty="0"/>
                        <a:t>備註</a:t>
                      </a:r>
                    </a:p>
                  </a:txBody>
                  <a:tcPr anchor="ctr"/>
                </a:tc>
                <a:extLst>
                  <a:ext uri="{0D108BD9-81ED-4DB2-BD59-A6C34878D82A}">
                    <a16:rowId xmlns:a16="http://schemas.microsoft.com/office/drawing/2014/main" val="2765883532"/>
                  </a:ext>
                </a:extLst>
              </a:tr>
              <a:tr h="1009035">
                <a:tc>
                  <a:txBody>
                    <a:bodyPr/>
                    <a:lstStyle/>
                    <a:p>
                      <a:r>
                        <a:rPr lang="en-US" altLang="zh-TW" dirty="0" err="1"/>
                        <a:t>AlexNet</a:t>
                      </a:r>
                      <a:endParaRPr lang="zh-TW" altLang="en-US" dirty="0"/>
                    </a:p>
                  </a:txBody>
                  <a:tcPr anchor="ctr"/>
                </a:tc>
                <a:tc>
                  <a:txBody>
                    <a:bodyPr/>
                    <a:lstStyle/>
                    <a:p>
                      <a:r>
                        <a:rPr lang="en-US" altLang="zh-TW" dirty="0"/>
                        <a:t>8</a:t>
                      </a:r>
                      <a:endParaRPr lang="zh-TW" altLang="en-US" dirty="0"/>
                    </a:p>
                  </a:txBody>
                  <a:tcPr anchor="ctr"/>
                </a:tc>
                <a:tc>
                  <a:txBody>
                    <a:bodyPr/>
                    <a:lstStyle/>
                    <a:p>
                      <a:r>
                        <a:rPr lang="en-US" altLang="zh-TW" dirty="0"/>
                        <a:t>2012</a:t>
                      </a:r>
                      <a:endParaRPr lang="zh-TW" altLang="en-US" dirty="0"/>
                    </a:p>
                  </a:txBody>
                  <a:tcPr anchor="ctr"/>
                </a:tc>
                <a:tc>
                  <a:txBody>
                    <a:bodyPr/>
                    <a:lstStyle/>
                    <a:p>
                      <a:r>
                        <a:rPr lang="en-US" altLang="zh-TW" dirty="0"/>
                        <a:t>5 convolutional layers + 3 fully connected layers</a:t>
                      </a:r>
                      <a:r>
                        <a:rPr lang="zh-TW" altLang="en-US" dirty="0"/>
                        <a:t>。</a:t>
                      </a:r>
                    </a:p>
                  </a:txBody>
                  <a:tcPr anchor="ctr"/>
                </a:tc>
                <a:extLst>
                  <a:ext uri="{0D108BD9-81ED-4DB2-BD59-A6C34878D82A}">
                    <a16:rowId xmlns:a16="http://schemas.microsoft.com/office/drawing/2014/main" val="27939829"/>
                  </a:ext>
                </a:extLst>
              </a:tr>
              <a:tr h="1009035">
                <a:tc>
                  <a:txBody>
                    <a:bodyPr/>
                    <a:lstStyle/>
                    <a:p>
                      <a:r>
                        <a:rPr lang="en-US" altLang="zh-TW" dirty="0"/>
                        <a:t>VGG</a:t>
                      </a:r>
                      <a:endParaRPr lang="zh-TW" altLang="en-US" dirty="0"/>
                    </a:p>
                  </a:txBody>
                  <a:tcPr anchor="ctr"/>
                </a:tc>
                <a:tc>
                  <a:txBody>
                    <a:bodyPr/>
                    <a:lstStyle/>
                    <a:p>
                      <a:r>
                        <a:rPr lang="en-US" altLang="zh-TW" dirty="0"/>
                        <a:t>16,</a:t>
                      </a:r>
                      <a:r>
                        <a:rPr lang="zh-TW" altLang="en-US" dirty="0"/>
                        <a:t> </a:t>
                      </a:r>
                      <a:r>
                        <a:rPr lang="en-US" altLang="zh-TW" dirty="0"/>
                        <a:t>19</a:t>
                      </a:r>
                      <a:endParaRPr lang="zh-TW" altLang="en-US" dirty="0"/>
                    </a:p>
                  </a:txBody>
                  <a:tcPr anchor="ctr"/>
                </a:tc>
                <a:tc>
                  <a:txBody>
                    <a:bodyPr/>
                    <a:lstStyle/>
                    <a:p>
                      <a:r>
                        <a:rPr lang="en-US" altLang="zh-TW" dirty="0"/>
                        <a:t>2014</a:t>
                      </a:r>
                      <a:endParaRPr lang="zh-TW" altLang="en-US" dirty="0"/>
                    </a:p>
                  </a:txBody>
                  <a:tcPr anchor="ctr"/>
                </a:tc>
                <a:tc>
                  <a:txBody>
                    <a:bodyPr/>
                    <a:lstStyle/>
                    <a:p>
                      <a:r>
                        <a:rPr lang="zh-TW" altLang="en-US" dirty="0"/>
                        <a:t>使用大量 </a:t>
                      </a:r>
                      <a:r>
                        <a:rPr lang="en-US" altLang="zh-TW" dirty="0"/>
                        <a:t>3×3 </a:t>
                      </a:r>
                      <a:r>
                        <a:rPr lang="zh-TW" altLang="en-US" dirty="0"/>
                        <a:t>小卷積層堆疊 </a:t>
                      </a:r>
                      <a:r>
                        <a:rPr lang="en-US" altLang="zh-TW" dirty="0"/>
                        <a:t>+ 3 </a:t>
                      </a:r>
                      <a:r>
                        <a:rPr lang="zh-TW" altLang="en-US" dirty="0"/>
                        <a:t>個全連接層，例如 </a:t>
                      </a:r>
                      <a:r>
                        <a:rPr lang="en-US" altLang="zh-TW" dirty="0"/>
                        <a:t>VGG16</a:t>
                      </a:r>
                      <a:r>
                        <a:rPr lang="zh-TW" altLang="en-US" dirty="0"/>
                        <a:t>、</a:t>
                      </a:r>
                      <a:r>
                        <a:rPr lang="en-US" altLang="zh-TW" dirty="0"/>
                        <a:t>VGG19</a:t>
                      </a:r>
                      <a:r>
                        <a:rPr lang="zh-TW" altLang="en-US" dirty="0"/>
                        <a:t>。</a:t>
                      </a:r>
                    </a:p>
                  </a:txBody>
                  <a:tcPr anchor="ctr"/>
                </a:tc>
                <a:extLst>
                  <a:ext uri="{0D108BD9-81ED-4DB2-BD59-A6C34878D82A}">
                    <a16:rowId xmlns:a16="http://schemas.microsoft.com/office/drawing/2014/main" val="158778450"/>
                  </a:ext>
                </a:extLst>
              </a:tr>
              <a:tr h="1022426">
                <a:tc>
                  <a:txBody>
                    <a:bodyPr/>
                    <a:lstStyle/>
                    <a:p>
                      <a:r>
                        <a:rPr lang="en-US" altLang="zh-TW" dirty="0" err="1"/>
                        <a:t>ResNet</a:t>
                      </a:r>
                      <a:endParaRPr lang="zh-TW" altLang="en-US" dirty="0"/>
                    </a:p>
                  </a:txBody>
                  <a:tcPr anchor="ctr"/>
                </a:tc>
                <a:tc>
                  <a:txBody>
                    <a:bodyPr/>
                    <a:lstStyle/>
                    <a:p>
                      <a:r>
                        <a:rPr lang="en-US" altLang="zh-TW" dirty="0"/>
                        <a:t>34,</a:t>
                      </a:r>
                      <a:r>
                        <a:rPr lang="zh-TW" altLang="en-US" dirty="0"/>
                        <a:t> </a:t>
                      </a:r>
                      <a:r>
                        <a:rPr lang="en-US" altLang="zh-TW" dirty="0"/>
                        <a:t>50,</a:t>
                      </a:r>
                      <a:r>
                        <a:rPr lang="zh-TW" altLang="en-US" dirty="0"/>
                        <a:t> </a:t>
                      </a:r>
                      <a:r>
                        <a:rPr lang="en-US" altLang="zh-TW" dirty="0"/>
                        <a:t>101,</a:t>
                      </a:r>
                      <a:r>
                        <a:rPr lang="zh-TW" altLang="en-US" dirty="0"/>
                        <a:t> </a:t>
                      </a:r>
                      <a:r>
                        <a:rPr lang="en-US" altLang="zh-TW" dirty="0"/>
                        <a:t>152</a:t>
                      </a:r>
                      <a:endParaRPr lang="zh-TW" altLang="en-US" dirty="0"/>
                    </a:p>
                  </a:txBody>
                  <a:tcPr anchor="ctr"/>
                </a:tc>
                <a:tc>
                  <a:txBody>
                    <a:bodyPr/>
                    <a:lstStyle/>
                    <a:p>
                      <a:r>
                        <a:rPr lang="en-US" altLang="zh-TW" dirty="0"/>
                        <a:t>2015,</a:t>
                      </a:r>
                      <a:r>
                        <a:rPr lang="zh-TW" altLang="en-US" dirty="0"/>
                        <a:t> </a:t>
                      </a:r>
                      <a:r>
                        <a:rPr lang="en-US" altLang="zh-TW" dirty="0"/>
                        <a:t>2016</a:t>
                      </a:r>
                      <a:endParaRPr lang="zh-TW" altLang="en-US" dirty="0"/>
                    </a:p>
                  </a:txBody>
                  <a:tcPr anchor="ctr"/>
                </a:tc>
                <a:tc>
                  <a:txBody>
                    <a:bodyPr/>
                    <a:lstStyle/>
                    <a:p>
                      <a:r>
                        <a:rPr lang="zh-TW" altLang="en-US" dirty="0"/>
                        <a:t>引入 </a:t>
                      </a:r>
                      <a:r>
                        <a:rPr lang="en-US" altLang="zh-TW" dirty="0"/>
                        <a:t>residual block</a:t>
                      </a:r>
                      <a:r>
                        <a:rPr lang="zh-TW" altLang="en-US" dirty="0"/>
                        <a:t>，使得超深網路可訓練，例如 </a:t>
                      </a:r>
                      <a:r>
                        <a:rPr lang="en-US" altLang="zh-TW" dirty="0"/>
                        <a:t>ResNet34</a:t>
                      </a:r>
                      <a:r>
                        <a:rPr lang="zh-TW" altLang="en-US" dirty="0"/>
                        <a:t>、</a:t>
                      </a:r>
                      <a:r>
                        <a:rPr lang="en-US" altLang="zh-TW" dirty="0"/>
                        <a:t>ResNet50</a:t>
                      </a:r>
                      <a:r>
                        <a:rPr lang="zh-TW" altLang="en-US" dirty="0"/>
                        <a:t>、</a:t>
                      </a:r>
                      <a:r>
                        <a:rPr lang="en-US" altLang="zh-TW" dirty="0"/>
                        <a:t>ResNet101</a:t>
                      </a:r>
                      <a:r>
                        <a:rPr lang="zh-TW" altLang="en-US" dirty="0"/>
                        <a:t>、</a:t>
                      </a:r>
                      <a:r>
                        <a:rPr lang="en-US" altLang="zh-TW" dirty="0"/>
                        <a:t>ResNet152</a:t>
                      </a:r>
                      <a:r>
                        <a:rPr lang="zh-TW" altLang="en-US" dirty="0"/>
                        <a:t>。</a:t>
                      </a:r>
                    </a:p>
                  </a:txBody>
                  <a:tcPr anchor="ctr"/>
                </a:tc>
                <a:extLst>
                  <a:ext uri="{0D108BD9-81ED-4DB2-BD59-A6C34878D82A}">
                    <a16:rowId xmlns:a16="http://schemas.microsoft.com/office/drawing/2014/main" val="1763921829"/>
                  </a:ext>
                </a:extLst>
              </a:tr>
            </a:tbl>
          </a:graphicData>
        </a:graphic>
      </p:graphicFrame>
      <p:sp>
        <p:nvSpPr>
          <p:cNvPr id="4" name="日期版面配置區 3">
            <a:extLst>
              <a:ext uri="{FF2B5EF4-FFF2-40B4-BE49-F238E27FC236}">
                <a16:creationId xmlns:a16="http://schemas.microsoft.com/office/drawing/2014/main" id="{43FAC316-E0C1-CC6A-1708-404B9C511A67}"/>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E0AEA41E-8388-3279-D209-DF190AAAB446}"/>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12455604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0AB6E427-3F73-4C06-A5D5-AE52C3883B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8C9BDAA-0390-4B39-9B5C-BC95E5120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9919"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a:p>
        </p:txBody>
      </p:sp>
      <p:sp>
        <p:nvSpPr>
          <p:cNvPr id="2" name="標題 1">
            <a:extLst>
              <a:ext uri="{FF2B5EF4-FFF2-40B4-BE49-F238E27FC236}">
                <a16:creationId xmlns:a16="http://schemas.microsoft.com/office/drawing/2014/main" id="{C52B59DE-AF5F-03B2-14E0-ABC3291AD9E0}"/>
              </a:ext>
            </a:extLst>
          </p:cNvPr>
          <p:cNvSpPr>
            <a:spLocks noGrp="1"/>
          </p:cNvSpPr>
          <p:nvPr>
            <p:ph type="title"/>
          </p:nvPr>
        </p:nvSpPr>
        <p:spPr>
          <a:xfrm>
            <a:off x="492370" y="516836"/>
            <a:ext cx="3084844" cy="1961086"/>
          </a:xfrm>
        </p:spPr>
        <p:txBody>
          <a:bodyPr>
            <a:normAutofit/>
          </a:bodyPr>
          <a:lstStyle/>
          <a:p>
            <a:r>
              <a:rPr kumimoji="1" lang="en-US" altLang="zh-TW" sz="4000" dirty="0" err="1">
                <a:solidFill>
                  <a:srgbClr val="FFFFFF"/>
                </a:solidFill>
              </a:rPr>
              <a:t>ResNet</a:t>
            </a:r>
            <a:r>
              <a:rPr kumimoji="1" lang="zh-TW" altLang="en-US" sz="4000" dirty="0">
                <a:solidFill>
                  <a:srgbClr val="FFFFFF"/>
                </a:solidFill>
              </a:rPr>
              <a:t> 其餘事項</a:t>
            </a:r>
          </a:p>
        </p:txBody>
      </p:sp>
      <p:cxnSp>
        <p:nvCxnSpPr>
          <p:cNvPr id="25" name="Straight Connector 24">
            <a:extLst>
              <a:ext uri="{FF2B5EF4-FFF2-40B4-BE49-F238E27FC236}">
                <a16:creationId xmlns:a16="http://schemas.microsoft.com/office/drawing/2014/main" id="{E04A321A-A039-4720-87B4-66A4210E0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1752" y="2638787"/>
            <a:ext cx="27432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內容版面配置區 2">
            <a:extLst>
              <a:ext uri="{FF2B5EF4-FFF2-40B4-BE49-F238E27FC236}">
                <a16:creationId xmlns:a16="http://schemas.microsoft.com/office/drawing/2014/main" id="{98BEAE9D-49A3-D26E-214F-113FB6596141}"/>
              </a:ext>
            </a:extLst>
          </p:cNvPr>
          <p:cNvSpPr>
            <a:spLocks noGrp="1"/>
          </p:cNvSpPr>
          <p:nvPr>
            <p:ph idx="1"/>
          </p:nvPr>
        </p:nvSpPr>
        <p:spPr>
          <a:xfrm>
            <a:off x="185195" y="2799653"/>
            <a:ext cx="3634451" cy="3809489"/>
          </a:xfrm>
        </p:spPr>
        <p:txBody>
          <a:bodyPr>
            <a:normAutofit/>
          </a:bodyPr>
          <a:lstStyle/>
          <a:p>
            <a:pPr>
              <a:lnSpc>
                <a:spcPct val="90000"/>
              </a:lnSpc>
            </a:pPr>
            <a:r>
              <a:rPr kumimoji="1" lang="zh-TW" altLang="en-US" sz="2000" dirty="0">
                <a:solidFill>
                  <a:srgbClr val="FFFFFF"/>
                </a:solidFill>
              </a:rPr>
              <a:t>在深度學習中，</a:t>
            </a:r>
            <a:r>
              <a:rPr kumimoji="1" lang="en-US" altLang="zh-TW" sz="2000" dirty="0">
                <a:solidFill>
                  <a:srgbClr val="FFFFFF"/>
                </a:solidFill>
              </a:rPr>
              <a:t>shortcut connection</a:t>
            </a:r>
            <a:r>
              <a:rPr kumimoji="1" lang="zh-TW" altLang="en-US" sz="2000" dirty="0">
                <a:solidFill>
                  <a:srgbClr val="FFFFFF"/>
                </a:solidFill>
              </a:rPr>
              <a:t> 這種將網路某層的輸入直接加到後面層的輸出上的設計，雖然是由 </a:t>
            </a:r>
            <a:r>
              <a:rPr kumimoji="1" lang="en-US" altLang="zh-TW" sz="2000" dirty="0" err="1">
                <a:solidFill>
                  <a:srgbClr val="FFFFFF"/>
                </a:solidFill>
              </a:rPr>
              <a:t>ResNet</a:t>
            </a:r>
            <a:r>
              <a:rPr kumimoji="1" lang="en-US" altLang="zh-TW" sz="2000" dirty="0">
                <a:solidFill>
                  <a:srgbClr val="FFFFFF"/>
                </a:solidFill>
              </a:rPr>
              <a:t> </a:t>
            </a:r>
            <a:r>
              <a:rPr kumimoji="1" lang="zh-TW" altLang="en-US" sz="2000" dirty="0">
                <a:solidFill>
                  <a:srgbClr val="FFFFFF"/>
                </a:solidFill>
              </a:rPr>
              <a:t>提出，但這種思想並不只限於 </a:t>
            </a:r>
            <a:r>
              <a:rPr kumimoji="1" lang="en-US" altLang="zh-TW" sz="2000" dirty="0" err="1">
                <a:solidFill>
                  <a:srgbClr val="FFFFFF"/>
                </a:solidFill>
              </a:rPr>
              <a:t>ResNet</a:t>
            </a:r>
            <a:r>
              <a:rPr kumimoji="1" lang="zh-TW" altLang="en-US" sz="2000" dirty="0">
                <a:solidFill>
                  <a:srgbClr val="FFFFFF"/>
                </a:solidFill>
              </a:rPr>
              <a:t>，後來也被廣泛應用在其他超深神經網路的架構中。</a:t>
            </a:r>
            <a:endParaRPr kumimoji="1" lang="en-US" altLang="zh-TW" sz="2000" dirty="0">
              <a:solidFill>
                <a:srgbClr val="FFFFFF"/>
              </a:solidFill>
            </a:endParaRPr>
          </a:p>
          <a:p>
            <a:pPr>
              <a:lnSpc>
                <a:spcPct val="90000"/>
              </a:lnSpc>
            </a:pPr>
            <a:r>
              <a:rPr kumimoji="1" lang="zh-TW" altLang="en-US" sz="2000" dirty="0">
                <a:solidFill>
                  <a:srgbClr val="FFFFFF"/>
                </a:solidFill>
              </a:rPr>
              <a:t>例如在 </a:t>
            </a:r>
            <a:r>
              <a:rPr kumimoji="1" lang="en-US" altLang="zh-TW" sz="2000" dirty="0">
                <a:solidFill>
                  <a:srgbClr val="FFFFFF"/>
                </a:solidFill>
              </a:rPr>
              <a:t>U-Net</a:t>
            </a:r>
            <a:r>
              <a:rPr kumimoji="1" lang="zh-TW" altLang="en-US" sz="2000" dirty="0">
                <a:solidFill>
                  <a:srgbClr val="FFFFFF"/>
                </a:solidFill>
              </a:rPr>
              <a:t> 中，</a:t>
            </a:r>
            <a:r>
              <a:rPr kumimoji="1" lang="en-US" altLang="zh-TW" sz="2000" dirty="0">
                <a:solidFill>
                  <a:srgbClr val="FFFFFF"/>
                </a:solidFill>
              </a:rPr>
              <a:t>encoder </a:t>
            </a:r>
            <a:r>
              <a:rPr kumimoji="1" lang="zh-TW" altLang="en-US" sz="2000" dirty="0">
                <a:solidFill>
                  <a:srgbClr val="FFFFFF"/>
                </a:solidFill>
              </a:rPr>
              <a:t>與 </a:t>
            </a:r>
            <a:r>
              <a:rPr kumimoji="1" lang="en-US" altLang="zh-TW" sz="2000" dirty="0">
                <a:solidFill>
                  <a:srgbClr val="FFFFFF"/>
                </a:solidFill>
              </a:rPr>
              <a:t>decoder </a:t>
            </a:r>
            <a:r>
              <a:rPr kumimoji="1" lang="zh-TW" altLang="en-US" sz="2000" dirty="0">
                <a:solidFill>
                  <a:srgbClr val="FFFFFF"/>
                </a:solidFill>
              </a:rPr>
              <a:t>之間的 </a:t>
            </a:r>
            <a:r>
              <a:rPr kumimoji="1" lang="en-US" altLang="zh-TW" sz="2000" dirty="0">
                <a:solidFill>
                  <a:srgbClr val="FFFFFF"/>
                </a:solidFill>
              </a:rPr>
              <a:t>skip connection</a:t>
            </a:r>
            <a:r>
              <a:rPr kumimoji="1" lang="zh-TW" altLang="en-US" sz="2000" dirty="0">
                <a:solidFill>
                  <a:srgbClr val="FFFFFF"/>
                </a:solidFill>
              </a:rPr>
              <a:t> 可以保留資訊，提升分割精度，是 </a:t>
            </a:r>
            <a:r>
              <a:rPr kumimoji="1" lang="en-US" altLang="zh-TW" sz="2000" dirty="0" err="1">
                <a:solidFill>
                  <a:srgbClr val="FFFFFF"/>
                </a:solidFill>
              </a:rPr>
              <a:t>ResNet</a:t>
            </a:r>
            <a:r>
              <a:rPr kumimoji="1" lang="zh-TW" altLang="en-US" sz="2000" dirty="0">
                <a:solidFill>
                  <a:srgbClr val="FFFFFF"/>
                </a:solidFill>
              </a:rPr>
              <a:t> 概念的延續。</a:t>
            </a:r>
            <a:endParaRPr kumimoji="1" lang="en-US" altLang="zh-TW" sz="2000" dirty="0">
              <a:solidFill>
                <a:srgbClr val="FFFFFF"/>
              </a:solidFill>
            </a:endParaRPr>
          </a:p>
        </p:txBody>
      </p:sp>
      <p:pic>
        <p:nvPicPr>
          <p:cNvPr id="7" name="圖片 6">
            <a:extLst>
              <a:ext uri="{FF2B5EF4-FFF2-40B4-BE49-F238E27FC236}">
                <a16:creationId xmlns:a16="http://schemas.microsoft.com/office/drawing/2014/main" id="{DA81BC00-E766-F5CF-9BE3-52D9F5818ED3}"/>
              </a:ext>
            </a:extLst>
          </p:cNvPr>
          <p:cNvPicPr>
            <a:picLocks noChangeAspect="1"/>
          </p:cNvPicPr>
          <p:nvPr/>
        </p:nvPicPr>
        <p:blipFill>
          <a:blip r:embed="rId2"/>
          <a:stretch>
            <a:fillRect/>
          </a:stretch>
        </p:blipFill>
        <p:spPr>
          <a:xfrm>
            <a:off x="4742017" y="2228235"/>
            <a:ext cx="6798082" cy="2401530"/>
          </a:xfrm>
          <a:prstGeom prst="rect">
            <a:avLst/>
          </a:prstGeom>
        </p:spPr>
      </p:pic>
      <p:sp>
        <p:nvSpPr>
          <p:cNvPr id="5" name="投影片編號版面配置區 4">
            <a:extLst>
              <a:ext uri="{FF2B5EF4-FFF2-40B4-BE49-F238E27FC236}">
                <a16:creationId xmlns:a16="http://schemas.microsoft.com/office/drawing/2014/main" id="{430BEB51-0BF1-A449-8387-F6F86373C6E8}"/>
              </a:ext>
            </a:extLst>
          </p:cNvPr>
          <p:cNvSpPr>
            <a:spLocks noGrp="1"/>
          </p:cNvSpPr>
          <p:nvPr>
            <p:ph type="sldNum" sz="quarter" idx="12"/>
          </p:nvPr>
        </p:nvSpPr>
        <p:spPr>
          <a:xfrm>
            <a:off x="10993582" y="6446838"/>
            <a:ext cx="780010" cy="365125"/>
          </a:xfrm>
        </p:spPr>
        <p:txBody>
          <a:bodyPr>
            <a:normAutofit/>
          </a:bodyPr>
          <a:lstStyle/>
          <a:p>
            <a:pPr>
              <a:lnSpc>
                <a:spcPct val="90000"/>
              </a:lnSpc>
              <a:spcAft>
                <a:spcPts val="600"/>
              </a:spcAft>
            </a:pPr>
            <a:r>
              <a:rPr lang="en-US" altLang="zh-TW" dirty="0">
                <a:solidFill>
                  <a:schemeClr val="tx1">
                    <a:lumMod val="85000"/>
                    <a:lumOff val="15000"/>
                  </a:schemeClr>
                </a:solidFill>
              </a:rPr>
              <a:t>Deep Learning</a:t>
            </a:r>
          </a:p>
        </p:txBody>
      </p:sp>
      <p:sp>
        <p:nvSpPr>
          <p:cNvPr id="11" name="文字方塊 10">
            <a:extLst>
              <a:ext uri="{FF2B5EF4-FFF2-40B4-BE49-F238E27FC236}">
                <a16:creationId xmlns:a16="http://schemas.microsoft.com/office/drawing/2014/main" id="{1354F4DB-D630-ABC5-0E40-ACE0FAA64C0E}"/>
              </a:ext>
            </a:extLst>
          </p:cNvPr>
          <p:cNvSpPr txBox="1"/>
          <p:nvPr/>
        </p:nvSpPr>
        <p:spPr>
          <a:xfrm>
            <a:off x="6315084" y="5168969"/>
            <a:ext cx="5545108" cy="369332"/>
          </a:xfrm>
          <a:prstGeom prst="rect">
            <a:avLst/>
          </a:prstGeom>
          <a:noFill/>
        </p:spPr>
        <p:txBody>
          <a:bodyPr wrap="none" rtlCol="0">
            <a:spAutoFit/>
          </a:bodyPr>
          <a:lstStyle/>
          <a:p>
            <a:r>
              <a:rPr kumimoji="1" lang="zh-TW" altLang="en-US" dirty="0"/>
              <a:t>*</a:t>
            </a:r>
            <a:r>
              <a:rPr kumimoji="1" lang="en-US" altLang="zh-TW" dirty="0"/>
              <a:t>.</a:t>
            </a:r>
            <a:r>
              <a:rPr kumimoji="1" lang="zh-TW" altLang="en-US" dirty="0"/>
              <a:t> </a:t>
            </a:r>
            <a:r>
              <a:rPr kumimoji="1" lang="en-US" altLang="zh-TW" dirty="0"/>
              <a:t>U-Net</a:t>
            </a:r>
            <a:r>
              <a:rPr kumimoji="1" lang="zh-TW" altLang="en-US" dirty="0"/>
              <a:t> </a:t>
            </a:r>
            <a:r>
              <a:rPr kumimoji="1" lang="en-US" altLang="zh-TW" dirty="0"/>
              <a:t>Graph:</a:t>
            </a:r>
            <a:r>
              <a:rPr kumimoji="1" lang="zh-TW" altLang="en-US" dirty="0"/>
              <a:t> </a:t>
            </a:r>
            <a:r>
              <a:rPr kumimoji="1" lang="en-US" altLang="zh-TW" dirty="0">
                <a:hlinkClick r:id="rId3"/>
              </a:rPr>
              <a:t>https://github.com/kgruiz/PlotNeuralNet</a:t>
            </a:r>
            <a:endParaRPr kumimoji="1" lang="zh-TW" altLang="en-US" dirty="0"/>
          </a:p>
        </p:txBody>
      </p:sp>
    </p:spTree>
    <p:extLst>
      <p:ext uri="{BB962C8B-B14F-4D97-AF65-F5344CB8AC3E}">
        <p14:creationId xmlns:p14="http://schemas.microsoft.com/office/powerpoint/2010/main" val="38550694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844E128-FF69-4E9F-8327-6B504B3C5A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 y="0"/>
            <a:ext cx="12191985"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a:p>
        </p:txBody>
      </p:sp>
      <p:sp>
        <p:nvSpPr>
          <p:cNvPr id="2" name="標題 1">
            <a:extLst>
              <a:ext uri="{FF2B5EF4-FFF2-40B4-BE49-F238E27FC236}">
                <a16:creationId xmlns:a16="http://schemas.microsoft.com/office/drawing/2014/main" id="{1781CCFC-A906-ED16-6087-DE81EA5BB3CD}"/>
              </a:ext>
            </a:extLst>
          </p:cNvPr>
          <p:cNvSpPr>
            <a:spLocks noGrp="1"/>
          </p:cNvSpPr>
          <p:nvPr>
            <p:ph type="title"/>
          </p:nvPr>
        </p:nvSpPr>
        <p:spPr>
          <a:xfrm>
            <a:off x="1097280" y="516835"/>
            <a:ext cx="5977937" cy="1666501"/>
          </a:xfrm>
        </p:spPr>
        <p:txBody>
          <a:bodyPr>
            <a:normAutofit/>
          </a:bodyPr>
          <a:lstStyle/>
          <a:p>
            <a:r>
              <a:rPr kumimoji="1" lang="en-US" altLang="zh-TW" sz="4000" dirty="0" err="1">
                <a:solidFill>
                  <a:srgbClr val="FFFFFF"/>
                </a:solidFill>
              </a:rPr>
              <a:t>ResNet</a:t>
            </a:r>
            <a:r>
              <a:rPr kumimoji="1" lang="zh-TW" altLang="en-US" sz="4000" dirty="0">
                <a:solidFill>
                  <a:srgbClr val="FFFFFF"/>
                </a:solidFill>
              </a:rPr>
              <a:t> 其餘事項</a:t>
            </a:r>
          </a:p>
        </p:txBody>
      </p:sp>
      <p:cxnSp>
        <p:nvCxnSpPr>
          <p:cNvPr id="13" name="Straight Connector 12">
            <a:extLst>
              <a:ext uri="{FF2B5EF4-FFF2-40B4-BE49-F238E27FC236}">
                <a16:creationId xmlns:a16="http://schemas.microsoft.com/office/drawing/2014/main" id="{055CEADF-09EA-423C-8C45-F94AF44D5A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15896" y="2353592"/>
            <a:ext cx="530352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內容版面配置區 2">
            <a:extLst>
              <a:ext uri="{FF2B5EF4-FFF2-40B4-BE49-F238E27FC236}">
                <a16:creationId xmlns:a16="http://schemas.microsoft.com/office/drawing/2014/main" id="{818EC2C8-C14B-47E6-D01E-9DC765EF097D}"/>
              </a:ext>
            </a:extLst>
          </p:cNvPr>
          <p:cNvSpPr>
            <a:spLocks noGrp="1"/>
          </p:cNvSpPr>
          <p:nvPr>
            <p:ph idx="1"/>
          </p:nvPr>
        </p:nvSpPr>
        <p:spPr>
          <a:xfrm>
            <a:off x="405114" y="2546224"/>
            <a:ext cx="6886937" cy="3794939"/>
          </a:xfrm>
        </p:spPr>
        <p:txBody>
          <a:bodyPr>
            <a:normAutofit/>
          </a:bodyPr>
          <a:lstStyle/>
          <a:p>
            <a:r>
              <a:rPr kumimoji="1" lang="zh-TW" altLang="en-US" dirty="0">
                <a:solidFill>
                  <a:srgbClr val="FFFFFF"/>
                </a:solidFill>
              </a:rPr>
              <a:t>在 </a:t>
            </a:r>
            <a:r>
              <a:rPr kumimoji="1" lang="en-US" altLang="zh-TW" dirty="0">
                <a:solidFill>
                  <a:srgbClr val="FFFFFF"/>
                </a:solidFill>
              </a:rPr>
              <a:t>Transformer</a:t>
            </a:r>
            <a:r>
              <a:rPr kumimoji="1" lang="zh-TW" altLang="en-US" dirty="0">
                <a:solidFill>
                  <a:srgbClr val="FFFFFF"/>
                </a:solidFill>
              </a:rPr>
              <a:t> （</a:t>
            </a:r>
            <a:r>
              <a:rPr kumimoji="1" lang="en-US" altLang="zh-TW" dirty="0">
                <a:solidFill>
                  <a:srgbClr val="FFFFFF"/>
                </a:solidFill>
              </a:rPr>
              <a:t>BERT,</a:t>
            </a:r>
            <a:r>
              <a:rPr kumimoji="1" lang="zh-TW" altLang="en-US" dirty="0">
                <a:solidFill>
                  <a:srgbClr val="FFFFFF"/>
                </a:solidFill>
              </a:rPr>
              <a:t> </a:t>
            </a:r>
            <a:r>
              <a:rPr kumimoji="1" lang="en-US" altLang="zh-TW" dirty="0">
                <a:solidFill>
                  <a:srgbClr val="FFFFFF"/>
                </a:solidFill>
              </a:rPr>
              <a:t>GPT</a:t>
            </a:r>
            <a:r>
              <a:rPr kumimoji="1" lang="zh-TW" altLang="en-US" dirty="0">
                <a:solidFill>
                  <a:srgbClr val="FFFFFF"/>
                </a:solidFill>
              </a:rPr>
              <a:t>）中，</a:t>
            </a:r>
            <a:r>
              <a:rPr kumimoji="1" lang="en-US" altLang="zh-TW" dirty="0">
                <a:solidFill>
                  <a:srgbClr val="FFFFFF"/>
                </a:solidFill>
              </a:rPr>
              <a:t>shortcut</a:t>
            </a:r>
            <a:r>
              <a:rPr kumimoji="1" lang="zh-TW" altLang="en-US" dirty="0">
                <a:solidFill>
                  <a:srgbClr val="FFFFFF"/>
                </a:solidFill>
              </a:rPr>
              <a:t> </a:t>
            </a:r>
            <a:r>
              <a:rPr kumimoji="1" lang="en-US" altLang="zh-TW" dirty="0">
                <a:solidFill>
                  <a:srgbClr val="FFFFFF"/>
                </a:solidFill>
              </a:rPr>
              <a:t>connection</a:t>
            </a:r>
            <a:r>
              <a:rPr kumimoji="1" lang="zh-TW" altLang="en-US" dirty="0">
                <a:solidFill>
                  <a:srgbClr val="FFFFFF"/>
                </a:solidFill>
              </a:rPr>
              <a:t> 則有助於穩定多層注意力機制的訓練，讓梯度能順利傳遞。（注意右圖中的箭頭與 </a:t>
            </a:r>
            <a:r>
              <a:rPr kumimoji="1" lang="en-US" altLang="zh-TW" dirty="0">
                <a:solidFill>
                  <a:srgbClr val="FFFFFF"/>
                </a:solidFill>
              </a:rPr>
              <a:t>Add</a:t>
            </a:r>
            <a:r>
              <a:rPr kumimoji="1" lang="zh-TW" altLang="en-US" dirty="0">
                <a:solidFill>
                  <a:srgbClr val="FFFFFF"/>
                </a:solidFill>
              </a:rPr>
              <a:t> </a:t>
            </a:r>
            <a:r>
              <a:rPr kumimoji="1" lang="en-US" altLang="zh-TW" dirty="0">
                <a:solidFill>
                  <a:srgbClr val="FFFFFF"/>
                </a:solidFill>
              </a:rPr>
              <a:t>&amp;</a:t>
            </a:r>
            <a:r>
              <a:rPr kumimoji="1" lang="zh-TW" altLang="en-US" dirty="0">
                <a:solidFill>
                  <a:srgbClr val="FFFFFF"/>
                </a:solidFill>
              </a:rPr>
              <a:t> </a:t>
            </a:r>
            <a:r>
              <a:rPr kumimoji="1" lang="en-US" altLang="zh-TW" dirty="0">
                <a:solidFill>
                  <a:srgbClr val="FFFFFF"/>
                </a:solidFill>
              </a:rPr>
              <a:t>Norm</a:t>
            </a:r>
            <a:r>
              <a:rPr kumimoji="1" lang="zh-TW" altLang="en-US" dirty="0">
                <a:solidFill>
                  <a:srgbClr val="FFFFFF"/>
                </a:solidFill>
              </a:rPr>
              <a:t>）</a:t>
            </a:r>
            <a:endParaRPr kumimoji="1" lang="en-US" altLang="zh-TW" dirty="0">
              <a:solidFill>
                <a:srgbClr val="FFFFFF"/>
              </a:solidFill>
            </a:endParaRPr>
          </a:p>
          <a:p>
            <a:r>
              <a:rPr kumimoji="1" lang="zh-TW" altLang="en-US" dirty="0">
                <a:solidFill>
                  <a:srgbClr val="FFFFFF"/>
                </a:solidFill>
              </a:rPr>
              <a:t>事實上，若沒有 </a:t>
            </a:r>
            <a:r>
              <a:rPr kumimoji="1" lang="en-US" altLang="zh-TW" dirty="0">
                <a:solidFill>
                  <a:srgbClr val="FFFFFF"/>
                </a:solidFill>
              </a:rPr>
              <a:t>shortcut</a:t>
            </a:r>
            <a:r>
              <a:rPr kumimoji="1" lang="zh-TW" altLang="en-US" dirty="0">
                <a:solidFill>
                  <a:srgbClr val="FFFFFF"/>
                </a:solidFill>
              </a:rPr>
              <a:t> </a:t>
            </a:r>
            <a:r>
              <a:rPr kumimoji="1" lang="en-US" altLang="zh-TW" dirty="0">
                <a:solidFill>
                  <a:srgbClr val="FFFFFF"/>
                </a:solidFill>
              </a:rPr>
              <a:t>connection</a:t>
            </a:r>
            <a:r>
              <a:rPr kumimoji="1" lang="zh-TW" altLang="en-US" dirty="0">
                <a:solidFill>
                  <a:srgbClr val="FFFFFF"/>
                </a:solidFill>
              </a:rPr>
              <a:t>，</a:t>
            </a:r>
            <a:r>
              <a:rPr kumimoji="1" lang="en-US" altLang="zh-TW" dirty="0">
                <a:solidFill>
                  <a:srgbClr val="FFFFFF"/>
                </a:solidFill>
              </a:rPr>
              <a:t>Transformer</a:t>
            </a:r>
            <a:r>
              <a:rPr kumimoji="1" lang="zh-TW" altLang="en-US" dirty="0">
                <a:solidFill>
                  <a:srgbClr val="FFFFFF"/>
                </a:solidFill>
              </a:rPr>
              <a:t> 甚至無法被訓練成功。（</a:t>
            </a:r>
            <a:r>
              <a:rPr kumimoji="1" lang="en-US" altLang="zh-TW" dirty="0">
                <a:solidFill>
                  <a:srgbClr val="FFFFFF"/>
                </a:solidFill>
              </a:rPr>
              <a:t>Attention</a:t>
            </a:r>
            <a:r>
              <a:rPr kumimoji="1" lang="zh-TW" altLang="en-US" dirty="0">
                <a:solidFill>
                  <a:srgbClr val="FFFFFF"/>
                </a:solidFill>
              </a:rPr>
              <a:t> </a:t>
            </a:r>
            <a:r>
              <a:rPr kumimoji="1" lang="en-US" altLang="zh-TW" dirty="0">
                <a:solidFill>
                  <a:srgbClr val="FFFFFF"/>
                </a:solidFill>
              </a:rPr>
              <a:t>is</a:t>
            </a:r>
            <a:r>
              <a:rPr kumimoji="1" lang="zh-TW" altLang="en-US" dirty="0">
                <a:solidFill>
                  <a:srgbClr val="FFFFFF"/>
                </a:solidFill>
              </a:rPr>
              <a:t> </a:t>
            </a:r>
            <a:r>
              <a:rPr kumimoji="1" lang="en-US" altLang="zh-TW" u="sng" dirty="0">
                <a:solidFill>
                  <a:srgbClr val="FFFFFF"/>
                </a:solidFill>
              </a:rPr>
              <a:t>not</a:t>
            </a:r>
            <a:r>
              <a:rPr kumimoji="1" lang="zh-TW" altLang="en-US" dirty="0">
                <a:solidFill>
                  <a:srgbClr val="FFFFFF"/>
                </a:solidFill>
              </a:rPr>
              <a:t> </a:t>
            </a:r>
            <a:r>
              <a:rPr kumimoji="1" lang="en-US" altLang="zh-TW" dirty="0">
                <a:solidFill>
                  <a:srgbClr val="FFFFFF"/>
                </a:solidFill>
              </a:rPr>
              <a:t>all</a:t>
            </a:r>
            <a:r>
              <a:rPr kumimoji="1" lang="zh-TW" altLang="en-US" dirty="0">
                <a:solidFill>
                  <a:srgbClr val="FFFFFF"/>
                </a:solidFill>
              </a:rPr>
              <a:t> </a:t>
            </a:r>
            <a:r>
              <a:rPr kumimoji="1" lang="en-US" altLang="zh-TW" dirty="0">
                <a:solidFill>
                  <a:srgbClr val="FFFFFF"/>
                </a:solidFill>
              </a:rPr>
              <a:t>you</a:t>
            </a:r>
            <a:r>
              <a:rPr kumimoji="1" lang="zh-TW" altLang="en-US" dirty="0">
                <a:solidFill>
                  <a:srgbClr val="FFFFFF"/>
                </a:solidFill>
              </a:rPr>
              <a:t> </a:t>
            </a:r>
            <a:r>
              <a:rPr kumimoji="1" lang="en-US" altLang="zh-TW" dirty="0">
                <a:solidFill>
                  <a:srgbClr val="FFFFFF"/>
                </a:solidFill>
              </a:rPr>
              <a:t>need:</a:t>
            </a:r>
            <a:r>
              <a:rPr kumimoji="1" lang="zh-TW" altLang="en-US" dirty="0">
                <a:solidFill>
                  <a:srgbClr val="FFFFFF"/>
                </a:solidFill>
              </a:rPr>
              <a:t> </a:t>
            </a:r>
            <a:r>
              <a:rPr kumimoji="1" lang="en-US" altLang="zh-TW" dirty="0">
                <a:solidFill>
                  <a:srgbClr val="FFFFFF"/>
                </a:solidFill>
                <a:hlinkClick r:id="rId2"/>
              </a:rPr>
              <a:t>https://arxiv.org/pdf/2103.03404</a:t>
            </a:r>
            <a:r>
              <a:rPr kumimoji="1" lang="zh-TW" altLang="en-US" dirty="0">
                <a:solidFill>
                  <a:srgbClr val="FFFFFF"/>
                </a:solidFill>
              </a:rPr>
              <a:t>）</a:t>
            </a:r>
            <a:endParaRPr kumimoji="1" lang="en-US" altLang="zh-TW" dirty="0">
              <a:solidFill>
                <a:srgbClr val="FFFFFF"/>
              </a:solidFill>
            </a:endParaRPr>
          </a:p>
          <a:p>
            <a:r>
              <a:rPr kumimoji="1" lang="zh-TW" altLang="en-US" b="1" dirty="0">
                <a:solidFill>
                  <a:srgbClr val="FFFF00"/>
                </a:solidFill>
              </a:rPr>
              <a:t>因此，目前 </a:t>
            </a:r>
            <a:r>
              <a:rPr kumimoji="1" lang="en-US" altLang="zh-TW" b="1" dirty="0">
                <a:solidFill>
                  <a:srgbClr val="FFFF00"/>
                </a:solidFill>
              </a:rPr>
              <a:t>residual </a:t>
            </a:r>
            <a:r>
              <a:rPr kumimoji="1" lang="zh-TW" altLang="en-US" b="1" dirty="0">
                <a:solidFill>
                  <a:srgbClr val="FFFF00"/>
                </a:solidFill>
              </a:rPr>
              <a:t>的概念已經成為現代深度學習網路中一個重要的設計模式。</a:t>
            </a:r>
          </a:p>
        </p:txBody>
      </p:sp>
      <p:pic>
        <p:nvPicPr>
          <p:cNvPr id="6" name="圖片 5" descr="一張含有 文字, 圖表, 方案, 螢幕擷取畫面 的圖片&#10;&#10;AI 產生的內容可能不正確。">
            <a:extLst>
              <a:ext uri="{FF2B5EF4-FFF2-40B4-BE49-F238E27FC236}">
                <a16:creationId xmlns:a16="http://schemas.microsoft.com/office/drawing/2014/main" id="{F2D2E57C-72FF-3746-9842-F47C0C528247}"/>
              </a:ext>
            </a:extLst>
          </p:cNvPr>
          <p:cNvPicPr>
            <a:picLocks noChangeAspect="1"/>
          </p:cNvPicPr>
          <p:nvPr/>
        </p:nvPicPr>
        <p:blipFill>
          <a:blip r:embed="rId3">
            <a:extLst>
              <a:ext uri="{28A0092B-C50C-407E-A947-70E740481C1C}">
                <a14:useLocalDpi xmlns:a14="http://schemas.microsoft.com/office/drawing/2010/main" val="0"/>
              </a:ext>
            </a:extLst>
          </a:blip>
          <a:srcRect l="8653" r="7341"/>
          <a:stretch>
            <a:fillRect/>
          </a:stretch>
        </p:blipFill>
        <p:spPr>
          <a:xfrm>
            <a:off x="7611902" y="10"/>
            <a:ext cx="4580097" cy="6857990"/>
          </a:xfrm>
          <a:prstGeom prst="rect">
            <a:avLst/>
          </a:prstGeom>
        </p:spPr>
      </p:pic>
      <p:sp>
        <p:nvSpPr>
          <p:cNvPr id="4" name="日期版面配置區 3">
            <a:extLst>
              <a:ext uri="{FF2B5EF4-FFF2-40B4-BE49-F238E27FC236}">
                <a16:creationId xmlns:a16="http://schemas.microsoft.com/office/drawing/2014/main" id="{C6ED90B5-B779-1886-D43A-4A1B456F079B}"/>
              </a:ext>
            </a:extLst>
          </p:cNvPr>
          <p:cNvSpPr>
            <a:spLocks noGrp="1"/>
          </p:cNvSpPr>
          <p:nvPr>
            <p:ph type="dt" sz="half" idx="10"/>
          </p:nvPr>
        </p:nvSpPr>
        <p:spPr>
          <a:xfrm>
            <a:off x="8218426" y="6446838"/>
            <a:ext cx="2584850" cy="365125"/>
          </a:xfrm>
        </p:spPr>
        <p:txBody>
          <a:bodyPr>
            <a:normAutofit/>
          </a:bodyPr>
          <a:lstStyle/>
          <a:p>
            <a:pPr>
              <a:spcAft>
                <a:spcPts val="600"/>
              </a:spcAft>
            </a:pPr>
            <a:r>
              <a:rPr lang="en-US" altLang="zh-TW"/>
              <a:t>Wilson Ren</a:t>
            </a:r>
          </a:p>
        </p:txBody>
      </p:sp>
      <p:sp>
        <p:nvSpPr>
          <p:cNvPr id="5" name="投影片編號版面配置區 4">
            <a:extLst>
              <a:ext uri="{FF2B5EF4-FFF2-40B4-BE49-F238E27FC236}">
                <a16:creationId xmlns:a16="http://schemas.microsoft.com/office/drawing/2014/main" id="{C7699FCF-4276-EE77-4484-87200A32560C}"/>
              </a:ext>
            </a:extLst>
          </p:cNvPr>
          <p:cNvSpPr>
            <a:spLocks noGrp="1"/>
          </p:cNvSpPr>
          <p:nvPr>
            <p:ph type="sldNum" sz="quarter" idx="12"/>
          </p:nvPr>
        </p:nvSpPr>
        <p:spPr>
          <a:xfrm>
            <a:off x="10993582" y="6446838"/>
            <a:ext cx="780010" cy="365125"/>
          </a:xfrm>
        </p:spPr>
        <p:txBody>
          <a:bodyPr>
            <a:normAutofit/>
          </a:bodyPr>
          <a:lstStyle/>
          <a:p>
            <a:pPr>
              <a:lnSpc>
                <a:spcPct val="90000"/>
              </a:lnSpc>
              <a:spcAft>
                <a:spcPts val="600"/>
              </a:spcAft>
            </a:pPr>
            <a:r>
              <a:rPr lang="en-US" altLang="zh-TW" dirty="0"/>
              <a:t>Deep Learning</a:t>
            </a:r>
          </a:p>
        </p:txBody>
      </p:sp>
    </p:spTree>
    <p:extLst>
      <p:ext uri="{BB962C8B-B14F-4D97-AF65-F5344CB8AC3E}">
        <p14:creationId xmlns:p14="http://schemas.microsoft.com/office/powerpoint/2010/main" val="2369203407"/>
      </p:ext>
    </p:extLst>
  </p:cSld>
  <p:clrMapOvr>
    <a:overrideClrMapping bg1="dk1" tx1="lt1" bg2="dk2" tx2="lt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2CDBE96-AE0B-3D56-B1D7-A8EB874AD529}"/>
              </a:ext>
            </a:extLst>
          </p:cNvPr>
          <p:cNvSpPr>
            <a:spLocks noGrp="1"/>
          </p:cNvSpPr>
          <p:nvPr>
            <p:ph type="title"/>
          </p:nvPr>
        </p:nvSpPr>
        <p:spPr/>
        <p:txBody>
          <a:bodyPr/>
          <a:lstStyle/>
          <a:p>
            <a:r>
              <a:rPr kumimoji="1" lang="en-US" altLang="zh-TW" dirty="0" err="1"/>
              <a:t>ResNet</a:t>
            </a:r>
            <a:r>
              <a:rPr kumimoji="1" lang="zh-TW" altLang="en-US" dirty="0"/>
              <a:t> 其餘事項</a:t>
            </a:r>
          </a:p>
        </p:txBody>
      </p:sp>
      <p:sp>
        <p:nvSpPr>
          <p:cNvPr id="3" name="內容版面配置區 2">
            <a:extLst>
              <a:ext uri="{FF2B5EF4-FFF2-40B4-BE49-F238E27FC236}">
                <a16:creationId xmlns:a16="http://schemas.microsoft.com/office/drawing/2014/main" id="{4895A781-CC93-A9DF-FF20-01E111D6FCD7}"/>
              </a:ext>
            </a:extLst>
          </p:cNvPr>
          <p:cNvSpPr>
            <a:spLocks noGrp="1"/>
          </p:cNvSpPr>
          <p:nvPr>
            <p:ph idx="1"/>
          </p:nvPr>
        </p:nvSpPr>
        <p:spPr/>
        <p:txBody>
          <a:bodyPr/>
          <a:lstStyle/>
          <a:p>
            <a:r>
              <a:rPr kumimoji="1" lang="zh-TW" altLang="en-US" dirty="0"/>
              <a:t>雖然最初的殘差網路研究並未受生物學啟發，但後來的研究卻發現殘差網路的架構與生物學有關。相關論文與研究：</a:t>
            </a:r>
            <a:endParaRPr kumimoji="1" lang="en-US" altLang="zh-TW" dirty="0"/>
          </a:p>
          <a:p>
            <a:pPr>
              <a:buFont typeface="Wingdings" pitchFamily="2" charset="2"/>
              <a:buChar char="l"/>
            </a:pPr>
            <a:r>
              <a:rPr lang="zh-TW" altLang="en-US" dirty="0"/>
              <a:t> 靈長類視覺皮層（</a:t>
            </a:r>
            <a:r>
              <a:rPr lang="en-US" altLang="zh-TW" dirty="0">
                <a:hlinkClick r:id="rId2"/>
              </a:rPr>
              <a:t>https://arxiv.org/abs/1604.03640</a:t>
            </a:r>
            <a:r>
              <a:rPr lang="zh-TW" altLang="en-US" dirty="0"/>
              <a:t>）</a:t>
            </a:r>
            <a:endParaRPr lang="en-US" altLang="zh-TW" dirty="0"/>
          </a:p>
          <a:p>
            <a:pPr>
              <a:buFont typeface="Wingdings" pitchFamily="2" charset="2"/>
              <a:buChar char="l"/>
            </a:pPr>
            <a:r>
              <a:rPr lang="zh-TW" altLang="en-US" dirty="0"/>
              <a:t> 開發生物學上合理​​的學習演算法（</a:t>
            </a:r>
            <a:r>
              <a:rPr lang="en-US" altLang="zh-TW" dirty="0">
                <a:hlinkClick r:id="rId3"/>
              </a:rPr>
              <a:t>https://arxiv.org/abs/1811.03567</a:t>
            </a:r>
            <a:r>
              <a:rPr lang="zh-TW" altLang="en-US" dirty="0"/>
              <a:t>）</a:t>
            </a:r>
            <a:endParaRPr lang="en-US" altLang="zh-TW" dirty="0"/>
          </a:p>
          <a:p>
            <a:pPr>
              <a:buFont typeface="Wingdings" pitchFamily="2" charset="2"/>
              <a:buChar char="l"/>
            </a:pPr>
            <a:r>
              <a:rPr lang="zh-TW" altLang="en-US" dirty="0"/>
              <a:t> 果蠅幼蟲大腦的完整神經連接組（</a:t>
            </a:r>
            <a:r>
              <a:rPr lang="en-US" altLang="zh-TW" dirty="0">
                <a:hlinkClick r:id="rId4"/>
              </a:rPr>
              <a:t>https://pmc.ncbi.nlm.nih.gov/articles/PMC7614541/</a:t>
            </a:r>
            <a:r>
              <a:rPr lang="zh-TW" altLang="en-US" dirty="0"/>
              <a:t>）</a:t>
            </a:r>
            <a:endParaRPr lang="en-US" altLang="zh-TW" dirty="0"/>
          </a:p>
        </p:txBody>
      </p:sp>
      <p:sp>
        <p:nvSpPr>
          <p:cNvPr id="4" name="日期版面配置區 3">
            <a:extLst>
              <a:ext uri="{FF2B5EF4-FFF2-40B4-BE49-F238E27FC236}">
                <a16:creationId xmlns:a16="http://schemas.microsoft.com/office/drawing/2014/main" id="{880D6CF3-244A-2958-F871-E1843A5A35BF}"/>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4C087968-BFB5-EE0D-F9B2-F5E501833ADE}"/>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17507468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2CE34E9-8FB1-CB6C-DA31-6CBA8EC33AED}"/>
              </a:ext>
            </a:extLst>
          </p:cNvPr>
          <p:cNvSpPr>
            <a:spLocks noGrp="1"/>
          </p:cNvSpPr>
          <p:nvPr>
            <p:ph type="title"/>
          </p:nvPr>
        </p:nvSpPr>
        <p:spPr/>
        <p:txBody>
          <a:bodyPr/>
          <a:lstStyle/>
          <a:p>
            <a:r>
              <a:rPr kumimoji="1" lang="en-US" altLang="zh-TW" dirty="0" err="1"/>
              <a:t>ResNet</a:t>
            </a:r>
            <a:r>
              <a:rPr kumimoji="1" lang="zh-TW" altLang="en-US" dirty="0"/>
              <a:t> 程式碼</a:t>
            </a:r>
          </a:p>
        </p:txBody>
      </p:sp>
      <p:sp>
        <p:nvSpPr>
          <p:cNvPr id="3" name="內容版面配置區 2">
            <a:extLst>
              <a:ext uri="{FF2B5EF4-FFF2-40B4-BE49-F238E27FC236}">
                <a16:creationId xmlns:a16="http://schemas.microsoft.com/office/drawing/2014/main" id="{127AA687-76F5-1CAD-F74B-FEA941115CDF}"/>
              </a:ext>
            </a:extLst>
          </p:cNvPr>
          <p:cNvSpPr>
            <a:spLocks noGrp="1"/>
          </p:cNvSpPr>
          <p:nvPr>
            <p:ph idx="1"/>
          </p:nvPr>
        </p:nvSpPr>
        <p:spPr/>
        <p:txBody>
          <a:bodyPr/>
          <a:lstStyle/>
          <a:p>
            <a:r>
              <a:rPr kumimoji="1" lang="zh-TW" altLang="en-US" dirty="0"/>
              <a:t>*</a:t>
            </a:r>
            <a:r>
              <a:rPr kumimoji="1" lang="en-US" altLang="zh-TW" dirty="0"/>
              <a:t>.</a:t>
            </a:r>
            <a:r>
              <a:rPr kumimoji="1" lang="zh-TW" altLang="en-US" dirty="0"/>
              <a:t> </a:t>
            </a:r>
            <a:r>
              <a:rPr kumimoji="1" lang="en-US" altLang="zh-TW" dirty="0"/>
              <a:t>Chapter_5_ResNet.ipynb</a:t>
            </a:r>
          </a:p>
          <a:p>
            <a:r>
              <a:rPr kumimoji="1" lang="zh-TW" altLang="en-US" dirty="0"/>
              <a:t>（</a:t>
            </a:r>
            <a:r>
              <a:rPr kumimoji="1" lang="en-US" altLang="zh-TW" dirty="0"/>
              <a:t>T4</a:t>
            </a:r>
            <a:r>
              <a:rPr kumimoji="1" lang="zh-TW" altLang="en-US" dirty="0"/>
              <a:t> 上需要約 </a:t>
            </a:r>
            <a:r>
              <a:rPr kumimoji="1" lang="en-US" altLang="zh-TW" dirty="0"/>
              <a:t>1.5</a:t>
            </a:r>
            <a:r>
              <a:rPr kumimoji="1" lang="zh-TW" altLang="en-US" dirty="0"/>
              <a:t> 小時方能執行完畢）</a:t>
            </a:r>
          </a:p>
        </p:txBody>
      </p:sp>
      <p:sp>
        <p:nvSpPr>
          <p:cNvPr id="4" name="日期版面配置區 3">
            <a:extLst>
              <a:ext uri="{FF2B5EF4-FFF2-40B4-BE49-F238E27FC236}">
                <a16:creationId xmlns:a16="http://schemas.microsoft.com/office/drawing/2014/main" id="{CEA4E41B-B4F7-4900-16CB-C87E4464DA2D}"/>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FF0B8E55-8E8A-C7EE-B7CA-D35DC0A14F36}"/>
              </a:ext>
            </a:extLst>
          </p:cNvPr>
          <p:cNvSpPr>
            <a:spLocks noGrp="1"/>
          </p:cNvSpPr>
          <p:nvPr>
            <p:ph type="sldNum" sz="quarter" idx="12"/>
          </p:nvPr>
        </p:nvSpPr>
        <p:spPr/>
        <p:txBody>
          <a:bodyPr/>
          <a:lstStyle/>
          <a:p>
            <a:r>
              <a:rPr lang="en-US" altLang="zh-TW"/>
              <a:t>Deep Learning</a:t>
            </a:r>
            <a:endParaRPr lang="en-US" altLang="zh-TW" dirty="0"/>
          </a:p>
        </p:txBody>
      </p:sp>
    </p:spTree>
    <p:extLst>
      <p:ext uri="{BB962C8B-B14F-4D97-AF65-F5344CB8AC3E}">
        <p14:creationId xmlns:p14="http://schemas.microsoft.com/office/powerpoint/2010/main" val="28020667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FEB0EE5-EB2E-32FA-70C5-57C83A2BACA4}"/>
              </a:ext>
            </a:extLst>
          </p:cNvPr>
          <p:cNvSpPr>
            <a:spLocks noGrp="1"/>
          </p:cNvSpPr>
          <p:nvPr>
            <p:ph type="title"/>
          </p:nvPr>
        </p:nvSpPr>
        <p:spPr/>
        <p:txBody>
          <a:bodyPr/>
          <a:lstStyle/>
          <a:p>
            <a:r>
              <a:rPr kumimoji="1" lang="zh-TW" altLang="en-US" dirty="0"/>
              <a:t>卷積網路的其他主題</a:t>
            </a:r>
          </a:p>
        </p:txBody>
      </p:sp>
      <p:sp>
        <p:nvSpPr>
          <p:cNvPr id="3" name="內容版面配置區 2">
            <a:extLst>
              <a:ext uri="{FF2B5EF4-FFF2-40B4-BE49-F238E27FC236}">
                <a16:creationId xmlns:a16="http://schemas.microsoft.com/office/drawing/2014/main" id="{F977F70D-E968-5A84-78BA-CD57F7B75BC2}"/>
              </a:ext>
            </a:extLst>
          </p:cNvPr>
          <p:cNvSpPr>
            <a:spLocks noGrp="1"/>
          </p:cNvSpPr>
          <p:nvPr>
            <p:ph idx="1"/>
          </p:nvPr>
        </p:nvSpPr>
        <p:spPr/>
        <p:txBody>
          <a:bodyPr/>
          <a:lstStyle/>
          <a:p>
            <a:pPr marL="457200" indent="-457200">
              <a:buFont typeface="+mj-lt"/>
              <a:buAutoNum type="arabicPeriod"/>
            </a:pPr>
            <a:r>
              <a:rPr kumimoji="1" lang="en-US" altLang="zh-TW" dirty="0"/>
              <a:t>Embedding</a:t>
            </a:r>
            <a:r>
              <a:rPr kumimoji="1" lang="zh-TW" altLang="en-US" dirty="0"/>
              <a:t> </a:t>
            </a:r>
            <a:r>
              <a:rPr kumimoji="1" lang="en-US" altLang="zh-TW" dirty="0"/>
              <a:t>of</a:t>
            </a:r>
            <a:r>
              <a:rPr kumimoji="1" lang="zh-TW" altLang="en-US" dirty="0"/>
              <a:t> </a:t>
            </a:r>
            <a:r>
              <a:rPr kumimoji="1" lang="en-US" altLang="zh-TW" dirty="0"/>
              <a:t>Feature</a:t>
            </a:r>
            <a:r>
              <a:rPr kumimoji="1" lang="zh-TW" altLang="en-US" dirty="0"/>
              <a:t> </a:t>
            </a:r>
            <a:r>
              <a:rPr kumimoji="1" lang="en-US" altLang="zh-TW" dirty="0"/>
              <a:t>Extraction</a:t>
            </a:r>
            <a:r>
              <a:rPr kumimoji="1" lang="zh-TW" altLang="en-US" dirty="0"/>
              <a:t> </a:t>
            </a:r>
            <a:r>
              <a:rPr kumimoji="1" lang="en-US" altLang="zh-TW" dirty="0"/>
              <a:t>Layer</a:t>
            </a:r>
            <a:r>
              <a:rPr kumimoji="1" lang="zh-TW" altLang="en-US" dirty="0"/>
              <a:t>（</a:t>
            </a:r>
            <a:r>
              <a:rPr kumimoji="1" lang="en-US" altLang="zh-TW" dirty="0"/>
              <a:t>Visualization</a:t>
            </a:r>
            <a:r>
              <a:rPr kumimoji="1" lang="zh-TW" altLang="en-US" dirty="0"/>
              <a:t>）</a:t>
            </a:r>
            <a:endParaRPr kumimoji="1" lang="en-US" altLang="zh-TW" dirty="0"/>
          </a:p>
          <a:p>
            <a:pPr marL="457200" indent="-457200">
              <a:buFont typeface="+mj-lt"/>
              <a:buAutoNum type="arabicPeriod"/>
            </a:pPr>
            <a:r>
              <a:rPr kumimoji="1" lang="en-US" altLang="zh-TW" dirty="0"/>
              <a:t>Grad-Cam</a:t>
            </a:r>
            <a:r>
              <a:rPr kumimoji="1" lang="zh-TW" altLang="en-US" dirty="0"/>
              <a:t> </a:t>
            </a:r>
            <a:r>
              <a:rPr kumimoji="1" lang="en-US" altLang="zh-TW" dirty="0"/>
              <a:t>Visualization</a:t>
            </a:r>
          </a:p>
          <a:p>
            <a:pPr marL="457200" indent="-457200">
              <a:buFont typeface="+mj-lt"/>
              <a:buAutoNum type="arabicPeriod"/>
            </a:pPr>
            <a:r>
              <a:rPr kumimoji="1" lang="en-US" altLang="zh-TW" dirty="0"/>
              <a:t>Style</a:t>
            </a:r>
            <a:r>
              <a:rPr kumimoji="1" lang="zh-TW" altLang="en-US" dirty="0"/>
              <a:t> </a:t>
            </a:r>
            <a:r>
              <a:rPr kumimoji="1" lang="en-US" altLang="zh-TW" dirty="0"/>
              <a:t>Transfer</a:t>
            </a:r>
            <a:endParaRPr kumimoji="1" lang="zh-TW" altLang="en-US" dirty="0"/>
          </a:p>
        </p:txBody>
      </p:sp>
      <p:sp>
        <p:nvSpPr>
          <p:cNvPr id="4" name="日期版面配置區 3">
            <a:extLst>
              <a:ext uri="{FF2B5EF4-FFF2-40B4-BE49-F238E27FC236}">
                <a16:creationId xmlns:a16="http://schemas.microsoft.com/office/drawing/2014/main" id="{3FF70054-811D-7513-8A0A-5E6872D95997}"/>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9D986747-9801-A618-93FC-AA65F586FE6C}"/>
              </a:ext>
            </a:extLst>
          </p:cNvPr>
          <p:cNvSpPr>
            <a:spLocks noGrp="1"/>
          </p:cNvSpPr>
          <p:nvPr>
            <p:ph type="sldNum" sz="quarter" idx="12"/>
          </p:nvPr>
        </p:nvSpPr>
        <p:spPr/>
        <p:txBody>
          <a:bodyPr/>
          <a:lstStyle/>
          <a:p>
            <a:r>
              <a:rPr lang="en-US" altLang="zh-TW"/>
              <a:t>Deep Learning</a:t>
            </a:r>
            <a:endParaRPr lang="en-US" altLang="zh-TW" dirty="0"/>
          </a:p>
        </p:txBody>
      </p:sp>
    </p:spTree>
    <p:extLst>
      <p:ext uri="{BB962C8B-B14F-4D97-AF65-F5344CB8AC3E}">
        <p14:creationId xmlns:p14="http://schemas.microsoft.com/office/powerpoint/2010/main" val="8843950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8CB54FC-0B2A-4107-9A70-958B90B765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標題 1">
            <a:extLst>
              <a:ext uri="{FF2B5EF4-FFF2-40B4-BE49-F238E27FC236}">
                <a16:creationId xmlns:a16="http://schemas.microsoft.com/office/drawing/2014/main" id="{E836A2ED-A799-5B34-E68D-8590D828D281}"/>
              </a:ext>
            </a:extLst>
          </p:cNvPr>
          <p:cNvSpPr>
            <a:spLocks noGrp="1"/>
          </p:cNvSpPr>
          <p:nvPr>
            <p:ph type="title"/>
          </p:nvPr>
        </p:nvSpPr>
        <p:spPr>
          <a:xfrm>
            <a:off x="6411685" y="634946"/>
            <a:ext cx="5127171" cy="1450757"/>
          </a:xfrm>
        </p:spPr>
        <p:txBody>
          <a:bodyPr>
            <a:normAutofit/>
          </a:bodyPr>
          <a:lstStyle/>
          <a:p>
            <a:r>
              <a:rPr kumimoji="1" lang="en-US" altLang="zh-TW" sz="4900" err="1"/>
              <a:t>ResNet</a:t>
            </a:r>
            <a:r>
              <a:rPr kumimoji="1" lang="zh-TW" altLang="en-US" sz="4900"/>
              <a:t> </a:t>
            </a:r>
            <a:r>
              <a:rPr kumimoji="1" lang="en-US" altLang="zh-TW" sz="4900"/>
              <a:t>Embedding</a:t>
            </a:r>
            <a:endParaRPr kumimoji="1" lang="zh-TW" altLang="en-US" sz="4900"/>
          </a:p>
        </p:txBody>
      </p:sp>
      <p:pic>
        <p:nvPicPr>
          <p:cNvPr id="6" name="圖片 5">
            <a:extLst>
              <a:ext uri="{FF2B5EF4-FFF2-40B4-BE49-F238E27FC236}">
                <a16:creationId xmlns:a16="http://schemas.microsoft.com/office/drawing/2014/main" id="{2D75F5CB-4B40-6C73-372D-46729960EFBD}"/>
              </a:ext>
            </a:extLst>
          </p:cNvPr>
          <p:cNvPicPr>
            <a:picLocks noChangeAspect="1"/>
          </p:cNvPicPr>
          <p:nvPr/>
        </p:nvPicPr>
        <p:blipFill>
          <a:blip r:embed="rId2"/>
          <a:stretch>
            <a:fillRect/>
          </a:stretch>
        </p:blipFill>
        <p:spPr>
          <a:xfrm>
            <a:off x="643192" y="909527"/>
            <a:ext cx="5115347" cy="471890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13" name="Straight Connector 12">
            <a:extLst>
              <a:ext uri="{FF2B5EF4-FFF2-40B4-BE49-F238E27FC236}">
                <a16:creationId xmlns:a16="http://schemas.microsoft.com/office/drawing/2014/main" id="{7855A9B5-1710-4B19-B0F1-CDFDD4ED5B7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514044" y="2246569"/>
            <a:ext cx="457200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內容版面配置區 2">
            <a:extLst>
              <a:ext uri="{FF2B5EF4-FFF2-40B4-BE49-F238E27FC236}">
                <a16:creationId xmlns:a16="http://schemas.microsoft.com/office/drawing/2014/main" id="{3DB662AB-64C7-1345-5078-D5571E54A9A2}"/>
              </a:ext>
            </a:extLst>
          </p:cNvPr>
          <p:cNvSpPr>
            <a:spLocks noGrp="1"/>
          </p:cNvSpPr>
          <p:nvPr>
            <p:ph idx="1"/>
          </p:nvPr>
        </p:nvSpPr>
        <p:spPr>
          <a:xfrm>
            <a:off x="6411684" y="2407436"/>
            <a:ext cx="5127172" cy="3461658"/>
          </a:xfrm>
        </p:spPr>
        <p:txBody>
          <a:bodyPr>
            <a:normAutofit/>
          </a:bodyPr>
          <a:lstStyle/>
          <a:p>
            <a:r>
              <a:rPr kumimoji="1" lang="zh-TW" altLang="en-US" dirty="0"/>
              <a:t>卷積神經網路的特徵汲取層可以將圖片轉換成一個向量表示，且內容相似的圖片在這個向量空間中通常會彼此靠近、形成群聚；我們可以透過 </a:t>
            </a:r>
            <a:r>
              <a:rPr kumimoji="1" lang="en-US" altLang="zh-TW" dirty="0"/>
              <a:t>PCA </a:t>
            </a:r>
            <a:r>
              <a:rPr kumimoji="1" lang="zh-TW" altLang="en-US" dirty="0"/>
              <a:t>或 </a:t>
            </a:r>
            <a:r>
              <a:rPr kumimoji="1" lang="en-US" altLang="zh-TW" dirty="0"/>
              <a:t>UMAP </a:t>
            </a:r>
            <a:r>
              <a:rPr kumimoji="1" lang="zh-TW" altLang="en-US" dirty="0"/>
              <a:t>將這些高維向量降到 </a:t>
            </a:r>
            <a:r>
              <a:rPr kumimoji="1" lang="en-US" altLang="zh-TW" dirty="0"/>
              <a:t>2 </a:t>
            </a:r>
            <a:r>
              <a:rPr kumimoji="1" lang="zh-TW" altLang="en-US" dirty="0"/>
              <a:t>維，再用視覺化的方式觀察不同類別之間的分布情況。</a:t>
            </a:r>
            <a:endParaRPr kumimoji="1" lang="en-US" altLang="zh-TW" dirty="0"/>
          </a:p>
          <a:p>
            <a:r>
              <a:rPr kumimoji="1" lang="zh-TW" altLang="en-US" dirty="0"/>
              <a:t>*</a:t>
            </a:r>
            <a:r>
              <a:rPr kumimoji="1" lang="en-US" altLang="zh-TW" dirty="0"/>
              <a:t>.</a:t>
            </a:r>
            <a:r>
              <a:rPr kumimoji="1" lang="zh-TW" altLang="en-US" dirty="0"/>
              <a:t> </a:t>
            </a:r>
            <a:r>
              <a:rPr kumimoji="1" lang="en-US" altLang="zh-TW" dirty="0"/>
              <a:t>Chapter_5_Embedding.ipynb</a:t>
            </a:r>
            <a:endParaRPr kumimoji="1" lang="zh-TW" altLang="en-US" dirty="0"/>
          </a:p>
        </p:txBody>
      </p:sp>
      <p:sp>
        <p:nvSpPr>
          <p:cNvPr id="15" name="Rectangle 14">
            <a:extLst>
              <a:ext uri="{FF2B5EF4-FFF2-40B4-BE49-F238E27FC236}">
                <a16:creationId xmlns:a16="http://schemas.microsoft.com/office/drawing/2014/main" id="{9AA76026-5689-4584-8D93-D71D739E61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a:p>
        </p:txBody>
      </p:sp>
      <p:sp>
        <p:nvSpPr>
          <p:cNvPr id="4" name="日期版面配置區 3">
            <a:extLst>
              <a:ext uri="{FF2B5EF4-FFF2-40B4-BE49-F238E27FC236}">
                <a16:creationId xmlns:a16="http://schemas.microsoft.com/office/drawing/2014/main" id="{7A3E3DBF-EF60-AC93-4D47-2EB7466E5C86}"/>
              </a:ext>
            </a:extLst>
          </p:cNvPr>
          <p:cNvSpPr>
            <a:spLocks noGrp="1"/>
          </p:cNvSpPr>
          <p:nvPr>
            <p:ph type="dt" sz="half" idx="10"/>
          </p:nvPr>
        </p:nvSpPr>
        <p:spPr>
          <a:xfrm>
            <a:off x="8218426" y="6446838"/>
            <a:ext cx="2584850" cy="365125"/>
          </a:xfrm>
        </p:spPr>
        <p:txBody>
          <a:bodyPr>
            <a:normAutofit/>
          </a:bodyPr>
          <a:lstStyle/>
          <a:p>
            <a:pPr>
              <a:spcAft>
                <a:spcPts val="600"/>
              </a:spcAft>
            </a:pPr>
            <a:r>
              <a:rPr lang="en-US" altLang="zh-TW"/>
              <a:t>Wilson Ren</a:t>
            </a:r>
          </a:p>
        </p:txBody>
      </p:sp>
      <p:sp>
        <p:nvSpPr>
          <p:cNvPr id="5" name="投影片編號版面配置區 4">
            <a:extLst>
              <a:ext uri="{FF2B5EF4-FFF2-40B4-BE49-F238E27FC236}">
                <a16:creationId xmlns:a16="http://schemas.microsoft.com/office/drawing/2014/main" id="{5B3E2BCC-9858-4BDD-70B6-1F48E52D54D5}"/>
              </a:ext>
            </a:extLst>
          </p:cNvPr>
          <p:cNvSpPr>
            <a:spLocks noGrp="1"/>
          </p:cNvSpPr>
          <p:nvPr>
            <p:ph type="sldNum" sz="quarter" idx="12"/>
          </p:nvPr>
        </p:nvSpPr>
        <p:spPr>
          <a:xfrm>
            <a:off x="10993582" y="6446838"/>
            <a:ext cx="780010" cy="365125"/>
          </a:xfrm>
        </p:spPr>
        <p:txBody>
          <a:bodyPr>
            <a:normAutofit/>
          </a:bodyPr>
          <a:lstStyle/>
          <a:p>
            <a:pPr>
              <a:lnSpc>
                <a:spcPct val="90000"/>
              </a:lnSpc>
              <a:spcAft>
                <a:spcPts val="600"/>
              </a:spcAft>
            </a:pPr>
            <a:r>
              <a:rPr lang="en-US" altLang="zh-TW"/>
              <a:t>Deep Learning</a:t>
            </a:r>
          </a:p>
        </p:txBody>
      </p:sp>
    </p:spTree>
    <p:extLst>
      <p:ext uri="{BB962C8B-B14F-4D97-AF65-F5344CB8AC3E}">
        <p14:creationId xmlns:p14="http://schemas.microsoft.com/office/powerpoint/2010/main" val="3288301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6E733B6-9410-686A-77FB-6D7CC4679D08}"/>
              </a:ext>
            </a:extLst>
          </p:cNvPr>
          <p:cNvSpPr>
            <a:spLocks noGrp="1"/>
          </p:cNvSpPr>
          <p:nvPr>
            <p:ph type="title"/>
          </p:nvPr>
        </p:nvSpPr>
        <p:spPr/>
        <p:txBody>
          <a:bodyPr>
            <a:normAutofit/>
          </a:bodyPr>
          <a:lstStyle/>
          <a:p>
            <a:r>
              <a:rPr lang="en-US" altLang="zh-TW" dirty="0"/>
              <a:t>Grad-CAM</a:t>
            </a:r>
            <a:r>
              <a:rPr lang="zh-TW" altLang="en-US" dirty="0"/>
              <a:t> 視覺化技術</a:t>
            </a:r>
            <a:endParaRPr kumimoji="1" lang="zh-TW" altLang="en-US" dirty="0"/>
          </a:p>
        </p:txBody>
      </p:sp>
      <p:sp>
        <p:nvSpPr>
          <p:cNvPr id="3" name="內容版面配置區 2">
            <a:extLst>
              <a:ext uri="{FF2B5EF4-FFF2-40B4-BE49-F238E27FC236}">
                <a16:creationId xmlns:a16="http://schemas.microsoft.com/office/drawing/2014/main" id="{A282874A-7317-A40D-1853-CECA76D22E9B}"/>
              </a:ext>
            </a:extLst>
          </p:cNvPr>
          <p:cNvSpPr>
            <a:spLocks noGrp="1"/>
          </p:cNvSpPr>
          <p:nvPr>
            <p:ph idx="1"/>
          </p:nvPr>
        </p:nvSpPr>
        <p:spPr>
          <a:xfrm>
            <a:off x="1097280" y="2108201"/>
            <a:ext cx="10058400" cy="3991657"/>
          </a:xfrm>
        </p:spPr>
        <p:txBody>
          <a:bodyPr/>
          <a:lstStyle/>
          <a:p>
            <a:r>
              <a:rPr lang="en-US" altLang="zh-TW" dirty="0"/>
              <a:t>Grad-CAM</a:t>
            </a:r>
            <a:r>
              <a:rPr lang="zh-TW" altLang="en-US" dirty="0"/>
              <a:t> 是一種可視化技術，用來觀察深度神經網路在進行分類決策時，主要關注影像的哪些區域。作法如下：</a:t>
            </a:r>
            <a:endParaRPr lang="en-US" altLang="zh-TW" dirty="0"/>
          </a:p>
          <a:p>
            <a:pPr marL="457200" indent="-457200">
              <a:buFont typeface="+mj-lt"/>
              <a:buAutoNum type="arabicPeriod"/>
            </a:pPr>
            <a:r>
              <a:rPr lang="zh-TW" altLang="en-US" dirty="0"/>
              <a:t>取出目標類別的輸出分數，以及最後一層卷積層的 </a:t>
            </a:r>
            <a:r>
              <a:rPr lang="en-US" altLang="zh-TW" dirty="0"/>
              <a:t>feature maps</a:t>
            </a:r>
            <a:r>
              <a:rPr lang="zh-TW" altLang="en-US" dirty="0"/>
              <a:t>，並計算該輸出分數對這些 </a:t>
            </a:r>
            <a:r>
              <a:rPr lang="en-US" altLang="zh-TW" dirty="0"/>
              <a:t>feature maps </a:t>
            </a:r>
            <a:r>
              <a:rPr lang="zh-TW" altLang="en-US" dirty="0"/>
              <a:t>的梯度。</a:t>
            </a:r>
            <a:endParaRPr lang="en-US" altLang="zh-TW" dirty="0"/>
          </a:p>
          <a:p>
            <a:pPr marL="457200" indent="-457200">
              <a:buFont typeface="+mj-lt"/>
              <a:buAutoNum type="arabicPeriod"/>
            </a:pPr>
            <a:r>
              <a:rPr lang="zh-TW" altLang="en-US" dirty="0"/>
              <a:t>梯度的大小代表該 </a:t>
            </a:r>
            <a:r>
              <a:rPr lang="en-US" altLang="zh-TW" dirty="0"/>
              <a:t>feature map </a:t>
            </a:r>
            <a:r>
              <a:rPr lang="zh-TW" altLang="en-US" dirty="0"/>
              <a:t>對「目標類別輸出」的影響程度。若某個 </a:t>
            </a:r>
            <a:r>
              <a:rPr lang="en-US" altLang="zh-TW" dirty="0"/>
              <a:t>feature map </a:t>
            </a:r>
            <a:r>
              <a:rPr lang="zh-TW" altLang="en-US" dirty="0"/>
              <a:t>的梯度較大，表示對該類別的預測影響較顯著，因此被視為較重要的特徵圖。</a:t>
            </a:r>
            <a:endParaRPr lang="en-US" altLang="zh-TW" dirty="0"/>
          </a:p>
          <a:p>
            <a:pPr marL="457200" indent="-457200">
              <a:buFont typeface="+mj-lt"/>
              <a:buAutoNum type="arabicPeriod"/>
            </a:pPr>
            <a:r>
              <a:rPr lang="zh-TW" altLang="en-US" dirty="0"/>
              <a:t>將每個 </a:t>
            </a:r>
            <a:r>
              <a:rPr lang="en-US" altLang="zh-TW" dirty="0"/>
              <a:t>feature map </a:t>
            </a:r>
            <a:r>
              <a:rPr lang="zh-TW" altLang="en-US" dirty="0"/>
              <a:t>的梯度 </a:t>
            </a:r>
            <a:r>
              <a:rPr lang="en-US" altLang="zh-TW" dirty="0"/>
              <a:t>Global Average Pooling</a:t>
            </a:r>
            <a:r>
              <a:rPr lang="zh-TW" altLang="en-US" dirty="0"/>
              <a:t>（視為每個 </a:t>
            </a:r>
            <a:r>
              <a:rPr lang="en-US" altLang="zh-TW" dirty="0"/>
              <a:t>feature map </a:t>
            </a:r>
            <a:r>
              <a:rPr lang="zh-TW" altLang="en-US" dirty="0"/>
              <a:t>的權重。）</a:t>
            </a:r>
            <a:endParaRPr lang="en-US" altLang="zh-TW" dirty="0"/>
          </a:p>
        </p:txBody>
      </p:sp>
      <p:sp>
        <p:nvSpPr>
          <p:cNvPr id="4" name="日期版面配置區 3">
            <a:extLst>
              <a:ext uri="{FF2B5EF4-FFF2-40B4-BE49-F238E27FC236}">
                <a16:creationId xmlns:a16="http://schemas.microsoft.com/office/drawing/2014/main" id="{EE0AB56B-DDE7-B217-9FFB-A676E6F06BE8}"/>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B90AABC9-2BC3-C452-B344-F59FA528EC74}"/>
              </a:ext>
            </a:extLst>
          </p:cNvPr>
          <p:cNvSpPr>
            <a:spLocks noGrp="1"/>
          </p:cNvSpPr>
          <p:nvPr>
            <p:ph type="sldNum" sz="quarter" idx="12"/>
          </p:nvPr>
        </p:nvSpPr>
        <p:spPr/>
        <p:txBody>
          <a:bodyPr/>
          <a:lstStyle/>
          <a:p>
            <a:r>
              <a:rPr lang="en-US" altLang="zh-TW"/>
              <a:t>Deep Learning</a:t>
            </a:r>
            <a:endParaRPr lang="en-US" altLang="zh-TW" dirty="0"/>
          </a:p>
        </p:txBody>
      </p:sp>
    </p:spTree>
    <p:extLst>
      <p:ext uri="{BB962C8B-B14F-4D97-AF65-F5344CB8AC3E}">
        <p14:creationId xmlns:p14="http://schemas.microsoft.com/office/powerpoint/2010/main" val="30823207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46D0ABE-DFBF-8294-EA1A-1EFB80991E4F}"/>
              </a:ext>
            </a:extLst>
          </p:cNvPr>
          <p:cNvSpPr>
            <a:spLocks noGrp="1"/>
          </p:cNvSpPr>
          <p:nvPr>
            <p:ph type="title"/>
          </p:nvPr>
        </p:nvSpPr>
        <p:spPr/>
        <p:txBody>
          <a:bodyPr/>
          <a:lstStyle/>
          <a:p>
            <a:r>
              <a:rPr lang="en-US" altLang="zh-TW" dirty="0"/>
              <a:t>Grad-CAM</a:t>
            </a:r>
            <a:r>
              <a:rPr lang="zh-TW" altLang="en-US" dirty="0"/>
              <a:t> 視覺化技術</a:t>
            </a:r>
            <a:endParaRPr kumimoji="1" lang="zh-TW" altLang="en-US" dirty="0"/>
          </a:p>
        </p:txBody>
      </p:sp>
      <p:sp>
        <p:nvSpPr>
          <p:cNvPr id="3" name="內容版面配置區 2">
            <a:extLst>
              <a:ext uri="{FF2B5EF4-FFF2-40B4-BE49-F238E27FC236}">
                <a16:creationId xmlns:a16="http://schemas.microsoft.com/office/drawing/2014/main" id="{9C78A2DA-9ABE-6B43-AC25-C586DC3C241A}"/>
              </a:ext>
            </a:extLst>
          </p:cNvPr>
          <p:cNvSpPr>
            <a:spLocks noGrp="1"/>
          </p:cNvSpPr>
          <p:nvPr>
            <p:ph idx="1"/>
          </p:nvPr>
        </p:nvSpPr>
        <p:spPr/>
        <p:txBody>
          <a:bodyPr>
            <a:normAutofit/>
          </a:bodyPr>
          <a:lstStyle/>
          <a:p>
            <a:pPr marL="457200" indent="-457200">
              <a:buFont typeface="+mj-lt"/>
              <a:buAutoNum type="arabicPeriod" startAt="4"/>
            </a:pPr>
            <a:r>
              <a:rPr kumimoji="1" lang="zh-TW" altLang="en-US" dirty="0"/>
              <a:t>將每個 </a:t>
            </a:r>
            <a:r>
              <a:rPr kumimoji="1" lang="en-US" altLang="zh-TW" dirty="0"/>
              <a:t>feature map </a:t>
            </a:r>
            <a:r>
              <a:rPr kumimoji="1" lang="zh-TW" altLang="en-US" dirty="0"/>
              <a:t>乘上對應的權重後加總，形成一張粗略的熱力圖（</a:t>
            </a:r>
            <a:r>
              <a:rPr kumimoji="1" lang="en-US" altLang="zh-TW" dirty="0"/>
              <a:t>heatmap</a:t>
            </a:r>
            <a:r>
              <a:rPr kumimoji="1" lang="zh-TW" altLang="en-US" dirty="0"/>
              <a:t>）。</a:t>
            </a:r>
            <a:endParaRPr kumimoji="1" lang="en-US" altLang="zh-TW" dirty="0"/>
          </a:p>
          <a:p>
            <a:pPr marL="749808" lvl="1" indent="-457200">
              <a:buFont typeface="Wingdings" pitchFamily="2" charset="2"/>
              <a:buChar char="n"/>
            </a:pPr>
            <a:r>
              <a:rPr kumimoji="1" lang="zh-TW" altLang="en-US" dirty="0"/>
              <a:t>每個 </a:t>
            </a:r>
            <a:r>
              <a:rPr kumimoji="1" lang="en-US" altLang="zh-TW" dirty="0"/>
              <a:t>feature map </a:t>
            </a:r>
            <a:r>
              <a:rPr kumimoji="1" lang="zh-TW" altLang="en-US" dirty="0"/>
              <a:t>本身就是對某些空間特徵（例如邊緣、紋理、物件部分）的回應，且 </a:t>
            </a:r>
            <a:r>
              <a:rPr kumimoji="1" lang="en-US" altLang="zh-TW" dirty="0"/>
              <a:t>feature</a:t>
            </a:r>
            <a:r>
              <a:rPr kumimoji="1" lang="zh-TW" altLang="en-US" dirty="0"/>
              <a:t> </a:t>
            </a:r>
            <a:r>
              <a:rPr kumimoji="1" lang="en-US" altLang="zh-TW" dirty="0"/>
              <a:t>map</a:t>
            </a:r>
            <a:r>
              <a:rPr kumimoji="1" lang="zh-TW" altLang="en-US" dirty="0"/>
              <a:t> 本身也保留了空間位置資訊。</a:t>
            </a:r>
            <a:endParaRPr kumimoji="1" lang="en-US" altLang="zh-TW" dirty="0"/>
          </a:p>
          <a:p>
            <a:pPr marL="749808" lvl="1" indent="-457200">
              <a:buFont typeface="Wingdings" pitchFamily="2" charset="2"/>
              <a:buChar char="n"/>
            </a:pPr>
            <a:r>
              <a:rPr kumimoji="1" lang="zh-TW" altLang="en-US" dirty="0"/>
              <a:t>權重則代表「這個 </a:t>
            </a:r>
            <a:r>
              <a:rPr kumimoji="1" lang="en-US" altLang="zh-TW" dirty="0"/>
              <a:t>feature map </a:t>
            </a:r>
            <a:r>
              <a:rPr kumimoji="1" lang="zh-TW" altLang="en-US" dirty="0"/>
              <a:t>對當前類別有多重要」。</a:t>
            </a:r>
            <a:endParaRPr kumimoji="1" lang="en-US" altLang="zh-TW" dirty="0"/>
          </a:p>
          <a:p>
            <a:pPr marL="749808" lvl="1" indent="-457200">
              <a:buFont typeface="Wingdings" pitchFamily="2" charset="2"/>
              <a:buChar char="n"/>
            </a:pPr>
            <a:r>
              <a:rPr kumimoji="1" lang="zh-TW" altLang="en-US" dirty="0"/>
              <a:t>因此加權總和後，會讓「重要的 </a:t>
            </a:r>
            <a:r>
              <a:rPr kumimoji="1" lang="en-US" altLang="zh-TW" dirty="0"/>
              <a:t>feature maps </a:t>
            </a:r>
            <a:r>
              <a:rPr kumimoji="1" lang="zh-TW" altLang="en-US" dirty="0"/>
              <a:t>在其強烈回應的位置被放大」，而不重要的 </a:t>
            </a:r>
            <a:r>
              <a:rPr kumimoji="1" lang="en-US" altLang="zh-TW" dirty="0"/>
              <a:t>feature</a:t>
            </a:r>
            <a:r>
              <a:rPr kumimoji="1" lang="zh-TW" altLang="en-US" dirty="0"/>
              <a:t> </a:t>
            </a:r>
            <a:r>
              <a:rPr kumimoji="1" lang="en-US" altLang="zh-TW" dirty="0"/>
              <a:t>maps</a:t>
            </a:r>
            <a:r>
              <a:rPr kumimoji="1" lang="zh-TW" altLang="en-US" dirty="0"/>
              <a:t> 則被抑制。</a:t>
            </a:r>
            <a:endParaRPr kumimoji="1" lang="en-US" altLang="zh-TW" dirty="0"/>
          </a:p>
          <a:p>
            <a:pPr marL="457200" indent="-457200">
              <a:buFont typeface="+mj-lt"/>
              <a:buAutoNum type="arabicPeriod" startAt="4"/>
            </a:pPr>
            <a:r>
              <a:rPr kumimoji="1" lang="zh-TW" altLang="en-US" dirty="0"/>
              <a:t>最後將 </a:t>
            </a:r>
            <a:r>
              <a:rPr kumimoji="1" lang="en-US" altLang="zh-TW" dirty="0"/>
              <a:t>heatmap </a:t>
            </a:r>
            <a:r>
              <a:rPr kumimoji="1" lang="zh-TW" altLang="en-US" dirty="0"/>
              <a:t>上採樣回原圖大小，並疊加在原始影像上，即可得到 </a:t>
            </a:r>
            <a:r>
              <a:rPr kumimoji="1" lang="en-US" altLang="zh-TW" dirty="0"/>
              <a:t>Grad-CAM </a:t>
            </a:r>
            <a:r>
              <a:rPr kumimoji="1" lang="zh-TW" altLang="en-US" dirty="0"/>
              <a:t>的視覺化結果。</a:t>
            </a:r>
            <a:endParaRPr kumimoji="1" lang="en-US" altLang="zh-TW" dirty="0"/>
          </a:p>
        </p:txBody>
      </p:sp>
      <p:sp>
        <p:nvSpPr>
          <p:cNvPr id="4" name="日期版面配置區 3">
            <a:extLst>
              <a:ext uri="{FF2B5EF4-FFF2-40B4-BE49-F238E27FC236}">
                <a16:creationId xmlns:a16="http://schemas.microsoft.com/office/drawing/2014/main" id="{2380C85B-93C9-2063-62B7-521EE1501072}"/>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EE87B663-4F98-A4A8-8193-D76439C9323B}"/>
              </a:ext>
            </a:extLst>
          </p:cNvPr>
          <p:cNvSpPr>
            <a:spLocks noGrp="1"/>
          </p:cNvSpPr>
          <p:nvPr>
            <p:ph type="sldNum" sz="quarter" idx="12"/>
          </p:nvPr>
        </p:nvSpPr>
        <p:spPr/>
        <p:txBody>
          <a:bodyPr/>
          <a:lstStyle/>
          <a:p>
            <a:r>
              <a:rPr lang="en-US" altLang="zh-TW"/>
              <a:t>Deep Learning</a:t>
            </a:r>
            <a:endParaRPr lang="en-US" altLang="zh-TW" dirty="0"/>
          </a:p>
        </p:txBody>
      </p:sp>
    </p:spTree>
    <p:extLst>
      <p:ext uri="{BB962C8B-B14F-4D97-AF65-F5344CB8AC3E}">
        <p14:creationId xmlns:p14="http://schemas.microsoft.com/office/powerpoint/2010/main" val="29755160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8F41786-04CB-614B-3B02-8C9E000907A0}"/>
              </a:ext>
            </a:extLst>
          </p:cNvPr>
          <p:cNvSpPr>
            <a:spLocks noGrp="1"/>
          </p:cNvSpPr>
          <p:nvPr>
            <p:ph type="title"/>
          </p:nvPr>
        </p:nvSpPr>
        <p:spPr/>
        <p:txBody>
          <a:bodyPr/>
          <a:lstStyle/>
          <a:p>
            <a:r>
              <a:rPr lang="en-US" altLang="zh-TW" dirty="0"/>
              <a:t>Grad-CAM</a:t>
            </a:r>
            <a:r>
              <a:rPr lang="zh-TW" altLang="en-US" dirty="0"/>
              <a:t> 視覺化技術</a:t>
            </a:r>
            <a:endParaRPr kumimoji="1" lang="zh-TW" altLang="en-US" dirty="0"/>
          </a:p>
        </p:txBody>
      </p:sp>
      <p:sp>
        <p:nvSpPr>
          <p:cNvPr id="3" name="內容版面配置區 2">
            <a:extLst>
              <a:ext uri="{FF2B5EF4-FFF2-40B4-BE49-F238E27FC236}">
                <a16:creationId xmlns:a16="http://schemas.microsoft.com/office/drawing/2014/main" id="{7A8FC1A7-43F1-8D79-8755-326C0E745CFB}"/>
              </a:ext>
            </a:extLst>
          </p:cNvPr>
          <p:cNvSpPr>
            <a:spLocks noGrp="1"/>
          </p:cNvSpPr>
          <p:nvPr>
            <p:ph idx="1"/>
          </p:nvPr>
        </p:nvSpPr>
        <p:spPr/>
        <p:txBody>
          <a:bodyPr/>
          <a:lstStyle/>
          <a:p>
            <a:r>
              <a:rPr kumimoji="1" lang="zh-TW" altLang="en-US" dirty="0"/>
              <a:t>*</a:t>
            </a:r>
            <a:r>
              <a:rPr kumimoji="1" lang="en-US" altLang="zh-TW" dirty="0"/>
              <a:t>.</a:t>
            </a:r>
            <a:r>
              <a:rPr kumimoji="1" lang="zh-TW" altLang="en-US" dirty="0"/>
              <a:t> </a:t>
            </a:r>
            <a:r>
              <a:rPr kumimoji="1" lang="en-US" altLang="zh-TW" dirty="0"/>
              <a:t>Chapter_5_Grad_Cam.ipynb</a:t>
            </a:r>
          </a:p>
        </p:txBody>
      </p:sp>
      <p:sp>
        <p:nvSpPr>
          <p:cNvPr id="4" name="日期版面配置區 3">
            <a:extLst>
              <a:ext uri="{FF2B5EF4-FFF2-40B4-BE49-F238E27FC236}">
                <a16:creationId xmlns:a16="http://schemas.microsoft.com/office/drawing/2014/main" id="{2EB4B05B-49B2-0DF3-A3C5-4D89126D283C}"/>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DE1764E8-6721-B090-2720-8F5769E48868}"/>
              </a:ext>
            </a:extLst>
          </p:cNvPr>
          <p:cNvSpPr>
            <a:spLocks noGrp="1"/>
          </p:cNvSpPr>
          <p:nvPr>
            <p:ph type="sldNum" sz="quarter" idx="12"/>
          </p:nvPr>
        </p:nvSpPr>
        <p:spPr/>
        <p:txBody>
          <a:bodyPr/>
          <a:lstStyle/>
          <a:p>
            <a:r>
              <a:rPr lang="en-US" altLang="zh-TW"/>
              <a:t>Deep Learning</a:t>
            </a:r>
            <a:endParaRPr lang="en-US" altLang="zh-TW" dirty="0"/>
          </a:p>
        </p:txBody>
      </p:sp>
      <p:pic>
        <p:nvPicPr>
          <p:cNvPr id="7" name="圖片 6">
            <a:extLst>
              <a:ext uri="{FF2B5EF4-FFF2-40B4-BE49-F238E27FC236}">
                <a16:creationId xmlns:a16="http://schemas.microsoft.com/office/drawing/2014/main" id="{94EB612C-DE16-E337-F6D8-ACBC1C8DB8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6320" y="2751613"/>
            <a:ext cx="6238754" cy="323490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圖片 8">
            <a:extLst>
              <a:ext uri="{FF2B5EF4-FFF2-40B4-BE49-F238E27FC236}">
                <a16:creationId xmlns:a16="http://schemas.microsoft.com/office/drawing/2014/main" id="{B4BCBE4E-8D59-D35C-0392-415AD176D6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07604" y="2045180"/>
            <a:ext cx="3746935" cy="194285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1" name="圖片 10">
            <a:extLst>
              <a:ext uri="{FF2B5EF4-FFF2-40B4-BE49-F238E27FC236}">
                <a16:creationId xmlns:a16="http://schemas.microsoft.com/office/drawing/2014/main" id="{2749AB55-E3C4-119D-C92E-9D710794CF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26657" y="4173456"/>
            <a:ext cx="3746935" cy="194285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8018061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C3D05AF-6BA7-B259-B909-969EED3F18D7}"/>
              </a:ext>
            </a:extLst>
          </p:cNvPr>
          <p:cNvSpPr>
            <a:spLocks noGrp="1"/>
          </p:cNvSpPr>
          <p:nvPr>
            <p:ph type="title"/>
          </p:nvPr>
        </p:nvSpPr>
        <p:spPr/>
        <p:txBody>
          <a:bodyPr/>
          <a:lstStyle/>
          <a:p>
            <a:r>
              <a:rPr kumimoji="1" lang="en-US" altLang="zh-TW" dirty="0"/>
              <a:t>Style</a:t>
            </a:r>
            <a:r>
              <a:rPr kumimoji="1" lang="zh-TW" altLang="en-US" dirty="0"/>
              <a:t> </a:t>
            </a:r>
            <a:r>
              <a:rPr kumimoji="1" lang="en-US" altLang="zh-TW" dirty="0"/>
              <a:t>Transfer</a:t>
            </a:r>
            <a:endParaRPr kumimoji="1" lang="zh-TW" altLang="en-US" dirty="0"/>
          </a:p>
        </p:txBody>
      </p:sp>
      <p:sp>
        <p:nvSpPr>
          <p:cNvPr id="3" name="內容版面配置區 2">
            <a:extLst>
              <a:ext uri="{FF2B5EF4-FFF2-40B4-BE49-F238E27FC236}">
                <a16:creationId xmlns:a16="http://schemas.microsoft.com/office/drawing/2014/main" id="{66C8EE49-8A31-53CB-0042-48138A172944}"/>
              </a:ext>
            </a:extLst>
          </p:cNvPr>
          <p:cNvSpPr>
            <a:spLocks noGrp="1"/>
          </p:cNvSpPr>
          <p:nvPr>
            <p:ph idx="1"/>
          </p:nvPr>
        </p:nvSpPr>
        <p:spPr/>
        <p:txBody>
          <a:bodyPr/>
          <a:lstStyle/>
          <a:p>
            <a:r>
              <a:rPr kumimoji="1" lang="en-US" altLang="zh-TW" dirty="0"/>
              <a:t>Style</a:t>
            </a:r>
            <a:r>
              <a:rPr kumimoji="1" lang="zh-TW" altLang="en-US" dirty="0"/>
              <a:t> </a:t>
            </a:r>
            <a:r>
              <a:rPr kumimoji="1" lang="en-US" altLang="zh-TW" dirty="0"/>
              <a:t>Transfer</a:t>
            </a:r>
            <a:r>
              <a:rPr kumimoji="1" lang="zh-TW" altLang="en-US" dirty="0"/>
              <a:t>（風格轉移）是於 </a:t>
            </a:r>
            <a:r>
              <a:rPr kumimoji="1" lang="en-US" altLang="zh-TW" dirty="0"/>
              <a:t>2015</a:t>
            </a:r>
            <a:r>
              <a:rPr kumimoji="1" lang="zh-TW" altLang="en-US" dirty="0"/>
              <a:t> 年由電腦科學家們所提出的技術，能讓一張圖片保留原有內容的同時，採用另一張圖片的藝術風格。</a:t>
            </a:r>
          </a:p>
        </p:txBody>
      </p:sp>
      <p:sp>
        <p:nvSpPr>
          <p:cNvPr id="4" name="日期版面配置區 3">
            <a:extLst>
              <a:ext uri="{FF2B5EF4-FFF2-40B4-BE49-F238E27FC236}">
                <a16:creationId xmlns:a16="http://schemas.microsoft.com/office/drawing/2014/main" id="{7014131A-3704-8296-CF68-609E1ED38930}"/>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56C57002-2155-1D14-7DD6-6964356F2878}"/>
              </a:ext>
            </a:extLst>
          </p:cNvPr>
          <p:cNvSpPr>
            <a:spLocks noGrp="1"/>
          </p:cNvSpPr>
          <p:nvPr>
            <p:ph type="sldNum" sz="quarter" idx="12"/>
          </p:nvPr>
        </p:nvSpPr>
        <p:spPr/>
        <p:txBody>
          <a:bodyPr/>
          <a:lstStyle/>
          <a:p>
            <a:r>
              <a:rPr lang="en-US" altLang="zh-TW" dirty="0"/>
              <a:t>Deep Learning</a:t>
            </a:r>
          </a:p>
        </p:txBody>
      </p:sp>
      <p:pic>
        <p:nvPicPr>
          <p:cNvPr id="7" name="圖片 6" descr="一張含有 雲, 戶外, 天空, 建築 的圖片&#10;&#10;AI 產生的內容可能不正確。">
            <a:extLst>
              <a:ext uri="{FF2B5EF4-FFF2-40B4-BE49-F238E27FC236}">
                <a16:creationId xmlns:a16="http://schemas.microsoft.com/office/drawing/2014/main" id="{BD9F60B6-87CB-FB10-3A45-D037D8F387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6383" y="3135604"/>
            <a:ext cx="3238500" cy="1816100"/>
          </a:xfrm>
          <a:prstGeom prst="rect">
            <a:avLst/>
          </a:prstGeom>
        </p:spPr>
      </p:pic>
      <p:pic>
        <p:nvPicPr>
          <p:cNvPr id="15" name="圖片 14" descr="一張含有 油畫, 圖畫, 寫生, 藝術 的圖片&#10;&#10;AI 產生的內容可能不正確。">
            <a:extLst>
              <a:ext uri="{FF2B5EF4-FFF2-40B4-BE49-F238E27FC236}">
                <a16:creationId xmlns:a16="http://schemas.microsoft.com/office/drawing/2014/main" id="{1A6B266F-453C-333E-7A69-4E01073A12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78583" y="2868817"/>
            <a:ext cx="2880000" cy="1673514"/>
          </a:xfrm>
          <a:prstGeom prst="rect">
            <a:avLst/>
          </a:prstGeom>
        </p:spPr>
      </p:pic>
      <p:pic>
        <p:nvPicPr>
          <p:cNvPr id="17" name="圖片 16" descr="一張含有 油畫, 建築, 藝術, 宗教場所 的圖片&#10;&#10;AI 產生的內容可能不正確。">
            <a:extLst>
              <a:ext uri="{FF2B5EF4-FFF2-40B4-BE49-F238E27FC236}">
                <a16:creationId xmlns:a16="http://schemas.microsoft.com/office/drawing/2014/main" id="{491BA81A-90EA-DC83-63D7-CECB667FC0F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13582" y="2867660"/>
            <a:ext cx="2880000" cy="1673514"/>
          </a:xfrm>
          <a:prstGeom prst="rect">
            <a:avLst/>
          </a:prstGeom>
        </p:spPr>
      </p:pic>
      <p:pic>
        <p:nvPicPr>
          <p:cNvPr id="19" name="圖片 18" descr="一張含有 藝術, 圖畫, 馬若雷勒藍, 油畫 的圖片&#10;&#10;AI 產生的內容可能不正確。">
            <a:extLst>
              <a:ext uri="{FF2B5EF4-FFF2-40B4-BE49-F238E27FC236}">
                <a16:creationId xmlns:a16="http://schemas.microsoft.com/office/drawing/2014/main" id="{CE4D4273-9B3A-207C-5E76-B05DECCDE73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39059" y="4664992"/>
            <a:ext cx="2880000" cy="1673514"/>
          </a:xfrm>
          <a:prstGeom prst="rect">
            <a:avLst/>
          </a:prstGeom>
        </p:spPr>
      </p:pic>
      <p:pic>
        <p:nvPicPr>
          <p:cNvPr id="9" name="圖片 8" descr="一張含有 油畫, 圖畫, 寫生, 現代藝術 的圖片&#10;&#10;AI 產生的內容可能不正確。">
            <a:extLst>
              <a:ext uri="{FF2B5EF4-FFF2-40B4-BE49-F238E27FC236}">
                <a16:creationId xmlns:a16="http://schemas.microsoft.com/office/drawing/2014/main" id="{B9AA14F6-9602-97CE-2DB3-99A96B6808B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37874" y="3953784"/>
            <a:ext cx="1260000" cy="997920"/>
          </a:xfrm>
          <a:prstGeom prst="rect">
            <a:avLst/>
          </a:prstGeom>
        </p:spPr>
      </p:pic>
      <p:pic>
        <p:nvPicPr>
          <p:cNvPr id="11" name="圖片 10" descr="一張含有 圖畫, 油畫, 藝術, 寫生 的圖片&#10;&#10;AI 產生的內容可能不正確。">
            <a:extLst>
              <a:ext uri="{FF2B5EF4-FFF2-40B4-BE49-F238E27FC236}">
                <a16:creationId xmlns:a16="http://schemas.microsoft.com/office/drawing/2014/main" id="{D9EC90A2-9741-060F-02F1-3B6D5A843F5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172873" y="3818271"/>
            <a:ext cx="1260000" cy="846721"/>
          </a:xfrm>
          <a:prstGeom prst="rect">
            <a:avLst/>
          </a:prstGeom>
        </p:spPr>
      </p:pic>
      <p:pic>
        <p:nvPicPr>
          <p:cNvPr id="13" name="圖片 12" descr="一張含有 油畫, 藝術, 現代藝術, 圖畫 的圖片&#10;&#10;AI 產生的內容可能不正確。">
            <a:extLst>
              <a:ext uri="{FF2B5EF4-FFF2-40B4-BE49-F238E27FC236}">
                <a16:creationId xmlns:a16="http://schemas.microsoft.com/office/drawing/2014/main" id="{764CEE94-B905-DF0C-1800-50B81638013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148095" y="5470213"/>
            <a:ext cx="1260000" cy="836640"/>
          </a:xfrm>
          <a:prstGeom prst="rect">
            <a:avLst/>
          </a:prstGeom>
        </p:spPr>
      </p:pic>
      <p:sp>
        <p:nvSpPr>
          <p:cNvPr id="20" name="文字方塊 19">
            <a:extLst>
              <a:ext uri="{FF2B5EF4-FFF2-40B4-BE49-F238E27FC236}">
                <a16:creationId xmlns:a16="http://schemas.microsoft.com/office/drawing/2014/main" id="{8CD8AB89-C1C9-78DD-F448-8F2F1B0BF4F9}"/>
              </a:ext>
            </a:extLst>
          </p:cNvPr>
          <p:cNvSpPr txBox="1"/>
          <p:nvPr/>
        </p:nvSpPr>
        <p:spPr>
          <a:xfrm>
            <a:off x="2405444" y="5807279"/>
            <a:ext cx="1107996" cy="369332"/>
          </a:xfrm>
          <a:prstGeom prst="rect">
            <a:avLst/>
          </a:prstGeom>
          <a:noFill/>
        </p:spPr>
        <p:txBody>
          <a:bodyPr wrap="none" rtlCol="0">
            <a:spAutoFit/>
          </a:bodyPr>
          <a:lstStyle/>
          <a:p>
            <a:r>
              <a:rPr kumimoji="1" lang="zh-TW" altLang="en-US" dirty="0"/>
              <a:t>原始圖片</a:t>
            </a:r>
          </a:p>
        </p:txBody>
      </p:sp>
      <p:sp>
        <p:nvSpPr>
          <p:cNvPr id="21" name="文字方塊 20">
            <a:extLst>
              <a:ext uri="{FF2B5EF4-FFF2-40B4-BE49-F238E27FC236}">
                <a16:creationId xmlns:a16="http://schemas.microsoft.com/office/drawing/2014/main" id="{E18AB8A4-309D-5B44-D065-06128CF51872}"/>
              </a:ext>
            </a:extLst>
          </p:cNvPr>
          <p:cNvSpPr txBox="1"/>
          <p:nvPr/>
        </p:nvSpPr>
        <p:spPr>
          <a:xfrm>
            <a:off x="4810587" y="5573677"/>
            <a:ext cx="2031325" cy="369332"/>
          </a:xfrm>
          <a:prstGeom prst="rect">
            <a:avLst/>
          </a:prstGeom>
          <a:noFill/>
        </p:spPr>
        <p:txBody>
          <a:bodyPr wrap="none" rtlCol="0">
            <a:spAutoFit/>
          </a:bodyPr>
          <a:lstStyle/>
          <a:p>
            <a:r>
              <a:rPr kumimoji="1" lang="zh-TW" altLang="en-US" dirty="0"/>
              <a:t>風格轉移後的圖片</a:t>
            </a:r>
          </a:p>
        </p:txBody>
      </p:sp>
      <p:cxnSp>
        <p:nvCxnSpPr>
          <p:cNvPr id="23" name="直線箭頭接點 22">
            <a:extLst>
              <a:ext uri="{FF2B5EF4-FFF2-40B4-BE49-F238E27FC236}">
                <a16:creationId xmlns:a16="http://schemas.microsoft.com/office/drawing/2014/main" id="{71D5FECE-D2D6-F7FD-C0BC-A90737C3AA38}"/>
              </a:ext>
            </a:extLst>
          </p:cNvPr>
          <p:cNvCxnSpPr>
            <a:cxnSpLocks/>
            <a:stCxn id="21" idx="0"/>
          </p:cNvCxnSpPr>
          <p:nvPr/>
        </p:nvCxnSpPr>
        <p:spPr>
          <a:xfrm flipV="1">
            <a:off x="5826250" y="4628189"/>
            <a:ext cx="524539" cy="9454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線箭頭接點 24">
            <a:extLst>
              <a:ext uri="{FF2B5EF4-FFF2-40B4-BE49-F238E27FC236}">
                <a16:creationId xmlns:a16="http://schemas.microsoft.com/office/drawing/2014/main" id="{84EF0C6C-9BBF-4046-7E3C-7FEF80850F92}"/>
              </a:ext>
            </a:extLst>
          </p:cNvPr>
          <p:cNvCxnSpPr>
            <a:cxnSpLocks/>
          </p:cNvCxnSpPr>
          <p:nvPr/>
        </p:nvCxnSpPr>
        <p:spPr>
          <a:xfrm flipH="1" flipV="1">
            <a:off x="2637562" y="4947650"/>
            <a:ext cx="150471" cy="8596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直線箭頭接點 27">
            <a:extLst>
              <a:ext uri="{FF2B5EF4-FFF2-40B4-BE49-F238E27FC236}">
                <a16:creationId xmlns:a16="http://schemas.microsoft.com/office/drawing/2014/main" id="{4A022B55-FB75-8C03-8EB8-4FE902201A91}"/>
              </a:ext>
            </a:extLst>
          </p:cNvPr>
          <p:cNvCxnSpPr>
            <a:cxnSpLocks/>
          </p:cNvCxnSpPr>
          <p:nvPr/>
        </p:nvCxnSpPr>
        <p:spPr>
          <a:xfrm flipV="1">
            <a:off x="6126201" y="4585260"/>
            <a:ext cx="2151839" cy="9164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線箭頭接點 30">
            <a:extLst>
              <a:ext uri="{FF2B5EF4-FFF2-40B4-BE49-F238E27FC236}">
                <a16:creationId xmlns:a16="http://schemas.microsoft.com/office/drawing/2014/main" id="{296B5BD9-42C8-53C3-0984-EA5C2F41BC94}"/>
              </a:ext>
            </a:extLst>
          </p:cNvPr>
          <p:cNvCxnSpPr>
            <a:cxnSpLocks/>
          </p:cNvCxnSpPr>
          <p:nvPr/>
        </p:nvCxnSpPr>
        <p:spPr>
          <a:xfrm flipV="1">
            <a:off x="6781655" y="5633980"/>
            <a:ext cx="1203304" cy="208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13684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165F2B8-CC5C-46B4-918E-9894C51DED29}"/>
              </a:ext>
            </a:extLst>
          </p:cNvPr>
          <p:cNvSpPr>
            <a:spLocks noGrp="1"/>
          </p:cNvSpPr>
          <p:nvPr>
            <p:ph type="title"/>
          </p:nvPr>
        </p:nvSpPr>
        <p:spPr/>
        <p:txBody>
          <a:bodyPr/>
          <a:lstStyle/>
          <a:p>
            <a:r>
              <a:rPr kumimoji="1" lang="en-US" altLang="zh-TW" dirty="0"/>
              <a:t>Style</a:t>
            </a:r>
            <a:r>
              <a:rPr kumimoji="1" lang="zh-TW" altLang="en-US" dirty="0"/>
              <a:t> </a:t>
            </a:r>
            <a:r>
              <a:rPr kumimoji="1" lang="en-US" altLang="zh-TW" dirty="0"/>
              <a:t>Transfer</a:t>
            </a:r>
            <a:endParaRPr kumimoji="1" lang="zh-TW" altLang="en-US" dirty="0"/>
          </a:p>
        </p:txBody>
      </p:sp>
      <p:sp>
        <p:nvSpPr>
          <p:cNvPr id="3" name="內容版面配置區 2">
            <a:extLst>
              <a:ext uri="{FF2B5EF4-FFF2-40B4-BE49-F238E27FC236}">
                <a16:creationId xmlns:a16="http://schemas.microsoft.com/office/drawing/2014/main" id="{F7F59BE6-6137-F429-E5FA-938A0AB3BC61}"/>
              </a:ext>
            </a:extLst>
          </p:cNvPr>
          <p:cNvSpPr>
            <a:spLocks noGrp="1"/>
          </p:cNvSpPr>
          <p:nvPr>
            <p:ph idx="1"/>
          </p:nvPr>
        </p:nvSpPr>
        <p:spPr/>
        <p:txBody>
          <a:bodyPr/>
          <a:lstStyle/>
          <a:p>
            <a:r>
              <a:rPr kumimoji="1" lang="zh-TW" altLang="en-US" dirty="0"/>
              <a:t>前面的課程中提到，淺層的 </a:t>
            </a:r>
            <a:r>
              <a:rPr kumimoji="1" lang="en-US" altLang="zh-TW" dirty="0"/>
              <a:t>CNN feature maps</a:t>
            </a:r>
            <a:r>
              <a:rPr kumimoji="1" lang="zh-TW" altLang="en-US" dirty="0"/>
              <a:t> 能捕捉圖像的紋理，而深層的特徵圖則能捕捉物體的結構與形狀。基於這個特性，電腦科學家提出了一個巧妙的方法來實現 </a:t>
            </a:r>
            <a:r>
              <a:rPr kumimoji="1" lang="en-US" altLang="zh-TW" dirty="0"/>
              <a:t>Style</a:t>
            </a:r>
            <a:r>
              <a:rPr kumimoji="1" lang="zh-TW" altLang="en-US" dirty="0"/>
              <a:t> </a:t>
            </a:r>
            <a:r>
              <a:rPr kumimoji="1" lang="en-US" altLang="zh-TW" dirty="0"/>
              <a:t>Transfer</a:t>
            </a:r>
            <a:r>
              <a:rPr kumimoji="1" lang="zh-TW" altLang="en-US" dirty="0"/>
              <a:t>。</a:t>
            </a:r>
            <a:endParaRPr kumimoji="1" lang="en-US" altLang="zh-TW" dirty="0"/>
          </a:p>
          <a:p>
            <a:pPr marL="457200" indent="-457200">
              <a:buFont typeface="+mj-lt"/>
              <a:buAutoNum type="arabicPeriod"/>
            </a:pPr>
            <a:r>
              <a:rPr kumimoji="1" lang="zh-TW" altLang="en-US" dirty="0"/>
              <a:t>首先，我們選取一張圖片作為 </a:t>
            </a:r>
            <a:r>
              <a:rPr kumimoji="1" lang="en-US" altLang="zh-TW" dirty="0"/>
              <a:t>content image</a:t>
            </a:r>
            <a:r>
              <a:rPr kumimoji="1" lang="zh-TW" altLang="en-US" dirty="0"/>
              <a:t>，用來提取圖片的內容，例如建築物的輪廓與形狀。將這張圖片輸入一個預先訓練好的 </a:t>
            </a:r>
            <a:r>
              <a:rPr kumimoji="1" lang="en-US" altLang="zh-TW" dirty="0"/>
              <a:t>CNN</a:t>
            </a:r>
            <a:r>
              <a:rPr kumimoji="1" lang="zh-TW" altLang="en-US" dirty="0"/>
              <a:t>（如 </a:t>
            </a:r>
            <a:r>
              <a:rPr kumimoji="1" lang="en-US" altLang="zh-TW" dirty="0"/>
              <a:t>VGG19</a:t>
            </a:r>
            <a:r>
              <a:rPr kumimoji="1" lang="zh-TW" altLang="en-US" dirty="0"/>
              <a:t>），取出其深層的 </a:t>
            </a:r>
            <a:r>
              <a:rPr kumimoji="1" lang="en-US" altLang="zh-TW" dirty="0"/>
              <a:t>feature maps</a:t>
            </a:r>
            <a:r>
              <a:rPr kumimoji="1" lang="zh-TW" altLang="en-US" dirty="0"/>
              <a:t>。</a:t>
            </a:r>
            <a:endParaRPr kumimoji="1" lang="en-US" altLang="zh-TW" dirty="0"/>
          </a:p>
          <a:p>
            <a:pPr marL="457200" indent="-457200">
              <a:buFont typeface="+mj-lt"/>
              <a:buAutoNum type="arabicPeriod"/>
            </a:pPr>
            <a:r>
              <a:rPr kumimoji="1" lang="zh-TW" altLang="en-US" dirty="0"/>
              <a:t>接著，我們準備另一張圖片作為 </a:t>
            </a:r>
            <a:r>
              <a:rPr kumimoji="1" lang="en-US" altLang="zh-TW" dirty="0"/>
              <a:t>style image</a:t>
            </a:r>
            <a:r>
              <a:rPr kumimoji="1" lang="zh-TW" altLang="en-US" dirty="0"/>
              <a:t>，同樣放入 </a:t>
            </a:r>
            <a:r>
              <a:rPr kumimoji="1" lang="en-US" altLang="zh-TW" dirty="0"/>
              <a:t>VGG19</a:t>
            </a:r>
            <a:r>
              <a:rPr kumimoji="1" lang="zh-TW" altLang="en-US" dirty="0"/>
              <a:t>，取出其淺層的 </a:t>
            </a:r>
            <a:r>
              <a:rPr kumimoji="1" lang="en-US" altLang="zh-TW" dirty="0"/>
              <a:t>feature maps</a:t>
            </a:r>
            <a:r>
              <a:rPr kumimoji="1" lang="zh-TW" altLang="en-US" dirty="0"/>
              <a:t>，以捕捉紋理和風格。</a:t>
            </a:r>
          </a:p>
        </p:txBody>
      </p:sp>
      <p:sp>
        <p:nvSpPr>
          <p:cNvPr id="4" name="日期版面配置區 3">
            <a:extLst>
              <a:ext uri="{FF2B5EF4-FFF2-40B4-BE49-F238E27FC236}">
                <a16:creationId xmlns:a16="http://schemas.microsoft.com/office/drawing/2014/main" id="{28E95913-A9E7-DF49-D6DF-553FA6141189}"/>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8BAFB684-ECBC-F693-3469-96D3A4B0809E}"/>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18996719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57431F9-1B3D-77AC-5B94-D65063195476}"/>
              </a:ext>
            </a:extLst>
          </p:cNvPr>
          <p:cNvSpPr>
            <a:spLocks noGrp="1"/>
          </p:cNvSpPr>
          <p:nvPr>
            <p:ph type="title"/>
          </p:nvPr>
        </p:nvSpPr>
        <p:spPr/>
        <p:txBody>
          <a:bodyPr/>
          <a:lstStyle/>
          <a:p>
            <a:r>
              <a:rPr kumimoji="1" lang="en-US" altLang="zh-TW" dirty="0"/>
              <a:t>Style</a:t>
            </a:r>
            <a:r>
              <a:rPr kumimoji="1" lang="zh-TW" altLang="en-US" dirty="0"/>
              <a:t> </a:t>
            </a:r>
            <a:r>
              <a:rPr kumimoji="1" lang="en-US" altLang="zh-TW" dirty="0"/>
              <a:t>Transfer</a:t>
            </a:r>
            <a:endParaRPr kumimoji="1" lang="zh-TW" altLang="en-US" dirty="0"/>
          </a:p>
        </p:txBody>
      </p:sp>
      <p:sp>
        <p:nvSpPr>
          <p:cNvPr id="3" name="內容版面配置區 2">
            <a:extLst>
              <a:ext uri="{FF2B5EF4-FFF2-40B4-BE49-F238E27FC236}">
                <a16:creationId xmlns:a16="http://schemas.microsoft.com/office/drawing/2014/main" id="{EEE910BD-0515-2BFF-0551-F27CF0C29066}"/>
              </a:ext>
            </a:extLst>
          </p:cNvPr>
          <p:cNvSpPr>
            <a:spLocks noGrp="1"/>
          </p:cNvSpPr>
          <p:nvPr>
            <p:ph idx="1"/>
          </p:nvPr>
        </p:nvSpPr>
        <p:spPr>
          <a:xfrm>
            <a:off x="231494" y="2108201"/>
            <a:ext cx="11542097" cy="4142128"/>
          </a:xfrm>
        </p:spPr>
        <p:txBody>
          <a:bodyPr>
            <a:normAutofit/>
          </a:bodyPr>
          <a:lstStyle/>
          <a:p>
            <a:pPr marL="457200" indent="-457200">
              <a:buFont typeface="+mj-lt"/>
              <a:buAutoNum type="arabicPeriod" startAt="3"/>
            </a:pPr>
            <a:r>
              <a:rPr kumimoji="1" lang="zh-TW" altLang="en-US" dirty="0"/>
              <a:t>我們將 </a:t>
            </a:r>
            <a:r>
              <a:rPr kumimoji="1" lang="en-US" altLang="zh-TW" dirty="0"/>
              <a:t>content image </a:t>
            </a:r>
            <a:r>
              <a:rPr kumimoji="1" lang="zh-TW" altLang="en-US" dirty="0"/>
              <a:t>複製一份，稱為 </a:t>
            </a:r>
            <a:r>
              <a:rPr kumimoji="1" lang="en-US" altLang="zh-TW" dirty="0"/>
              <a:t>generated image</a:t>
            </a:r>
            <a:r>
              <a:rPr kumimoji="1" lang="zh-TW" altLang="en-US" dirty="0"/>
              <a:t>，並將它送入 </a:t>
            </a:r>
            <a:r>
              <a:rPr kumimoji="1" lang="en-US" altLang="zh-TW" dirty="0"/>
              <a:t>VGG19</a:t>
            </a:r>
            <a:r>
              <a:rPr kumimoji="1" lang="zh-TW" altLang="en-US" dirty="0"/>
              <a:t>，以產生淺層與深層的 </a:t>
            </a:r>
            <a:r>
              <a:rPr kumimoji="1" lang="en-US" altLang="zh-TW" dirty="0"/>
              <a:t>feature maps</a:t>
            </a:r>
            <a:r>
              <a:rPr kumimoji="1" lang="zh-TW" altLang="en-US" dirty="0"/>
              <a:t>。接著定義損失函數 </a:t>
            </a:r>
            <a:r>
              <a:rPr kumimoji="1" lang="en-US" altLang="zh-TW" dirty="0"/>
              <a:t>–</a:t>
            </a:r>
            <a:r>
              <a:rPr kumimoji="1" lang="zh-TW" altLang="en-US" dirty="0"/>
              <a:t> 由兩個數值相加即可算出：一是 </a:t>
            </a:r>
            <a:r>
              <a:rPr kumimoji="1" lang="en-US" altLang="zh-TW" dirty="0"/>
              <a:t>generated image </a:t>
            </a:r>
            <a:r>
              <a:rPr kumimoji="1" lang="zh-TW" altLang="en-US" dirty="0"/>
              <a:t>的淺層 </a:t>
            </a:r>
            <a:r>
              <a:rPr kumimoji="1" lang="en-US" altLang="zh-TW" dirty="0"/>
              <a:t>feature maps </a:t>
            </a:r>
            <a:r>
              <a:rPr kumimoji="1" lang="zh-TW" altLang="en-US" dirty="0"/>
              <a:t>與 </a:t>
            </a:r>
            <a:r>
              <a:rPr kumimoji="1" lang="en-US" altLang="zh-TW" dirty="0"/>
              <a:t>style image </a:t>
            </a:r>
            <a:r>
              <a:rPr kumimoji="1" lang="zh-TW" altLang="en-US" dirty="0"/>
              <a:t>的淺層 </a:t>
            </a:r>
            <a:r>
              <a:rPr kumimoji="1" lang="en-US" altLang="zh-TW" dirty="0"/>
              <a:t>feature maps </a:t>
            </a:r>
            <a:r>
              <a:rPr kumimoji="1" lang="zh-TW" altLang="en-US" dirty="0"/>
              <a:t>之間的差異；二是 </a:t>
            </a:r>
            <a:r>
              <a:rPr kumimoji="1" lang="en-US" altLang="zh-TW" dirty="0"/>
              <a:t>generated image </a:t>
            </a:r>
            <a:r>
              <a:rPr kumimoji="1" lang="zh-TW" altLang="en-US" dirty="0"/>
              <a:t>的深層 </a:t>
            </a:r>
            <a:r>
              <a:rPr kumimoji="1" lang="en-US" altLang="zh-TW" dirty="0"/>
              <a:t>feature maps </a:t>
            </a:r>
            <a:r>
              <a:rPr kumimoji="1" lang="zh-TW" altLang="en-US" dirty="0"/>
              <a:t>與 </a:t>
            </a:r>
            <a:r>
              <a:rPr kumimoji="1" lang="en-US" altLang="zh-TW" dirty="0"/>
              <a:t>content image </a:t>
            </a:r>
            <a:r>
              <a:rPr kumimoji="1" lang="zh-TW" altLang="en-US" dirty="0"/>
              <a:t>的深層 </a:t>
            </a:r>
            <a:r>
              <a:rPr kumimoji="1" lang="en-US" altLang="zh-TW" dirty="0"/>
              <a:t>feature maps </a:t>
            </a:r>
            <a:r>
              <a:rPr kumimoji="1" lang="zh-TW" altLang="en-US" dirty="0"/>
              <a:t>之間的差異。</a:t>
            </a:r>
            <a:endParaRPr kumimoji="1" lang="en-US" altLang="zh-TW" dirty="0"/>
          </a:p>
          <a:p>
            <a:pPr marL="457200" indent="-457200">
              <a:buFont typeface="+mj-lt"/>
              <a:buAutoNum type="arabicPeriod" startAt="3"/>
            </a:pPr>
            <a:r>
              <a:rPr kumimoji="1" lang="zh-TW" altLang="en-US" dirty="0"/>
              <a:t>一開始，</a:t>
            </a:r>
            <a:r>
              <a:rPr kumimoji="1" lang="en-US" altLang="zh-TW" dirty="0"/>
              <a:t>generated image </a:t>
            </a:r>
            <a:r>
              <a:rPr kumimoji="1" lang="zh-TW" altLang="en-US" dirty="0"/>
              <a:t>的深層 </a:t>
            </a:r>
            <a:r>
              <a:rPr kumimoji="1" lang="en-US" altLang="zh-TW" dirty="0"/>
              <a:t>feature maps </a:t>
            </a:r>
            <a:r>
              <a:rPr kumimoji="1" lang="zh-TW" altLang="en-US" dirty="0"/>
              <a:t>與 </a:t>
            </a:r>
            <a:r>
              <a:rPr kumimoji="1" lang="en-US" altLang="zh-TW" dirty="0"/>
              <a:t>content image </a:t>
            </a:r>
            <a:r>
              <a:rPr kumimoji="1" lang="zh-TW" altLang="en-US" dirty="0"/>
              <a:t>的深層 </a:t>
            </a:r>
            <a:r>
              <a:rPr kumimoji="1" lang="en-US" altLang="zh-TW" dirty="0"/>
              <a:t>feature maps</a:t>
            </a:r>
            <a:r>
              <a:rPr kumimoji="1" lang="zh-TW" altLang="en-US" dirty="0"/>
              <a:t>幾乎相同，所以差異幾乎為零；但 </a:t>
            </a:r>
            <a:r>
              <a:rPr kumimoji="1" lang="en-US" altLang="zh-TW" dirty="0"/>
              <a:t>generated image </a:t>
            </a:r>
            <a:r>
              <a:rPr kumimoji="1" lang="zh-TW" altLang="en-US" dirty="0"/>
              <a:t>的淺層 </a:t>
            </a:r>
            <a:r>
              <a:rPr kumimoji="1" lang="en-US" altLang="zh-TW" dirty="0"/>
              <a:t>feature maps </a:t>
            </a:r>
            <a:r>
              <a:rPr kumimoji="1" lang="zh-TW" altLang="en-US" dirty="0"/>
              <a:t>與 </a:t>
            </a:r>
            <a:r>
              <a:rPr kumimoji="1" lang="en-US" altLang="zh-TW" dirty="0"/>
              <a:t>style image </a:t>
            </a:r>
            <a:r>
              <a:rPr kumimoji="1" lang="zh-TW" altLang="en-US" dirty="0"/>
              <a:t>的淺層 </a:t>
            </a:r>
            <a:r>
              <a:rPr kumimoji="1" lang="en-US" altLang="zh-TW" dirty="0"/>
              <a:t>feature maps</a:t>
            </a:r>
            <a:r>
              <a:rPr kumimoji="1" lang="zh-TW" altLang="en-US" dirty="0"/>
              <a:t> 差異很大，因此損失值很高。我們可以計算損失對 </a:t>
            </a:r>
            <a:r>
              <a:rPr kumimoji="1" lang="en-US" altLang="zh-TW" dirty="0"/>
              <a:t>generated image </a:t>
            </a:r>
            <a:r>
              <a:rPr kumimoji="1" lang="zh-TW" altLang="en-US" dirty="0"/>
              <a:t>的梯度，並更新 </a:t>
            </a:r>
            <a:r>
              <a:rPr kumimoji="1" lang="en-US" altLang="zh-TW" dirty="0"/>
              <a:t>generated image</a:t>
            </a:r>
            <a:r>
              <a:rPr kumimoji="1" lang="zh-TW" altLang="en-US" dirty="0"/>
              <a:t>（注意這裡是更新圖片本身，而不是網路權重），使其內容和風格逐步調整。</a:t>
            </a:r>
          </a:p>
        </p:txBody>
      </p:sp>
      <p:sp>
        <p:nvSpPr>
          <p:cNvPr id="4" name="日期版面配置區 3">
            <a:extLst>
              <a:ext uri="{FF2B5EF4-FFF2-40B4-BE49-F238E27FC236}">
                <a16:creationId xmlns:a16="http://schemas.microsoft.com/office/drawing/2014/main" id="{0A701D3D-A6F3-075F-8FB8-EAD2E68C642A}"/>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8BA40375-FA8C-98C9-7581-838FF4DBEA36}"/>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22498376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16A6FA6-D335-C92A-DF99-3E35B79780F5}"/>
              </a:ext>
            </a:extLst>
          </p:cNvPr>
          <p:cNvSpPr>
            <a:spLocks noGrp="1"/>
          </p:cNvSpPr>
          <p:nvPr>
            <p:ph type="title"/>
          </p:nvPr>
        </p:nvSpPr>
        <p:spPr/>
        <p:txBody>
          <a:bodyPr/>
          <a:lstStyle/>
          <a:p>
            <a:r>
              <a:rPr kumimoji="1" lang="en-US" altLang="zh-TW" dirty="0"/>
              <a:t>Style</a:t>
            </a:r>
            <a:r>
              <a:rPr kumimoji="1" lang="zh-TW" altLang="en-US" dirty="0"/>
              <a:t> </a:t>
            </a:r>
            <a:r>
              <a:rPr kumimoji="1" lang="en-US" altLang="zh-TW" dirty="0"/>
              <a:t>Transfer</a:t>
            </a:r>
            <a:endParaRPr kumimoji="1" lang="zh-TW" altLang="en-US" dirty="0"/>
          </a:p>
        </p:txBody>
      </p:sp>
      <p:sp>
        <p:nvSpPr>
          <p:cNvPr id="3" name="內容版面配置區 2">
            <a:extLst>
              <a:ext uri="{FF2B5EF4-FFF2-40B4-BE49-F238E27FC236}">
                <a16:creationId xmlns:a16="http://schemas.microsoft.com/office/drawing/2014/main" id="{961D3BCF-3E92-CAE7-98C6-626BAD55DC87}"/>
              </a:ext>
            </a:extLst>
          </p:cNvPr>
          <p:cNvSpPr>
            <a:spLocks noGrp="1"/>
          </p:cNvSpPr>
          <p:nvPr>
            <p:ph idx="1"/>
          </p:nvPr>
        </p:nvSpPr>
        <p:spPr/>
        <p:txBody>
          <a:bodyPr/>
          <a:lstStyle/>
          <a:p>
            <a:r>
              <a:rPr kumimoji="1" lang="zh-TW" altLang="en-US" dirty="0"/>
              <a:t>隨著訓練持續進行，</a:t>
            </a:r>
            <a:r>
              <a:rPr kumimoji="1" lang="en-US" altLang="zh-TW" dirty="0"/>
              <a:t>style</a:t>
            </a:r>
            <a:r>
              <a:rPr kumimoji="1" lang="zh-TW" altLang="en-US" dirty="0"/>
              <a:t> 會逐漸轉移到 </a:t>
            </a:r>
            <a:r>
              <a:rPr kumimoji="1" lang="en-US" altLang="zh-TW" dirty="0"/>
              <a:t>generated image </a:t>
            </a:r>
            <a:r>
              <a:rPr kumimoji="1" lang="zh-TW" altLang="en-US" dirty="0"/>
              <a:t>上，而 </a:t>
            </a:r>
            <a:r>
              <a:rPr kumimoji="1" lang="en-US" altLang="zh-TW" dirty="0"/>
              <a:t>content </a:t>
            </a:r>
            <a:r>
              <a:rPr kumimoji="1" lang="zh-TW" altLang="en-US" dirty="0"/>
              <a:t>的結構也被保留。這就是 </a:t>
            </a:r>
            <a:r>
              <a:rPr kumimoji="1" lang="en-US" altLang="zh-TW" dirty="0"/>
              <a:t>style transfer </a:t>
            </a:r>
            <a:r>
              <a:rPr kumimoji="1" lang="zh-TW" altLang="en-US" dirty="0"/>
              <a:t>的基本原理。</a:t>
            </a:r>
          </a:p>
        </p:txBody>
      </p:sp>
      <p:sp>
        <p:nvSpPr>
          <p:cNvPr id="4" name="日期版面配置區 3">
            <a:extLst>
              <a:ext uri="{FF2B5EF4-FFF2-40B4-BE49-F238E27FC236}">
                <a16:creationId xmlns:a16="http://schemas.microsoft.com/office/drawing/2014/main" id="{57D8D99E-291F-0551-1043-07C72610FAFB}"/>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3B8AA4ED-E91D-B553-73DF-ED8BBFC29585}"/>
              </a:ext>
            </a:extLst>
          </p:cNvPr>
          <p:cNvSpPr>
            <a:spLocks noGrp="1"/>
          </p:cNvSpPr>
          <p:nvPr>
            <p:ph type="sldNum" sz="quarter" idx="12"/>
          </p:nvPr>
        </p:nvSpPr>
        <p:spPr/>
        <p:txBody>
          <a:bodyPr/>
          <a:lstStyle/>
          <a:p>
            <a:r>
              <a:rPr lang="en-US" altLang="zh-TW" dirty="0"/>
              <a:t>Deep Learning</a:t>
            </a:r>
          </a:p>
        </p:txBody>
      </p:sp>
      <p:pic>
        <p:nvPicPr>
          <p:cNvPr id="7" name="圖片 6" descr="一張含有 雲, 天空, 戶外, 建築 的圖片&#10;&#10;AI 產生的內容可能不正確。">
            <a:extLst>
              <a:ext uri="{FF2B5EF4-FFF2-40B4-BE49-F238E27FC236}">
                <a16:creationId xmlns:a16="http://schemas.microsoft.com/office/drawing/2014/main" id="{7E8B42CF-B225-5C47-1329-7B867E4CD7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868" y="3151889"/>
            <a:ext cx="2880000" cy="1673514"/>
          </a:xfrm>
          <a:prstGeom prst="rect">
            <a:avLst/>
          </a:prstGeom>
        </p:spPr>
      </p:pic>
      <p:pic>
        <p:nvPicPr>
          <p:cNvPr id="17" name="圖片 16" descr="一張含有 油畫, 建築, 藝術, 宗教場所 的圖片&#10;&#10;AI 產生的內容可能不正確。">
            <a:extLst>
              <a:ext uri="{FF2B5EF4-FFF2-40B4-BE49-F238E27FC236}">
                <a16:creationId xmlns:a16="http://schemas.microsoft.com/office/drawing/2014/main" id="{7010DCA0-EACF-2594-7B26-9982CD708C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76868" y="3151889"/>
            <a:ext cx="2880000" cy="1673514"/>
          </a:xfrm>
          <a:prstGeom prst="rect">
            <a:avLst/>
          </a:prstGeom>
        </p:spPr>
      </p:pic>
      <p:pic>
        <p:nvPicPr>
          <p:cNvPr id="19" name="圖片 18" descr="一張含有 油畫, 圖畫, 藝術, 房子 的圖片&#10;&#10;AI 產生的內容可能不正確。">
            <a:extLst>
              <a:ext uri="{FF2B5EF4-FFF2-40B4-BE49-F238E27FC236}">
                <a16:creationId xmlns:a16="http://schemas.microsoft.com/office/drawing/2014/main" id="{2F9CF3A3-9B0C-62A5-C590-670C8D0D349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26480" y="3151889"/>
            <a:ext cx="2880000" cy="1673514"/>
          </a:xfrm>
          <a:prstGeom prst="rect">
            <a:avLst/>
          </a:prstGeom>
        </p:spPr>
      </p:pic>
      <p:pic>
        <p:nvPicPr>
          <p:cNvPr id="21" name="圖片 20" descr="一張含有 油畫, 戶外, 圖畫, 房子 的圖片&#10;&#10;AI 產生的內容可能不正確。">
            <a:extLst>
              <a:ext uri="{FF2B5EF4-FFF2-40B4-BE49-F238E27FC236}">
                <a16:creationId xmlns:a16="http://schemas.microsoft.com/office/drawing/2014/main" id="{3C7A9C71-A6CA-910F-C062-22C128B3999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76092" y="3151889"/>
            <a:ext cx="2880000" cy="1673514"/>
          </a:xfrm>
          <a:prstGeom prst="rect">
            <a:avLst/>
          </a:prstGeom>
        </p:spPr>
      </p:pic>
      <p:sp>
        <p:nvSpPr>
          <p:cNvPr id="22" name="文字方塊 21">
            <a:extLst>
              <a:ext uri="{FF2B5EF4-FFF2-40B4-BE49-F238E27FC236}">
                <a16:creationId xmlns:a16="http://schemas.microsoft.com/office/drawing/2014/main" id="{4CA0C4FF-E46F-A40F-175B-145D6411E11D}"/>
              </a:ext>
            </a:extLst>
          </p:cNvPr>
          <p:cNvSpPr txBox="1"/>
          <p:nvPr/>
        </p:nvSpPr>
        <p:spPr>
          <a:xfrm>
            <a:off x="3435249" y="5126507"/>
            <a:ext cx="5043237" cy="9233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zh-TW" altLang="en-US" dirty="0"/>
              <a:t>以上四張圖片由左至右，分別展示了經過 </a:t>
            </a:r>
            <a:r>
              <a:rPr kumimoji="1" lang="en-US" altLang="zh-TW" dirty="0"/>
              <a:t>0</a:t>
            </a:r>
            <a:r>
              <a:rPr kumimoji="1" lang="zh-TW" altLang="en-US" dirty="0"/>
              <a:t>、</a:t>
            </a:r>
            <a:r>
              <a:rPr kumimoji="1" lang="en-US" altLang="zh-TW" dirty="0"/>
              <a:t>50</a:t>
            </a:r>
            <a:r>
              <a:rPr kumimoji="1" lang="zh-TW" altLang="en-US" dirty="0"/>
              <a:t>、</a:t>
            </a:r>
            <a:r>
              <a:rPr kumimoji="1" lang="en-US" altLang="zh-TW" dirty="0"/>
              <a:t>100 </a:t>
            </a:r>
            <a:r>
              <a:rPr kumimoji="1" lang="zh-TW" altLang="en-US" dirty="0"/>
              <a:t>和 </a:t>
            </a:r>
            <a:r>
              <a:rPr kumimoji="1" lang="en-US" altLang="zh-TW" dirty="0"/>
              <a:t>150 </a:t>
            </a:r>
            <a:r>
              <a:rPr kumimoji="1" lang="zh-TW" altLang="en-US" dirty="0"/>
              <a:t>次迭代後生成的結果。每次迭代都會計算一次損失與梯度，並更新生成圖片。</a:t>
            </a:r>
          </a:p>
        </p:txBody>
      </p:sp>
    </p:spTree>
    <p:extLst>
      <p:ext uri="{BB962C8B-B14F-4D97-AF65-F5344CB8AC3E}">
        <p14:creationId xmlns:p14="http://schemas.microsoft.com/office/powerpoint/2010/main" val="12355067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6CE357A-2C46-BBC3-8F30-5D1253B55859}"/>
              </a:ext>
            </a:extLst>
          </p:cNvPr>
          <p:cNvSpPr>
            <a:spLocks noGrp="1"/>
          </p:cNvSpPr>
          <p:nvPr>
            <p:ph type="title"/>
          </p:nvPr>
        </p:nvSpPr>
        <p:spPr/>
        <p:txBody>
          <a:bodyPr/>
          <a:lstStyle/>
          <a:p>
            <a:r>
              <a:rPr kumimoji="1" lang="en-US" altLang="zh-TW" dirty="0"/>
              <a:t>Style</a:t>
            </a:r>
            <a:r>
              <a:rPr kumimoji="1" lang="zh-TW" altLang="en-US" dirty="0"/>
              <a:t> </a:t>
            </a:r>
            <a:r>
              <a:rPr kumimoji="1" lang="en-US" altLang="zh-TW" dirty="0"/>
              <a:t>Transfer</a:t>
            </a:r>
            <a:r>
              <a:rPr kumimoji="1" lang="zh-TW" altLang="en-US" dirty="0"/>
              <a:t> 公式說明</a:t>
            </a: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0A2E232E-AF46-7F39-F1A2-DAE61475DDA5}"/>
                  </a:ext>
                </a:extLst>
              </p:cNvPr>
              <p:cNvSpPr>
                <a:spLocks noGrp="1"/>
              </p:cNvSpPr>
              <p:nvPr>
                <p:ph idx="1"/>
              </p:nvPr>
            </p:nvSpPr>
            <p:spPr/>
            <p:txBody>
              <a:bodyPr>
                <a:normAutofit/>
              </a:bodyPr>
              <a:lstStyle/>
              <a:p>
                <a:r>
                  <a:rPr kumimoji="1" lang="zh-TW" altLang="en-US" dirty="0"/>
                  <a:t>首先，我們定義三張圖片分別為：</a:t>
                </a:r>
                <a:endParaRPr kumimoji="1" lang="en-US" altLang="zh-TW" dirty="0"/>
              </a:p>
              <a:p>
                <a:pPr>
                  <a:buFont typeface="Wingdings" pitchFamily="2" charset="2"/>
                  <a:buChar char="l"/>
                </a:pPr>
                <a:r>
                  <a:rPr kumimoji="1" lang="zh-TW" altLang="en-US" dirty="0"/>
                  <a:t> </a:t>
                </a:r>
                <a14:m>
                  <m:oMath xmlns:m="http://schemas.openxmlformats.org/officeDocument/2006/math">
                    <m:r>
                      <a:rPr kumimoji="1" lang="en-US" altLang="zh-TW" b="0" i="1" smtClean="0">
                        <a:latin typeface="Cambria Math" panose="02040503050406030204" pitchFamily="18" charset="0"/>
                      </a:rPr>
                      <m:t>𝐶</m:t>
                    </m:r>
                  </m:oMath>
                </a14:m>
                <a:r>
                  <a:rPr kumimoji="1" lang="zh-TW" altLang="en-US" dirty="0"/>
                  <a:t>：</a:t>
                </a:r>
                <a:r>
                  <a:rPr kumimoji="1" lang="en-US" altLang="zh-TW" dirty="0"/>
                  <a:t>content</a:t>
                </a:r>
              </a:p>
              <a:p>
                <a:pPr>
                  <a:buFont typeface="Wingdings" pitchFamily="2" charset="2"/>
                  <a:buChar char="l"/>
                </a:pPr>
                <a:r>
                  <a:rPr kumimoji="1" lang="zh-TW" altLang="en-US" dirty="0"/>
                  <a:t> </a:t>
                </a:r>
                <a14:m>
                  <m:oMath xmlns:m="http://schemas.openxmlformats.org/officeDocument/2006/math">
                    <m:r>
                      <a:rPr kumimoji="1" lang="en-US" altLang="zh-TW" b="0" i="1" smtClean="0">
                        <a:latin typeface="Cambria Math" panose="02040503050406030204" pitchFamily="18" charset="0"/>
                      </a:rPr>
                      <m:t>𝑆</m:t>
                    </m:r>
                  </m:oMath>
                </a14:m>
                <a:r>
                  <a:rPr kumimoji="1" lang="zh-TW" altLang="en-US" dirty="0"/>
                  <a:t>：</a:t>
                </a:r>
                <a:r>
                  <a:rPr kumimoji="1" lang="en-US" altLang="zh-TW" dirty="0"/>
                  <a:t>style</a:t>
                </a:r>
              </a:p>
              <a:p>
                <a:pPr>
                  <a:buFont typeface="Wingdings" pitchFamily="2" charset="2"/>
                  <a:buChar char="l"/>
                </a:pPr>
                <a:r>
                  <a:rPr kumimoji="1" lang="zh-TW" altLang="en-US" dirty="0"/>
                  <a:t> </a:t>
                </a:r>
                <a14:m>
                  <m:oMath xmlns:m="http://schemas.openxmlformats.org/officeDocument/2006/math">
                    <m:r>
                      <a:rPr kumimoji="1" lang="en-US" altLang="zh-TW" b="0" i="1" smtClean="0">
                        <a:latin typeface="Cambria Math" panose="02040503050406030204" pitchFamily="18" charset="0"/>
                      </a:rPr>
                      <m:t>𝐺</m:t>
                    </m:r>
                  </m:oMath>
                </a14:m>
                <a:r>
                  <a:rPr kumimoji="1" lang="zh-TW" altLang="en-US" dirty="0"/>
                  <a:t>：</a:t>
                </a:r>
                <a:r>
                  <a:rPr kumimoji="1" lang="en-US" altLang="zh-TW" dirty="0"/>
                  <a:t>generated</a:t>
                </a:r>
                <a:r>
                  <a:rPr kumimoji="1" lang="zh-TW" altLang="en-US" dirty="0"/>
                  <a:t> </a:t>
                </a:r>
                <a:r>
                  <a:rPr kumimoji="1" lang="en-US" altLang="zh-TW" dirty="0"/>
                  <a:t>image</a:t>
                </a:r>
              </a:p>
              <a:p>
                <a:pPr marL="0" indent="0">
                  <a:buNone/>
                </a:pPr>
                <a:r>
                  <a:rPr kumimoji="1" lang="en-US" altLang="zh-TW" dirty="0"/>
                  <a:t>VGG19</a:t>
                </a:r>
                <a:r>
                  <a:rPr kumimoji="1" lang="zh-TW" altLang="en-US" dirty="0"/>
                  <a:t> 第 </a:t>
                </a:r>
                <a14:m>
                  <m:oMath xmlns:m="http://schemas.openxmlformats.org/officeDocument/2006/math">
                    <m:r>
                      <a:rPr kumimoji="1" lang="en-US" altLang="zh-TW" b="0" i="1" smtClean="0">
                        <a:latin typeface="Cambria Math" panose="02040503050406030204" pitchFamily="18" charset="0"/>
                      </a:rPr>
                      <m:t>𝑙</m:t>
                    </m:r>
                  </m:oMath>
                </a14:m>
                <a:r>
                  <a:rPr kumimoji="1" lang="zh-TW" altLang="en-US" dirty="0"/>
                  <a:t> 層所輸出的 </a:t>
                </a:r>
                <a:r>
                  <a:rPr kumimoji="1" lang="en-US" altLang="zh-TW" dirty="0"/>
                  <a:t>feature</a:t>
                </a:r>
                <a:r>
                  <a:rPr kumimoji="1" lang="zh-TW" altLang="en-US" dirty="0"/>
                  <a:t> </a:t>
                </a:r>
                <a:r>
                  <a:rPr kumimoji="1" lang="en-US" altLang="zh-TW" dirty="0"/>
                  <a:t>maps</a:t>
                </a:r>
                <a:r>
                  <a:rPr kumimoji="1" lang="zh-TW" altLang="en-US" dirty="0"/>
                  <a:t> 記為 </a:t>
                </a:r>
                <a14:m>
                  <m:oMath xmlns:m="http://schemas.openxmlformats.org/officeDocument/2006/math">
                    <m:r>
                      <a:rPr kumimoji="1" lang="en-US" altLang="zh-TW" b="0" i="1" smtClean="0">
                        <a:latin typeface="Cambria Math" panose="02040503050406030204" pitchFamily="18" charset="0"/>
                      </a:rPr>
                      <m:t>𝐹</m:t>
                    </m:r>
                  </m:oMath>
                </a14:m>
                <a:r>
                  <a:rPr kumimoji="1" lang="zh-TW" altLang="en-US" dirty="0"/>
                  <a:t>，其尺寸為 </a:t>
                </a:r>
                <a14:m>
                  <m:oMath xmlns:m="http://schemas.openxmlformats.org/officeDocument/2006/math">
                    <m:r>
                      <a:rPr kumimoji="1" lang="en-US" altLang="zh-TW" b="0" i="1" smtClean="0">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𝐶</m:t>
                        </m:r>
                      </m:e>
                      <m:sub>
                        <m:r>
                          <a:rPr kumimoji="1" lang="en-US" altLang="zh-TW" i="1">
                            <a:latin typeface="Cambria Math" panose="02040503050406030204" pitchFamily="18" charset="0"/>
                          </a:rPr>
                          <m:t>𝑙</m:t>
                        </m:r>
                      </m:sub>
                    </m:sSub>
                    <m:r>
                      <a:rPr kumimoji="1" lang="en-US" altLang="zh-TW" b="0" i="1" smtClean="0">
                        <a:latin typeface="Cambria Math" panose="02040503050406030204" pitchFamily="18" charset="0"/>
                      </a:rPr>
                      <m:t>,</m:t>
                    </m:r>
                    <m:r>
                      <a:rPr kumimoji="1" lang="zh-TW" altLang="en-US" b="0" i="1" smtClean="0">
                        <a:latin typeface="Cambria Math" panose="02040503050406030204" pitchFamily="18" charset="0"/>
                      </a:rPr>
                      <m:t> </m:t>
                    </m:r>
                    <m:sSub>
                      <m:sSubPr>
                        <m:ctrlPr>
                          <a:rPr kumimoji="1" lang="en-US" altLang="zh-TW" i="1">
                            <a:latin typeface="Cambria Math" panose="02040503050406030204" pitchFamily="18" charset="0"/>
                          </a:rPr>
                        </m:ctrlPr>
                      </m:sSubPr>
                      <m:e>
                        <m:r>
                          <a:rPr kumimoji="1" lang="en-US" altLang="zh-TW" b="0" i="1" smtClean="0">
                            <a:latin typeface="Cambria Math" panose="02040503050406030204" pitchFamily="18" charset="0"/>
                          </a:rPr>
                          <m:t>𝐻</m:t>
                        </m:r>
                      </m:e>
                      <m:sub>
                        <m:r>
                          <a:rPr kumimoji="1" lang="en-US" altLang="zh-TW" i="1">
                            <a:latin typeface="Cambria Math" panose="02040503050406030204" pitchFamily="18" charset="0"/>
                          </a:rPr>
                          <m:t>𝑙</m:t>
                        </m:r>
                      </m:sub>
                    </m:sSub>
                    <m:r>
                      <a:rPr kumimoji="1" lang="en-US" altLang="zh-TW" b="0" i="1" smtClean="0">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b="0" i="1" smtClean="0">
                            <a:latin typeface="Cambria Math" panose="02040503050406030204" pitchFamily="18" charset="0"/>
                          </a:rPr>
                          <m:t>𝑊</m:t>
                        </m:r>
                      </m:e>
                      <m:sub>
                        <m:r>
                          <a:rPr kumimoji="1" lang="en-US" altLang="zh-TW" i="1">
                            <a:latin typeface="Cambria Math" panose="02040503050406030204" pitchFamily="18" charset="0"/>
                          </a:rPr>
                          <m:t>𝑙</m:t>
                        </m:r>
                      </m:sub>
                    </m:sSub>
                    <m:r>
                      <a:rPr kumimoji="1" lang="en-US" altLang="zh-TW" b="0" i="1" smtClean="0">
                        <a:latin typeface="Cambria Math" panose="02040503050406030204" pitchFamily="18" charset="0"/>
                      </a:rPr>
                      <m:t>)</m:t>
                    </m:r>
                  </m:oMath>
                </a14:m>
                <a:r>
                  <a:rPr kumimoji="1" lang="zh-TW" altLang="en-US" dirty="0"/>
                  <a:t>。</a:t>
                </a:r>
                <a:endParaRPr kumimoji="1" lang="en-US" altLang="zh-TW" dirty="0"/>
              </a:p>
              <a:p>
                <a:pPr marL="0" indent="0">
                  <a:buNone/>
                </a:pPr>
                <a:r>
                  <a:rPr kumimoji="1" lang="zh-TW" altLang="en-US" dirty="0"/>
                  <a:t>其中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𝐶</m:t>
                        </m:r>
                      </m:e>
                      <m:sub>
                        <m:r>
                          <a:rPr kumimoji="1" lang="en-US" altLang="zh-TW" i="1">
                            <a:latin typeface="Cambria Math" panose="02040503050406030204" pitchFamily="18" charset="0"/>
                          </a:rPr>
                          <m:t>𝑙</m:t>
                        </m:r>
                      </m:sub>
                    </m:sSub>
                  </m:oMath>
                </a14:m>
                <a:r>
                  <a:rPr kumimoji="1" lang="zh-TW" altLang="en-US" dirty="0"/>
                  <a:t> 為 </a:t>
                </a:r>
                <a:r>
                  <a:rPr kumimoji="1" lang="en-US" altLang="zh-TW" dirty="0"/>
                  <a:t>feature</a:t>
                </a:r>
                <a:r>
                  <a:rPr kumimoji="1" lang="zh-TW" altLang="en-US" dirty="0"/>
                  <a:t> </a:t>
                </a:r>
                <a:r>
                  <a:rPr kumimoji="1" lang="en-US" altLang="zh-TW" dirty="0"/>
                  <a:t>maps</a:t>
                </a:r>
                <a:r>
                  <a:rPr kumimoji="1" lang="zh-TW" altLang="en-US" dirty="0"/>
                  <a:t> 數量、</a:t>
                </a:r>
                <a:r>
                  <a:rPr kumimoji="1" lang="en-US" altLang="zh-TW" dirty="0"/>
                  <a:t>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𝐻</m:t>
                        </m:r>
                      </m:e>
                      <m:sub>
                        <m:r>
                          <a:rPr kumimoji="1" lang="en-US" altLang="zh-TW" i="1">
                            <a:latin typeface="Cambria Math" panose="02040503050406030204" pitchFamily="18" charset="0"/>
                          </a:rPr>
                          <m:t>𝑙</m:t>
                        </m:r>
                      </m:sub>
                    </m:sSub>
                    <m:r>
                      <a:rPr kumimoji="1" lang="en-US" altLang="zh-TW" i="1">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𝑊</m:t>
                        </m:r>
                      </m:e>
                      <m:sub>
                        <m:r>
                          <a:rPr kumimoji="1" lang="en-US" altLang="zh-TW" i="1">
                            <a:latin typeface="Cambria Math" panose="02040503050406030204" pitchFamily="18" charset="0"/>
                          </a:rPr>
                          <m:t>𝑙</m:t>
                        </m:r>
                      </m:sub>
                    </m:sSub>
                  </m:oMath>
                </a14:m>
                <a:r>
                  <a:rPr kumimoji="1" lang="zh-TW" altLang="en-US" dirty="0"/>
                  <a:t> 分別為 </a:t>
                </a:r>
                <a:r>
                  <a:rPr kumimoji="1" lang="en-US" altLang="zh-TW" dirty="0"/>
                  <a:t>feature</a:t>
                </a:r>
                <a:r>
                  <a:rPr kumimoji="1" lang="zh-TW" altLang="en-US" dirty="0"/>
                  <a:t> </a:t>
                </a:r>
                <a:r>
                  <a:rPr kumimoji="1" lang="en-US" altLang="zh-TW" dirty="0"/>
                  <a:t>maps</a:t>
                </a:r>
                <a:r>
                  <a:rPr kumimoji="1" lang="zh-TW" altLang="en-US" dirty="0"/>
                  <a:t> 的高與寬。另外，我們也定義 </a:t>
                </a:r>
                <a14:m>
                  <m:oMath xmlns:m="http://schemas.openxmlformats.org/officeDocument/2006/math">
                    <m:sSub>
                      <m:sSubPr>
                        <m:ctrlPr>
                          <a:rPr kumimoji="1" lang="en-US" altLang="zh-TW" i="1">
                            <a:latin typeface="Cambria Math" panose="02040503050406030204" pitchFamily="18" charset="0"/>
                          </a:rPr>
                        </m:ctrlPr>
                      </m:sSubPr>
                      <m:e>
                        <m:r>
                          <a:rPr kumimoji="1" lang="en-US" altLang="zh-TW" b="0" i="1" smtClean="0">
                            <a:latin typeface="Cambria Math" panose="02040503050406030204" pitchFamily="18" charset="0"/>
                          </a:rPr>
                          <m:t>𝑁</m:t>
                        </m:r>
                      </m:e>
                      <m:sub>
                        <m:r>
                          <a:rPr kumimoji="1" lang="en-US" altLang="zh-TW" i="1">
                            <a:latin typeface="Cambria Math" panose="02040503050406030204" pitchFamily="18" charset="0"/>
                          </a:rPr>
                          <m:t>𝑙</m:t>
                        </m:r>
                      </m:sub>
                    </m:sSub>
                    <m:r>
                      <a:rPr kumimoji="1" lang="en-US" altLang="zh-TW" b="0" i="1" smtClean="0">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𝐻</m:t>
                        </m:r>
                      </m:e>
                      <m:sub>
                        <m:r>
                          <a:rPr kumimoji="1" lang="en-US" altLang="zh-TW" i="1">
                            <a:latin typeface="Cambria Math" panose="02040503050406030204" pitchFamily="18" charset="0"/>
                          </a:rPr>
                          <m:t>𝑙</m:t>
                        </m:r>
                      </m:sub>
                    </m:sSub>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𝑊</m:t>
                        </m:r>
                      </m:e>
                      <m:sub>
                        <m:r>
                          <a:rPr kumimoji="1" lang="en-US" altLang="zh-TW" i="1">
                            <a:latin typeface="Cambria Math" panose="02040503050406030204" pitchFamily="18" charset="0"/>
                          </a:rPr>
                          <m:t>𝑙</m:t>
                        </m:r>
                      </m:sub>
                    </m:sSub>
                  </m:oMath>
                </a14:m>
                <a:r>
                  <a:rPr kumimoji="1" lang="zh-TW" altLang="en-US" dirty="0"/>
                  <a:t>，並可將 </a:t>
                </a:r>
                <a14:m>
                  <m:oMath xmlns:m="http://schemas.openxmlformats.org/officeDocument/2006/math">
                    <m:r>
                      <a:rPr kumimoji="1" lang="en-US" altLang="zh-TW" i="1">
                        <a:latin typeface="Cambria Math" panose="02040503050406030204" pitchFamily="18" charset="0"/>
                      </a:rPr>
                      <m:t>𝐹</m:t>
                    </m:r>
                  </m:oMath>
                </a14:m>
                <a:r>
                  <a:rPr kumimoji="1" lang="zh-TW" altLang="en-US" dirty="0"/>
                  <a:t> 做 </a:t>
                </a:r>
                <a:r>
                  <a:rPr kumimoji="1" lang="en-US" altLang="zh-TW" dirty="0"/>
                  <a:t>reshape</a:t>
                </a:r>
                <a:r>
                  <a:rPr kumimoji="1" lang="zh-TW" altLang="en-US" dirty="0"/>
                  <a:t>，調整其尺寸為 </a:t>
                </a:r>
                <a14:m>
                  <m:oMath xmlns:m="http://schemas.openxmlformats.org/officeDocument/2006/math">
                    <m:r>
                      <a:rPr kumimoji="1" lang="en-US" altLang="zh-TW" i="1">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𝐶</m:t>
                        </m:r>
                      </m:e>
                      <m:sub>
                        <m:r>
                          <a:rPr kumimoji="1" lang="en-US" altLang="zh-TW" i="1">
                            <a:latin typeface="Cambria Math" panose="02040503050406030204" pitchFamily="18" charset="0"/>
                          </a:rPr>
                          <m:t>𝑙</m:t>
                        </m:r>
                      </m:sub>
                    </m:sSub>
                    <m:r>
                      <a:rPr kumimoji="1" lang="en-US" altLang="zh-TW" b="0" i="1" smtClean="0">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𝑁</m:t>
                        </m:r>
                      </m:e>
                      <m:sub>
                        <m:r>
                          <a:rPr kumimoji="1" lang="en-US" altLang="zh-TW" i="1">
                            <a:latin typeface="Cambria Math" panose="02040503050406030204" pitchFamily="18" charset="0"/>
                          </a:rPr>
                          <m:t>𝑙</m:t>
                        </m:r>
                      </m:sub>
                    </m:sSub>
                    <m:r>
                      <a:rPr kumimoji="1" lang="en-US" altLang="zh-TW" i="1">
                        <a:latin typeface="Cambria Math" panose="02040503050406030204" pitchFamily="18" charset="0"/>
                      </a:rPr>
                      <m:t>)</m:t>
                    </m:r>
                    <m:r>
                      <a:rPr kumimoji="1" lang="zh-TW" altLang="en-US" i="1" smtClean="0">
                        <a:latin typeface="Cambria Math" panose="02040503050406030204" pitchFamily="18" charset="0"/>
                      </a:rPr>
                      <m:t>。</m:t>
                    </m:r>
                  </m:oMath>
                </a14:m>
                <a:endParaRPr kumimoji="1" lang="en-US" altLang="zh-TW" dirty="0"/>
              </a:p>
            </p:txBody>
          </p:sp>
        </mc:Choice>
        <mc:Fallback xmlns="">
          <p:sp>
            <p:nvSpPr>
              <p:cNvPr id="3" name="內容版面配置區 2">
                <a:extLst>
                  <a:ext uri="{FF2B5EF4-FFF2-40B4-BE49-F238E27FC236}">
                    <a16:creationId xmlns:a16="http://schemas.microsoft.com/office/drawing/2014/main" id="{0A2E232E-AF46-7F39-F1A2-DAE61475DDA5}"/>
                  </a:ext>
                </a:extLst>
              </p:cNvPr>
              <p:cNvSpPr>
                <a:spLocks noGrp="1" noRot="1" noChangeAspect="1" noMove="1" noResize="1" noEditPoints="1" noAdjustHandles="1" noChangeArrowheads="1" noChangeShapeType="1" noTextEdit="1"/>
              </p:cNvSpPr>
              <p:nvPr>
                <p:ph idx="1"/>
              </p:nvPr>
            </p:nvSpPr>
            <p:spPr>
              <a:blipFill>
                <a:blip r:embed="rId2"/>
                <a:stretch>
                  <a:fillRect l="-1892" t="-1347" r="-757"/>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D9D20866-5C9E-7D17-93DF-A7F6646FDAA2}"/>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DE55D17F-8D77-A456-D121-5516B88208AE}"/>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4216491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4C6AC6-1EA3-2CD1-DD8B-ED4601F8C1BF}"/>
              </a:ext>
            </a:extLst>
          </p:cNvPr>
          <p:cNvSpPr>
            <a:spLocks noGrp="1"/>
          </p:cNvSpPr>
          <p:nvPr>
            <p:ph type="title"/>
          </p:nvPr>
        </p:nvSpPr>
        <p:spPr/>
        <p:txBody>
          <a:bodyPr/>
          <a:lstStyle/>
          <a:p>
            <a:r>
              <a:rPr kumimoji="1" lang="en-US" altLang="zh-TW" dirty="0"/>
              <a:t>Style</a:t>
            </a:r>
            <a:r>
              <a:rPr kumimoji="1" lang="zh-TW" altLang="en-US" dirty="0"/>
              <a:t> </a:t>
            </a:r>
            <a:r>
              <a:rPr kumimoji="1" lang="en-US" altLang="zh-TW" dirty="0"/>
              <a:t>Transfer</a:t>
            </a:r>
            <a:r>
              <a:rPr kumimoji="1" lang="zh-TW" altLang="en-US" dirty="0"/>
              <a:t> 公式說明</a:t>
            </a: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54FED458-2B2C-60E9-336E-DEA4B89BBE1C}"/>
                  </a:ext>
                </a:extLst>
              </p:cNvPr>
              <p:cNvSpPr>
                <a:spLocks noGrp="1"/>
              </p:cNvSpPr>
              <p:nvPr>
                <p:ph idx="1"/>
              </p:nvPr>
            </p:nvSpPr>
            <p:spPr>
              <a:xfrm>
                <a:off x="108284" y="2108201"/>
                <a:ext cx="11839074" cy="4232441"/>
              </a:xfrm>
            </p:spPr>
            <p:txBody>
              <a:bodyPr>
                <a:normAutofit/>
              </a:bodyPr>
              <a:lstStyle/>
              <a:p>
                <a:r>
                  <a:rPr kumimoji="1" lang="zh-TW" altLang="en-US" dirty="0"/>
                  <a:t>假定內容損失比較的 </a:t>
                </a:r>
                <a:r>
                  <a:rPr kumimoji="1" lang="en-US" altLang="zh-TW" dirty="0"/>
                  <a:t>feature</a:t>
                </a:r>
                <a:r>
                  <a:rPr kumimoji="1" lang="zh-TW" altLang="en-US" dirty="0"/>
                  <a:t> </a:t>
                </a:r>
                <a:r>
                  <a:rPr kumimoji="1" lang="en-US" altLang="zh-TW" dirty="0"/>
                  <a:t>maps</a:t>
                </a:r>
                <a:r>
                  <a:rPr kumimoji="1" lang="zh-TW" altLang="en-US" dirty="0"/>
                  <a:t> 在第 </a:t>
                </a:r>
                <a14:m>
                  <m:oMath xmlns:m="http://schemas.openxmlformats.org/officeDocument/2006/math">
                    <m:r>
                      <a:rPr kumimoji="1" lang="en-US" altLang="zh-TW" b="0" i="1" smtClean="0">
                        <a:latin typeface="Cambria Math" panose="02040503050406030204" pitchFamily="18" charset="0"/>
                      </a:rPr>
                      <m:t>𝑙</m:t>
                    </m:r>
                  </m:oMath>
                </a14:m>
                <a:r>
                  <a:rPr kumimoji="1" lang="zh-TW" altLang="en-US" dirty="0"/>
                  <a:t> 層，則 </a:t>
                </a:r>
                <a:r>
                  <a:rPr kumimoji="1" lang="en-US" altLang="zh-TW" dirty="0"/>
                  <a:t>Content</a:t>
                </a:r>
                <a:r>
                  <a:rPr kumimoji="1" lang="zh-TW" altLang="en-US" dirty="0"/>
                  <a:t> </a:t>
                </a:r>
                <a:r>
                  <a:rPr kumimoji="1" lang="en-US" altLang="zh-TW" dirty="0"/>
                  <a:t>Loss</a:t>
                </a:r>
                <a:r>
                  <a:rPr kumimoji="1" lang="zh-TW" altLang="en-US" dirty="0"/>
                  <a:t> 函數可以定義為：</a:t>
                </a:r>
                <a:endParaRPr kumimoji="1" lang="en-US" altLang="zh-TW" dirty="0"/>
              </a:p>
              <a:p>
                <a:pPr marL="0" indent="0">
                  <a:buNone/>
                </a:pPr>
                <a14:m>
                  <m:oMathPara xmlns:m="http://schemas.openxmlformats.org/officeDocument/2006/math">
                    <m:oMathParaPr>
                      <m:jc m:val="centerGroup"/>
                    </m:oMathParaPr>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𝐿𝑜𝑠𝑠</m:t>
                          </m:r>
                        </m:e>
                        <m:sub>
                          <m:r>
                            <a:rPr kumimoji="1" lang="en-US" altLang="zh-TW" b="0" i="1" smtClean="0">
                              <a:latin typeface="Cambria Math" panose="02040503050406030204" pitchFamily="18" charset="0"/>
                            </a:rPr>
                            <m:t>𝑐𝑜𝑛𝑡𝑒𝑛𝑡</m:t>
                          </m:r>
                        </m:sub>
                      </m:sSub>
                      <m:r>
                        <a:rPr kumimoji="1" lang="en-US" altLang="zh-TW" i="1" smtClean="0">
                          <a:latin typeface="Cambria Math" panose="02040503050406030204" pitchFamily="18" charset="0"/>
                        </a:rPr>
                        <m:t>=</m:t>
                      </m:r>
                      <m:f>
                        <m:fPr>
                          <m:ctrlPr>
                            <a:rPr kumimoji="1" lang="en-US" altLang="zh-TW" b="0" i="1" smtClean="0">
                              <a:latin typeface="Cambria Math" panose="02040503050406030204" pitchFamily="18" charset="0"/>
                            </a:rPr>
                          </m:ctrlPr>
                        </m:fPr>
                        <m:num>
                          <m:r>
                            <a:rPr kumimoji="1" lang="en-US" altLang="zh-TW" b="0" i="1" smtClean="0">
                              <a:latin typeface="Cambria Math" panose="02040503050406030204" pitchFamily="18" charset="0"/>
                            </a:rPr>
                            <m:t>1</m:t>
                          </m:r>
                        </m:num>
                        <m:den>
                          <m:r>
                            <a:rPr kumimoji="1" lang="en-US" altLang="zh-TW" b="0" i="1" smtClean="0">
                              <a:latin typeface="Cambria Math" panose="02040503050406030204" pitchFamily="18" charset="0"/>
                            </a:rPr>
                            <m:t>2</m:t>
                          </m:r>
                        </m:den>
                      </m:f>
                      <m:nary>
                        <m:naryPr>
                          <m:chr m:val="∑"/>
                          <m:supHide m:val="on"/>
                          <m:ctrlPr>
                            <a:rPr kumimoji="1" lang="en-US" altLang="zh-TW" b="0" i="1" smtClean="0">
                              <a:latin typeface="Cambria Math" panose="02040503050406030204" pitchFamily="18" charset="0"/>
                            </a:rPr>
                          </m:ctrlPr>
                        </m:naryPr>
                        <m:sub>
                          <m:r>
                            <m:rPr>
                              <m:brk m:alnAt="7"/>
                            </m:rPr>
                            <a:rPr kumimoji="1" lang="en-US" altLang="zh-TW" b="0" i="1" smtClean="0">
                              <a:latin typeface="Cambria Math" panose="02040503050406030204" pitchFamily="18" charset="0"/>
                            </a:rPr>
                            <m:t>𝑖</m:t>
                          </m:r>
                          <m:r>
                            <a:rPr kumimoji="1" lang="en-US" altLang="zh-TW" b="0" i="1" smtClean="0">
                              <a:latin typeface="Cambria Math" panose="02040503050406030204" pitchFamily="18" charset="0"/>
                            </a:rPr>
                            <m:t>,</m:t>
                          </m:r>
                          <m:r>
                            <a:rPr kumimoji="1" lang="en-US" altLang="zh-TW" b="0" i="1" smtClean="0">
                              <a:latin typeface="Cambria Math" panose="02040503050406030204" pitchFamily="18" charset="0"/>
                            </a:rPr>
                            <m:t>𝑗</m:t>
                          </m:r>
                        </m:sub>
                        <m:sup/>
                        <m:e>
                          <m:sSup>
                            <m:sSupPr>
                              <m:ctrlPr>
                                <a:rPr kumimoji="1" lang="en-US" altLang="zh-TW" b="0" i="1" smtClean="0">
                                  <a:latin typeface="Cambria Math" panose="02040503050406030204" pitchFamily="18" charset="0"/>
                                </a:rPr>
                              </m:ctrlPr>
                            </m:sSupPr>
                            <m:e>
                              <m:r>
                                <a:rPr kumimoji="1" lang="en-US" altLang="zh-TW" b="0" i="1" smtClean="0">
                                  <a:latin typeface="Cambria Math" panose="02040503050406030204" pitchFamily="18" charset="0"/>
                                </a:rPr>
                                <m:t>(</m:t>
                              </m:r>
                              <m:sSub>
                                <m:sSubPr>
                                  <m:ctrlPr>
                                    <a:rPr kumimoji="1" lang="en-US" altLang="zh-TW" i="1">
                                      <a:latin typeface="Cambria Math" panose="02040503050406030204" pitchFamily="18" charset="0"/>
                                    </a:rPr>
                                  </m:ctrlPr>
                                </m:sSubPr>
                                <m:e>
                                  <m:sSup>
                                    <m:sSupPr>
                                      <m:ctrlPr>
                                        <a:rPr kumimoji="1" lang="en-US" altLang="zh-TW" i="1">
                                          <a:latin typeface="Cambria Math" panose="02040503050406030204" pitchFamily="18" charset="0"/>
                                        </a:rPr>
                                      </m:ctrlPr>
                                    </m:sSupPr>
                                    <m:e>
                                      <m:r>
                                        <a:rPr kumimoji="1" lang="en-US" altLang="zh-TW" b="0" i="1" smtClean="0">
                                          <a:latin typeface="Cambria Math" panose="02040503050406030204" pitchFamily="18" charset="0"/>
                                        </a:rPr>
                                        <m:t>𝐹</m:t>
                                      </m:r>
                                    </m:e>
                                    <m:sup>
                                      <m:r>
                                        <a:rPr kumimoji="1" lang="en-US" altLang="zh-TW" b="0" i="1" smtClean="0">
                                          <a:latin typeface="Cambria Math" panose="02040503050406030204" pitchFamily="18" charset="0"/>
                                        </a:rPr>
                                        <m:t>𝐺</m:t>
                                      </m:r>
                                    </m:sup>
                                  </m:sSup>
                                </m:e>
                                <m:sub>
                                  <m:r>
                                    <a:rPr kumimoji="1" lang="en-US" altLang="zh-TW" b="0" i="1" smtClean="0">
                                      <a:latin typeface="Cambria Math" panose="02040503050406030204" pitchFamily="18" charset="0"/>
                                    </a:rPr>
                                    <m:t>𝑖</m:t>
                                  </m:r>
                                  <m:r>
                                    <a:rPr kumimoji="1" lang="en-US" altLang="zh-TW" b="0" i="1" smtClean="0">
                                      <a:latin typeface="Cambria Math" panose="02040503050406030204" pitchFamily="18" charset="0"/>
                                    </a:rPr>
                                    <m:t>,</m:t>
                                  </m:r>
                                  <m:r>
                                    <a:rPr kumimoji="1" lang="en-US" altLang="zh-TW" b="0" i="1" smtClean="0">
                                      <a:latin typeface="Cambria Math" panose="02040503050406030204" pitchFamily="18" charset="0"/>
                                    </a:rPr>
                                    <m:t>𝑗</m:t>
                                  </m:r>
                                </m:sub>
                              </m:sSub>
                              <m:r>
                                <a:rPr kumimoji="1" lang="en-US" altLang="zh-TW" b="0" i="1" smtClean="0">
                                  <a:latin typeface="Cambria Math" panose="02040503050406030204" pitchFamily="18" charset="0"/>
                                </a:rPr>
                                <m:t>−</m:t>
                              </m:r>
                              <m:sSub>
                                <m:sSubPr>
                                  <m:ctrlPr>
                                    <a:rPr kumimoji="1" lang="en-US" altLang="zh-TW" i="1">
                                      <a:latin typeface="Cambria Math" panose="02040503050406030204" pitchFamily="18" charset="0"/>
                                    </a:rPr>
                                  </m:ctrlPr>
                                </m:sSubPr>
                                <m:e>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𝐹</m:t>
                                      </m:r>
                                    </m:e>
                                    <m:sup>
                                      <m:r>
                                        <a:rPr kumimoji="1" lang="en-US" altLang="zh-TW" b="0" i="1" smtClean="0">
                                          <a:latin typeface="Cambria Math" panose="02040503050406030204" pitchFamily="18" charset="0"/>
                                        </a:rPr>
                                        <m:t>𝐶</m:t>
                                      </m:r>
                                    </m:sup>
                                  </m:sSup>
                                </m:e>
                                <m:sub>
                                  <m:r>
                                    <a:rPr kumimoji="1" lang="en-US" altLang="zh-TW" i="1">
                                      <a:latin typeface="Cambria Math" panose="02040503050406030204" pitchFamily="18" charset="0"/>
                                    </a:rPr>
                                    <m:t>𝑖</m:t>
                                  </m:r>
                                  <m:r>
                                    <a:rPr kumimoji="1" lang="en-US" altLang="zh-TW" i="1">
                                      <a:latin typeface="Cambria Math" panose="02040503050406030204" pitchFamily="18" charset="0"/>
                                    </a:rPr>
                                    <m:t>,</m:t>
                                  </m:r>
                                  <m:r>
                                    <a:rPr kumimoji="1" lang="en-US" altLang="zh-TW" i="1">
                                      <a:latin typeface="Cambria Math" panose="02040503050406030204" pitchFamily="18" charset="0"/>
                                    </a:rPr>
                                    <m:t>𝑗</m:t>
                                  </m:r>
                                </m:sub>
                              </m:sSub>
                              <m:r>
                                <a:rPr kumimoji="1" lang="en-US" altLang="zh-TW" b="0" i="1" smtClean="0">
                                  <a:latin typeface="Cambria Math" panose="02040503050406030204" pitchFamily="18" charset="0"/>
                                </a:rPr>
                                <m:t>)</m:t>
                              </m:r>
                            </m:e>
                            <m:sup>
                              <m:r>
                                <a:rPr kumimoji="1" lang="en-US" altLang="zh-TW" b="0" i="1" smtClean="0">
                                  <a:latin typeface="Cambria Math" panose="02040503050406030204" pitchFamily="18" charset="0"/>
                                </a:rPr>
                                <m:t>2</m:t>
                              </m:r>
                            </m:sup>
                          </m:sSup>
                        </m:e>
                      </m:nary>
                    </m:oMath>
                  </m:oMathPara>
                </a14:m>
                <a:endParaRPr kumimoji="1" lang="en-US" altLang="zh-TW" dirty="0"/>
              </a:p>
              <a:p>
                <a:pPr>
                  <a:buFont typeface="Wingdings" pitchFamily="2" charset="2"/>
                  <a:buChar char="n"/>
                </a:pPr>
                <a:r>
                  <a:rPr kumimoji="1" lang="zh-TW" altLang="en-US" dirty="0"/>
                  <a:t> 這個公式的含義是將 </a:t>
                </a:r>
                <a14:m>
                  <m:oMath xmlns:m="http://schemas.openxmlformats.org/officeDocument/2006/math">
                    <m:r>
                      <a:rPr kumimoji="1" lang="en-US" altLang="zh-TW" i="1">
                        <a:latin typeface="Cambria Math" panose="02040503050406030204" pitchFamily="18" charset="0"/>
                      </a:rPr>
                      <m:t>𝐺</m:t>
                    </m:r>
                  </m:oMath>
                </a14:m>
                <a:r>
                  <a:rPr kumimoji="1" lang="zh-TW" altLang="en-US" dirty="0"/>
                  <a:t> 的 </a:t>
                </a:r>
                <a:r>
                  <a:rPr kumimoji="1" lang="en-US" altLang="zh-TW" dirty="0"/>
                  <a:t>feature</a:t>
                </a:r>
                <a:r>
                  <a:rPr kumimoji="1" lang="zh-TW" altLang="en-US" dirty="0"/>
                  <a:t> </a:t>
                </a:r>
                <a:r>
                  <a:rPr kumimoji="1" lang="en-US" altLang="zh-TW" dirty="0"/>
                  <a:t>maps</a:t>
                </a:r>
                <a:r>
                  <a:rPr kumimoji="1" lang="zh-TW" altLang="en-US" dirty="0"/>
                  <a:t> 中的每個元素，與對應的  </a:t>
                </a:r>
                <a14:m>
                  <m:oMath xmlns:m="http://schemas.openxmlformats.org/officeDocument/2006/math">
                    <m:r>
                      <a:rPr kumimoji="1" lang="en-US" altLang="zh-TW" i="1">
                        <a:latin typeface="Cambria Math" panose="02040503050406030204" pitchFamily="18" charset="0"/>
                      </a:rPr>
                      <m:t>𝐶</m:t>
                    </m:r>
                  </m:oMath>
                </a14:m>
                <a:r>
                  <a:rPr kumimoji="1" lang="zh-TW" altLang="en-US" dirty="0"/>
                  <a:t> </a:t>
                </a:r>
                <a:r>
                  <a:rPr kumimoji="1" lang="en-US" altLang="zh-TW" dirty="0"/>
                  <a:t>feature</a:t>
                </a:r>
                <a:r>
                  <a:rPr kumimoji="1" lang="zh-TW" altLang="en-US" dirty="0"/>
                  <a:t> </a:t>
                </a:r>
                <a:r>
                  <a:rPr kumimoji="1" lang="en-US" altLang="zh-TW" dirty="0"/>
                  <a:t>maps</a:t>
                </a:r>
                <a:r>
                  <a:rPr kumimoji="1" lang="zh-TW" altLang="en-US" dirty="0"/>
                  <a:t> 的每個元素計算差距，將差距開平方後再全部加總。</a:t>
                </a:r>
                <a:endParaRPr kumimoji="1" lang="en-US" altLang="zh-TW" dirty="0"/>
              </a:p>
              <a:p>
                <a:pPr>
                  <a:buFont typeface="Wingdings" pitchFamily="2" charset="2"/>
                  <a:buChar char="n"/>
                </a:pPr>
                <a:r>
                  <a:rPr kumimoji="1" lang="zh-TW" altLang="en-US" dirty="0"/>
                  <a:t> 平方是為了逞罰較大的差距，乘以 </a:t>
                </a:r>
                <a:r>
                  <a:rPr kumimoji="1" lang="en-US" altLang="zh-TW" dirty="0"/>
                  <a:t>0.5</a:t>
                </a:r>
                <a:r>
                  <a:rPr kumimoji="1" lang="zh-TW" altLang="en-US" dirty="0"/>
                  <a:t> 是為了方便微分。</a:t>
                </a:r>
                <a:endParaRPr kumimoji="1" lang="en-US" altLang="zh-TW" dirty="0"/>
              </a:p>
              <a:p>
                <a:pPr>
                  <a:buFont typeface="Wingdings" pitchFamily="2" charset="2"/>
                  <a:buChar char="n"/>
                </a:pPr>
                <a:r>
                  <a:rPr kumimoji="1" lang="zh-TW" altLang="en-US" dirty="0"/>
                  <a:t> 注意！！這個公式有考慮位置資訊（</a:t>
                </a:r>
                <a:r>
                  <a:rPr kumimoji="1" lang="en-US" altLang="zh-TW" dirty="0"/>
                  <a:t>spatial information</a:t>
                </a:r>
                <a:r>
                  <a:rPr kumimoji="1" lang="zh-TW" altLang="en-US" dirty="0"/>
                  <a:t>），因為每個矩陣內的元素在計算時，都是一一對應的。這是必要的，因為內容損失的目的是保持生成圖像與內容圖像在整體結構和輪廓上的一致性。</a:t>
                </a:r>
                <a:endParaRPr kumimoji="1" lang="en-US" altLang="zh-TW" dirty="0"/>
              </a:p>
            </p:txBody>
          </p:sp>
        </mc:Choice>
        <mc:Fallback xmlns="">
          <p:sp>
            <p:nvSpPr>
              <p:cNvPr id="3" name="內容版面配置區 2">
                <a:extLst>
                  <a:ext uri="{FF2B5EF4-FFF2-40B4-BE49-F238E27FC236}">
                    <a16:creationId xmlns:a16="http://schemas.microsoft.com/office/drawing/2014/main" id="{54FED458-2B2C-60E9-336E-DEA4B89BBE1C}"/>
                  </a:ext>
                </a:extLst>
              </p:cNvPr>
              <p:cNvSpPr>
                <a:spLocks noGrp="1" noRot="1" noChangeAspect="1" noMove="1" noResize="1" noEditPoints="1" noAdjustHandles="1" noChangeArrowheads="1" noChangeShapeType="1" noTextEdit="1"/>
              </p:cNvSpPr>
              <p:nvPr>
                <p:ph idx="1"/>
              </p:nvPr>
            </p:nvSpPr>
            <p:spPr>
              <a:xfrm>
                <a:off x="108284" y="2108201"/>
                <a:ext cx="11839074" cy="4232441"/>
              </a:xfrm>
              <a:blipFill>
                <a:blip r:embed="rId2"/>
                <a:stretch>
                  <a:fillRect l="-1501" t="-21557" r="-857" b="-1198"/>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4F2F27AC-681F-0D1C-3DEE-D1926ED32F01}"/>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8AF6C107-9B72-7283-1938-66F53E12E218}"/>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8801794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86A5C2D-B4C0-3290-280B-205713078910}"/>
              </a:ext>
            </a:extLst>
          </p:cNvPr>
          <p:cNvSpPr>
            <a:spLocks noGrp="1"/>
          </p:cNvSpPr>
          <p:nvPr>
            <p:ph type="title"/>
          </p:nvPr>
        </p:nvSpPr>
        <p:spPr/>
        <p:txBody>
          <a:bodyPr/>
          <a:lstStyle/>
          <a:p>
            <a:r>
              <a:rPr kumimoji="1" lang="en-US" altLang="zh-TW" dirty="0"/>
              <a:t>Style</a:t>
            </a:r>
            <a:r>
              <a:rPr kumimoji="1" lang="zh-TW" altLang="en-US" dirty="0"/>
              <a:t> </a:t>
            </a:r>
            <a:r>
              <a:rPr kumimoji="1" lang="en-US" altLang="zh-TW" dirty="0"/>
              <a:t>Transfer</a:t>
            </a:r>
            <a:r>
              <a:rPr kumimoji="1" lang="zh-TW" altLang="en-US" dirty="0"/>
              <a:t> 公式說明</a:t>
            </a: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33B4DEBC-BE65-1342-2B19-5788A47F78D9}"/>
                  </a:ext>
                </a:extLst>
              </p:cNvPr>
              <p:cNvSpPr>
                <a:spLocks noGrp="1"/>
              </p:cNvSpPr>
              <p:nvPr>
                <p:ph idx="1"/>
              </p:nvPr>
            </p:nvSpPr>
            <p:spPr>
              <a:xfrm>
                <a:off x="1097280" y="2108201"/>
                <a:ext cx="10058400" cy="4208378"/>
              </a:xfrm>
            </p:spPr>
            <p:txBody>
              <a:bodyPr>
                <a:noAutofit/>
              </a:bodyPr>
              <a:lstStyle/>
              <a:p>
                <a:r>
                  <a:rPr kumimoji="1" lang="zh-TW" altLang="en-US" dirty="0"/>
                  <a:t>研究員在風格損失公式中採用了 </a:t>
                </a:r>
                <a:r>
                  <a:rPr kumimoji="1" lang="en-US" altLang="zh-TW" dirty="0"/>
                  <a:t>Gram</a:t>
                </a:r>
                <a:r>
                  <a:rPr kumimoji="1" lang="zh-TW" altLang="en-US" dirty="0"/>
                  <a:t> </a:t>
                </a:r>
                <a:r>
                  <a:rPr kumimoji="1" lang="en-US" altLang="zh-TW" dirty="0"/>
                  <a:t>Matrix</a:t>
                </a:r>
                <a:r>
                  <a:rPr kumimoji="1" lang="zh-TW" altLang="en-US" dirty="0"/>
                  <a:t>（格拉姆矩陣）。</a:t>
                </a:r>
                <a:r>
                  <a:rPr kumimoji="1" lang="en-US" altLang="zh-TW" dirty="0"/>
                  <a:t>Gram</a:t>
                </a:r>
                <a:r>
                  <a:rPr kumimoji="1" lang="zh-TW" altLang="en-US" dirty="0"/>
                  <a:t> </a:t>
                </a:r>
                <a:r>
                  <a:rPr kumimoji="1" lang="en-US" altLang="zh-TW" dirty="0"/>
                  <a:t>Matrix</a:t>
                </a:r>
                <a:r>
                  <a:rPr kumimoji="1" lang="zh-TW" altLang="en-US" dirty="0"/>
                  <a:t> 的定義如下：給定一個向量的集合 </a:t>
                </a:r>
                <a14:m>
                  <m:oMath xmlns:m="http://schemas.openxmlformats.org/officeDocument/2006/math">
                    <m:r>
                      <a:rPr kumimoji="1" lang="en-US" altLang="zh-TW" b="0" i="1" smtClean="0">
                        <a:latin typeface="Cambria Math" panose="02040503050406030204" pitchFamily="18" charset="0"/>
                      </a:rPr>
                      <m:t>{</m:t>
                    </m:r>
                    <m:sSub>
                      <m:sSubPr>
                        <m:ctrlPr>
                          <a:rPr kumimoji="1" lang="en-US" altLang="zh-TW" b="0" i="1" smtClean="0">
                            <a:latin typeface="Cambria Math" panose="02040503050406030204" pitchFamily="18" charset="0"/>
                          </a:rPr>
                        </m:ctrlPr>
                      </m:sSubPr>
                      <m:e>
                        <m:r>
                          <a:rPr kumimoji="1" lang="en-US" altLang="zh-TW" b="0" i="1" smtClean="0">
                            <a:latin typeface="Cambria Math" panose="02040503050406030204" pitchFamily="18" charset="0"/>
                          </a:rPr>
                          <m:t>𝑣</m:t>
                        </m:r>
                      </m:e>
                      <m:sub>
                        <m:r>
                          <a:rPr kumimoji="1" lang="en-US" altLang="zh-TW" b="0" i="1" smtClean="0">
                            <a:latin typeface="Cambria Math" panose="02040503050406030204" pitchFamily="18" charset="0"/>
                          </a:rPr>
                          <m:t>1</m:t>
                        </m:r>
                      </m:sub>
                    </m:sSub>
                    <m:r>
                      <a:rPr kumimoji="1" lang="en-US" altLang="zh-TW" b="0" i="1" smtClean="0">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𝑣</m:t>
                        </m:r>
                      </m:e>
                      <m:sub>
                        <m:r>
                          <a:rPr kumimoji="1" lang="en-US" altLang="zh-TW" b="0" i="1" smtClean="0">
                            <a:latin typeface="Cambria Math" panose="02040503050406030204" pitchFamily="18" charset="0"/>
                          </a:rPr>
                          <m:t>2</m:t>
                        </m:r>
                      </m:sub>
                    </m:sSub>
                    <m:r>
                      <a:rPr kumimoji="1" lang="en-US" altLang="zh-TW" b="0" i="1" smtClean="0">
                        <a:latin typeface="Cambria Math" panose="02040503050406030204" pitchFamily="18" charset="0"/>
                      </a:rPr>
                      <m:t>,</m:t>
                    </m:r>
                    <m:r>
                      <a:rPr kumimoji="1" lang="zh-TW" altLang="en-US" b="0" i="1" smtClean="0">
                        <a:latin typeface="Cambria Math" panose="02040503050406030204" pitchFamily="18" charset="0"/>
                      </a:rPr>
                      <m:t> </m:t>
                    </m:r>
                    <m:r>
                      <a:rPr kumimoji="1" lang="en-US" altLang="zh-TW" b="0" i="1" smtClean="0">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𝑣</m:t>
                        </m:r>
                      </m:e>
                      <m:sub>
                        <m:r>
                          <a:rPr kumimoji="1" lang="en-US" altLang="zh-TW" b="0" i="1" smtClean="0">
                            <a:latin typeface="Cambria Math" panose="02040503050406030204" pitchFamily="18" charset="0"/>
                          </a:rPr>
                          <m:t>𝑛</m:t>
                        </m:r>
                      </m:sub>
                    </m:sSub>
                    <m:r>
                      <a:rPr kumimoji="1" lang="en-US" altLang="zh-TW" b="0" i="1" smtClean="0">
                        <a:latin typeface="Cambria Math" panose="02040503050406030204" pitchFamily="18" charset="0"/>
                      </a:rPr>
                      <m:t>}</m:t>
                    </m:r>
                  </m:oMath>
                </a14:m>
                <a:r>
                  <a:rPr kumimoji="1" lang="zh-TW" altLang="en-US" dirty="0"/>
                  <a:t>，則 </a:t>
                </a:r>
                <a:r>
                  <a:rPr kumimoji="1" lang="en-US" altLang="zh-TW" dirty="0"/>
                  <a:t>Gram</a:t>
                </a:r>
                <a:r>
                  <a:rPr kumimoji="1" lang="zh-TW" altLang="en-US" dirty="0"/>
                  <a:t> </a:t>
                </a:r>
                <a:r>
                  <a:rPr kumimoji="1" lang="en-US" altLang="zh-TW" dirty="0"/>
                  <a:t>Matrix</a:t>
                </a:r>
                <a:r>
                  <a:rPr kumimoji="1" lang="zh-TW" altLang="en-US" dirty="0"/>
                  <a:t> 為：</a:t>
                </a:r>
                <a:endParaRPr kumimoji="1" lang="en-US" altLang="zh-TW" dirty="0"/>
              </a:p>
              <a:p>
                <a:pPr marL="0" indent="0">
                  <a:buNone/>
                </a:pPr>
                <a14:m>
                  <m:oMathPara xmlns:m="http://schemas.openxmlformats.org/officeDocument/2006/math">
                    <m:oMathParaPr>
                      <m:jc m:val="centerGroup"/>
                    </m:oMathParaPr>
                    <m:oMath xmlns:m="http://schemas.openxmlformats.org/officeDocument/2006/math">
                      <m:d>
                        <m:dPr>
                          <m:begChr m:val="["/>
                          <m:endChr m:val="]"/>
                          <m:ctrlPr>
                            <a:rPr kumimoji="1" lang="en-US" altLang="zh-TW" i="1" smtClean="0">
                              <a:latin typeface="Cambria Math" panose="02040503050406030204" pitchFamily="18" charset="0"/>
                            </a:rPr>
                          </m:ctrlPr>
                        </m:dPr>
                        <m:e>
                          <m:m>
                            <m:mPr>
                              <m:mcs>
                                <m:mc>
                                  <m:mcPr>
                                    <m:count m:val="3"/>
                                    <m:mcJc m:val="center"/>
                                  </m:mcPr>
                                </m:mc>
                              </m:mcs>
                              <m:ctrlPr>
                                <a:rPr kumimoji="1" lang="en-US" altLang="zh-TW" i="1" smtClean="0">
                                  <a:latin typeface="Cambria Math" panose="02040503050406030204" pitchFamily="18" charset="0"/>
                                </a:rPr>
                              </m:ctrlPr>
                            </m:mPr>
                            <m:m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𝑣</m:t>
                                    </m:r>
                                  </m:e>
                                  <m:sub>
                                    <m:r>
                                      <a:rPr kumimoji="1" lang="en-US" altLang="zh-TW" i="1">
                                        <a:latin typeface="Cambria Math" panose="02040503050406030204" pitchFamily="18" charset="0"/>
                                      </a:rPr>
                                      <m:t>1</m:t>
                                    </m:r>
                                  </m:sub>
                                </m:sSub>
                                <m:r>
                                  <a:rPr kumimoji="1" lang="en-US" altLang="zh-TW" i="1" smtClean="0">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𝑣</m:t>
                                    </m:r>
                                  </m:e>
                                  <m:sub>
                                    <m:r>
                                      <a:rPr kumimoji="1" lang="en-US" altLang="zh-TW" i="1">
                                        <a:latin typeface="Cambria Math" panose="02040503050406030204" pitchFamily="18" charset="0"/>
                                      </a:rPr>
                                      <m:t>1</m:t>
                                    </m:r>
                                  </m:sub>
                                </m:sSub>
                              </m:e>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𝑣</m:t>
                                    </m:r>
                                  </m:e>
                                  <m:sub>
                                    <m:r>
                                      <a:rPr kumimoji="1" lang="en-US" altLang="zh-TW" i="1">
                                        <a:latin typeface="Cambria Math" panose="02040503050406030204" pitchFamily="18" charset="0"/>
                                      </a:rPr>
                                      <m:t>1</m:t>
                                    </m:r>
                                  </m:sub>
                                </m:sSub>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𝑣</m:t>
                                    </m:r>
                                  </m:e>
                                  <m:sub>
                                    <m:r>
                                      <a:rPr kumimoji="1" lang="en-US" altLang="zh-TW" b="0" i="1" smtClean="0">
                                        <a:latin typeface="Cambria Math" panose="02040503050406030204" pitchFamily="18" charset="0"/>
                                      </a:rPr>
                                      <m:t>2</m:t>
                                    </m:r>
                                  </m:sub>
                                </m:sSub>
                              </m:e>
                              <m:e>
                                <m:r>
                                  <a:rPr kumimoji="1" lang="en-US" altLang="zh-TW" i="1">
                                    <a:latin typeface="Cambria Math" panose="02040503050406030204" pitchFamily="18" charset="0"/>
                                  </a:rPr>
                                  <m:t>⋯</m:t>
                                </m:r>
                              </m:e>
                            </m:mr>
                            <m:m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𝑣</m:t>
                                    </m:r>
                                  </m:e>
                                  <m:sub>
                                    <m:r>
                                      <a:rPr kumimoji="1" lang="en-US" altLang="zh-TW" i="1">
                                        <a:latin typeface="Cambria Math" panose="02040503050406030204" pitchFamily="18" charset="0"/>
                                      </a:rPr>
                                      <m:t>1</m:t>
                                    </m:r>
                                  </m:sub>
                                </m:sSub>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𝑣</m:t>
                                    </m:r>
                                  </m:e>
                                  <m:sub>
                                    <m:r>
                                      <a:rPr kumimoji="1" lang="en-US" altLang="zh-TW" i="1">
                                        <a:latin typeface="Cambria Math" panose="02040503050406030204" pitchFamily="18" charset="0"/>
                                      </a:rPr>
                                      <m:t>2</m:t>
                                    </m:r>
                                  </m:sub>
                                </m:sSub>
                              </m:e>
                              <m:e>
                                <m:r>
                                  <a:rPr kumimoji="1" lang="en-US" altLang="zh-TW" i="1" smtClean="0">
                                    <a:latin typeface="Cambria Math" panose="02040503050406030204" pitchFamily="18" charset="0"/>
                                  </a:rPr>
                                  <m:t>⋱</m:t>
                                </m:r>
                              </m:e>
                              <m:e>
                                <m:r>
                                  <a:rPr kumimoji="1" lang="en-US" altLang="zh-TW" i="1" smtClean="0">
                                    <a:latin typeface="Cambria Math" panose="02040503050406030204" pitchFamily="18" charset="0"/>
                                  </a:rPr>
                                  <m:t>⋮</m:t>
                                </m:r>
                              </m:e>
                            </m:mr>
                            <m:mr>
                              <m:e>
                                <m:r>
                                  <a:rPr kumimoji="1" lang="en-US" altLang="zh-TW" i="1">
                                    <a:latin typeface="Cambria Math" panose="02040503050406030204" pitchFamily="18" charset="0"/>
                                  </a:rPr>
                                  <m:t>⋮</m:t>
                                </m:r>
                              </m:e>
                              <m:e>
                                <m:r>
                                  <a:rPr kumimoji="1" lang="en-US" altLang="zh-TW" i="1" smtClean="0">
                                    <a:latin typeface="Cambria Math" panose="02040503050406030204" pitchFamily="18" charset="0"/>
                                  </a:rPr>
                                  <m:t>⋯</m:t>
                                </m:r>
                              </m:e>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𝑣</m:t>
                                    </m:r>
                                  </m:e>
                                  <m:sub>
                                    <m:r>
                                      <a:rPr kumimoji="1" lang="en-US" altLang="zh-TW" b="0" i="1" smtClean="0">
                                        <a:latin typeface="Cambria Math" panose="02040503050406030204" pitchFamily="18" charset="0"/>
                                      </a:rPr>
                                      <m:t>𝑛</m:t>
                                    </m:r>
                                  </m:sub>
                                </m:sSub>
                                <m:r>
                                  <a:rPr kumimoji="1" lang="en-US" altLang="zh-TW" i="1">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𝑣</m:t>
                                    </m:r>
                                  </m:e>
                                  <m:sub>
                                    <m:r>
                                      <a:rPr kumimoji="1" lang="en-US" altLang="zh-TW" b="0" i="1" smtClean="0">
                                        <a:latin typeface="Cambria Math" panose="02040503050406030204" pitchFamily="18" charset="0"/>
                                      </a:rPr>
                                      <m:t>𝑛</m:t>
                                    </m:r>
                                  </m:sub>
                                </m:sSub>
                              </m:e>
                            </m:mr>
                          </m:m>
                        </m:e>
                      </m:d>
                    </m:oMath>
                  </m:oMathPara>
                </a14:m>
                <a:endParaRPr kumimoji="1" lang="en-US" altLang="zh-TW" dirty="0"/>
              </a:p>
              <a:p>
                <a:r>
                  <a:rPr kumimoji="1" lang="zh-TW" altLang="en-US" dirty="0"/>
                  <a:t>此</a:t>
                </a:r>
                <a:r>
                  <a:rPr lang="zh-TW" altLang="en-US" dirty="0"/>
                  <a:t>矩陣每一個元素，即為兩個向量的內積。</a:t>
                </a:r>
                <a:endParaRPr lang="en-US" altLang="zh-TW" dirty="0"/>
              </a:p>
              <a:p>
                <a:r>
                  <a:rPr kumimoji="1" lang="zh-TW" altLang="en-US" dirty="0"/>
                  <a:t>假定風格損失比較的 </a:t>
                </a:r>
                <a:r>
                  <a:rPr kumimoji="1" lang="en-US" altLang="zh-TW" dirty="0"/>
                  <a:t>feature</a:t>
                </a:r>
                <a:r>
                  <a:rPr kumimoji="1" lang="zh-TW" altLang="en-US" dirty="0"/>
                  <a:t> </a:t>
                </a:r>
                <a:r>
                  <a:rPr kumimoji="1" lang="en-US" altLang="zh-TW" dirty="0"/>
                  <a:t>maps</a:t>
                </a:r>
                <a:r>
                  <a:rPr kumimoji="1" lang="zh-TW" altLang="en-US" dirty="0"/>
                  <a:t> 的其中一層（通常會使用數層）為第 </a:t>
                </a:r>
                <a14:m>
                  <m:oMath xmlns:m="http://schemas.openxmlformats.org/officeDocument/2006/math">
                    <m:r>
                      <a:rPr kumimoji="1" lang="en-US" altLang="zh-TW" i="1">
                        <a:latin typeface="Cambria Math" panose="02040503050406030204" pitchFamily="18" charset="0"/>
                      </a:rPr>
                      <m:t>𝑙</m:t>
                    </m:r>
                  </m:oMath>
                </a14:m>
                <a:r>
                  <a:rPr kumimoji="1" lang="zh-TW" altLang="en-US" dirty="0"/>
                  <a:t> 層，對應的 </a:t>
                </a:r>
                <a:r>
                  <a:rPr kumimoji="1" lang="en-US" altLang="zh-TW" dirty="0"/>
                  <a:t>feature</a:t>
                </a:r>
                <a:r>
                  <a:rPr kumimoji="1" lang="zh-TW" altLang="en-US" dirty="0"/>
                  <a:t> </a:t>
                </a:r>
                <a:r>
                  <a:rPr kumimoji="1" lang="en-US" altLang="zh-TW" dirty="0"/>
                  <a:t>maps</a:t>
                </a:r>
                <a:r>
                  <a:rPr kumimoji="1" lang="zh-TW" altLang="en-US" dirty="0"/>
                  <a:t> 為 </a:t>
                </a:r>
                <a14:m>
                  <m:oMath xmlns:m="http://schemas.openxmlformats.org/officeDocument/2006/math">
                    <m:sSub>
                      <m:sSubPr>
                        <m:ctrlPr>
                          <a:rPr kumimoji="1" lang="en-US" altLang="zh-TW" i="1" smtClean="0">
                            <a:latin typeface="Cambria Math" panose="02040503050406030204" pitchFamily="18" charset="0"/>
                          </a:rPr>
                        </m:ctrlPr>
                      </m:sSubPr>
                      <m:e>
                        <m:r>
                          <a:rPr kumimoji="1" lang="en-US" altLang="zh-TW" b="0" i="1" smtClean="0">
                            <a:latin typeface="Cambria Math" panose="02040503050406030204" pitchFamily="18" charset="0"/>
                          </a:rPr>
                          <m:t>𝐹</m:t>
                        </m:r>
                      </m:e>
                      <m:sub>
                        <m:r>
                          <a:rPr kumimoji="1" lang="en-US" altLang="zh-TW" b="0" i="1" smtClean="0">
                            <a:latin typeface="Cambria Math" panose="02040503050406030204" pitchFamily="18" charset="0"/>
                          </a:rPr>
                          <m:t>𝑙</m:t>
                        </m:r>
                      </m:sub>
                    </m:sSub>
                  </m:oMath>
                </a14:m>
                <a:r>
                  <a:rPr kumimoji="1" lang="zh-TW" altLang="en-US" dirty="0"/>
                  <a:t>，則我們定義這些 </a:t>
                </a:r>
                <a:r>
                  <a:rPr kumimoji="1" lang="en-US" altLang="zh-TW" dirty="0"/>
                  <a:t>feature</a:t>
                </a:r>
                <a:r>
                  <a:rPr kumimoji="1" lang="zh-TW" altLang="en-US" dirty="0"/>
                  <a:t> </a:t>
                </a:r>
                <a:r>
                  <a:rPr kumimoji="1" lang="en-US" altLang="zh-TW" dirty="0"/>
                  <a:t>maps</a:t>
                </a:r>
                <a:r>
                  <a:rPr kumimoji="1" lang="zh-TW" altLang="en-US" dirty="0"/>
                  <a:t> 對應的風格為 </a:t>
                </a:r>
                <a:r>
                  <a:rPr kumimoji="1" lang="en-US" altLang="zh-TW" dirty="0"/>
                  <a:t>Gram</a:t>
                </a:r>
                <a:r>
                  <a:rPr kumimoji="1" lang="zh-TW" altLang="en-US" dirty="0"/>
                  <a:t> </a:t>
                </a:r>
                <a:r>
                  <a:rPr kumimoji="1" lang="en-US" altLang="zh-TW" dirty="0"/>
                  <a:t>Matrix</a:t>
                </a:r>
                <a:r>
                  <a:rPr kumimoji="1" lang="zh-TW" altLang="en-US" dirty="0"/>
                  <a:t> </a:t>
                </a:r>
                <a14:m>
                  <m:oMath xmlns:m="http://schemas.openxmlformats.org/officeDocument/2006/math">
                    <m:sSub>
                      <m:sSubPr>
                        <m:ctrlPr>
                          <a:rPr kumimoji="1" lang="en-US" altLang="zh-TW" b="0" i="1" smtClean="0">
                            <a:latin typeface="Cambria Math" panose="02040503050406030204" pitchFamily="18" charset="0"/>
                          </a:rPr>
                        </m:ctrlPr>
                      </m:sSubPr>
                      <m:e>
                        <m:r>
                          <a:rPr kumimoji="1" lang="en-US" altLang="zh-TW" b="0" i="1" smtClean="0">
                            <a:latin typeface="Cambria Math" panose="02040503050406030204" pitchFamily="18" charset="0"/>
                          </a:rPr>
                          <m:t>𝐺</m:t>
                        </m:r>
                      </m:e>
                      <m:sub>
                        <m:r>
                          <a:rPr kumimoji="1" lang="en-US" altLang="zh-TW" b="0" i="1" smtClean="0">
                            <a:latin typeface="Cambria Math" panose="02040503050406030204" pitchFamily="18" charset="0"/>
                          </a:rPr>
                          <m:t>𝑙</m:t>
                        </m:r>
                      </m:sub>
                    </m:sSub>
                    <m:r>
                      <a:rPr kumimoji="1" lang="en-US" altLang="zh-TW" b="0" i="1" smtClean="0">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𝐹</m:t>
                        </m:r>
                      </m:e>
                      <m:sub>
                        <m:r>
                          <a:rPr kumimoji="1" lang="en-US" altLang="zh-TW" i="1">
                            <a:latin typeface="Cambria Math" panose="02040503050406030204" pitchFamily="18" charset="0"/>
                          </a:rPr>
                          <m:t>𝑙</m:t>
                        </m:r>
                      </m:sub>
                    </m:sSub>
                    <m:sSup>
                      <m:sSupPr>
                        <m:ctrlPr>
                          <a:rPr kumimoji="1" lang="en-US" altLang="zh-TW" i="1" smtClean="0">
                            <a:latin typeface="Cambria Math" panose="02040503050406030204" pitchFamily="18" charset="0"/>
                          </a:rPr>
                        </m:ctrlPr>
                      </m:sSup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𝐹</m:t>
                            </m:r>
                          </m:e>
                          <m:sub>
                            <m:r>
                              <a:rPr kumimoji="1" lang="en-US" altLang="zh-TW" i="1">
                                <a:latin typeface="Cambria Math" panose="02040503050406030204" pitchFamily="18" charset="0"/>
                              </a:rPr>
                              <m:t>𝑙</m:t>
                            </m:r>
                          </m:sub>
                        </m:sSub>
                      </m:e>
                      <m:sup>
                        <m:r>
                          <a:rPr kumimoji="1" lang="en-US" altLang="zh-TW" b="0" i="1" smtClean="0">
                            <a:latin typeface="Cambria Math" panose="02040503050406030204" pitchFamily="18" charset="0"/>
                          </a:rPr>
                          <m:t>𝑇</m:t>
                        </m:r>
                      </m:sup>
                    </m:sSup>
                  </m:oMath>
                </a14:m>
                <a:r>
                  <a:rPr kumimoji="1" lang="zh-TW" altLang="en-US" dirty="0"/>
                  <a:t>。</a:t>
                </a:r>
              </a:p>
            </p:txBody>
          </p:sp>
        </mc:Choice>
        <mc:Fallback xmlns="">
          <p:sp>
            <p:nvSpPr>
              <p:cNvPr id="3" name="內容版面配置區 2">
                <a:extLst>
                  <a:ext uri="{FF2B5EF4-FFF2-40B4-BE49-F238E27FC236}">
                    <a16:creationId xmlns:a16="http://schemas.microsoft.com/office/drawing/2014/main" id="{33B4DEBC-BE65-1342-2B19-5788A47F78D9}"/>
                  </a:ext>
                </a:extLst>
              </p:cNvPr>
              <p:cNvSpPr>
                <a:spLocks noGrp="1" noRot="1" noChangeAspect="1" noMove="1" noResize="1" noEditPoints="1" noAdjustHandles="1" noChangeArrowheads="1" noChangeShapeType="1" noTextEdit="1"/>
              </p:cNvSpPr>
              <p:nvPr>
                <p:ph idx="1"/>
              </p:nvPr>
            </p:nvSpPr>
            <p:spPr>
              <a:xfrm>
                <a:off x="1097280" y="2108201"/>
                <a:ext cx="10058400" cy="4208378"/>
              </a:xfrm>
              <a:blipFill>
                <a:blip r:embed="rId2"/>
                <a:stretch>
                  <a:fillRect l="-1009" t="-1205" r="-4918"/>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8EEFBC06-8DD1-5799-D006-65A002E8CA98}"/>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3528E913-EE1B-1412-1E60-64C6B8D05DC9}"/>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15447137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778C4AA-0F70-7744-C0E5-792F9E6CFD7C}"/>
              </a:ext>
            </a:extLst>
          </p:cNvPr>
          <p:cNvSpPr>
            <a:spLocks noGrp="1"/>
          </p:cNvSpPr>
          <p:nvPr>
            <p:ph type="title"/>
          </p:nvPr>
        </p:nvSpPr>
        <p:spPr/>
        <p:txBody>
          <a:bodyPr/>
          <a:lstStyle/>
          <a:p>
            <a:r>
              <a:rPr kumimoji="1" lang="en-US" altLang="zh-TW" dirty="0"/>
              <a:t>Style</a:t>
            </a:r>
            <a:r>
              <a:rPr kumimoji="1" lang="zh-TW" altLang="en-US" dirty="0"/>
              <a:t> </a:t>
            </a:r>
            <a:r>
              <a:rPr kumimoji="1" lang="en-US" altLang="zh-TW" dirty="0"/>
              <a:t>Transfer</a:t>
            </a:r>
            <a:r>
              <a:rPr kumimoji="1" lang="zh-TW" altLang="en-US" dirty="0"/>
              <a:t> 公式說明</a:t>
            </a: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B328C52C-724F-6485-EE30-BCB977C4DDC3}"/>
                  </a:ext>
                </a:extLst>
              </p:cNvPr>
              <p:cNvSpPr>
                <a:spLocks noGrp="1"/>
              </p:cNvSpPr>
              <p:nvPr>
                <p:ph idx="1"/>
              </p:nvPr>
            </p:nvSpPr>
            <p:spPr>
              <a:xfrm>
                <a:off x="170448" y="2011973"/>
                <a:ext cx="11851104" cy="4160252"/>
              </a:xfrm>
            </p:spPr>
            <p:txBody>
              <a:bodyPr>
                <a:noAutofit/>
              </a:bodyPr>
              <a:lstStyle/>
              <a:p>
                <a:pPr>
                  <a:buFont typeface="Wingdings" pitchFamily="2" charset="2"/>
                  <a:buChar char="n"/>
                </a:pPr>
                <a:r>
                  <a:rPr kumimoji="1" lang="zh-TW" altLang="en-US" dirty="0"/>
                  <a:t> 假定我們有 </a:t>
                </a:r>
                <a:r>
                  <a:rPr kumimoji="1" lang="en-US" altLang="zh-TW" dirty="0"/>
                  <a:t>512</a:t>
                </a:r>
                <a:r>
                  <a:rPr kumimoji="1" lang="zh-TW" altLang="en-US" dirty="0"/>
                  <a:t> 個 </a:t>
                </a:r>
                <a:r>
                  <a:rPr kumimoji="1" lang="en-US" altLang="zh-TW" dirty="0"/>
                  <a:t>28</a:t>
                </a:r>
                <a:r>
                  <a:rPr kumimoji="1" lang="zh-TW" altLang="en-US" dirty="0"/>
                  <a:t> </a:t>
                </a:r>
                <a:r>
                  <a:rPr kumimoji="1" lang="en-US" altLang="zh-TW" dirty="0"/>
                  <a:t>x</a:t>
                </a:r>
                <a:r>
                  <a:rPr kumimoji="1" lang="zh-TW" altLang="en-US" dirty="0"/>
                  <a:t> </a:t>
                </a:r>
                <a:r>
                  <a:rPr kumimoji="1" lang="en-US" altLang="zh-TW" dirty="0"/>
                  <a:t>28</a:t>
                </a:r>
                <a:r>
                  <a:rPr kumimoji="1" lang="zh-TW" altLang="en-US" dirty="0"/>
                  <a:t> 的 </a:t>
                </a:r>
                <a:r>
                  <a:rPr kumimoji="1" lang="en-US" altLang="zh-TW" dirty="0"/>
                  <a:t>feature</a:t>
                </a:r>
                <a:r>
                  <a:rPr kumimoji="1" lang="zh-TW" altLang="en-US" dirty="0"/>
                  <a:t> </a:t>
                </a:r>
                <a:r>
                  <a:rPr kumimoji="1" lang="en-US" altLang="zh-TW" dirty="0"/>
                  <a:t>maps</a:t>
                </a:r>
                <a:r>
                  <a:rPr kumimoji="1" lang="zh-TW" altLang="en-US" dirty="0"/>
                  <a:t>，則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𝐹</m:t>
                        </m:r>
                      </m:e>
                      <m:sub>
                        <m:r>
                          <a:rPr kumimoji="1" lang="en-US" altLang="zh-TW" i="1">
                            <a:latin typeface="Cambria Math" panose="02040503050406030204" pitchFamily="18" charset="0"/>
                          </a:rPr>
                          <m:t>𝑙</m:t>
                        </m:r>
                      </m:sub>
                    </m:sSub>
                  </m:oMath>
                </a14:m>
                <a:r>
                  <a:rPr kumimoji="1" lang="zh-TW" altLang="en-US" dirty="0"/>
                  <a:t> 的尺寸為 </a:t>
                </a:r>
                <a14:m>
                  <m:oMath xmlns:m="http://schemas.openxmlformats.org/officeDocument/2006/math">
                    <m:r>
                      <a:rPr kumimoji="1" lang="en-US" altLang="zh-TW" i="1">
                        <a:latin typeface="Cambria Math" panose="02040503050406030204" pitchFamily="18" charset="0"/>
                      </a:rPr>
                      <m:t>(</m:t>
                    </m:r>
                    <m:r>
                      <a:rPr kumimoji="1" lang="en-US" altLang="zh-TW" b="0" i="1" smtClean="0">
                        <a:latin typeface="Cambria Math" panose="02040503050406030204" pitchFamily="18" charset="0"/>
                      </a:rPr>
                      <m:t>512,</m:t>
                    </m:r>
                    <m:r>
                      <a:rPr kumimoji="1" lang="zh-TW" altLang="en-US" b="0" i="1" smtClean="0">
                        <a:latin typeface="Cambria Math" panose="02040503050406030204" pitchFamily="18" charset="0"/>
                      </a:rPr>
                      <m:t> </m:t>
                    </m:r>
                    <m:r>
                      <a:rPr kumimoji="1" lang="en-US" altLang="zh-TW" b="0" i="1" smtClean="0">
                        <a:latin typeface="Cambria Math" panose="02040503050406030204" pitchFamily="18" charset="0"/>
                      </a:rPr>
                      <m:t>784</m:t>
                    </m:r>
                    <m:r>
                      <a:rPr kumimoji="1" lang="en-US" altLang="zh-TW" i="1">
                        <a:latin typeface="Cambria Math" panose="02040503050406030204" pitchFamily="18" charset="0"/>
                      </a:rPr>
                      <m:t>)</m:t>
                    </m:r>
                  </m:oMath>
                </a14:m>
                <a:r>
                  <a:rPr kumimoji="1" lang="zh-TW" altLang="en-US" dirty="0"/>
                  <a:t>。我們可將之視為 </a:t>
                </a:r>
                <a:r>
                  <a:rPr kumimoji="1" lang="en-US" altLang="zh-TW" dirty="0"/>
                  <a:t>512</a:t>
                </a:r>
                <a:r>
                  <a:rPr kumimoji="1" lang="zh-TW" altLang="en-US" dirty="0"/>
                  <a:t> 個 </a:t>
                </a:r>
                <a:r>
                  <a:rPr kumimoji="1" lang="en-US" altLang="zh-TW" dirty="0"/>
                  <a:t>784</a:t>
                </a:r>
                <a:r>
                  <a:rPr kumimoji="1" lang="zh-TW" altLang="en-US" dirty="0"/>
                  <a:t> 維的向量，而每個向量代表著一個圖片中的特徵。如果其中某個向量代表「垂直線條」，另一個向量代表「水平線條」，且圖片中經常出現「網格狀線條」的話，則這兩個向量的內積值就會很大。</a:t>
                </a:r>
                <a:endParaRPr kumimoji="1" lang="en-US" altLang="zh-TW" dirty="0"/>
              </a:p>
              <a:p>
                <a:pPr>
                  <a:buFont typeface="Wingdings" pitchFamily="2" charset="2"/>
                  <a:buChar char="n"/>
                </a:pPr>
                <a:r>
                  <a:rPr kumimoji="1" lang="zh-TW" altLang="en-US" dirty="0"/>
                  <a:t> 將所有的向量的內積搜集起來，即可得到 </a:t>
                </a:r>
                <a:r>
                  <a:rPr kumimoji="1" lang="en-US" altLang="zh-TW" dirty="0"/>
                  <a:t>512</a:t>
                </a:r>
                <a:r>
                  <a:rPr kumimoji="1" lang="zh-TW" altLang="en-US" dirty="0"/>
                  <a:t> 個不同特徵之間的共現統計。這個統計結果就是圖片的「風格」。</a:t>
                </a:r>
                <a:endParaRPr kumimoji="1" lang="en-US" altLang="zh-TW" dirty="0"/>
              </a:p>
              <a:p>
                <a:pPr>
                  <a:buFont typeface="Wingdings" pitchFamily="2" charset="2"/>
                  <a:buChar char="n"/>
                </a:pPr>
                <a:r>
                  <a:rPr kumimoji="1" lang="zh-TW" altLang="en-US" dirty="0"/>
                  <a:t> 要搜集這所有的向量內積的話，去計算這 </a:t>
                </a:r>
                <a:r>
                  <a:rPr kumimoji="1" lang="en-US" altLang="zh-TW" dirty="0"/>
                  <a:t>512</a:t>
                </a:r>
                <a:r>
                  <a:rPr kumimoji="1" lang="zh-TW" altLang="en-US" dirty="0"/>
                  <a:t> 個向量的 </a:t>
                </a:r>
                <a:r>
                  <a:rPr kumimoji="1" lang="en-US" altLang="zh-TW" dirty="0"/>
                  <a:t>Gram</a:t>
                </a:r>
                <a:r>
                  <a:rPr kumimoji="1" lang="zh-TW" altLang="en-US" dirty="0"/>
                  <a:t> </a:t>
                </a:r>
                <a:r>
                  <a:rPr kumimoji="1" lang="en-US" altLang="zh-TW" dirty="0"/>
                  <a:t>Matrix</a:t>
                </a:r>
                <a:r>
                  <a:rPr kumimoji="1" lang="zh-TW" altLang="en-US" dirty="0"/>
                  <a:t> 即可。</a:t>
                </a:r>
                <a:r>
                  <a:rPr kumimoji="1" lang="en-US" altLang="zh-TW" dirty="0"/>
                  <a:t>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𝐹</m:t>
                        </m:r>
                      </m:e>
                      <m:sub>
                        <m:r>
                          <a:rPr kumimoji="1" lang="en-US" altLang="zh-TW" i="1">
                            <a:latin typeface="Cambria Math" panose="02040503050406030204" pitchFamily="18" charset="0"/>
                          </a:rPr>
                          <m:t>𝑙</m:t>
                        </m:r>
                      </m:sub>
                    </m:sSub>
                    <m:sSup>
                      <m:sSupPr>
                        <m:ctrlPr>
                          <a:rPr kumimoji="1" lang="en-US" altLang="zh-TW" i="1">
                            <a:latin typeface="Cambria Math" panose="02040503050406030204" pitchFamily="18" charset="0"/>
                          </a:rPr>
                        </m:ctrlPr>
                      </m:sSup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𝐹</m:t>
                            </m:r>
                          </m:e>
                          <m:sub>
                            <m:r>
                              <a:rPr kumimoji="1" lang="en-US" altLang="zh-TW" i="1">
                                <a:latin typeface="Cambria Math" panose="02040503050406030204" pitchFamily="18" charset="0"/>
                              </a:rPr>
                              <m:t>𝑙</m:t>
                            </m:r>
                          </m:sub>
                        </m:sSub>
                      </m:e>
                      <m:sup>
                        <m:r>
                          <a:rPr kumimoji="1" lang="en-US" altLang="zh-TW" i="1">
                            <a:latin typeface="Cambria Math" panose="02040503050406030204" pitchFamily="18" charset="0"/>
                          </a:rPr>
                          <m:t>𝑇</m:t>
                        </m:r>
                      </m:sup>
                    </m:sSup>
                  </m:oMath>
                </a14:m>
                <a:r>
                  <a:rPr kumimoji="1" lang="zh-TW" altLang="en-US" dirty="0"/>
                  <a:t> 可直接求出 </a:t>
                </a:r>
                <a:r>
                  <a:rPr kumimoji="1" lang="en-US" altLang="zh-TW" dirty="0"/>
                  <a:t>Gram</a:t>
                </a:r>
                <a:r>
                  <a:rPr kumimoji="1" lang="zh-TW" altLang="en-US" dirty="0"/>
                  <a:t> </a:t>
                </a:r>
                <a:r>
                  <a:rPr kumimoji="1" lang="en-US" altLang="zh-TW" dirty="0"/>
                  <a:t>Matrix</a:t>
                </a:r>
                <a:r>
                  <a:rPr kumimoji="1" lang="zh-TW" altLang="en-US" dirty="0"/>
                  <a:t>。</a:t>
                </a:r>
                <a:endParaRPr kumimoji="1" lang="en-US" altLang="zh-TW" dirty="0"/>
              </a:p>
              <a:p>
                <a:pPr>
                  <a:buFont typeface="Wingdings" pitchFamily="2" charset="2"/>
                  <a:buChar char="n"/>
                </a:pPr>
                <a:r>
                  <a:rPr kumimoji="1" lang="zh-TW" altLang="en-US" dirty="0"/>
                  <a:t> 注意！！</a:t>
                </a:r>
                <a:r>
                  <a:rPr kumimoji="1" lang="en-US" altLang="zh-TW" dirty="0"/>
                  <a:t>Gram Matrix </a:t>
                </a:r>
                <a:r>
                  <a:rPr kumimoji="1" lang="zh-TW" altLang="en-US" dirty="0"/>
                  <a:t>不保留位置資訊。它只反映特徵之間的共現關係，而不考慮這些特徵在圖像中的具體位置。這一點與內容損失不同。</a:t>
                </a:r>
                <a:endParaRPr kumimoji="1" lang="en-US" altLang="zh-TW" dirty="0"/>
              </a:p>
            </p:txBody>
          </p:sp>
        </mc:Choice>
        <mc:Fallback xmlns="">
          <p:sp>
            <p:nvSpPr>
              <p:cNvPr id="3" name="內容版面配置區 2">
                <a:extLst>
                  <a:ext uri="{FF2B5EF4-FFF2-40B4-BE49-F238E27FC236}">
                    <a16:creationId xmlns:a16="http://schemas.microsoft.com/office/drawing/2014/main" id="{B328C52C-724F-6485-EE30-BCB977C4DDC3}"/>
                  </a:ext>
                </a:extLst>
              </p:cNvPr>
              <p:cNvSpPr>
                <a:spLocks noGrp="1" noRot="1" noChangeAspect="1" noMove="1" noResize="1" noEditPoints="1" noAdjustHandles="1" noChangeArrowheads="1" noChangeShapeType="1" noTextEdit="1"/>
              </p:cNvSpPr>
              <p:nvPr>
                <p:ph idx="1"/>
              </p:nvPr>
            </p:nvSpPr>
            <p:spPr>
              <a:xfrm>
                <a:off x="170448" y="2011973"/>
                <a:ext cx="11851104" cy="4160252"/>
              </a:xfrm>
              <a:blipFill>
                <a:blip r:embed="rId2"/>
                <a:stretch>
                  <a:fillRect l="-1499" t="-1216" r="-2677" b="-6687"/>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A6103EB5-1142-2834-E08B-FD30B3FA89AB}"/>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FA9B7BD3-9BF7-6D8D-AF54-3BA9996789CF}"/>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8283893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C7B9FB3-82AA-4FF6-2205-A92623EBF3B2}"/>
              </a:ext>
            </a:extLst>
          </p:cNvPr>
          <p:cNvSpPr>
            <a:spLocks noGrp="1"/>
          </p:cNvSpPr>
          <p:nvPr>
            <p:ph type="title"/>
          </p:nvPr>
        </p:nvSpPr>
        <p:spPr/>
        <p:txBody>
          <a:bodyPr/>
          <a:lstStyle/>
          <a:p>
            <a:r>
              <a:rPr kumimoji="1" lang="en-US" altLang="zh-TW" dirty="0"/>
              <a:t>Style</a:t>
            </a:r>
            <a:r>
              <a:rPr kumimoji="1" lang="zh-TW" altLang="en-US" dirty="0"/>
              <a:t> </a:t>
            </a:r>
            <a:r>
              <a:rPr kumimoji="1" lang="en-US" altLang="zh-TW" dirty="0"/>
              <a:t>Transfer</a:t>
            </a:r>
            <a:r>
              <a:rPr kumimoji="1" lang="zh-TW" altLang="en-US" dirty="0"/>
              <a:t> 公式說明</a:t>
            </a: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EBD59445-EE9D-13F0-E495-E15DFB339AD0}"/>
                  </a:ext>
                </a:extLst>
              </p:cNvPr>
              <p:cNvSpPr>
                <a:spLocks noGrp="1"/>
              </p:cNvSpPr>
              <p:nvPr>
                <p:ph idx="1"/>
              </p:nvPr>
            </p:nvSpPr>
            <p:spPr>
              <a:xfrm>
                <a:off x="481263" y="2108201"/>
                <a:ext cx="11292329" cy="4063999"/>
              </a:xfrm>
            </p:spPr>
            <p:txBody>
              <a:bodyPr>
                <a:normAutofit/>
              </a:bodyPr>
              <a:lstStyle/>
              <a:p>
                <a:r>
                  <a:rPr kumimoji="1" lang="zh-TW" altLang="en-US" dirty="0"/>
                  <a:t>對於第 </a:t>
                </a:r>
                <a14:m>
                  <m:oMath xmlns:m="http://schemas.openxmlformats.org/officeDocument/2006/math">
                    <m:r>
                      <a:rPr kumimoji="1" lang="en-US" altLang="zh-TW" i="1">
                        <a:latin typeface="Cambria Math" panose="02040503050406030204" pitchFamily="18" charset="0"/>
                      </a:rPr>
                      <m:t>𝑙</m:t>
                    </m:r>
                  </m:oMath>
                </a14:m>
                <a:r>
                  <a:rPr kumimoji="1" lang="zh-TW" altLang="en-US" dirty="0"/>
                  <a:t> 層的風格比較，我們定義此公式：</a:t>
                </a:r>
                <a:endParaRPr kumimoji="1" lang="en-US" altLang="zh-TW" dirty="0"/>
              </a:p>
              <a:p>
                <a:pPr marL="0" indent="0">
                  <a:buNone/>
                </a:pPr>
                <a14:m>
                  <m:oMathPara xmlns:m="http://schemas.openxmlformats.org/officeDocument/2006/math">
                    <m:oMathParaPr>
                      <m:jc m:val="centerGroup"/>
                    </m:oMathParaPr>
                    <m:oMath xmlns:m="http://schemas.openxmlformats.org/officeDocument/2006/math">
                      <m:sSub>
                        <m:sSubPr>
                          <m:ctrlPr>
                            <a:rPr kumimoji="1" lang="en-US" altLang="zh-TW" i="1" smtClean="0">
                              <a:latin typeface="Cambria Math" panose="02040503050406030204" pitchFamily="18" charset="0"/>
                            </a:rPr>
                          </m:ctrlPr>
                        </m:sSubPr>
                        <m:e>
                          <m:r>
                            <a:rPr kumimoji="1" lang="en-US" altLang="zh-TW" b="0" i="1" smtClean="0">
                              <a:latin typeface="Cambria Math" panose="02040503050406030204" pitchFamily="18" charset="0"/>
                            </a:rPr>
                            <m:t>𝐸</m:t>
                          </m:r>
                        </m:e>
                        <m:sub>
                          <m:r>
                            <a:rPr kumimoji="1" lang="en-US" altLang="zh-TW" b="0" i="1" smtClean="0">
                              <a:latin typeface="Cambria Math" panose="02040503050406030204" pitchFamily="18" charset="0"/>
                            </a:rPr>
                            <m:t>𝑙</m:t>
                          </m:r>
                        </m:sub>
                      </m:sSub>
                      <m:r>
                        <a:rPr kumimoji="1" lang="en-US" altLang="zh-TW" b="0" i="1" smtClean="0">
                          <a:latin typeface="Cambria Math" panose="02040503050406030204" pitchFamily="18" charset="0"/>
                        </a:rPr>
                        <m:t>=</m:t>
                      </m:r>
                      <m:f>
                        <m:fPr>
                          <m:ctrlPr>
                            <a:rPr kumimoji="1" lang="en-US" altLang="zh-TW" b="0" i="1" smtClean="0">
                              <a:latin typeface="Cambria Math" panose="02040503050406030204" pitchFamily="18" charset="0"/>
                            </a:rPr>
                          </m:ctrlPr>
                        </m:fPr>
                        <m:num>
                          <m:r>
                            <a:rPr kumimoji="1" lang="en-US" altLang="zh-TW" b="0" i="1" smtClean="0">
                              <a:latin typeface="Cambria Math" panose="02040503050406030204" pitchFamily="18" charset="0"/>
                            </a:rPr>
                            <m:t>1</m:t>
                          </m:r>
                        </m:num>
                        <m:den>
                          <m:r>
                            <a:rPr kumimoji="1" lang="en-US" altLang="zh-TW" b="0" i="1" smtClean="0">
                              <a:latin typeface="Cambria Math" panose="02040503050406030204" pitchFamily="18" charset="0"/>
                            </a:rPr>
                            <m:t>4</m:t>
                          </m:r>
                          <m:sSup>
                            <m:sSupPr>
                              <m:ctrlPr>
                                <a:rPr kumimoji="1" lang="en-US" altLang="zh-TW" b="0" i="1" smtClean="0">
                                  <a:latin typeface="Cambria Math" panose="02040503050406030204" pitchFamily="18" charset="0"/>
                                </a:rPr>
                              </m:ctrlPr>
                            </m:sSup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𝐶</m:t>
                                  </m:r>
                                </m:e>
                                <m:sub>
                                  <m:r>
                                    <a:rPr kumimoji="1" lang="en-US" altLang="zh-TW" i="1">
                                      <a:latin typeface="Cambria Math" panose="02040503050406030204" pitchFamily="18" charset="0"/>
                                    </a:rPr>
                                    <m:t>𝑙</m:t>
                                  </m:r>
                                </m:sub>
                              </m:sSub>
                              <m:r>
                                <a:rPr kumimoji="1" lang="en-US" altLang="zh-TW" i="1" smtClean="0">
                                  <a:latin typeface="Cambria Math" panose="02040503050406030204" pitchFamily="18" charset="0"/>
                                </a:rPr>
                                <m:t> </m:t>
                              </m:r>
                            </m:e>
                            <m:sup>
                              <m:r>
                                <a:rPr kumimoji="1" lang="en-US" altLang="zh-TW" b="0" i="1" smtClean="0">
                                  <a:latin typeface="Cambria Math" panose="02040503050406030204" pitchFamily="18" charset="0"/>
                                </a:rPr>
                                <m:t>2</m:t>
                              </m:r>
                            </m:sup>
                          </m:sSup>
                          <m:sSup>
                            <m:sSupPr>
                              <m:ctrlPr>
                                <a:rPr kumimoji="1" lang="en-US" altLang="zh-TW" i="1">
                                  <a:latin typeface="Cambria Math" panose="02040503050406030204" pitchFamily="18" charset="0"/>
                                </a:rPr>
                              </m:ctrlPr>
                            </m:sSupPr>
                            <m:e>
                              <m:sSub>
                                <m:sSubPr>
                                  <m:ctrlPr>
                                    <a:rPr kumimoji="1" lang="en-US" altLang="zh-TW" i="1" smtClean="0">
                                      <a:latin typeface="Cambria Math" panose="02040503050406030204" pitchFamily="18" charset="0"/>
                                    </a:rPr>
                                  </m:ctrlPr>
                                </m:sSubPr>
                                <m:e>
                                  <m:r>
                                    <a:rPr kumimoji="1" lang="en-US" altLang="zh-TW" b="0" i="1" smtClean="0">
                                      <a:latin typeface="Cambria Math" panose="02040503050406030204" pitchFamily="18" charset="0"/>
                                    </a:rPr>
                                    <m:t>𝑁</m:t>
                                  </m:r>
                                </m:e>
                                <m:sub>
                                  <m:r>
                                    <a:rPr kumimoji="1" lang="en-US" altLang="zh-TW" i="1">
                                      <a:latin typeface="Cambria Math" panose="02040503050406030204" pitchFamily="18" charset="0"/>
                                    </a:rPr>
                                    <m:t>𝑙</m:t>
                                  </m:r>
                                </m:sub>
                              </m:sSub>
                              <m:r>
                                <a:rPr kumimoji="1" lang="en-US" altLang="zh-TW" i="1">
                                  <a:latin typeface="Cambria Math" panose="02040503050406030204" pitchFamily="18" charset="0"/>
                                </a:rPr>
                                <m:t> </m:t>
                              </m:r>
                            </m:e>
                            <m:sup>
                              <m:r>
                                <a:rPr kumimoji="1" lang="en-US" altLang="zh-TW" i="1">
                                  <a:latin typeface="Cambria Math" panose="02040503050406030204" pitchFamily="18" charset="0"/>
                                </a:rPr>
                                <m:t>2</m:t>
                              </m:r>
                            </m:sup>
                          </m:sSup>
                        </m:den>
                      </m:f>
                      <m:nary>
                        <m:naryPr>
                          <m:chr m:val="∑"/>
                          <m:supHide m:val="on"/>
                          <m:ctrlPr>
                            <a:rPr kumimoji="1" lang="en-US" altLang="zh-TW" i="1">
                              <a:latin typeface="Cambria Math" panose="02040503050406030204" pitchFamily="18" charset="0"/>
                            </a:rPr>
                          </m:ctrlPr>
                        </m:naryPr>
                        <m:sub>
                          <m:r>
                            <m:rPr>
                              <m:brk m:alnAt="7"/>
                            </m:rPr>
                            <a:rPr kumimoji="1" lang="en-US" altLang="zh-TW" i="1">
                              <a:latin typeface="Cambria Math" panose="02040503050406030204" pitchFamily="18" charset="0"/>
                            </a:rPr>
                            <m:t>𝑖</m:t>
                          </m:r>
                          <m:r>
                            <a:rPr kumimoji="1" lang="en-US" altLang="zh-TW" i="1">
                              <a:latin typeface="Cambria Math" panose="02040503050406030204" pitchFamily="18" charset="0"/>
                            </a:rPr>
                            <m:t>,</m:t>
                          </m:r>
                          <m:r>
                            <a:rPr kumimoji="1" lang="en-US" altLang="zh-TW" i="1">
                              <a:latin typeface="Cambria Math" panose="02040503050406030204" pitchFamily="18" charset="0"/>
                            </a:rPr>
                            <m:t>𝑗</m:t>
                          </m:r>
                        </m:sub>
                        <m:sup/>
                        <m:e>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m:t>
                              </m:r>
                              <m:sSub>
                                <m:sSubPr>
                                  <m:ctrlPr>
                                    <a:rPr kumimoji="1" lang="en-US" altLang="zh-TW" i="1">
                                      <a:latin typeface="Cambria Math" panose="02040503050406030204" pitchFamily="18" charset="0"/>
                                    </a:rPr>
                                  </m:ctrlPr>
                                </m:sSubPr>
                                <m:e>
                                  <m:sSup>
                                    <m:sSupPr>
                                      <m:ctrlPr>
                                        <a:rPr kumimoji="1" lang="en-US" altLang="zh-TW" i="1">
                                          <a:latin typeface="Cambria Math" panose="02040503050406030204" pitchFamily="18" charset="0"/>
                                        </a:rPr>
                                      </m:ctrlPr>
                                    </m:sSupPr>
                                    <m:e>
                                      <m:r>
                                        <a:rPr kumimoji="1" lang="en-US" altLang="zh-TW" b="0" i="1" smtClean="0">
                                          <a:latin typeface="Cambria Math" panose="02040503050406030204" pitchFamily="18" charset="0"/>
                                        </a:rPr>
                                        <m:t>𝐺</m:t>
                                      </m:r>
                                    </m:e>
                                    <m:sup>
                                      <m:r>
                                        <a:rPr kumimoji="1" lang="en-US" altLang="zh-TW" i="1">
                                          <a:latin typeface="Cambria Math" panose="02040503050406030204" pitchFamily="18" charset="0"/>
                                        </a:rPr>
                                        <m:t>𝐺</m:t>
                                      </m:r>
                                    </m:sup>
                                  </m:sSup>
                                </m:e>
                                <m:sub>
                                  <m:r>
                                    <a:rPr kumimoji="1" lang="en-US" altLang="zh-TW" i="1">
                                      <a:latin typeface="Cambria Math" panose="02040503050406030204" pitchFamily="18" charset="0"/>
                                    </a:rPr>
                                    <m:t>𝑖</m:t>
                                  </m:r>
                                  <m:r>
                                    <a:rPr kumimoji="1" lang="en-US" altLang="zh-TW" i="1">
                                      <a:latin typeface="Cambria Math" panose="02040503050406030204" pitchFamily="18" charset="0"/>
                                    </a:rPr>
                                    <m:t>,</m:t>
                                  </m:r>
                                  <m:r>
                                    <a:rPr kumimoji="1" lang="en-US" altLang="zh-TW" i="1">
                                      <a:latin typeface="Cambria Math" panose="02040503050406030204" pitchFamily="18" charset="0"/>
                                    </a:rPr>
                                    <m:t>𝑗</m:t>
                                  </m:r>
                                </m:sub>
                              </m:sSub>
                              <m:r>
                                <a:rPr kumimoji="1" lang="en-US" altLang="zh-TW" i="1">
                                  <a:latin typeface="Cambria Math" panose="02040503050406030204" pitchFamily="18" charset="0"/>
                                </a:rPr>
                                <m:t>−</m:t>
                              </m:r>
                              <m:sSub>
                                <m:sSubPr>
                                  <m:ctrlPr>
                                    <a:rPr kumimoji="1" lang="en-US" altLang="zh-TW" i="1">
                                      <a:latin typeface="Cambria Math" panose="02040503050406030204" pitchFamily="18" charset="0"/>
                                    </a:rPr>
                                  </m:ctrlPr>
                                </m:sSubPr>
                                <m:e>
                                  <m:sSup>
                                    <m:sSupPr>
                                      <m:ctrlPr>
                                        <a:rPr kumimoji="1" lang="en-US" altLang="zh-TW" i="1">
                                          <a:latin typeface="Cambria Math" panose="02040503050406030204" pitchFamily="18" charset="0"/>
                                        </a:rPr>
                                      </m:ctrlPr>
                                    </m:sSupPr>
                                    <m:e>
                                      <m:r>
                                        <a:rPr kumimoji="1" lang="en-US" altLang="zh-TW" b="0" i="1" smtClean="0">
                                          <a:latin typeface="Cambria Math" panose="02040503050406030204" pitchFamily="18" charset="0"/>
                                        </a:rPr>
                                        <m:t>𝐺</m:t>
                                      </m:r>
                                    </m:e>
                                    <m:sup>
                                      <m:r>
                                        <a:rPr kumimoji="1" lang="en-US" altLang="zh-TW" b="0" i="1" smtClean="0">
                                          <a:latin typeface="Cambria Math" panose="02040503050406030204" pitchFamily="18" charset="0"/>
                                        </a:rPr>
                                        <m:t>𝑆</m:t>
                                      </m:r>
                                    </m:sup>
                                  </m:sSup>
                                </m:e>
                                <m:sub>
                                  <m:r>
                                    <a:rPr kumimoji="1" lang="en-US" altLang="zh-TW" i="1">
                                      <a:latin typeface="Cambria Math" panose="02040503050406030204" pitchFamily="18" charset="0"/>
                                    </a:rPr>
                                    <m:t>𝑖</m:t>
                                  </m:r>
                                  <m:r>
                                    <a:rPr kumimoji="1" lang="en-US" altLang="zh-TW" i="1">
                                      <a:latin typeface="Cambria Math" panose="02040503050406030204" pitchFamily="18" charset="0"/>
                                    </a:rPr>
                                    <m:t>,</m:t>
                                  </m:r>
                                  <m:r>
                                    <a:rPr kumimoji="1" lang="en-US" altLang="zh-TW" i="1">
                                      <a:latin typeface="Cambria Math" panose="02040503050406030204" pitchFamily="18" charset="0"/>
                                    </a:rPr>
                                    <m:t>𝑗</m:t>
                                  </m:r>
                                </m:sub>
                              </m:sSub>
                              <m:r>
                                <a:rPr kumimoji="1" lang="en-US" altLang="zh-TW" i="1">
                                  <a:latin typeface="Cambria Math" panose="02040503050406030204" pitchFamily="18" charset="0"/>
                                </a:rPr>
                                <m:t>)</m:t>
                              </m:r>
                            </m:e>
                            <m:sup>
                              <m:r>
                                <a:rPr kumimoji="1" lang="en-US" altLang="zh-TW" i="1">
                                  <a:latin typeface="Cambria Math" panose="02040503050406030204" pitchFamily="18" charset="0"/>
                                </a:rPr>
                                <m:t>2</m:t>
                              </m:r>
                            </m:sup>
                          </m:sSup>
                        </m:e>
                      </m:nary>
                    </m:oMath>
                  </m:oMathPara>
                </a14:m>
                <a:endParaRPr kumimoji="1" lang="en-US" altLang="zh-TW" dirty="0"/>
              </a:p>
              <a:p>
                <a:pPr>
                  <a:buFont typeface="Wingdings" pitchFamily="2" charset="2"/>
                  <a:buChar char="n"/>
                </a:pPr>
                <a:r>
                  <a:rPr kumimoji="1" lang="zh-TW" altLang="en-US" dirty="0"/>
                  <a:t> </a:t>
                </a:r>
                <a14:m>
                  <m:oMath xmlns:m="http://schemas.openxmlformats.org/officeDocument/2006/math">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𝐺</m:t>
                        </m:r>
                      </m:e>
                      <m:sup>
                        <m:r>
                          <a:rPr kumimoji="1" lang="en-US" altLang="zh-TW" i="1">
                            <a:latin typeface="Cambria Math" panose="02040503050406030204" pitchFamily="18" charset="0"/>
                          </a:rPr>
                          <m:t>𝐺</m:t>
                        </m:r>
                      </m:sup>
                    </m:sSup>
                    <m:r>
                      <a:rPr kumimoji="1" lang="en-US" altLang="zh-TW" b="0" i="1" smtClean="0">
                        <a:latin typeface="Cambria Math" panose="02040503050406030204" pitchFamily="18" charset="0"/>
                      </a:rPr>
                      <m:t>,</m:t>
                    </m:r>
                    <m:r>
                      <a:rPr kumimoji="1" lang="zh-TW" altLang="en-US" b="0" i="1" smtClean="0">
                        <a:latin typeface="Cambria Math" panose="02040503050406030204" pitchFamily="18" charset="0"/>
                      </a:rPr>
                      <m:t> </m:t>
                    </m:r>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𝐺</m:t>
                        </m:r>
                      </m:e>
                      <m:sup>
                        <m:r>
                          <a:rPr kumimoji="1" lang="en-US" altLang="zh-TW" b="0" i="1" smtClean="0">
                            <a:latin typeface="Cambria Math" panose="02040503050406030204" pitchFamily="18" charset="0"/>
                          </a:rPr>
                          <m:t>𝑆</m:t>
                        </m:r>
                      </m:sup>
                    </m:sSup>
                  </m:oMath>
                </a14:m>
                <a:r>
                  <a:rPr kumimoji="1" lang="zh-TW" altLang="en-US" dirty="0"/>
                  <a:t> 分別代表 </a:t>
                </a:r>
                <a:r>
                  <a:rPr kumimoji="1" lang="en-US" altLang="zh-TW" dirty="0"/>
                  <a:t>generated</a:t>
                </a:r>
                <a:r>
                  <a:rPr kumimoji="1" lang="zh-TW" altLang="en-US" dirty="0"/>
                  <a:t> </a:t>
                </a:r>
                <a:r>
                  <a:rPr kumimoji="1" lang="en-US" altLang="zh-TW" dirty="0"/>
                  <a:t>image</a:t>
                </a:r>
                <a:r>
                  <a:rPr kumimoji="1" lang="zh-TW" altLang="en-US" dirty="0"/>
                  <a:t> 與 </a:t>
                </a:r>
                <a:r>
                  <a:rPr kumimoji="1" lang="en-US" altLang="zh-TW" dirty="0"/>
                  <a:t>style</a:t>
                </a:r>
                <a:r>
                  <a:rPr kumimoji="1" lang="zh-TW" altLang="en-US" dirty="0"/>
                  <a:t> 於第 </a:t>
                </a:r>
                <a14:m>
                  <m:oMath xmlns:m="http://schemas.openxmlformats.org/officeDocument/2006/math">
                    <m:r>
                      <a:rPr kumimoji="1" lang="en-US" altLang="zh-TW" i="1">
                        <a:latin typeface="Cambria Math" panose="02040503050406030204" pitchFamily="18" charset="0"/>
                      </a:rPr>
                      <m:t>𝑙</m:t>
                    </m:r>
                  </m:oMath>
                </a14:m>
                <a:r>
                  <a:rPr kumimoji="1" lang="zh-TW" altLang="en-US" dirty="0"/>
                  <a:t> 層的 </a:t>
                </a:r>
                <a:r>
                  <a:rPr kumimoji="1" lang="en-US" altLang="zh-TW" dirty="0"/>
                  <a:t>feature</a:t>
                </a:r>
                <a:r>
                  <a:rPr kumimoji="1" lang="zh-TW" altLang="en-US" dirty="0"/>
                  <a:t> </a:t>
                </a:r>
                <a:r>
                  <a:rPr kumimoji="1" lang="en-US" altLang="zh-TW" dirty="0"/>
                  <a:t>maps</a:t>
                </a:r>
                <a:r>
                  <a:rPr kumimoji="1" lang="zh-TW" altLang="en-US" dirty="0"/>
                  <a:t> 的 </a:t>
                </a:r>
                <a:r>
                  <a:rPr kumimoji="1" lang="en-US" altLang="zh-TW" dirty="0"/>
                  <a:t>Gram</a:t>
                </a:r>
                <a:r>
                  <a:rPr kumimoji="1" lang="zh-TW" altLang="en-US" dirty="0"/>
                  <a:t> </a:t>
                </a:r>
                <a:r>
                  <a:rPr kumimoji="1" lang="en-US" altLang="zh-TW" dirty="0"/>
                  <a:t>Matrix</a:t>
                </a:r>
                <a:r>
                  <a:rPr kumimoji="1" lang="zh-TW" altLang="en-US" dirty="0"/>
                  <a:t>。</a:t>
                </a:r>
                <a:endParaRPr kumimoji="1" lang="en-US" altLang="zh-TW" dirty="0"/>
              </a:p>
              <a:p>
                <a:pPr>
                  <a:buFont typeface="Wingdings" pitchFamily="2" charset="2"/>
                  <a:buChar char="n"/>
                </a:pPr>
                <a:r>
                  <a:rPr kumimoji="1" lang="zh-TW" altLang="en-US" dirty="0"/>
                  <a:t> </a:t>
                </a:r>
                <a:r>
                  <a:rPr kumimoji="1" lang="en-US" altLang="zh-TW" dirty="0"/>
                  <a:t>Gram</a:t>
                </a:r>
                <a:r>
                  <a:rPr kumimoji="1" lang="zh-TW" altLang="en-US" dirty="0"/>
                  <a:t> </a:t>
                </a:r>
                <a:r>
                  <a:rPr kumimoji="1" lang="en-US" altLang="zh-TW" dirty="0"/>
                  <a:t>Matrix</a:t>
                </a:r>
                <a:r>
                  <a:rPr kumimoji="1" lang="zh-TW" altLang="en-US" dirty="0"/>
                  <a:t> 的元素數量與卷積核數量有關。越後層的數量通常越多。此外，</a:t>
                </a:r>
                <a:r>
                  <a:rPr kumimoji="1" lang="en-US" altLang="zh-TW" dirty="0"/>
                  <a:t>Gram</a:t>
                </a:r>
                <a:r>
                  <a:rPr kumimoji="1" lang="zh-TW" altLang="en-US" dirty="0"/>
                  <a:t> </a:t>
                </a:r>
                <a:r>
                  <a:rPr kumimoji="1" lang="en-US" altLang="zh-TW" dirty="0"/>
                  <a:t>Matrix</a:t>
                </a:r>
                <a:r>
                  <a:rPr kumimoji="1" lang="zh-TW" altLang="en-US" dirty="0"/>
                  <a:t> 內元素是由向量內積而來，但向量的維度在不同層也不見得相同。為了讓不同層之間的數值可以在同樣的尺度下比較，我們需要將加總後的數值除以</a:t>
                </a:r>
                <a14:m>
                  <m:oMath xmlns:m="http://schemas.openxmlformats.org/officeDocument/2006/math">
                    <m:sSup>
                      <m:sSupPr>
                        <m:ctrlPr>
                          <a:rPr kumimoji="1" lang="en-US" altLang="zh-TW" i="1">
                            <a:latin typeface="Cambria Math" panose="02040503050406030204" pitchFamily="18" charset="0"/>
                          </a:rPr>
                        </m:ctrlPr>
                      </m:sSup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𝐶</m:t>
                            </m:r>
                          </m:e>
                          <m:sub>
                            <m:r>
                              <a:rPr kumimoji="1" lang="en-US" altLang="zh-TW" i="1">
                                <a:latin typeface="Cambria Math" panose="02040503050406030204" pitchFamily="18" charset="0"/>
                              </a:rPr>
                              <m:t>𝑙</m:t>
                            </m:r>
                          </m:sub>
                        </m:sSub>
                        <m:r>
                          <a:rPr kumimoji="1" lang="en-US" altLang="zh-TW" i="1">
                            <a:latin typeface="Cambria Math" panose="02040503050406030204" pitchFamily="18" charset="0"/>
                          </a:rPr>
                          <m:t> </m:t>
                        </m:r>
                      </m:e>
                      <m:sup>
                        <m:r>
                          <a:rPr kumimoji="1" lang="en-US" altLang="zh-TW" i="1">
                            <a:latin typeface="Cambria Math" panose="02040503050406030204" pitchFamily="18" charset="0"/>
                          </a:rPr>
                          <m:t>2</m:t>
                        </m:r>
                      </m:sup>
                    </m:sSup>
                    <m:sSup>
                      <m:sSupPr>
                        <m:ctrlPr>
                          <a:rPr kumimoji="1" lang="en-US" altLang="zh-TW" i="1">
                            <a:latin typeface="Cambria Math" panose="02040503050406030204" pitchFamily="18" charset="0"/>
                          </a:rPr>
                        </m:ctrlPr>
                      </m:sSup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𝑁</m:t>
                            </m:r>
                          </m:e>
                          <m:sub>
                            <m:r>
                              <a:rPr kumimoji="1" lang="en-US" altLang="zh-TW" i="1">
                                <a:latin typeface="Cambria Math" panose="02040503050406030204" pitchFamily="18" charset="0"/>
                              </a:rPr>
                              <m:t>𝑙</m:t>
                            </m:r>
                          </m:sub>
                        </m:sSub>
                        <m:r>
                          <a:rPr kumimoji="1" lang="en-US" altLang="zh-TW" i="1">
                            <a:latin typeface="Cambria Math" panose="02040503050406030204" pitchFamily="18" charset="0"/>
                          </a:rPr>
                          <m:t> </m:t>
                        </m:r>
                      </m:e>
                      <m:sup>
                        <m:r>
                          <a:rPr kumimoji="1" lang="en-US" altLang="zh-TW" i="1">
                            <a:latin typeface="Cambria Math" panose="02040503050406030204" pitchFamily="18" charset="0"/>
                          </a:rPr>
                          <m:t>2</m:t>
                        </m:r>
                      </m:sup>
                    </m:sSup>
                    <m:r>
                      <a:rPr kumimoji="1" lang="zh-TW" altLang="en-US" i="1">
                        <a:latin typeface="Cambria Math" panose="02040503050406030204" pitchFamily="18" charset="0"/>
                      </a:rPr>
                      <m:t>。</m:t>
                    </m:r>
                  </m:oMath>
                </a14:m>
                <a:r>
                  <a:rPr kumimoji="1" lang="zh-TW" altLang="en-US" dirty="0"/>
                  <a:t>（</a:t>
                </a:r>
                <a:r>
                  <a:rPr kumimoji="1" lang="en-US" altLang="zh-TW" dirty="0"/>
                  <a:t>4</a:t>
                </a:r>
                <a:r>
                  <a:rPr kumimoji="1" lang="zh-TW" altLang="en-US" dirty="0"/>
                  <a:t> 是為了好微分）</a:t>
                </a:r>
              </a:p>
            </p:txBody>
          </p:sp>
        </mc:Choice>
        <mc:Fallback xmlns="">
          <p:sp>
            <p:nvSpPr>
              <p:cNvPr id="3" name="內容版面配置區 2">
                <a:extLst>
                  <a:ext uri="{FF2B5EF4-FFF2-40B4-BE49-F238E27FC236}">
                    <a16:creationId xmlns:a16="http://schemas.microsoft.com/office/drawing/2014/main" id="{EBD59445-EE9D-13F0-E495-E15DFB339AD0}"/>
                  </a:ext>
                </a:extLst>
              </p:cNvPr>
              <p:cNvSpPr>
                <a:spLocks noGrp="1" noRot="1" noChangeAspect="1" noMove="1" noResize="1" noEditPoints="1" noAdjustHandles="1" noChangeArrowheads="1" noChangeShapeType="1" noTextEdit="1"/>
              </p:cNvSpPr>
              <p:nvPr>
                <p:ph idx="1"/>
              </p:nvPr>
            </p:nvSpPr>
            <p:spPr>
              <a:xfrm>
                <a:off x="481263" y="2108201"/>
                <a:ext cx="11292329" cy="4063999"/>
              </a:xfrm>
              <a:blipFill>
                <a:blip r:embed="rId2"/>
                <a:stretch>
                  <a:fillRect l="-1461" t="-22430" r="-1011"/>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00985CA2-5E74-4CAC-7DF5-65E21CECD365}"/>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96FE0F77-E380-6643-8D73-D9DC77B2EC1A}"/>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4474953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CB9A3E-AE2D-680E-FA26-3C7F4EB8957D}"/>
              </a:ext>
            </a:extLst>
          </p:cNvPr>
          <p:cNvSpPr>
            <a:spLocks noGrp="1"/>
          </p:cNvSpPr>
          <p:nvPr>
            <p:ph type="title"/>
          </p:nvPr>
        </p:nvSpPr>
        <p:spPr/>
        <p:txBody>
          <a:bodyPr/>
          <a:lstStyle/>
          <a:p>
            <a:r>
              <a:rPr kumimoji="1" lang="en-US" altLang="zh-TW" dirty="0"/>
              <a:t>Style</a:t>
            </a:r>
            <a:r>
              <a:rPr kumimoji="1" lang="zh-TW" altLang="en-US" dirty="0"/>
              <a:t> </a:t>
            </a:r>
            <a:r>
              <a:rPr kumimoji="1" lang="en-US" altLang="zh-TW" dirty="0"/>
              <a:t>Transfer</a:t>
            </a:r>
            <a:r>
              <a:rPr kumimoji="1" lang="zh-TW" altLang="en-US" dirty="0"/>
              <a:t> 公式說明</a:t>
            </a: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C7F190D7-FDCC-353F-1D67-53FEB3AC4888}"/>
                  </a:ext>
                </a:extLst>
              </p:cNvPr>
              <p:cNvSpPr>
                <a:spLocks noGrp="1"/>
              </p:cNvSpPr>
              <p:nvPr>
                <p:ph idx="1"/>
              </p:nvPr>
            </p:nvSpPr>
            <p:spPr>
              <a:xfrm>
                <a:off x="709863" y="2108201"/>
                <a:ext cx="10948737" cy="4124157"/>
              </a:xfrm>
            </p:spPr>
            <p:txBody>
              <a:bodyPr>
                <a:normAutofit/>
              </a:bodyPr>
              <a:lstStyle/>
              <a:p>
                <a:r>
                  <a:rPr kumimoji="1" lang="zh-TW" altLang="en-US" dirty="0"/>
                  <a:t>風格損失公式如下：</a:t>
                </a:r>
                <a:endParaRPr kumimoji="1" lang="en-US" altLang="zh-TW" dirty="0"/>
              </a:p>
              <a:p>
                <a:pPr marL="0" indent="0">
                  <a:buNone/>
                </a:pPr>
                <a14:m>
                  <m:oMathPara xmlns:m="http://schemas.openxmlformats.org/officeDocument/2006/math">
                    <m:oMathParaPr>
                      <m:jc m:val="centerGroup"/>
                    </m:oMathParaPr>
                    <m:oMath xmlns:m="http://schemas.openxmlformats.org/officeDocument/2006/math">
                      <m:sSub>
                        <m:sSubPr>
                          <m:ctrlPr>
                            <a:rPr kumimoji="1" lang="en-US" altLang="zh-TW" i="1" smtClean="0">
                              <a:latin typeface="Cambria Math" panose="02040503050406030204" pitchFamily="18" charset="0"/>
                            </a:rPr>
                          </m:ctrlPr>
                        </m:sSubPr>
                        <m:e>
                          <m:r>
                            <a:rPr kumimoji="1" lang="en-US" altLang="zh-TW" b="0" i="1" smtClean="0">
                              <a:latin typeface="Cambria Math" panose="02040503050406030204" pitchFamily="18" charset="0"/>
                            </a:rPr>
                            <m:t>𝐿𝑜𝑠𝑠</m:t>
                          </m:r>
                        </m:e>
                        <m:sub>
                          <m:r>
                            <a:rPr kumimoji="1" lang="en-US" altLang="zh-TW" b="0" i="1" smtClean="0">
                              <a:latin typeface="Cambria Math" panose="02040503050406030204" pitchFamily="18" charset="0"/>
                            </a:rPr>
                            <m:t>𝑠𝑡𝑦𝑙𝑒</m:t>
                          </m:r>
                        </m:sub>
                      </m:sSub>
                      <m:r>
                        <a:rPr kumimoji="1" lang="en-US" altLang="zh-TW" b="0" i="1" smtClean="0">
                          <a:latin typeface="Cambria Math" panose="02040503050406030204" pitchFamily="18" charset="0"/>
                        </a:rPr>
                        <m:t>=</m:t>
                      </m:r>
                      <m:nary>
                        <m:naryPr>
                          <m:chr m:val="∑"/>
                          <m:supHide m:val="on"/>
                          <m:ctrlPr>
                            <a:rPr kumimoji="1" lang="en-US" altLang="zh-TW" b="0" i="1" smtClean="0">
                              <a:latin typeface="Cambria Math" panose="02040503050406030204" pitchFamily="18" charset="0"/>
                            </a:rPr>
                          </m:ctrlPr>
                        </m:naryPr>
                        <m:sub>
                          <m:r>
                            <m:rPr>
                              <m:brk m:alnAt="7"/>
                            </m:rPr>
                            <a:rPr kumimoji="1" lang="en-US" altLang="zh-TW" b="0" i="1" smtClean="0">
                              <a:latin typeface="Cambria Math" panose="02040503050406030204" pitchFamily="18" charset="0"/>
                            </a:rPr>
                            <m:t>𝑙</m:t>
                          </m:r>
                        </m:sub>
                        <m:sup/>
                        <m:e>
                          <m:sSub>
                            <m:sSubPr>
                              <m:ctrlPr>
                                <a:rPr kumimoji="1" lang="en-US" altLang="zh-TW" b="0" i="1" smtClean="0">
                                  <a:latin typeface="Cambria Math" panose="02040503050406030204" pitchFamily="18" charset="0"/>
                                </a:rPr>
                              </m:ctrlPr>
                            </m:sSubPr>
                            <m:e>
                              <m:r>
                                <a:rPr kumimoji="1" lang="en-US" altLang="zh-TW" b="0" i="1" smtClean="0">
                                  <a:latin typeface="Cambria Math" panose="02040503050406030204" pitchFamily="18" charset="0"/>
                                </a:rPr>
                                <m:t>𝑤</m:t>
                              </m:r>
                            </m:e>
                            <m:sub>
                              <m:r>
                                <a:rPr kumimoji="1" lang="en-US" altLang="zh-TW" b="0" i="1" smtClean="0">
                                  <a:latin typeface="Cambria Math" panose="02040503050406030204" pitchFamily="18" charset="0"/>
                                </a:rPr>
                                <m:t>𝑙</m:t>
                              </m:r>
                            </m:sub>
                          </m:sSub>
                          <m:sSub>
                            <m:sSubPr>
                              <m:ctrlPr>
                                <a:rPr kumimoji="1" lang="en-US" altLang="zh-TW" i="1">
                                  <a:latin typeface="Cambria Math" panose="02040503050406030204" pitchFamily="18" charset="0"/>
                                </a:rPr>
                              </m:ctrlPr>
                            </m:sSubPr>
                            <m:e>
                              <m:r>
                                <a:rPr kumimoji="1" lang="en-US" altLang="zh-TW" b="0" i="1" smtClean="0">
                                  <a:latin typeface="Cambria Math" panose="02040503050406030204" pitchFamily="18" charset="0"/>
                                </a:rPr>
                                <m:t>𝐸</m:t>
                              </m:r>
                            </m:e>
                            <m:sub>
                              <m:r>
                                <a:rPr kumimoji="1" lang="en-US" altLang="zh-TW" i="1">
                                  <a:latin typeface="Cambria Math" panose="02040503050406030204" pitchFamily="18" charset="0"/>
                                </a:rPr>
                                <m:t>𝑙</m:t>
                              </m:r>
                            </m:sub>
                          </m:sSub>
                        </m:e>
                      </m:nary>
                    </m:oMath>
                  </m:oMathPara>
                </a14:m>
                <a:endParaRPr kumimoji="1" lang="en-US" altLang="zh-TW" dirty="0"/>
              </a:p>
              <a:p>
                <a:r>
                  <a:rPr kumimoji="1" lang="zh-TW" altLang="en-US" dirty="0"/>
                  <a:t>其中 </a:t>
                </a:r>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𝑤</m:t>
                        </m:r>
                      </m:e>
                      <m:sub>
                        <m:r>
                          <a:rPr kumimoji="1" lang="en-US" altLang="zh-TW" i="1">
                            <a:latin typeface="Cambria Math" panose="02040503050406030204" pitchFamily="18" charset="0"/>
                          </a:rPr>
                          <m:t>𝑙</m:t>
                        </m:r>
                      </m:sub>
                    </m:sSub>
                  </m:oMath>
                </a14:m>
                <a:r>
                  <a:rPr kumimoji="1" lang="zh-TW" altLang="en-US" dirty="0"/>
                  <a:t> 代表第 </a:t>
                </a:r>
                <a14:m>
                  <m:oMath xmlns:m="http://schemas.openxmlformats.org/officeDocument/2006/math">
                    <m:r>
                      <a:rPr kumimoji="1" lang="en-US" altLang="zh-TW" b="0" i="1" smtClean="0">
                        <a:latin typeface="Cambria Math" panose="02040503050406030204" pitchFamily="18" charset="0"/>
                      </a:rPr>
                      <m:t>𝑙</m:t>
                    </m:r>
                  </m:oMath>
                </a14:m>
                <a:r>
                  <a:rPr kumimoji="1" lang="zh-TW" altLang="en-US" dirty="0"/>
                  <a:t> 層的權重。通常會取 </a:t>
                </a:r>
                <a14:m>
                  <m:oMath xmlns:m="http://schemas.openxmlformats.org/officeDocument/2006/math">
                    <m:f>
                      <m:fPr>
                        <m:ctrlPr>
                          <a:rPr kumimoji="1" lang="en-US" altLang="zh-TW" i="1" smtClean="0">
                            <a:latin typeface="Cambria Math" panose="02040503050406030204" pitchFamily="18" charset="0"/>
                          </a:rPr>
                        </m:ctrlPr>
                      </m:fPr>
                      <m:num>
                        <m:r>
                          <a:rPr kumimoji="1" lang="en-US" altLang="zh-TW" b="0" i="1" smtClean="0">
                            <a:latin typeface="Cambria Math" panose="02040503050406030204" pitchFamily="18" charset="0"/>
                          </a:rPr>
                          <m:t>1</m:t>
                        </m:r>
                      </m:num>
                      <m:den>
                        <m:r>
                          <a:rPr kumimoji="1" lang="en-US" altLang="zh-TW" b="0" i="1" smtClean="0">
                            <a:latin typeface="Cambria Math" panose="02040503050406030204" pitchFamily="18" charset="0"/>
                          </a:rPr>
                          <m:t>#</m:t>
                        </m:r>
                        <m:r>
                          <a:rPr kumimoji="1" lang="zh-TW" altLang="en-US" b="0" i="1" smtClean="0">
                            <a:latin typeface="Cambria Math" panose="02040503050406030204" pitchFamily="18" charset="0"/>
                          </a:rPr>
                          <m:t> </m:t>
                        </m:r>
                        <m:r>
                          <a:rPr kumimoji="1" lang="en-US" altLang="zh-TW" b="0" i="1" smtClean="0">
                            <a:latin typeface="Cambria Math" panose="02040503050406030204" pitchFamily="18" charset="0"/>
                          </a:rPr>
                          <m:t>𝑜𝑓</m:t>
                        </m:r>
                        <m:r>
                          <a:rPr kumimoji="1" lang="zh-TW" altLang="en-US" b="0" i="1" smtClean="0">
                            <a:latin typeface="Cambria Math" panose="02040503050406030204" pitchFamily="18" charset="0"/>
                          </a:rPr>
                          <m:t> </m:t>
                        </m:r>
                        <m:r>
                          <a:rPr kumimoji="1" lang="en-US" altLang="zh-TW" b="0" i="1" smtClean="0">
                            <a:latin typeface="Cambria Math" panose="02040503050406030204" pitchFamily="18" charset="0"/>
                          </a:rPr>
                          <m:t>𝑙𝑎𝑦𝑒𝑟𝑠</m:t>
                        </m:r>
                      </m:den>
                    </m:f>
                  </m:oMath>
                </a14:m>
                <a:r>
                  <a:rPr kumimoji="1" lang="zh-TW" altLang="en-US" dirty="0"/>
                  <a:t>。</a:t>
                </a:r>
                <a:endParaRPr kumimoji="1" lang="en-US" altLang="zh-TW" dirty="0"/>
              </a:p>
              <a:p>
                <a:r>
                  <a:rPr kumimoji="1" lang="zh-TW" altLang="en-US" dirty="0"/>
                  <a:t>最後，我們定義總損失為：</a:t>
                </a:r>
                <a:endParaRPr kumimoji="1" lang="en-US" altLang="zh-TW" dirty="0"/>
              </a:p>
              <a:p>
                <a:pPr marL="0" indent="0">
                  <a:buNone/>
                </a:pPr>
                <a14:m>
                  <m:oMathPara xmlns:m="http://schemas.openxmlformats.org/officeDocument/2006/math">
                    <m:oMathParaPr>
                      <m:jc m:val="centerGroup"/>
                    </m:oMathParaPr>
                    <m:oMath xmlns:m="http://schemas.openxmlformats.org/officeDocument/2006/math">
                      <m:sSub>
                        <m:sSubPr>
                          <m:ctrlPr>
                            <a:rPr kumimoji="1" lang="en-US" altLang="zh-TW" i="1" smtClean="0">
                              <a:latin typeface="Cambria Math" panose="02040503050406030204" pitchFamily="18" charset="0"/>
                            </a:rPr>
                          </m:ctrlPr>
                        </m:sSubPr>
                        <m:e>
                          <m:r>
                            <a:rPr kumimoji="1" lang="en-US" altLang="zh-TW" i="1">
                              <a:latin typeface="Cambria Math" panose="02040503050406030204" pitchFamily="18" charset="0"/>
                            </a:rPr>
                            <m:t>𝐿𝑜𝑠𝑠</m:t>
                          </m:r>
                        </m:e>
                        <m:sub>
                          <m:r>
                            <a:rPr kumimoji="1" lang="en-US" altLang="zh-TW" b="0" i="1" smtClean="0">
                              <a:latin typeface="Cambria Math" panose="02040503050406030204" pitchFamily="18" charset="0"/>
                            </a:rPr>
                            <m:t>𝑡𝑜𝑡𝑎𝑙</m:t>
                          </m:r>
                        </m:sub>
                      </m:sSub>
                      <m:r>
                        <a:rPr kumimoji="1" lang="en-US" altLang="zh-TW" b="0" i="1" smtClean="0">
                          <a:latin typeface="Cambria Math" panose="02040503050406030204" pitchFamily="18" charset="0"/>
                        </a:rPr>
                        <m:t>=</m:t>
                      </m:r>
                      <m:r>
                        <a:rPr kumimoji="1" lang="en-US" altLang="zh-TW" b="0" i="1" smtClean="0">
                          <a:latin typeface="Cambria Math" panose="02040503050406030204" pitchFamily="18" charset="0"/>
                          <a:ea typeface="Cambria Math" panose="02040503050406030204" pitchFamily="18" charset="0"/>
                        </a:rPr>
                        <m:t>𝛼</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𝐿𝑜𝑠𝑠</m:t>
                          </m:r>
                        </m:e>
                        <m:sub>
                          <m:r>
                            <a:rPr kumimoji="1" lang="en-US" altLang="zh-TW" i="1">
                              <a:latin typeface="Cambria Math" panose="02040503050406030204" pitchFamily="18" charset="0"/>
                            </a:rPr>
                            <m:t>𝑐𝑜𝑛𝑡𝑒𝑛𝑡</m:t>
                          </m:r>
                        </m:sub>
                      </m:sSub>
                      <m:r>
                        <a:rPr kumimoji="1" lang="en-US" altLang="zh-TW" b="0" i="0" smtClean="0">
                          <a:latin typeface="Cambria Math" panose="02040503050406030204" pitchFamily="18" charset="0"/>
                        </a:rPr>
                        <m:t>+</m:t>
                      </m:r>
                      <m:r>
                        <m:rPr>
                          <m:sty m:val="p"/>
                        </m:rPr>
                        <a:rPr kumimoji="1" lang="el-GR" altLang="zh-TW" b="0" i="1" smtClean="0">
                          <a:latin typeface="Cambria Math" panose="02040503050406030204" pitchFamily="18" charset="0"/>
                          <a:ea typeface="Cambria Math" panose="02040503050406030204" pitchFamily="18" charset="0"/>
                        </a:rPr>
                        <m:t>β</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𝐿𝑜𝑠𝑠</m:t>
                          </m:r>
                        </m:e>
                        <m:sub>
                          <m:r>
                            <a:rPr kumimoji="1" lang="en-US" altLang="zh-TW" i="1">
                              <a:latin typeface="Cambria Math" panose="02040503050406030204" pitchFamily="18" charset="0"/>
                            </a:rPr>
                            <m:t>𝑠𝑡𝑦𝑙𝑒</m:t>
                          </m:r>
                        </m:sub>
                      </m:sSub>
                    </m:oMath>
                  </m:oMathPara>
                </a14:m>
                <a:endParaRPr kumimoji="1" lang="en-US" altLang="zh-TW" dirty="0"/>
              </a:p>
              <a:p>
                <a:pPr marL="0" indent="0">
                  <a:buNone/>
                </a:pPr>
                <a:r>
                  <a:rPr kumimoji="1" lang="zh-TW" altLang="en-US" dirty="0"/>
                  <a:t>其中 </a:t>
                </a:r>
                <a14:m>
                  <m:oMath xmlns:m="http://schemas.openxmlformats.org/officeDocument/2006/math">
                    <m:r>
                      <a:rPr kumimoji="1" lang="en-US" altLang="zh-TW" i="1">
                        <a:latin typeface="Cambria Math" panose="02040503050406030204" pitchFamily="18" charset="0"/>
                        <a:ea typeface="Cambria Math" panose="02040503050406030204" pitchFamily="18" charset="0"/>
                      </a:rPr>
                      <m:t>𝛼</m:t>
                    </m:r>
                    <m:r>
                      <a:rPr kumimoji="1" lang="en-US" altLang="zh-TW" b="0" i="1" smtClean="0">
                        <a:latin typeface="Cambria Math" panose="02040503050406030204" pitchFamily="18" charset="0"/>
                        <a:ea typeface="Cambria Math" panose="02040503050406030204" pitchFamily="18" charset="0"/>
                      </a:rPr>
                      <m:t>,</m:t>
                    </m:r>
                    <m:r>
                      <m:rPr>
                        <m:sty m:val="p"/>
                      </m:rPr>
                      <a:rPr kumimoji="1" lang="el-GR" altLang="zh-TW" i="1">
                        <a:latin typeface="Cambria Math" panose="02040503050406030204" pitchFamily="18" charset="0"/>
                        <a:ea typeface="Cambria Math" panose="02040503050406030204" pitchFamily="18" charset="0"/>
                      </a:rPr>
                      <m:t>β</m:t>
                    </m:r>
                  </m:oMath>
                </a14:m>
                <a:r>
                  <a:rPr kumimoji="1" lang="zh-TW" altLang="en-US" dirty="0"/>
                  <a:t> 負責控制內容與風格的重要程度。常見的 </a:t>
                </a:r>
                <a14:m>
                  <m:oMath xmlns:m="http://schemas.openxmlformats.org/officeDocument/2006/math">
                    <m:f>
                      <m:fPr>
                        <m:ctrlPr>
                          <a:rPr kumimoji="1" lang="en-US" altLang="zh-TW" i="1">
                            <a:latin typeface="Cambria Math" panose="02040503050406030204" pitchFamily="18" charset="0"/>
                          </a:rPr>
                        </m:ctrlPr>
                      </m:fPr>
                      <m:num>
                        <m:r>
                          <a:rPr kumimoji="1" lang="en-US" altLang="zh-TW" i="1">
                            <a:latin typeface="Cambria Math" panose="02040503050406030204" pitchFamily="18" charset="0"/>
                            <a:ea typeface="Cambria Math" panose="02040503050406030204" pitchFamily="18" charset="0"/>
                          </a:rPr>
                          <m:t>𝛼</m:t>
                        </m:r>
                      </m:num>
                      <m:den>
                        <m:r>
                          <m:rPr>
                            <m:sty m:val="p"/>
                          </m:rPr>
                          <a:rPr kumimoji="1" lang="el-GR" altLang="zh-TW" i="1">
                            <a:latin typeface="Cambria Math" panose="02040503050406030204" pitchFamily="18" charset="0"/>
                            <a:ea typeface="Cambria Math" panose="02040503050406030204" pitchFamily="18" charset="0"/>
                          </a:rPr>
                          <m:t>β</m:t>
                        </m:r>
                      </m:den>
                    </m:f>
                  </m:oMath>
                </a14:m>
                <a:r>
                  <a:rPr kumimoji="1" lang="en-US" altLang="zh-TW" dirty="0"/>
                  <a:t> </a:t>
                </a:r>
                <a:r>
                  <a:rPr kumimoji="1" lang="zh-TW" altLang="en-US" dirty="0"/>
                  <a:t>比例為 </a:t>
                </a:r>
                <a14:m>
                  <m:oMath xmlns:m="http://schemas.openxmlformats.org/officeDocument/2006/math">
                    <m:sSup>
                      <m:sSupPr>
                        <m:ctrlPr>
                          <a:rPr kumimoji="1" lang="en-US" altLang="zh-TW" i="1" smtClean="0">
                            <a:latin typeface="Cambria Math" panose="02040503050406030204" pitchFamily="18" charset="0"/>
                          </a:rPr>
                        </m:ctrlPr>
                      </m:sSupPr>
                      <m:e>
                        <m:r>
                          <a:rPr kumimoji="1" lang="en-US" altLang="zh-TW" b="0" i="1" smtClean="0">
                            <a:latin typeface="Cambria Math" panose="02040503050406030204" pitchFamily="18" charset="0"/>
                          </a:rPr>
                          <m:t>10</m:t>
                        </m:r>
                      </m:e>
                      <m:sup>
                        <m:r>
                          <a:rPr kumimoji="1" lang="en-US" altLang="zh-TW" b="0" i="1" smtClean="0">
                            <a:latin typeface="Cambria Math" panose="02040503050406030204" pitchFamily="18" charset="0"/>
                          </a:rPr>
                          <m:t>−3</m:t>
                        </m:r>
                      </m:sup>
                    </m:sSup>
                  </m:oMath>
                </a14:m>
                <a:r>
                  <a:rPr kumimoji="1" lang="zh-TW" altLang="en-US" dirty="0"/>
                  <a:t> 或 </a:t>
                </a:r>
                <a14:m>
                  <m:oMath xmlns:m="http://schemas.openxmlformats.org/officeDocument/2006/math">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10</m:t>
                        </m:r>
                      </m:e>
                      <m:sup>
                        <m:r>
                          <a:rPr kumimoji="1" lang="en-US" altLang="zh-TW" i="1">
                            <a:latin typeface="Cambria Math" panose="02040503050406030204" pitchFamily="18" charset="0"/>
                          </a:rPr>
                          <m:t>−</m:t>
                        </m:r>
                        <m:r>
                          <a:rPr kumimoji="1" lang="en-US" altLang="zh-TW" b="0" i="1" smtClean="0">
                            <a:latin typeface="Cambria Math" panose="02040503050406030204" pitchFamily="18" charset="0"/>
                          </a:rPr>
                          <m:t>4</m:t>
                        </m:r>
                      </m:sup>
                    </m:sSup>
                  </m:oMath>
                </a14:m>
                <a:r>
                  <a:rPr kumimoji="1" lang="zh-TW" altLang="en-US" dirty="0"/>
                  <a:t>。 </a:t>
                </a:r>
                <a:endParaRPr kumimoji="1" lang="en-US" altLang="zh-TW" dirty="0"/>
              </a:p>
            </p:txBody>
          </p:sp>
        </mc:Choice>
        <mc:Fallback xmlns="">
          <p:sp>
            <p:nvSpPr>
              <p:cNvPr id="3" name="內容版面配置區 2">
                <a:extLst>
                  <a:ext uri="{FF2B5EF4-FFF2-40B4-BE49-F238E27FC236}">
                    <a16:creationId xmlns:a16="http://schemas.microsoft.com/office/drawing/2014/main" id="{C7F190D7-FDCC-353F-1D67-53FEB3AC4888}"/>
                  </a:ext>
                </a:extLst>
              </p:cNvPr>
              <p:cNvSpPr>
                <a:spLocks noGrp="1" noRot="1" noChangeAspect="1" noMove="1" noResize="1" noEditPoints="1" noAdjustHandles="1" noChangeArrowheads="1" noChangeShapeType="1" noTextEdit="1"/>
              </p:cNvSpPr>
              <p:nvPr>
                <p:ph idx="1"/>
              </p:nvPr>
            </p:nvSpPr>
            <p:spPr>
              <a:xfrm>
                <a:off x="709863" y="2108201"/>
                <a:ext cx="10948737" cy="4124157"/>
              </a:xfrm>
              <a:blipFill>
                <a:blip r:embed="rId2"/>
                <a:stretch>
                  <a:fillRect l="-1620" t="-22154"/>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4CB8C82B-F341-878C-0FC9-C5CCAD5DE38F}"/>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8FBC1F87-AD43-2EB0-E56B-F111F50E13A8}"/>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32751058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DCF55F5-8187-851F-445C-F2A6AF568828}"/>
              </a:ext>
            </a:extLst>
          </p:cNvPr>
          <p:cNvSpPr>
            <a:spLocks noGrp="1"/>
          </p:cNvSpPr>
          <p:nvPr>
            <p:ph type="title"/>
          </p:nvPr>
        </p:nvSpPr>
        <p:spPr/>
        <p:txBody>
          <a:bodyPr/>
          <a:lstStyle/>
          <a:p>
            <a:r>
              <a:rPr kumimoji="1" lang="en-US" altLang="zh-TW" dirty="0"/>
              <a:t>Style</a:t>
            </a:r>
            <a:r>
              <a:rPr kumimoji="1" lang="zh-TW" altLang="en-US" dirty="0"/>
              <a:t> </a:t>
            </a:r>
            <a:r>
              <a:rPr kumimoji="1" lang="en-US" altLang="zh-TW" dirty="0"/>
              <a:t>Transfer</a:t>
            </a:r>
            <a:r>
              <a:rPr kumimoji="1" lang="zh-TW" altLang="en-US" dirty="0"/>
              <a:t> 公式說明</a:t>
            </a:r>
          </a:p>
        </p:txBody>
      </p:sp>
      <p:sp>
        <p:nvSpPr>
          <p:cNvPr id="3" name="內容版面配置區 2">
            <a:extLst>
              <a:ext uri="{FF2B5EF4-FFF2-40B4-BE49-F238E27FC236}">
                <a16:creationId xmlns:a16="http://schemas.microsoft.com/office/drawing/2014/main" id="{79185D83-B6F1-CC65-B737-0A2FD6FD5288}"/>
              </a:ext>
            </a:extLst>
          </p:cNvPr>
          <p:cNvSpPr>
            <a:spLocks noGrp="1"/>
          </p:cNvSpPr>
          <p:nvPr>
            <p:ph idx="1"/>
          </p:nvPr>
        </p:nvSpPr>
        <p:spPr/>
        <p:txBody>
          <a:bodyPr/>
          <a:lstStyle/>
          <a:p>
            <a:r>
              <a:rPr kumimoji="1" lang="zh-TW" altLang="en-US" dirty="0"/>
              <a:t>*</a:t>
            </a:r>
            <a:r>
              <a:rPr kumimoji="1" lang="en-US" altLang="zh-TW" dirty="0"/>
              <a:t>.</a:t>
            </a:r>
            <a:r>
              <a:rPr kumimoji="1" lang="zh-TW" altLang="en-US" dirty="0"/>
              <a:t> </a:t>
            </a:r>
            <a:r>
              <a:rPr kumimoji="1" lang="en-US" altLang="zh-TW" dirty="0"/>
              <a:t>Lab_5_Style_Transfer.ipynb</a:t>
            </a:r>
            <a:endParaRPr kumimoji="1" lang="zh-TW" altLang="en-US" dirty="0"/>
          </a:p>
        </p:txBody>
      </p:sp>
      <p:sp>
        <p:nvSpPr>
          <p:cNvPr id="4" name="日期版面配置區 3">
            <a:extLst>
              <a:ext uri="{FF2B5EF4-FFF2-40B4-BE49-F238E27FC236}">
                <a16:creationId xmlns:a16="http://schemas.microsoft.com/office/drawing/2014/main" id="{194B4C3A-76CF-02FA-7B0F-32E5FF8F2D16}"/>
              </a:ext>
            </a:extLst>
          </p:cNvPr>
          <p:cNvSpPr>
            <a:spLocks noGrp="1"/>
          </p:cNvSpPr>
          <p:nvPr>
            <p:ph type="dt" sz="half" idx="10"/>
          </p:nvPr>
        </p:nvSpPr>
        <p:spPr/>
        <p:txBody>
          <a:bodyPr/>
          <a:lstStyle/>
          <a:p>
            <a:r>
              <a:rPr lang="en-US" altLang="zh-TW"/>
              <a:t>Wilson Ren</a:t>
            </a:r>
            <a:endParaRPr lang="en-US" altLang="zh-TW" dirty="0"/>
          </a:p>
        </p:txBody>
      </p:sp>
      <p:sp>
        <p:nvSpPr>
          <p:cNvPr id="5" name="投影片編號版面配置區 4">
            <a:extLst>
              <a:ext uri="{FF2B5EF4-FFF2-40B4-BE49-F238E27FC236}">
                <a16:creationId xmlns:a16="http://schemas.microsoft.com/office/drawing/2014/main" id="{B5274D84-E19F-4CA0-4A34-0FD2E04977DE}"/>
              </a:ext>
            </a:extLst>
          </p:cNvPr>
          <p:cNvSpPr>
            <a:spLocks noGrp="1"/>
          </p:cNvSpPr>
          <p:nvPr>
            <p:ph type="sldNum" sz="quarter" idx="12"/>
          </p:nvPr>
        </p:nvSpPr>
        <p:spPr/>
        <p:txBody>
          <a:bodyPr/>
          <a:lstStyle/>
          <a:p>
            <a:r>
              <a:rPr lang="en-US" altLang="zh-TW" dirty="0"/>
              <a:t>Deep Learning</a:t>
            </a:r>
          </a:p>
        </p:txBody>
      </p:sp>
    </p:spTree>
    <p:extLst>
      <p:ext uri="{BB962C8B-B14F-4D97-AF65-F5344CB8AC3E}">
        <p14:creationId xmlns:p14="http://schemas.microsoft.com/office/powerpoint/2010/main" val="1175775315"/>
      </p:ext>
    </p:extLst>
  </p:cSld>
  <p:clrMapOvr>
    <a:masterClrMapping/>
  </p:clrMapOvr>
</p:sld>
</file>

<file path=ppt/theme/theme1.xml><?xml version="1.0" encoding="utf-8"?>
<a:theme xmlns:a="http://schemas.openxmlformats.org/drawingml/2006/main" name="RetrospectVTI">
  <a:themeElements>
    <a:clrScheme name="自訂 2">
      <a:dk1>
        <a:srgbClr val="000000"/>
      </a:dk1>
      <a:lt1>
        <a:srgbClr val="FFFFFF"/>
      </a:lt1>
      <a:dk2>
        <a:srgbClr val="1C2031"/>
      </a:dk2>
      <a:lt2>
        <a:srgbClr val="F2F3F0"/>
      </a:lt2>
      <a:accent1>
        <a:srgbClr val="15C554"/>
      </a:accent1>
      <a:accent2>
        <a:srgbClr val="3732DA"/>
      </a:accent2>
      <a:accent3>
        <a:srgbClr val="2973E7"/>
      </a:accent3>
      <a:accent4>
        <a:srgbClr val="17B0D5"/>
      </a:accent4>
      <a:accent5>
        <a:srgbClr val="22C29E"/>
      </a:accent5>
      <a:accent6>
        <a:srgbClr val="16C655"/>
      </a:accent6>
      <a:hlink>
        <a:srgbClr val="339A95"/>
      </a:hlink>
      <a:folHlink>
        <a:srgbClr val="7F7F7F"/>
      </a:folHlink>
    </a:clrScheme>
    <a:fontScheme name="自訂 6">
      <a:majorFont>
        <a:latin typeface="Times New Roman"/>
        <a:ea typeface="Taipei Sans TC Beta"/>
        <a:cs typeface=""/>
      </a:majorFont>
      <a:minorFont>
        <a:latin typeface="Times New Roman"/>
        <a:ea typeface="Taipei Sans TC Beta"/>
        <a:cs typeface=""/>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32887</TotalTime>
  <Words>4129</Words>
  <Application>Microsoft Macintosh PowerPoint</Application>
  <PresentationFormat>寬螢幕</PresentationFormat>
  <Paragraphs>293</Paragraphs>
  <Slides>45</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45</vt:i4>
      </vt:variant>
    </vt:vector>
  </HeadingPairs>
  <TitlesOfParts>
    <vt:vector size="51" baseType="lpstr">
      <vt:lpstr>Aptos</vt:lpstr>
      <vt:lpstr>Calibri</vt:lpstr>
      <vt:lpstr>Cambria Math</vt:lpstr>
      <vt:lpstr>Times New Roman</vt:lpstr>
      <vt:lpstr>Wingdings</vt:lpstr>
      <vt:lpstr>RetrospectVTI</vt:lpstr>
      <vt:lpstr>ResNet</vt:lpstr>
      <vt:lpstr>破碎梯度現象</vt:lpstr>
      <vt:lpstr>破碎梯度現象</vt:lpstr>
      <vt:lpstr>破碎梯度現象</vt:lpstr>
      <vt:lpstr>破碎梯度現象</vt:lpstr>
      <vt:lpstr>破碎梯度現象</vt:lpstr>
      <vt:lpstr>破碎梯度現象</vt:lpstr>
      <vt:lpstr>ResNet</vt:lpstr>
      <vt:lpstr>ResNet</vt:lpstr>
      <vt:lpstr>ResNet</vt:lpstr>
      <vt:lpstr>ResNet</vt:lpstr>
      <vt:lpstr>ResNet</vt:lpstr>
      <vt:lpstr>ResNet 架構</vt:lpstr>
      <vt:lpstr>Order of Operation</vt:lpstr>
      <vt:lpstr>Order of Operation</vt:lpstr>
      <vt:lpstr>Order of Operation</vt:lpstr>
      <vt:lpstr>ResNet 的梯度爆炸問題</vt:lpstr>
      <vt:lpstr>ResNet 的梯度爆炸問題</vt:lpstr>
      <vt:lpstr>ResNet 的梯度爆炸問題</vt:lpstr>
      <vt:lpstr>ResNet 的梯度爆炸問題</vt:lpstr>
      <vt:lpstr>ResNet 的梯度爆炸問題</vt:lpstr>
      <vt:lpstr>ResNet 其餘事項</vt:lpstr>
      <vt:lpstr>ResNet 其餘事項</vt:lpstr>
      <vt:lpstr>ResNet 其餘事項</vt:lpstr>
      <vt:lpstr>各種 CNN 的層數比較</vt:lpstr>
      <vt:lpstr>ResNet 其餘事項</vt:lpstr>
      <vt:lpstr>ResNet 其餘事項</vt:lpstr>
      <vt:lpstr>ResNet 其餘事項</vt:lpstr>
      <vt:lpstr>ResNet 程式碼</vt:lpstr>
      <vt:lpstr>卷積網路的其他主題</vt:lpstr>
      <vt:lpstr>ResNet Embedding</vt:lpstr>
      <vt:lpstr>Grad-CAM 視覺化技術</vt:lpstr>
      <vt:lpstr>Grad-CAM 視覺化技術</vt:lpstr>
      <vt:lpstr>Grad-CAM 視覺化技術</vt:lpstr>
      <vt:lpstr>Style Transfer</vt:lpstr>
      <vt:lpstr>Style Transfer</vt:lpstr>
      <vt:lpstr>Style Transfer</vt:lpstr>
      <vt:lpstr>Style Transfer</vt:lpstr>
      <vt:lpstr>Style Transfer 公式說明</vt:lpstr>
      <vt:lpstr>Style Transfer 公式說明</vt:lpstr>
      <vt:lpstr>Style Transfer 公式說明</vt:lpstr>
      <vt:lpstr>Style Transfer 公式說明</vt:lpstr>
      <vt:lpstr>Style Transfer 公式說明</vt:lpstr>
      <vt:lpstr>Style Transfer 公式說明</vt:lpstr>
      <vt:lpstr>Style Transfer 公式說明</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Algorithm Design</dc:title>
  <dc:creator>Yu-Hsien Jen</dc:creator>
  <cp:lastModifiedBy>宇賢 任</cp:lastModifiedBy>
  <cp:revision>3308</cp:revision>
  <dcterms:created xsi:type="dcterms:W3CDTF">2021-02-23T11:38:50Z</dcterms:created>
  <dcterms:modified xsi:type="dcterms:W3CDTF">2026-05-06T00:50:48Z</dcterms:modified>
</cp:coreProperties>
</file>