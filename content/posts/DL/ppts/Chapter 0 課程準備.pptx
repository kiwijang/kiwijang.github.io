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2"/>
  </p:notesMasterIdLst>
  <p:sldIdLst>
    <p:sldId id="292" r:id="rId2"/>
    <p:sldId id="307" r:id="rId3"/>
    <p:sldId id="306" r:id="rId4"/>
    <p:sldId id="308" r:id="rId5"/>
    <p:sldId id="256" r:id="rId6"/>
    <p:sldId id="279" r:id="rId7"/>
    <p:sldId id="280" r:id="rId8"/>
    <p:sldId id="283" r:id="rId9"/>
    <p:sldId id="284" r:id="rId10"/>
    <p:sldId id="285" r:id="rId11"/>
    <p:sldId id="300" r:id="rId12"/>
    <p:sldId id="301" r:id="rId13"/>
    <p:sldId id="302" r:id="rId14"/>
    <p:sldId id="303" r:id="rId15"/>
    <p:sldId id="309" r:id="rId16"/>
    <p:sldId id="291" r:id="rId17"/>
    <p:sldId id="296" r:id="rId18"/>
    <p:sldId id="299" r:id="rId19"/>
    <p:sldId id="304" r:id="rId20"/>
    <p:sldId id="305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3216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5E851-B301-8440-A31A-2666B5099906}" type="datetimeFigureOut">
              <a:rPr kumimoji="1" lang="zh-TW" altLang="en-US" smtClean="0"/>
              <a:t>2026/5/28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7913E7-7146-234E-81D5-B698B33CD06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25726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C3795BDB-1CA7-B881-D67A-FEC0E195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960360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80696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10928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48508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114238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781294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407069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altLang="zh-TW"/>
              <a:t>Wilson Ren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Deep </a:t>
            </a:r>
            <a:r>
              <a:rPr lang="en-US" altLang="zh-TW" dirty="0"/>
              <a:t>Learning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4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3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hyperlink" Target="https://www.notion.so/desktop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387276-E71D-8C3B-FF35-DB2372E57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深度學習課程架構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ACD6B0-1BF9-B8B1-F8A3-C4F4F8983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22780"/>
            <a:ext cx="10058400" cy="4338637"/>
          </a:xfrm>
        </p:spPr>
        <p:txBody>
          <a:bodyPr>
            <a:normAutofit/>
          </a:bodyPr>
          <a:lstStyle/>
          <a:p>
            <a:r>
              <a:rPr lang="en-US" altLang="zh-TW" dirty="0" err="1"/>
              <a:t>Chpater</a:t>
            </a:r>
            <a:r>
              <a:rPr lang="en-US" altLang="zh-TW" dirty="0"/>
              <a:t> 0 – Introduction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Deep Learning</a:t>
            </a:r>
          </a:p>
          <a:p>
            <a:pPr lvl="1"/>
            <a:r>
              <a:rPr lang="zh-TW" altLang="en-US" dirty="0"/>
              <a:t>深度學習發展簡史</a:t>
            </a:r>
            <a:endParaRPr lang="en-US" altLang="zh-TW" dirty="0"/>
          </a:p>
          <a:p>
            <a:pPr lvl="1"/>
            <a:r>
              <a:rPr lang="en-US" altLang="zh-TW" dirty="0"/>
              <a:t>Notion,</a:t>
            </a:r>
            <a:r>
              <a:rPr lang="zh-TW" altLang="en-US" dirty="0"/>
              <a:t> </a:t>
            </a:r>
            <a:r>
              <a:rPr lang="en-US" altLang="zh-TW" dirty="0" err="1"/>
              <a:t>Colab</a:t>
            </a:r>
            <a:r>
              <a:rPr lang="zh-TW" altLang="en-US" dirty="0"/>
              <a:t> 注意事項</a:t>
            </a:r>
            <a:endParaRPr lang="en-US" altLang="zh-TW" dirty="0"/>
          </a:p>
          <a:p>
            <a:r>
              <a:rPr lang="en-US" altLang="zh-TW" dirty="0"/>
              <a:t>Chapter 1 –</a:t>
            </a:r>
            <a:r>
              <a:rPr lang="zh-TW" altLang="en-US" dirty="0"/>
              <a:t> </a:t>
            </a:r>
            <a:r>
              <a:rPr lang="en-US" altLang="zh-TW" dirty="0"/>
              <a:t>Artificial Neural Network</a:t>
            </a:r>
            <a:r>
              <a:rPr lang="zh-TW" altLang="en-US" dirty="0"/>
              <a:t> </a:t>
            </a:r>
            <a:r>
              <a:rPr lang="en-US" altLang="zh-TW" dirty="0"/>
              <a:t>(ANN)</a:t>
            </a:r>
          </a:p>
          <a:p>
            <a:pPr lvl="1"/>
            <a:r>
              <a:rPr lang="en-US" altLang="zh-TW" dirty="0"/>
              <a:t>Single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r>
              <a:rPr lang="zh-TW" altLang="en-US" dirty="0"/>
              <a:t> </a:t>
            </a:r>
            <a:r>
              <a:rPr lang="en-US" altLang="zh-TW" dirty="0"/>
              <a:t>Perceptron,</a:t>
            </a:r>
            <a:r>
              <a:rPr lang="zh-TW" altLang="en-US" dirty="0"/>
              <a:t> </a:t>
            </a:r>
            <a:r>
              <a:rPr lang="en-US" altLang="zh-TW" dirty="0"/>
              <a:t>Multi-Layer</a:t>
            </a:r>
            <a:r>
              <a:rPr lang="zh-TW" altLang="en-US" dirty="0"/>
              <a:t> </a:t>
            </a:r>
            <a:r>
              <a:rPr lang="en-US" altLang="zh-TW" dirty="0"/>
              <a:t>Perceptron</a:t>
            </a:r>
            <a:r>
              <a:rPr lang="zh-TW" altLang="en-US" dirty="0"/>
              <a:t> </a:t>
            </a:r>
            <a:r>
              <a:rPr lang="en-US" altLang="zh-TW" dirty="0"/>
              <a:t>(MLP)</a:t>
            </a:r>
          </a:p>
          <a:p>
            <a:pPr lvl="1"/>
            <a:r>
              <a:rPr lang="en-US" altLang="zh-TW" dirty="0"/>
              <a:t>Universal</a:t>
            </a:r>
            <a:r>
              <a:rPr lang="zh-TW" altLang="en-US" dirty="0"/>
              <a:t> </a:t>
            </a:r>
            <a:r>
              <a:rPr lang="en-US" altLang="zh-TW" dirty="0"/>
              <a:t>Approximation</a:t>
            </a:r>
            <a:r>
              <a:rPr lang="zh-TW" altLang="en-US" dirty="0"/>
              <a:t> </a:t>
            </a:r>
            <a:r>
              <a:rPr lang="en-US" altLang="zh-TW" dirty="0"/>
              <a:t>Theorem</a:t>
            </a:r>
          </a:p>
          <a:p>
            <a:pPr lvl="1"/>
            <a:r>
              <a:rPr lang="en-US" altLang="zh-TW" dirty="0"/>
              <a:t>Deep</a:t>
            </a:r>
            <a:r>
              <a:rPr lang="zh-TW" altLang="en-US" dirty="0"/>
              <a:t> </a:t>
            </a:r>
            <a:r>
              <a:rPr lang="en-US" altLang="zh-TW" dirty="0"/>
              <a:t>Neural</a:t>
            </a:r>
            <a:r>
              <a:rPr lang="zh-TW" altLang="en-US" dirty="0"/>
              <a:t> </a:t>
            </a:r>
            <a:r>
              <a:rPr lang="en-US" altLang="zh-TW" dirty="0"/>
              <a:t>Network</a:t>
            </a:r>
            <a:r>
              <a:rPr lang="zh-TW" altLang="en-US" dirty="0"/>
              <a:t> </a:t>
            </a:r>
            <a:r>
              <a:rPr lang="en-US" altLang="zh-TW" dirty="0"/>
              <a:t>(DNN)</a:t>
            </a:r>
          </a:p>
          <a:p>
            <a:r>
              <a:rPr lang="en-US" altLang="zh-TW" dirty="0"/>
              <a:t>Chapter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Back</a:t>
            </a:r>
            <a:r>
              <a:rPr lang="zh-TW" altLang="en-US" dirty="0"/>
              <a:t> </a:t>
            </a:r>
            <a:r>
              <a:rPr lang="en-US" altLang="zh-TW" dirty="0"/>
              <a:t>Propagation</a:t>
            </a:r>
            <a:r>
              <a:rPr lang="zh-TW" altLang="en-US" dirty="0"/>
              <a:t> </a:t>
            </a:r>
            <a:r>
              <a:rPr lang="en-US" altLang="zh-TW" dirty="0"/>
              <a:t>Algorithm</a:t>
            </a:r>
          </a:p>
          <a:p>
            <a:pPr lvl="1"/>
            <a:r>
              <a:rPr lang="zh-TW" altLang="en-US" dirty="0"/>
              <a:t>梯度下降演算法（</a:t>
            </a:r>
            <a:r>
              <a:rPr lang="en-US" altLang="zh-TW" dirty="0"/>
              <a:t>Gradient</a:t>
            </a:r>
            <a:r>
              <a:rPr lang="zh-TW" altLang="en-US" dirty="0"/>
              <a:t> </a:t>
            </a:r>
            <a:r>
              <a:rPr lang="en-US" altLang="zh-TW" dirty="0"/>
              <a:t>Descent</a:t>
            </a:r>
            <a:r>
              <a:rPr lang="zh-TW" altLang="en-US" dirty="0"/>
              <a:t> </a:t>
            </a:r>
            <a:r>
              <a:rPr lang="en-US" altLang="zh-TW" dirty="0"/>
              <a:t>Algorithm</a:t>
            </a:r>
            <a:r>
              <a:rPr lang="zh-TW" altLang="en-US" dirty="0"/>
              <a:t>）</a:t>
            </a:r>
            <a:endParaRPr lang="en-US" altLang="zh-TW" dirty="0"/>
          </a:p>
          <a:p>
            <a:pPr lvl="1"/>
            <a:r>
              <a:rPr lang="zh-TW" altLang="en-US" dirty="0"/>
              <a:t>反向傳播演算法（</a:t>
            </a:r>
            <a:r>
              <a:rPr lang="en-US" altLang="zh-TW" dirty="0"/>
              <a:t> Back</a:t>
            </a:r>
            <a:r>
              <a:rPr lang="zh-TW" altLang="en-US" dirty="0"/>
              <a:t> </a:t>
            </a:r>
            <a:r>
              <a:rPr lang="en-US" altLang="zh-TW" dirty="0"/>
              <a:t>Propagation</a:t>
            </a:r>
            <a:r>
              <a:rPr lang="zh-TW" altLang="en-US" dirty="0"/>
              <a:t> </a:t>
            </a:r>
            <a:r>
              <a:rPr lang="en-US" altLang="zh-TW" dirty="0"/>
              <a:t>Algorithm</a:t>
            </a:r>
            <a:r>
              <a:rPr lang="zh-TW" altLang="en-US" dirty="0"/>
              <a:t>）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FD94B6-CDE9-79AA-ABD9-23E1C5F88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/>
              <a:t>Wilson Ren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FD4FA3D-29A5-EED3-984D-6773FD799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424914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EA1420-FD7F-7F28-C599-D4646C431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深度學習課程架構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31CDBA-B8D1-E6C0-5553-DB41ED765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234726"/>
          </a:xfrm>
        </p:spPr>
        <p:txBody>
          <a:bodyPr>
            <a:normAutofit/>
          </a:bodyPr>
          <a:lstStyle/>
          <a:p>
            <a:r>
              <a:rPr lang="en-US" altLang="zh-TW" dirty="0"/>
              <a:t>Chapter</a:t>
            </a:r>
            <a:r>
              <a:rPr lang="zh-TW" altLang="en-US" dirty="0"/>
              <a:t> </a:t>
            </a:r>
            <a:r>
              <a:rPr lang="en-US" altLang="zh-TW" dirty="0"/>
              <a:t>3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Model</a:t>
            </a:r>
            <a:r>
              <a:rPr lang="zh-TW" altLang="en-US" dirty="0"/>
              <a:t> </a:t>
            </a:r>
            <a:r>
              <a:rPr lang="en-US" altLang="zh-TW" dirty="0"/>
              <a:t>Training</a:t>
            </a:r>
          </a:p>
          <a:p>
            <a:pPr lvl="1"/>
            <a:r>
              <a:rPr lang="zh-TW" altLang="en-US" dirty="0"/>
              <a:t>損失函數（</a:t>
            </a:r>
            <a:r>
              <a:rPr lang="en-US" altLang="zh-TW" dirty="0"/>
              <a:t>Loss</a:t>
            </a:r>
            <a:r>
              <a:rPr lang="zh-TW" altLang="en-US" dirty="0"/>
              <a:t> </a:t>
            </a:r>
            <a:r>
              <a:rPr lang="en-US" altLang="zh-TW" dirty="0"/>
              <a:t>Function</a:t>
            </a:r>
            <a:r>
              <a:rPr lang="zh-TW" altLang="en-US" dirty="0"/>
              <a:t>）與激活函數（</a:t>
            </a:r>
            <a:r>
              <a:rPr lang="en-US" altLang="zh-TW" dirty="0"/>
              <a:t>Activation</a:t>
            </a:r>
            <a:r>
              <a:rPr lang="zh-TW" altLang="en-US" dirty="0"/>
              <a:t> </a:t>
            </a:r>
            <a:r>
              <a:rPr lang="en-US" altLang="zh-TW" dirty="0"/>
              <a:t>Function</a:t>
            </a:r>
            <a:r>
              <a:rPr lang="zh-TW" altLang="en-US" dirty="0"/>
              <a:t>）</a:t>
            </a:r>
            <a:endParaRPr lang="en-US" altLang="zh-TW" dirty="0"/>
          </a:p>
          <a:p>
            <a:pPr lvl="1"/>
            <a:r>
              <a:rPr lang="zh-TW" altLang="en-US" dirty="0"/>
              <a:t>梯度消失與梯度爆炸問題</a:t>
            </a:r>
            <a:endParaRPr lang="en-US" altLang="zh-TW" dirty="0"/>
          </a:p>
          <a:p>
            <a:pPr lvl="1"/>
            <a:r>
              <a:rPr lang="zh-TW" altLang="en-US" dirty="0"/>
              <a:t>優化器（</a:t>
            </a:r>
            <a:r>
              <a:rPr lang="en-US" altLang="zh-TW" dirty="0" err="1"/>
              <a:t>RMSProp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  <a:r>
              <a:rPr lang="en-US" altLang="zh-TW" dirty="0"/>
              <a:t>Momentum,</a:t>
            </a:r>
            <a:r>
              <a:rPr lang="zh-TW" altLang="en-US" dirty="0"/>
              <a:t> </a:t>
            </a:r>
            <a:r>
              <a:rPr lang="en-US" altLang="zh-TW" dirty="0"/>
              <a:t>Adam</a:t>
            </a:r>
            <a:r>
              <a:rPr lang="zh-TW" altLang="en-US" dirty="0"/>
              <a:t>）</a:t>
            </a:r>
            <a:endParaRPr lang="en-US" altLang="zh-TW" dirty="0"/>
          </a:p>
          <a:p>
            <a:pPr lvl="1"/>
            <a:r>
              <a:rPr lang="en-US" altLang="zh-TW" dirty="0"/>
              <a:t>He</a:t>
            </a:r>
            <a:r>
              <a:rPr lang="zh-TW" altLang="en-US" dirty="0"/>
              <a:t> </a:t>
            </a:r>
            <a:r>
              <a:rPr lang="en-US" altLang="zh-TW" dirty="0"/>
              <a:t>Initialization</a:t>
            </a:r>
          </a:p>
          <a:p>
            <a:r>
              <a:rPr lang="en-US" altLang="zh-TW" dirty="0"/>
              <a:t>Chapter</a:t>
            </a:r>
            <a:r>
              <a:rPr lang="zh-TW" altLang="en-US" dirty="0"/>
              <a:t> </a:t>
            </a:r>
            <a:r>
              <a:rPr lang="en-US" altLang="zh-TW" dirty="0"/>
              <a:t>4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Convolutional</a:t>
            </a:r>
            <a:r>
              <a:rPr lang="zh-TW" altLang="en-US" dirty="0"/>
              <a:t> </a:t>
            </a:r>
            <a:r>
              <a:rPr lang="en-US" altLang="zh-TW" dirty="0"/>
              <a:t>Neural</a:t>
            </a:r>
            <a:r>
              <a:rPr lang="zh-TW" altLang="en-US" dirty="0"/>
              <a:t> </a:t>
            </a:r>
            <a:r>
              <a:rPr lang="en-US" altLang="zh-TW" dirty="0"/>
              <a:t>Network</a:t>
            </a:r>
            <a:r>
              <a:rPr lang="zh-TW" altLang="en-US" dirty="0"/>
              <a:t> </a:t>
            </a:r>
            <a:r>
              <a:rPr lang="en-US" altLang="zh-TW" dirty="0"/>
              <a:t>(CNN)</a:t>
            </a:r>
          </a:p>
          <a:p>
            <a:pPr lvl="1"/>
            <a:r>
              <a:rPr lang="zh-TW" altLang="en-US" dirty="0"/>
              <a:t>卷積神經網路（</a:t>
            </a:r>
            <a:r>
              <a:rPr lang="en-US" altLang="zh-TW" dirty="0"/>
              <a:t>CNN</a:t>
            </a:r>
            <a:r>
              <a:rPr lang="zh-TW" altLang="en-US" dirty="0"/>
              <a:t>）</a:t>
            </a:r>
            <a:endParaRPr lang="en-US" altLang="zh-TW" dirty="0"/>
          </a:p>
          <a:p>
            <a:pPr lvl="1"/>
            <a:r>
              <a:rPr lang="zh-TW" altLang="en-US" dirty="0"/>
              <a:t>特徵圖（</a:t>
            </a:r>
            <a:r>
              <a:rPr lang="en-US" altLang="zh-TW" dirty="0"/>
              <a:t>Feature</a:t>
            </a:r>
            <a:r>
              <a:rPr lang="zh-TW" altLang="en-US" dirty="0"/>
              <a:t> </a:t>
            </a:r>
            <a:r>
              <a:rPr lang="en-US" altLang="zh-TW" dirty="0"/>
              <a:t>Maps</a:t>
            </a:r>
            <a:r>
              <a:rPr lang="zh-TW" altLang="en-US" dirty="0"/>
              <a:t>）</a:t>
            </a:r>
            <a:endParaRPr lang="en-US" altLang="zh-TW" dirty="0"/>
          </a:p>
          <a:p>
            <a:pPr lvl="1"/>
            <a:r>
              <a:rPr lang="en-US" altLang="zh-TW" dirty="0" err="1"/>
              <a:t>AlexNet</a:t>
            </a:r>
            <a:r>
              <a:rPr lang="en-US" altLang="zh-TW" dirty="0"/>
              <a:t>, VGG,</a:t>
            </a:r>
            <a:r>
              <a:rPr lang="zh-TW" altLang="en-US" dirty="0"/>
              <a:t> </a:t>
            </a:r>
            <a:r>
              <a:rPr lang="en-US" altLang="zh-TW" dirty="0"/>
              <a:t>U-Net</a:t>
            </a:r>
          </a:p>
          <a:p>
            <a:pPr lvl="1"/>
            <a:r>
              <a:rPr lang="zh-TW" altLang="en-US" dirty="0"/>
              <a:t>遷移學習（</a:t>
            </a:r>
            <a:r>
              <a:rPr lang="en-US" altLang="zh-TW" dirty="0"/>
              <a:t>Transfer</a:t>
            </a:r>
            <a:r>
              <a:rPr lang="zh-TW" altLang="en-US" dirty="0"/>
              <a:t> </a:t>
            </a:r>
            <a:r>
              <a:rPr lang="en-US" altLang="zh-TW" dirty="0"/>
              <a:t>Learning</a:t>
            </a:r>
            <a:r>
              <a:rPr lang="zh-TW" altLang="en-US" dirty="0"/>
              <a:t>）</a:t>
            </a:r>
            <a:endParaRPr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1292B6-DE5F-FF0B-3551-856DC54D8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698289E-4FB7-5700-7F74-0733263D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4254876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B9893D-EC57-421E-A065-9C1612882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深度學習課程架構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0DDCF7-BBD8-4ED4-9837-7383A51F4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527" y="2108201"/>
            <a:ext cx="10521387" cy="4153703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/>
              <a:t>Chapter</a:t>
            </a:r>
            <a:r>
              <a:rPr lang="zh-TW" altLang="en-US" dirty="0"/>
              <a:t> </a:t>
            </a:r>
            <a:r>
              <a:rPr lang="en-US" altLang="zh-TW" dirty="0"/>
              <a:t>5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 err="1"/>
              <a:t>ResNet</a:t>
            </a:r>
            <a:endParaRPr lang="en-US" altLang="zh-TW" dirty="0"/>
          </a:p>
          <a:p>
            <a:pPr lvl="1"/>
            <a:r>
              <a:rPr lang="en-US" altLang="zh-TW" dirty="0"/>
              <a:t>Residual</a:t>
            </a:r>
            <a:r>
              <a:rPr lang="zh-TW" altLang="en-US" dirty="0"/>
              <a:t> </a:t>
            </a:r>
            <a:r>
              <a:rPr lang="en-US" altLang="zh-TW" dirty="0"/>
              <a:t>Network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ResNet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Style</a:t>
            </a:r>
            <a:r>
              <a:rPr lang="zh-TW" altLang="en-US" dirty="0"/>
              <a:t> </a:t>
            </a:r>
            <a:r>
              <a:rPr lang="en-US" altLang="zh-TW" dirty="0"/>
              <a:t>Transfer</a:t>
            </a:r>
          </a:p>
          <a:p>
            <a:r>
              <a:rPr lang="en-US" altLang="zh-TW" dirty="0"/>
              <a:t>Chapter</a:t>
            </a:r>
            <a:r>
              <a:rPr lang="zh-TW" altLang="en-US" dirty="0"/>
              <a:t> </a:t>
            </a:r>
            <a:r>
              <a:rPr lang="en-US" altLang="zh-TW" dirty="0"/>
              <a:t>6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Introduction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NLP</a:t>
            </a:r>
          </a:p>
          <a:p>
            <a:pPr lvl="1"/>
            <a:r>
              <a:rPr lang="en-US" altLang="zh-TW" dirty="0"/>
              <a:t>Word2Vec, </a:t>
            </a:r>
            <a:r>
              <a:rPr lang="en-US" altLang="zh-TW" dirty="0" err="1"/>
              <a:t>GloVe</a:t>
            </a:r>
            <a:r>
              <a:rPr lang="en-US" altLang="zh-TW" dirty="0"/>
              <a:t> Embedding</a:t>
            </a:r>
          </a:p>
          <a:p>
            <a:pPr lvl="1"/>
            <a:r>
              <a:rPr lang="en-US" altLang="zh-TW" dirty="0"/>
              <a:t>Recurrent</a:t>
            </a:r>
            <a:r>
              <a:rPr lang="zh-TW" altLang="en-US" dirty="0"/>
              <a:t> </a:t>
            </a:r>
            <a:r>
              <a:rPr lang="en-US" altLang="zh-TW" dirty="0"/>
              <a:t>Neural</a:t>
            </a:r>
            <a:r>
              <a:rPr lang="zh-TW" altLang="en-US" dirty="0"/>
              <a:t> </a:t>
            </a:r>
            <a:r>
              <a:rPr lang="en-US" altLang="zh-TW" dirty="0"/>
              <a:t>Network</a:t>
            </a:r>
            <a:r>
              <a:rPr lang="zh-TW" altLang="en-US" dirty="0"/>
              <a:t> </a:t>
            </a:r>
            <a:r>
              <a:rPr lang="en-US" altLang="zh-TW" dirty="0"/>
              <a:t>(RNN), Long</a:t>
            </a:r>
            <a:r>
              <a:rPr lang="zh-TW" altLang="en-US" dirty="0"/>
              <a:t> </a:t>
            </a:r>
            <a:r>
              <a:rPr lang="en-US" altLang="zh-TW" dirty="0"/>
              <a:t>Short-Term</a:t>
            </a:r>
            <a:r>
              <a:rPr lang="zh-TW" altLang="en-US" dirty="0"/>
              <a:t> </a:t>
            </a:r>
            <a:r>
              <a:rPr lang="en-US" altLang="zh-TW" dirty="0"/>
              <a:t>Memory</a:t>
            </a:r>
            <a:r>
              <a:rPr lang="zh-TW" altLang="en-US" dirty="0"/>
              <a:t> </a:t>
            </a:r>
            <a:r>
              <a:rPr lang="en-US" altLang="zh-TW" dirty="0"/>
              <a:t>(LSTM), Gated Recurrent Unit (GRU)</a:t>
            </a:r>
          </a:p>
          <a:p>
            <a:pPr lvl="1"/>
            <a:r>
              <a:rPr lang="en-US" altLang="zh-TW" dirty="0"/>
              <a:t>Intro to Transformers</a:t>
            </a:r>
          </a:p>
          <a:p>
            <a:pPr lvl="1"/>
            <a:r>
              <a:rPr lang="en-US" altLang="zh-TW" dirty="0"/>
              <a:t>Contrastive</a:t>
            </a:r>
            <a:r>
              <a:rPr lang="zh-TW" altLang="en-US" dirty="0"/>
              <a:t> </a:t>
            </a:r>
            <a:r>
              <a:rPr lang="en-US" altLang="zh-TW" dirty="0"/>
              <a:t>Learning</a:t>
            </a:r>
            <a:r>
              <a:rPr lang="zh-TW" altLang="en-US" dirty="0"/>
              <a:t> </a:t>
            </a:r>
            <a:r>
              <a:rPr lang="en-US" altLang="zh-TW" dirty="0"/>
              <a:t>(CLIP)</a:t>
            </a:r>
          </a:p>
          <a:p>
            <a:r>
              <a:rPr lang="en-US" altLang="zh-TW" dirty="0"/>
              <a:t>Chapter</a:t>
            </a:r>
            <a:r>
              <a:rPr lang="zh-TW" altLang="en-US" dirty="0"/>
              <a:t> </a:t>
            </a:r>
            <a:r>
              <a:rPr lang="en-US" altLang="zh-TW" dirty="0"/>
              <a:t>7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Generative</a:t>
            </a:r>
            <a:r>
              <a:rPr lang="zh-TW" altLang="en-US" dirty="0"/>
              <a:t> </a:t>
            </a:r>
            <a:r>
              <a:rPr lang="en-US" altLang="zh-TW" dirty="0"/>
              <a:t>Models</a:t>
            </a:r>
          </a:p>
          <a:p>
            <a:pPr lvl="1"/>
            <a:r>
              <a:rPr kumimoji="1" lang="en-US" altLang="zh-TW" dirty="0"/>
              <a:t>GAN</a:t>
            </a:r>
          </a:p>
          <a:p>
            <a:pPr lvl="1"/>
            <a:r>
              <a:rPr kumimoji="1" lang="en-US" altLang="zh-TW" dirty="0"/>
              <a:t>VAE</a:t>
            </a:r>
          </a:p>
          <a:p>
            <a:pPr lvl="1"/>
            <a:r>
              <a:rPr kumimoji="1" lang="en-US" altLang="zh-TW" dirty="0"/>
              <a:t>Diffusion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Model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990CB4-EDD1-C7D3-72BD-1583F61F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5D1D9E1-EE38-B161-6D96-B113296C8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759692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9E1121-DC2A-DE45-A302-DE91EBF52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深度學習課程架構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A1349D-7422-A6C1-201E-A275890BE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Chapter</a:t>
            </a:r>
            <a:r>
              <a:rPr kumimoji="1" lang="zh-TW" altLang="en-US" dirty="0"/>
              <a:t> </a:t>
            </a:r>
            <a:r>
              <a:rPr kumimoji="1" lang="en-US" altLang="zh-TW" dirty="0"/>
              <a:t>8</a:t>
            </a:r>
            <a:r>
              <a:rPr kumimoji="1" lang="zh-TW" altLang="en-US" dirty="0"/>
              <a:t> </a:t>
            </a:r>
            <a:r>
              <a:rPr kumimoji="1" lang="en-US" altLang="zh-TW" dirty="0"/>
              <a:t>–</a:t>
            </a:r>
            <a:r>
              <a:rPr kumimoji="1" lang="zh-TW" altLang="en-US" dirty="0"/>
              <a:t> </a:t>
            </a:r>
            <a:r>
              <a:rPr kumimoji="1" lang="en-US" altLang="zh-TW" dirty="0"/>
              <a:t>Other</a:t>
            </a:r>
            <a:r>
              <a:rPr kumimoji="1" lang="zh-TW" altLang="en-US" dirty="0"/>
              <a:t> </a:t>
            </a:r>
            <a:r>
              <a:rPr kumimoji="1" lang="en-US" altLang="zh-TW" dirty="0"/>
              <a:t>Topics</a:t>
            </a:r>
            <a:r>
              <a:rPr kumimoji="1" lang="zh-TW" altLang="en-US" dirty="0"/>
              <a:t> </a:t>
            </a:r>
            <a:r>
              <a:rPr kumimoji="1" lang="en-US" altLang="zh-TW" dirty="0"/>
              <a:t>in</a:t>
            </a:r>
            <a:r>
              <a:rPr kumimoji="1" lang="zh-TW" altLang="en-US" dirty="0"/>
              <a:t> 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Learning</a:t>
            </a:r>
          </a:p>
          <a:p>
            <a:pPr lvl="1"/>
            <a:r>
              <a:rPr kumimoji="1" lang="en-US" altLang="zh-TW" dirty="0"/>
              <a:t>Diffusion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Transformer</a:t>
            </a:r>
          </a:p>
          <a:p>
            <a:pPr lvl="1"/>
            <a:r>
              <a:rPr kumimoji="1" lang="en-US" altLang="zh-TW" dirty="0"/>
              <a:t>Reinforcement</a:t>
            </a:r>
            <a:r>
              <a:rPr kumimoji="1" lang="zh-TW" altLang="en-US" dirty="0"/>
              <a:t> </a:t>
            </a:r>
            <a:r>
              <a:rPr kumimoji="1" lang="en-US" altLang="zh-TW" dirty="0"/>
              <a:t>Learning</a:t>
            </a:r>
          </a:p>
          <a:p>
            <a:pPr lvl="1"/>
            <a:r>
              <a:rPr kumimoji="1" lang="en-US" altLang="zh-TW" dirty="0"/>
              <a:t>Monte</a:t>
            </a:r>
            <a:r>
              <a:rPr kumimoji="1" lang="zh-TW" altLang="en-US" dirty="0"/>
              <a:t> </a:t>
            </a:r>
            <a:r>
              <a:rPr kumimoji="1" lang="en-US" altLang="zh-TW" dirty="0"/>
              <a:t>Carlo</a:t>
            </a:r>
            <a:r>
              <a:rPr kumimoji="1" lang="zh-TW" altLang="en-US" dirty="0"/>
              <a:t> </a:t>
            </a:r>
            <a:r>
              <a:rPr kumimoji="1" lang="en-US" altLang="zh-TW" dirty="0"/>
              <a:t>Tree</a:t>
            </a:r>
            <a:r>
              <a:rPr kumimoji="1" lang="zh-TW" altLang="en-US" dirty="0"/>
              <a:t> </a:t>
            </a:r>
            <a:r>
              <a:rPr kumimoji="1" lang="en-US" altLang="zh-TW" dirty="0"/>
              <a:t>Search</a:t>
            </a:r>
            <a:r>
              <a:rPr kumimoji="1" lang="zh-TW" altLang="en-US" dirty="0"/>
              <a:t> </a:t>
            </a:r>
            <a:r>
              <a:rPr kumimoji="1" lang="en-US" altLang="zh-TW" dirty="0"/>
              <a:t>(MCTS)</a:t>
            </a:r>
            <a:r>
              <a:rPr kumimoji="1" lang="zh-TW" altLang="en-US" dirty="0"/>
              <a:t>  </a:t>
            </a:r>
            <a:r>
              <a:rPr kumimoji="1" lang="en-US" altLang="zh-TW" dirty="0"/>
              <a:t>and</a:t>
            </a:r>
            <a:r>
              <a:rPr kumimoji="1" lang="zh-TW" altLang="en-US" dirty="0"/>
              <a:t> </a:t>
            </a:r>
            <a:r>
              <a:rPr kumimoji="1" lang="en-US" altLang="zh-TW" dirty="0"/>
              <a:t>AlphaGo</a:t>
            </a:r>
          </a:p>
          <a:p>
            <a:pPr lvl="1"/>
            <a:r>
              <a:rPr kumimoji="1" lang="en-US" altLang="zh-TW" dirty="0"/>
              <a:t>Callbacks</a:t>
            </a:r>
            <a:r>
              <a:rPr kumimoji="1" lang="zh-TW" altLang="en-US" dirty="0"/>
              <a:t> </a:t>
            </a:r>
            <a:r>
              <a:rPr kumimoji="1" lang="en-US" altLang="zh-TW" dirty="0"/>
              <a:t>–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Tensorboard</a:t>
            </a:r>
            <a:r>
              <a:rPr kumimoji="1" lang="zh-TW" altLang="en-US" dirty="0"/>
              <a:t> </a:t>
            </a:r>
            <a:r>
              <a:rPr kumimoji="1" lang="en-US" altLang="zh-TW" dirty="0"/>
              <a:t>and</a:t>
            </a:r>
            <a:r>
              <a:rPr kumimoji="1" lang="zh-TW" altLang="en-US" dirty="0"/>
              <a:t> </a:t>
            </a:r>
            <a:r>
              <a:rPr kumimoji="1" lang="en-US" altLang="zh-TW" dirty="0"/>
              <a:t>Model</a:t>
            </a:r>
            <a:r>
              <a:rPr kumimoji="1" lang="zh-TW" altLang="en-US" dirty="0"/>
              <a:t> </a:t>
            </a:r>
            <a:r>
              <a:rPr kumimoji="1" lang="en-US" altLang="zh-TW" dirty="0"/>
              <a:t>Checkpoints</a:t>
            </a:r>
          </a:p>
          <a:p>
            <a:pPr lvl="1"/>
            <a:r>
              <a:rPr kumimoji="1" lang="en-US" altLang="zh-TW" dirty="0"/>
              <a:t>Why</a:t>
            </a:r>
            <a:r>
              <a:rPr kumimoji="1" lang="zh-TW" altLang="en-US" dirty="0"/>
              <a:t> </a:t>
            </a:r>
            <a:r>
              <a:rPr kumimoji="1" lang="en-US" altLang="zh-TW" dirty="0"/>
              <a:t>Deep</a:t>
            </a:r>
            <a:r>
              <a:rPr kumimoji="1" lang="zh-TW" altLang="en-US" dirty="0"/>
              <a:t> </a:t>
            </a:r>
            <a:r>
              <a:rPr kumimoji="1" lang="en-US" altLang="zh-TW" dirty="0"/>
              <a:t>Learning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Works?</a:t>
            </a:r>
          </a:p>
          <a:p>
            <a:pPr lvl="1"/>
            <a:r>
              <a:rPr kumimoji="1" lang="en-US" altLang="zh-TW" dirty="0"/>
              <a:t>Reducing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Model</a:t>
            </a:r>
            <a:r>
              <a:rPr kumimoji="1" lang="zh-TW" altLang="en-US" dirty="0"/>
              <a:t> </a:t>
            </a:r>
            <a:r>
              <a:rPr kumimoji="1" lang="en-US" altLang="zh-TW" dirty="0"/>
              <a:t>Size</a:t>
            </a:r>
            <a:r>
              <a:rPr kumimoji="1" lang="zh-TW" altLang="en-US" dirty="0"/>
              <a:t> </a:t>
            </a:r>
            <a:r>
              <a:rPr kumimoji="1" lang="en-US" altLang="zh-TW" dirty="0"/>
              <a:t>–</a:t>
            </a:r>
            <a:r>
              <a:rPr kumimoji="1" lang="zh-TW" altLang="en-US" dirty="0"/>
              <a:t> 剪枝法與知識蒸餾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AI</a:t>
            </a:r>
            <a:r>
              <a:rPr kumimoji="1" lang="zh-TW" altLang="en-US" dirty="0"/>
              <a:t> 倫理問題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A3E21F-7C49-9968-DD6B-54791D61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4D5074C-E0DC-FEC0-F1AE-370D82EA0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4286695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33428ACC-71EC-4171-9527-10983BA6B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5B19F76-33F3-4DB4-91A0-510A8FE2A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10" y="639098"/>
            <a:ext cx="3401961" cy="34947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課程準備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5262B4D-3674-44E6-AC6B-FAEDB090D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41110" y="4455621"/>
            <a:ext cx="3417990" cy="12386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Chapter 0</a:t>
            </a:r>
          </a:p>
          <a:p>
            <a:endParaRPr lang="en-US" altLang="zh-TW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A22713B-ABB6-4391-97F9-0449A2B9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294754"/>
            <a:ext cx="32004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8D4480B4-953D-41FA-9052-09AB3A026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pic>
        <p:nvPicPr>
          <p:cNvPr id="7" name="圖形 6">
            <a:extLst>
              <a:ext uri="{FF2B5EF4-FFF2-40B4-BE49-F238E27FC236}">
                <a16:creationId xmlns:a16="http://schemas.microsoft.com/office/drawing/2014/main" id="{C645513F-488F-5729-7662-44EA81A6C7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89305" y="1047750"/>
            <a:ext cx="4762500" cy="4762500"/>
          </a:xfrm>
          <a:prstGeom prst="rect">
            <a:avLst/>
          </a:prstGeom>
        </p:spPr>
      </p:pic>
      <p:sp>
        <p:nvSpPr>
          <p:cNvPr id="8" name="投影片編號版面配置區 4">
            <a:extLst>
              <a:ext uri="{FF2B5EF4-FFF2-40B4-BE49-F238E27FC236}">
                <a16:creationId xmlns:a16="http://schemas.microsoft.com/office/drawing/2014/main" id="{9918F90A-E918-55A6-FF90-3163BE918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75020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A0CE9-DD1E-C525-771E-8031D2C69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altLang="zh-TW"/>
              <a:t>如何最好的使用這堂課？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037DF-E61F-16AB-21E6-CF5521B4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zh-TW" altLang="en-US" dirty="0"/>
              <a:t>影片可以調整速度，我建議至少用</a:t>
            </a:r>
            <a:r>
              <a:rPr lang="en-US" altLang="zh-TW" dirty="0"/>
              <a:t>1.5</a:t>
            </a:r>
            <a:r>
              <a:rPr lang="zh-TW" altLang="en-US" dirty="0"/>
              <a:t>倍速度觀看影片。</a:t>
            </a:r>
            <a:r>
              <a:rPr lang="en-US" altLang="zh-TW" dirty="0"/>
              <a:t>1.75</a:t>
            </a:r>
            <a:r>
              <a:rPr lang="zh-TW" altLang="en-US" dirty="0"/>
              <a:t>倍速度我也是相當推薦的。</a:t>
            </a:r>
            <a:endParaRPr lang="en-US" altLang="zh-TW" dirty="0"/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zh-TW" altLang="en-US" dirty="0"/>
              <a:t>由於我目前旅居美國，通常是在台灣的凌晨時間回答問題。</a:t>
            </a:r>
            <a:endParaRPr lang="en-US" altLang="zh-TW" dirty="0"/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zh-TW" altLang="en-US" dirty="0"/>
              <a:t>練習處理問題。寫程式基本上就是打字而已（連猴子都會）。但處理邏輯、設計，以及 </a:t>
            </a:r>
            <a:r>
              <a:rPr lang="en-TW" altLang="zh-TW"/>
              <a:t>bug</a:t>
            </a:r>
            <a:r>
              <a:rPr lang="zh-TW" altLang="en-US" dirty="0"/>
              <a:t> 等等的問題，才是工程師的工作。寫程式本身不難，重要的是學習解決問題的技巧。</a:t>
            </a:r>
            <a:endParaRPr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710B4D-14AF-8381-4C67-8DB988D95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6" name="投影片編號版面配置區 4">
            <a:extLst>
              <a:ext uri="{FF2B5EF4-FFF2-40B4-BE49-F238E27FC236}">
                <a16:creationId xmlns:a16="http://schemas.microsoft.com/office/drawing/2014/main" id="{0D8F25A7-BC1D-C291-0FEE-074F249E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087559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2E98C1-9880-E01F-284D-570871315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altLang="zh-TW"/>
              <a:t>如何最好的使用這堂課？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B3DB7B-918E-882F-AB5E-B56D8B792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chemeClr val="accent6"/>
              </a:buClr>
              <a:buFont typeface="+mj-lt"/>
              <a:buAutoNum type="arabicPeriod" startAt="4"/>
            </a:pPr>
            <a:r>
              <a:rPr kumimoji="1" lang="zh-TW" altLang="en-US" dirty="0"/>
              <a:t>多練習寫 </a:t>
            </a:r>
            <a:r>
              <a:rPr kumimoji="1" lang="en-US" altLang="zh-TW" dirty="0"/>
              <a:t>code</a:t>
            </a:r>
            <a:r>
              <a:rPr kumimoji="1" lang="zh-TW" altLang="en-US" dirty="0"/>
              <a:t>。看別人打 </a:t>
            </a:r>
            <a:r>
              <a:rPr kumimoji="1" lang="en-US" altLang="zh-TW" dirty="0"/>
              <a:t>code</a:t>
            </a:r>
            <a:r>
              <a:rPr kumimoji="1" lang="zh-TW" altLang="en-US" dirty="0"/>
              <a:t> 是很容易的，但很容易發生</a:t>
            </a:r>
            <a:r>
              <a:rPr kumimoji="1" lang="en-US" altLang="zh-TW" dirty="0"/>
              <a:t>『</a:t>
            </a:r>
            <a:r>
              <a:rPr kumimoji="1" lang="zh-TW" altLang="en-US" dirty="0"/>
              <a:t>一看就會，一做就廢</a:t>
            </a:r>
            <a:r>
              <a:rPr kumimoji="1" lang="en-US" altLang="zh-TW" dirty="0"/>
              <a:t>』</a:t>
            </a:r>
            <a:r>
              <a:rPr kumimoji="1" lang="zh-TW" altLang="en-US" dirty="0"/>
              <a:t>這種眼高手低的問題。因此，我建議自己多練習，在沒有看影片的情況下，試試看自己寫，因為照著影片抄程式碼很容易發生誤</a:t>
            </a:r>
            <a:r>
              <a:rPr kumimoji="1" lang="en-US" altLang="zh-TW" dirty="0"/>
              <a:t>『</a:t>
            </a:r>
            <a:r>
              <a:rPr kumimoji="1" lang="zh-TW" altLang="en-US" dirty="0"/>
              <a:t>以為自己已經都懂了，但其實根本還沒懂</a:t>
            </a:r>
            <a:r>
              <a:rPr kumimoji="1" lang="en-US" altLang="zh-TW" dirty="0"/>
              <a:t>』</a:t>
            </a:r>
            <a:r>
              <a:rPr kumimoji="1" lang="zh-TW" altLang="en-US" dirty="0"/>
              <a:t>的情況。</a:t>
            </a:r>
            <a:endParaRPr kumimoji="1" lang="en-US" altLang="zh-TW" dirty="0"/>
          </a:p>
          <a:p>
            <a:pPr marL="457200" indent="-457200">
              <a:buClr>
                <a:schemeClr val="accent6"/>
              </a:buClr>
              <a:buFont typeface="+mj-lt"/>
              <a:buAutoNum type="arabicPeriod" startAt="5"/>
            </a:pPr>
            <a:r>
              <a:rPr kumimoji="1" lang="zh-TW" altLang="en-US" dirty="0"/>
              <a:t>與課程有關的問題請在</a:t>
            </a:r>
            <a:r>
              <a:rPr kumimoji="1" lang="en-US" altLang="zh-TW" dirty="0"/>
              <a:t>QA</a:t>
            </a:r>
            <a:r>
              <a:rPr kumimoji="1" lang="zh-TW" altLang="en-US" dirty="0"/>
              <a:t>區提問。</a:t>
            </a:r>
            <a:endParaRPr kumimoji="1" lang="en-US" altLang="zh-TW" dirty="0"/>
          </a:p>
          <a:p>
            <a:pPr lvl="1"/>
            <a:r>
              <a:rPr lang="zh-TW" altLang="en-US" dirty="0"/>
              <a:t>提問時，我建議將影片與時間標記清楚，這樣我能夠更好的了解你的問題出在哪邊！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若是與課程完全無關的問題，建議在網路上搜尋答案。</a:t>
            </a:r>
            <a:endParaRPr kumimoji="1" lang="en-US" altLang="zh-TW" dirty="0"/>
          </a:p>
          <a:p>
            <a:pPr marL="457200" indent="-457200">
              <a:buClr>
                <a:schemeClr val="accent6"/>
              </a:buClr>
              <a:buFont typeface="+mj-lt"/>
              <a:buAutoNum type="arabicPeriod" startAt="4"/>
            </a:pP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B9A7C9-D0F4-B9BC-AE9E-41E0CAA50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6" name="投影片編號版面配置區 4">
            <a:extLst>
              <a:ext uri="{FF2B5EF4-FFF2-40B4-BE49-F238E27FC236}">
                <a16:creationId xmlns:a16="http://schemas.microsoft.com/office/drawing/2014/main" id="{9A75470F-4C65-4AA7-FF49-7338E3AF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941920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D286B-BF6E-798B-70DE-86C941339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課前準備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27C3E2-C4D9-8292-09BE-1D31E572A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b="1" dirty="0">
                <a:solidFill>
                  <a:srgbClr val="FF0000"/>
                </a:solidFill>
              </a:rPr>
              <a:t>Python</a:t>
            </a:r>
            <a:r>
              <a:rPr kumimoji="1" lang="zh-TW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zh-TW" b="1" dirty="0">
                <a:solidFill>
                  <a:srgbClr val="FF0000"/>
                </a:solidFill>
              </a:rPr>
              <a:t>Requirement</a:t>
            </a:r>
          </a:p>
          <a:p>
            <a:pPr lvl="1"/>
            <a:r>
              <a:rPr kumimoji="1" lang="zh-TW" altLang="en-US" dirty="0"/>
              <a:t>了解並能夠熟練使用 </a:t>
            </a:r>
            <a:r>
              <a:rPr kumimoji="1" lang="en-US" altLang="zh-TW" dirty="0"/>
              <a:t>Python</a:t>
            </a:r>
            <a:endParaRPr kumimoji="1" lang="en-US" altLang="zh-TW" sz="1800" dirty="0"/>
          </a:p>
          <a:p>
            <a:pPr lvl="2"/>
            <a:r>
              <a:rPr kumimoji="1" lang="zh-TW" altLang="en-US" dirty="0"/>
              <a:t>變數、資料類型（</a:t>
            </a:r>
            <a:r>
              <a:rPr kumimoji="1" lang="en-US" altLang="zh-TW" dirty="0"/>
              <a:t>int,</a:t>
            </a:r>
            <a:r>
              <a:rPr kumimoji="1" lang="zh-TW" altLang="en-US" dirty="0"/>
              <a:t> </a:t>
            </a:r>
            <a:r>
              <a:rPr kumimoji="1" lang="en-US" altLang="zh-TW" dirty="0"/>
              <a:t>float,</a:t>
            </a:r>
            <a:r>
              <a:rPr kumimoji="1" lang="zh-TW" altLang="en-US" dirty="0"/>
              <a:t> </a:t>
            </a:r>
            <a:r>
              <a:rPr kumimoji="1" lang="en-US" altLang="zh-TW" dirty="0"/>
              <a:t>str,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dict</a:t>
            </a:r>
            <a:r>
              <a:rPr kumimoji="1" lang="en-US" altLang="zh-TW" dirty="0"/>
              <a:t>,</a:t>
            </a:r>
            <a:r>
              <a:rPr kumimoji="1" lang="zh-TW" altLang="en-US" dirty="0"/>
              <a:t> </a:t>
            </a:r>
            <a:r>
              <a:rPr kumimoji="1" lang="en-US" altLang="zh-TW" dirty="0"/>
              <a:t>list,</a:t>
            </a:r>
            <a:r>
              <a:rPr kumimoji="1" lang="zh-TW" altLang="en-US" dirty="0"/>
              <a:t> </a:t>
            </a:r>
            <a:r>
              <a:rPr kumimoji="1" lang="en-US" altLang="zh-TW" dirty="0"/>
              <a:t>set)</a:t>
            </a:r>
          </a:p>
          <a:p>
            <a:pPr lvl="2"/>
            <a:r>
              <a:rPr kumimoji="1" lang="en-US" altLang="zh-TW" dirty="0"/>
              <a:t>Control</a:t>
            </a:r>
            <a:r>
              <a:rPr kumimoji="1" lang="zh-TW" altLang="en-US" dirty="0"/>
              <a:t> </a:t>
            </a:r>
            <a:r>
              <a:rPr kumimoji="1" lang="en-US" altLang="zh-TW" dirty="0"/>
              <a:t>Flow</a:t>
            </a:r>
            <a:r>
              <a:rPr kumimoji="1" lang="zh-TW" altLang="en-US" dirty="0"/>
              <a:t>、迴圈（</a:t>
            </a:r>
            <a:r>
              <a:rPr kumimoji="1" lang="en-US" altLang="zh-TW" dirty="0"/>
              <a:t>for,</a:t>
            </a:r>
            <a:r>
              <a:rPr kumimoji="1" lang="zh-TW" altLang="en-US" dirty="0"/>
              <a:t> </a:t>
            </a:r>
            <a:r>
              <a:rPr kumimoji="1" lang="en-US" altLang="zh-TW" dirty="0"/>
              <a:t>while</a:t>
            </a:r>
            <a:r>
              <a:rPr kumimoji="1" lang="zh-TW" altLang="en-US" dirty="0"/>
              <a:t> </a:t>
            </a:r>
            <a:r>
              <a:rPr kumimoji="1" lang="en-US" altLang="zh-TW" dirty="0"/>
              <a:t>loop</a:t>
            </a:r>
            <a:r>
              <a:rPr kumimoji="1" lang="zh-TW" altLang="en-US" dirty="0"/>
              <a:t>）、函式</a:t>
            </a:r>
            <a:endParaRPr kumimoji="1" lang="en-US" altLang="zh-TW" dirty="0"/>
          </a:p>
          <a:p>
            <a:pPr lvl="2"/>
            <a:r>
              <a:rPr lang="zh-TW" altLang="en-US" dirty="0"/>
              <a:t>模組使用、</a:t>
            </a:r>
            <a:r>
              <a:rPr lang="en-US" altLang="zh-TW" dirty="0"/>
              <a:t>OOP</a:t>
            </a:r>
            <a:r>
              <a:rPr lang="zh-TW" altLang="en-US" dirty="0"/>
              <a:t>、文件讀取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如果你沒有學過 </a:t>
            </a:r>
            <a:r>
              <a:rPr kumimoji="1" lang="en-US" altLang="zh-TW" dirty="0"/>
              <a:t>Python</a:t>
            </a:r>
            <a:r>
              <a:rPr kumimoji="1" lang="zh-TW" altLang="en-US" dirty="0"/>
              <a:t>，可以參考「</a:t>
            </a:r>
            <a:r>
              <a:rPr kumimoji="1" lang="en-US" altLang="zh-TW" dirty="0"/>
              <a:t> Python</a:t>
            </a:r>
            <a:r>
              <a:rPr kumimoji="1" lang="zh-TW" altLang="en-US" dirty="0"/>
              <a:t>全攻略」課程！</a:t>
            </a:r>
            <a:endParaRPr kumimoji="1" lang="en-US" altLang="zh-TW" dirty="0"/>
          </a:p>
          <a:p>
            <a:pPr lvl="2"/>
            <a:r>
              <a:rPr kumimoji="1" lang="en-US" altLang="zh-TW" dirty="0"/>
              <a:t>Suggested</a:t>
            </a:r>
            <a:r>
              <a:rPr kumimoji="1" lang="zh-TW" altLang="en-US" dirty="0"/>
              <a:t> </a:t>
            </a:r>
            <a:r>
              <a:rPr kumimoji="1" lang="en-US" altLang="zh-TW" dirty="0"/>
              <a:t>Chapters</a:t>
            </a:r>
            <a:r>
              <a:rPr kumimoji="1" lang="zh-TW" altLang="en-US" dirty="0"/>
              <a:t> </a:t>
            </a:r>
            <a:r>
              <a:rPr kumimoji="1" lang="en-US" altLang="zh-TW" dirty="0"/>
              <a:t>–</a:t>
            </a:r>
            <a:r>
              <a:rPr kumimoji="1" lang="zh-TW" altLang="en-US" dirty="0"/>
              <a:t> </a:t>
            </a:r>
            <a:r>
              <a:rPr kumimoji="1" lang="en-US" altLang="zh-TW" dirty="0"/>
              <a:t>0,</a:t>
            </a:r>
            <a:r>
              <a:rPr kumimoji="1" lang="zh-TW" altLang="en-US" dirty="0"/>
              <a:t> </a:t>
            </a:r>
            <a:r>
              <a:rPr kumimoji="1" lang="en-US" altLang="zh-TW" dirty="0"/>
              <a:t>1,</a:t>
            </a:r>
            <a:r>
              <a:rPr kumimoji="1" lang="zh-TW" altLang="en-US" dirty="0"/>
              <a:t> </a:t>
            </a:r>
            <a:r>
              <a:rPr kumimoji="1" lang="en-US" altLang="zh-TW" dirty="0"/>
              <a:t>2,</a:t>
            </a:r>
            <a:r>
              <a:rPr kumimoji="1" lang="zh-TW" altLang="en-US" dirty="0"/>
              <a:t> </a:t>
            </a:r>
            <a:r>
              <a:rPr kumimoji="1" lang="en-US" altLang="zh-TW" dirty="0"/>
              <a:t>3,</a:t>
            </a:r>
            <a:r>
              <a:rPr kumimoji="1" lang="zh-TW" altLang="en-US" dirty="0"/>
              <a:t> </a:t>
            </a:r>
            <a:r>
              <a:rPr kumimoji="1" lang="en-US" altLang="zh-TW" dirty="0"/>
              <a:t>4,</a:t>
            </a:r>
            <a:r>
              <a:rPr kumimoji="1" lang="zh-TW" altLang="en-US" dirty="0"/>
              <a:t> </a:t>
            </a:r>
            <a:r>
              <a:rPr kumimoji="1" lang="en-US" altLang="zh-TW" dirty="0"/>
              <a:t>5,</a:t>
            </a:r>
            <a:r>
              <a:rPr kumimoji="1" lang="zh-TW" altLang="en-US" dirty="0"/>
              <a:t> </a:t>
            </a:r>
            <a:r>
              <a:rPr kumimoji="1" lang="en-US" altLang="zh-TW" dirty="0"/>
              <a:t>6,</a:t>
            </a:r>
            <a:r>
              <a:rPr kumimoji="1" lang="zh-TW" altLang="en-US" dirty="0"/>
              <a:t> </a:t>
            </a:r>
            <a:r>
              <a:rPr kumimoji="1" lang="en-US" altLang="zh-TW" dirty="0"/>
              <a:t>7</a:t>
            </a:r>
            <a:r>
              <a:rPr kumimoji="1" lang="zh-TW" altLang="en-US" dirty="0"/>
              <a:t> </a:t>
            </a:r>
            <a:r>
              <a:rPr kumimoji="1" lang="en-US" altLang="zh-TW" dirty="0"/>
              <a:t>(skip</a:t>
            </a:r>
            <a:r>
              <a:rPr kumimoji="1" lang="zh-TW" altLang="en-US" dirty="0"/>
              <a:t> </a:t>
            </a:r>
            <a:r>
              <a:rPr kumimoji="1" lang="en-US" altLang="zh-TW" dirty="0"/>
              <a:t>4.5,</a:t>
            </a:r>
            <a:r>
              <a:rPr kumimoji="1" lang="zh-TW" altLang="en-US" dirty="0"/>
              <a:t> </a:t>
            </a:r>
            <a:r>
              <a:rPr kumimoji="1" lang="en-US" altLang="zh-TW" dirty="0"/>
              <a:t>8</a:t>
            </a:r>
            <a:r>
              <a:rPr kumimoji="1" lang="zh-TW" altLang="en-US" dirty="0"/>
              <a:t> </a:t>
            </a:r>
            <a:r>
              <a:rPr kumimoji="1" lang="en-US" altLang="zh-TW" dirty="0"/>
              <a:t>~</a:t>
            </a:r>
            <a:r>
              <a:rPr kumimoji="1" lang="zh-TW" altLang="en-US" dirty="0"/>
              <a:t> </a:t>
            </a:r>
            <a:r>
              <a:rPr kumimoji="1" lang="en-US" altLang="zh-TW" dirty="0"/>
              <a:t>17)</a:t>
            </a:r>
          </a:p>
          <a:p>
            <a:pPr lvl="2"/>
            <a:r>
              <a:rPr kumimoji="1" lang="zh-TW" altLang="en-US" dirty="0"/>
              <a:t>網路爬蟲、資料庫處理、理財網站設計、電子郵件等可先跳過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082517-0548-3F1D-7614-B5C4DCBBC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6" name="投影片編號版面配置區 4">
            <a:extLst>
              <a:ext uri="{FF2B5EF4-FFF2-40B4-BE49-F238E27FC236}">
                <a16:creationId xmlns:a16="http://schemas.microsoft.com/office/drawing/2014/main" id="{CBD52516-577C-BC6F-4B23-C572E24A4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643233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9E9B49-FDF3-1912-60EC-0A74871EF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課前準備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9452DE-BD07-C131-DC10-BA4D8BD4D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0"/>
            <a:ext cx="10058400" cy="4258309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</a:rPr>
              <a:t>Math Requirement</a:t>
            </a:r>
          </a:p>
          <a:p>
            <a:pPr lvl="1"/>
            <a:r>
              <a:rPr kumimoji="1" lang="zh-TW" altLang="en-US" dirty="0"/>
              <a:t>微積分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機率與統計</a:t>
            </a:r>
            <a:endParaRPr lang="en-US" altLang="zh-TW" dirty="0"/>
          </a:p>
          <a:p>
            <a:pPr lvl="1"/>
            <a:r>
              <a:rPr lang="zh-TW" altLang="en-US" dirty="0"/>
              <a:t>線性代數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離散數學、資料結構與演算法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真的不會、沒學過、學不會怎麼辦？</a:t>
            </a:r>
            <a:endParaRPr kumimoji="1" lang="en-US" altLang="zh-TW" dirty="0"/>
          </a:p>
          <a:p>
            <a:r>
              <a:rPr kumimoji="1" lang="en-US" altLang="zh-TW" b="1" dirty="0">
                <a:solidFill>
                  <a:srgbClr val="FF0000"/>
                </a:solidFill>
              </a:rPr>
              <a:t>Hardware Requirement</a:t>
            </a:r>
          </a:p>
          <a:p>
            <a:pPr lvl="1"/>
            <a:r>
              <a:rPr kumimoji="1" lang="zh-TW" altLang="en-US" dirty="0"/>
              <a:t>課程主要使用 </a:t>
            </a:r>
            <a:r>
              <a:rPr kumimoji="1" lang="en-US" altLang="zh-TW" dirty="0"/>
              <a:t>Google </a:t>
            </a:r>
            <a:r>
              <a:rPr kumimoji="1" lang="en-US" altLang="zh-TW" dirty="0" err="1"/>
              <a:t>Colab</a:t>
            </a:r>
            <a:r>
              <a:rPr kumimoji="1" lang="zh-TW" altLang="en-US" dirty="0"/>
              <a:t>，因此你只需要有（</a:t>
            </a:r>
            <a:r>
              <a:rPr kumimoji="1" lang="en-US" altLang="zh-TW" dirty="0"/>
              <a:t>1</a:t>
            </a:r>
            <a:r>
              <a:rPr kumimoji="1" lang="zh-TW" altLang="en-US" dirty="0"/>
              <a:t>）穩定的網路連線、（</a:t>
            </a:r>
            <a:r>
              <a:rPr kumimoji="1" lang="en-US" altLang="zh-TW" dirty="0"/>
              <a:t>2</a:t>
            </a:r>
            <a:r>
              <a:rPr kumimoji="1" lang="zh-TW" altLang="en-US" dirty="0"/>
              <a:t>）可正常使用瀏覽器即可。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如果你的電腦硬體規格較高，且希望使用自己的 </a:t>
            </a:r>
            <a:r>
              <a:rPr kumimoji="1" lang="en-US" altLang="zh-TW" dirty="0"/>
              <a:t>GPU </a:t>
            </a:r>
            <a:r>
              <a:rPr kumimoji="1" lang="zh-TW" altLang="en-US" dirty="0"/>
              <a:t>加速訓練，可參考網路上的相關教學資源設定本地環境（每台電腦稍有不同）。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請勿使用雙螢幕、錄影軟體等工具。平台偵測到後，畫面可能會自動變黑。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F9B118-4714-4D70-6A5B-76605248C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6" name="投影片編號版面配置區 4">
            <a:extLst>
              <a:ext uri="{FF2B5EF4-FFF2-40B4-BE49-F238E27FC236}">
                <a16:creationId xmlns:a16="http://schemas.microsoft.com/office/drawing/2014/main" id="{B6EED4EF-AB90-E81C-5CC4-9957D025E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178918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121389-E067-CB40-F465-FDA9484F7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課前準備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821E84-F846-F554-B3E9-E756FC902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107069"/>
          </a:xfrm>
        </p:spPr>
        <p:txBody>
          <a:bodyPr>
            <a:norm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</a:rPr>
              <a:t>English Requirement</a:t>
            </a:r>
          </a:p>
          <a:p>
            <a:pPr lvl="1"/>
            <a:r>
              <a:rPr kumimoji="1" lang="zh-TW" altLang="en-US" dirty="0"/>
              <a:t>程式設計領域中，大部分的文件、套件說明（</a:t>
            </a:r>
            <a:r>
              <a:rPr kumimoji="1" lang="en-US" altLang="zh-TW" dirty="0"/>
              <a:t>documentation</a:t>
            </a:r>
            <a:r>
              <a:rPr kumimoji="1" lang="zh-TW" altLang="en-US" dirty="0"/>
              <a:t>）、錯誤訊息（</a:t>
            </a:r>
            <a:r>
              <a:rPr kumimoji="1" lang="en-US" altLang="zh-TW" dirty="0"/>
              <a:t>error messages</a:t>
            </a:r>
            <a:r>
              <a:rPr kumimoji="1" lang="zh-TW" altLang="en-US" dirty="0"/>
              <a:t>）都是以英文為主。具備基本的英文閱讀能力，將大大提升你的學習效率與問題解決能力。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如果遇到看不懂的英文內容？</a:t>
            </a:r>
            <a:r>
              <a:rPr kumimoji="1" lang="en-US" altLang="zh-TW" dirty="0"/>
              <a:t>Google </a:t>
            </a:r>
            <a:r>
              <a:rPr kumimoji="1" lang="zh-TW" altLang="en-US" dirty="0"/>
              <a:t>翻譯、</a:t>
            </a:r>
            <a:r>
              <a:rPr kumimoji="1" lang="en-US" altLang="zh-TW" dirty="0" err="1"/>
              <a:t>DeepL</a:t>
            </a:r>
            <a:r>
              <a:rPr kumimoji="1" lang="zh-TW" altLang="en-US" dirty="0"/>
              <a:t> 是你的好朋友！</a:t>
            </a:r>
            <a:endParaRPr kumimoji="1" lang="en-US" altLang="zh-TW" dirty="0"/>
          </a:p>
          <a:p>
            <a:r>
              <a:rPr kumimoji="1" lang="en-US" altLang="zh-TW" b="1" dirty="0">
                <a:solidFill>
                  <a:srgbClr val="FF0000"/>
                </a:solidFill>
              </a:rPr>
              <a:t>Debug Skill</a:t>
            </a:r>
            <a:r>
              <a:rPr kumimoji="1" lang="zh-TW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zh-TW" b="1" dirty="0">
                <a:solidFill>
                  <a:srgbClr val="FF0000"/>
                </a:solidFill>
              </a:rPr>
              <a:t>Requirement</a:t>
            </a:r>
          </a:p>
          <a:p>
            <a:pPr lvl="1"/>
            <a:r>
              <a:rPr kumimoji="1" lang="zh-TW" altLang="en-US" dirty="0"/>
              <a:t>主動閱讀官方文件（</a:t>
            </a:r>
            <a:r>
              <a:rPr kumimoji="1" lang="en-US" altLang="zh-TW" dirty="0"/>
              <a:t>documentation</a:t>
            </a:r>
            <a:r>
              <a:rPr kumimoji="1" lang="zh-TW" altLang="en-US" dirty="0"/>
              <a:t>），了解套件或函式的正確使用方式。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在學習過程中，遇到程式錯誤是很正常的事情。把錯誤內容拿去 搜尋（如 </a:t>
            </a:r>
            <a:r>
              <a:rPr kumimoji="1" lang="en-US" altLang="zh-TW" dirty="0"/>
              <a:t>Google</a:t>
            </a:r>
            <a:r>
              <a:rPr kumimoji="1" lang="zh-TW" altLang="en-US" dirty="0"/>
              <a:t>、</a:t>
            </a:r>
            <a:r>
              <a:rPr kumimoji="1" lang="en-US" altLang="zh-TW" dirty="0"/>
              <a:t>Stack Overflow</a:t>
            </a:r>
            <a:r>
              <a:rPr kumimoji="1" lang="zh-TW" altLang="en-US" dirty="0"/>
              <a:t>），通常能找到許多其他人遇到過類似問題的解答。</a:t>
            </a:r>
            <a:endParaRPr kumimoji="1" lang="en-US" altLang="zh-TW" dirty="0"/>
          </a:p>
          <a:p>
            <a:pPr lvl="1"/>
            <a:r>
              <a:rPr kumimoji="1" lang="zh-TW" altLang="en-US" b="1" dirty="0"/>
              <a:t>解決 </a:t>
            </a:r>
            <a:r>
              <a:rPr kumimoji="1" lang="en-US" altLang="zh-TW" b="1" dirty="0"/>
              <a:t>bug </a:t>
            </a:r>
            <a:r>
              <a:rPr kumimoji="1" lang="zh-TW" altLang="en-US" b="1" dirty="0"/>
              <a:t>的過程，就是程式能力成長最快的時候</a:t>
            </a:r>
            <a:r>
              <a:rPr kumimoji="1" lang="zh-TW" altLang="en-US" dirty="0"/>
              <a:t>。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99C1CE-9F4B-410C-EFF9-02541E851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6" name="投影片編號版面配置區 4">
            <a:extLst>
              <a:ext uri="{FF2B5EF4-FFF2-40B4-BE49-F238E27FC236}">
                <a16:creationId xmlns:a16="http://schemas.microsoft.com/office/drawing/2014/main" id="{095543A6-A226-9527-292C-B2C11BDEB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292728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2E728F-7DC0-9112-8AE6-3405A56DA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課前準備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585C6C-3113-A8A5-E25C-3BE6DA029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b="1" dirty="0">
                <a:solidFill>
                  <a:srgbClr val="FF0000"/>
                </a:solidFill>
              </a:rPr>
              <a:t>Machine</a:t>
            </a:r>
            <a:r>
              <a:rPr kumimoji="1" lang="zh-TW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zh-TW" b="1" dirty="0">
                <a:solidFill>
                  <a:srgbClr val="FF0000"/>
                </a:solidFill>
              </a:rPr>
              <a:t>Learning</a:t>
            </a:r>
            <a:r>
              <a:rPr kumimoji="1" lang="zh-TW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zh-TW" b="1" dirty="0">
                <a:solidFill>
                  <a:srgbClr val="FF0000"/>
                </a:solidFill>
              </a:rPr>
              <a:t>Requirement</a:t>
            </a:r>
          </a:p>
          <a:p>
            <a:pPr lvl="1"/>
            <a:r>
              <a:rPr kumimoji="1" lang="zh-TW" altLang="en-US" dirty="0"/>
              <a:t>了解以下的機器學習核心概念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基本套件：</a:t>
            </a:r>
            <a:r>
              <a:rPr kumimoji="1" lang="en-US" altLang="zh-TW" dirty="0" err="1"/>
              <a:t>Numpy</a:t>
            </a:r>
            <a:r>
              <a:rPr kumimoji="1" lang="en-US" altLang="zh-TW" dirty="0"/>
              <a:t>,</a:t>
            </a:r>
            <a:r>
              <a:rPr kumimoji="1" lang="zh-TW" altLang="en-US" dirty="0"/>
              <a:t> </a:t>
            </a:r>
            <a:r>
              <a:rPr kumimoji="1" lang="en-US" altLang="zh-TW" dirty="0"/>
              <a:t>Pandas,</a:t>
            </a:r>
            <a:r>
              <a:rPr kumimoji="1" lang="zh-TW" altLang="en-US" dirty="0"/>
              <a:t> </a:t>
            </a:r>
            <a:r>
              <a:rPr kumimoji="1" lang="en-US" altLang="zh-TW" dirty="0"/>
              <a:t>Matplotlib,</a:t>
            </a:r>
            <a:r>
              <a:rPr kumimoji="1" lang="zh-TW" altLang="en-US" dirty="0"/>
              <a:t> </a:t>
            </a:r>
            <a:r>
              <a:rPr kumimoji="1" lang="en-US" altLang="zh-TW" dirty="0"/>
              <a:t>Seaborn,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Sklearn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模型評估指標：</a:t>
            </a:r>
            <a:r>
              <a:rPr kumimoji="1" lang="en-US" altLang="zh-TW" dirty="0"/>
              <a:t>Overfitting,</a:t>
            </a:r>
            <a:r>
              <a:rPr kumimoji="1" lang="zh-TW" altLang="en-US" dirty="0"/>
              <a:t> </a:t>
            </a:r>
            <a:r>
              <a:rPr kumimoji="1" lang="en-US" altLang="zh-TW" dirty="0"/>
              <a:t>Underfitting,</a:t>
            </a:r>
            <a:r>
              <a:rPr kumimoji="1" lang="zh-TW" altLang="en-US" dirty="0"/>
              <a:t> </a:t>
            </a:r>
            <a:r>
              <a:rPr kumimoji="1" lang="en-US" altLang="zh-TW" dirty="0"/>
              <a:t>Train</a:t>
            </a:r>
            <a:r>
              <a:rPr kumimoji="1" lang="zh-TW" altLang="en-US" dirty="0"/>
              <a:t> </a:t>
            </a:r>
            <a:r>
              <a:rPr kumimoji="1" lang="en-US" altLang="zh-TW" dirty="0"/>
              <a:t>Test</a:t>
            </a:r>
            <a:r>
              <a:rPr kumimoji="1" lang="zh-TW" altLang="en-US" dirty="0"/>
              <a:t> </a:t>
            </a:r>
            <a:r>
              <a:rPr kumimoji="1" lang="en-US" altLang="zh-TW" dirty="0"/>
              <a:t>Split,</a:t>
            </a:r>
            <a:r>
              <a:rPr kumimoji="1" lang="zh-TW" altLang="en-US" dirty="0"/>
              <a:t> </a:t>
            </a:r>
            <a:r>
              <a:rPr kumimoji="1" lang="en-US" altLang="zh-TW" dirty="0"/>
              <a:t>Regularization,</a:t>
            </a:r>
            <a:r>
              <a:rPr kumimoji="1" lang="zh-TW" altLang="en-US" dirty="0"/>
              <a:t> </a:t>
            </a:r>
            <a:r>
              <a:rPr kumimoji="1" lang="en-US" altLang="zh-TW" dirty="0"/>
              <a:t>Bias-Variance</a:t>
            </a:r>
            <a:r>
              <a:rPr kumimoji="1" lang="zh-TW" altLang="en-US" dirty="0"/>
              <a:t> </a:t>
            </a:r>
            <a:r>
              <a:rPr kumimoji="1" lang="en-US" altLang="zh-TW" dirty="0"/>
              <a:t>Tradeoff,</a:t>
            </a:r>
            <a:r>
              <a:rPr kumimoji="1" lang="zh-TW" altLang="en-US" dirty="0"/>
              <a:t> </a:t>
            </a:r>
            <a:r>
              <a:rPr kumimoji="1" lang="en-US" altLang="zh-TW" dirty="0"/>
              <a:t>Cross</a:t>
            </a:r>
            <a:r>
              <a:rPr kumimoji="1" lang="zh-TW" altLang="en-US" dirty="0"/>
              <a:t> </a:t>
            </a:r>
            <a:r>
              <a:rPr kumimoji="1" lang="en-US" altLang="zh-TW" dirty="0"/>
              <a:t>Validation,</a:t>
            </a:r>
            <a:r>
              <a:rPr kumimoji="1" lang="zh-TW" altLang="en-US" dirty="0"/>
              <a:t> </a:t>
            </a:r>
            <a:r>
              <a:rPr kumimoji="1" lang="en-US" altLang="zh-TW" dirty="0"/>
              <a:t>Hyperparameter</a:t>
            </a:r>
            <a:r>
              <a:rPr kumimoji="1" lang="zh-TW" altLang="en-US" dirty="0"/>
              <a:t> </a:t>
            </a:r>
            <a:r>
              <a:rPr kumimoji="1" lang="en-US" altLang="zh-TW" dirty="0"/>
              <a:t>Tuning</a:t>
            </a:r>
          </a:p>
          <a:p>
            <a:pPr lvl="2"/>
            <a:r>
              <a:rPr kumimoji="1" lang="zh-TW" altLang="en-US" dirty="0"/>
              <a:t>數據分析：</a:t>
            </a:r>
            <a:r>
              <a:rPr kumimoji="1" lang="en-US" altLang="zh-TW" dirty="0"/>
              <a:t>Exploratory</a:t>
            </a:r>
            <a:r>
              <a:rPr kumimoji="1" lang="zh-TW" altLang="en-US" dirty="0"/>
              <a:t> </a:t>
            </a:r>
            <a:r>
              <a:rPr kumimoji="1" lang="en-US" altLang="zh-TW" dirty="0"/>
              <a:t>Data</a:t>
            </a:r>
            <a:r>
              <a:rPr kumimoji="1" lang="zh-TW" altLang="en-US" dirty="0"/>
              <a:t> </a:t>
            </a:r>
            <a:r>
              <a:rPr kumimoji="1" lang="en-US" altLang="zh-TW" dirty="0"/>
              <a:t>Analysis</a:t>
            </a:r>
            <a:r>
              <a:rPr kumimoji="1" lang="zh-TW" altLang="en-US" dirty="0"/>
              <a:t> </a:t>
            </a:r>
            <a:r>
              <a:rPr kumimoji="1" lang="en-US" altLang="zh-TW" dirty="0"/>
              <a:t>(EDA)</a:t>
            </a:r>
          </a:p>
          <a:p>
            <a:pPr lvl="2"/>
            <a:r>
              <a:rPr kumimoji="1" lang="zh-TW" altLang="en-US" dirty="0"/>
              <a:t>迴歸模型：</a:t>
            </a:r>
            <a:r>
              <a:rPr kumimoji="1" lang="en-US" altLang="zh-TW" dirty="0"/>
              <a:t>Linear</a:t>
            </a:r>
            <a:r>
              <a:rPr kumimoji="1" lang="zh-TW" altLang="en-US" dirty="0"/>
              <a:t> </a:t>
            </a:r>
            <a:r>
              <a:rPr kumimoji="1" lang="en-US" altLang="zh-TW" dirty="0"/>
              <a:t>Regression,</a:t>
            </a:r>
            <a:r>
              <a:rPr kumimoji="1" lang="zh-TW" altLang="en-US" dirty="0"/>
              <a:t> </a:t>
            </a:r>
            <a:r>
              <a:rPr kumimoji="1" lang="en-US" altLang="zh-TW" dirty="0"/>
              <a:t>Polynomial</a:t>
            </a:r>
            <a:r>
              <a:rPr kumimoji="1" lang="zh-TW" altLang="en-US" dirty="0"/>
              <a:t> </a:t>
            </a:r>
            <a:r>
              <a:rPr kumimoji="1" lang="en-US" altLang="zh-TW" dirty="0"/>
              <a:t>Regression</a:t>
            </a:r>
          </a:p>
          <a:p>
            <a:pPr lvl="2"/>
            <a:r>
              <a:rPr kumimoji="1" lang="zh-TW" altLang="en-US" dirty="0"/>
              <a:t>分類模型：</a:t>
            </a:r>
            <a:r>
              <a:rPr kumimoji="1" lang="en-US" altLang="zh-TW" dirty="0"/>
              <a:t>Logistic</a:t>
            </a:r>
            <a:r>
              <a:rPr kumimoji="1" lang="zh-TW" altLang="en-US" dirty="0"/>
              <a:t> </a:t>
            </a:r>
            <a:r>
              <a:rPr kumimoji="1" lang="en-US" altLang="zh-TW" dirty="0"/>
              <a:t>Regression,</a:t>
            </a:r>
            <a:r>
              <a:rPr kumimoji="1" lang="zh-TW" altLang="en-US" dirty="0"/>
              <a:t> </a:t>
            </a:r>
            <a:r>
              <a:rPr kumimoji="1" lang="en-US" altLang="zh-TW" dirty="0"/>
              <a:t>KNN,</a:t>
            </a:r>
            <a:r>
              <a:rPr kumimoji="1" lang="zh-TW" altLang="en-US" dirty="0"/>
              <a:t> </a:t>
            </a:r>
            <a:r>
              <a:rPr kumimoji="1" lang="en-US" altLang="zh-TW" dirty="0"/>
              <a:t>Naïve</a:t>
            </a:r>
            <a:r>
              <a:rPr kumimoji="1" lang="zh-TW" altLang="en-US" dirty="0"/>
              <a:t> </a:t>
            </a:r>
            <a:r>
              <a:rPr kumimoji="1" lang="en-US" altLang="zh-TW" dirty="0"/>
              <a:t>Bayes</a:t>
            </a:r>
            <a:r>
              <a:rPr kumimoji="1" lang="zh-TW" altLang="en-US" dirty="0"/>
              <a:t> </a:t>
            </a:r>
            <a:r>
              <a:rPr kumimoji="1" lang="en-US" altLang="zh-TW" dirty="0"/>
              <a:t>Classifier,</a:t>
            </a:r>
            <a:r>
              <a:rPr kumimoji="1" lang="zh-TW" altLang="en-US" dirty="0"/>
              <a:t> </a:t>
            </a:r>
            <a:r>
              <a:rPr kumimoji="1" lang="en-US" altLang="zh-TW" dirty="0"/>
              <a:t>SVM</a:t>
            </a:r>
          </a:p>
          <a:p>
            <a:pPr lvl="2"/>
            <a:r>
              <a:rPr kumimoji="1" lang="zh-TW" altLang="en-US" dirty="0"/>
              <a:t>其他常見模型：</a:t>
            </a:r>
            <a:r>
              <a:rPr kumimoji="1" lang="en-US" altLang="zh-TW" dirty="0"/>
              <a:t>Decision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Tree,</a:t>
            </a:r>
            <a:r>
              <a:rPr kumimoji="1" lang="zh-TW" altLang="en-US" dirty="0"/>
              <a:t> </a:t>
            </a:r>
            <a:r>
              <a:rPr kumimoji="1" lang="en-US" altLang="zh-TW" dirty="0"/>
              <a:t>Random</a:t>
            </a:r>
            <a:r>
              <a:rPr kumimoji="1" lang="zh-TW" altLang="en-US" dirty="0"/>
              <a:t> </a:t>
            </a:r>
            <a:r>
              <a:rPr kumimoji="1" lang="en-US" altLang="zh-TW" dirty="0"/>
              <a:t>Forest</a:t>
            </a:r>
          </a:p>
          <a:p>
            <a:pPr lvl="2"/>
            <a:r>
              <a:rPr kumimoji="1" lang="zh-TW" altLang="en-US" dirty="0"/>
              <a:t>無監督學習：</a:t>
            </a:r>
            <a:r>
              <a:rPr kumimoji="1" lang="en-US" altLang="zh-TW" dirty="0"/>
              <a:t>K-Means</a:t>
            </a:r>
            <a:r>
              <a:rPr kumimoji="1" lang="zh-TW" altLang="en-US" dirty="0"/>
              <a:t> </a:t>
            </a:r>
            <a:r>
              <a:rPr kumimoji="1" lang="en-US" altLang="zh-TW" dirty="0"/>
              <a:t>Clustering,</a:t>
            </a:r>
            <a:r>
              <a:rPr kumimoji="1" lang="zh-TW" altLang="en-US" dirty="0"/>
              <a:t> </a:t>
            </a:r>
            <a:r>
              <a:rPr kumimoji="1" lang="en-US" altLang="zh-TW" dirty="0"/>
              <a:t>DBSCAN,</a:t>
            </a:r>
            <a:r>
              <a:rPr kumimoji="1" lang="zh-TW" altLang="en-US" dirty="0"/>
              <a:t> </a:t>
            </a:r>
            <a:r>
              <a:rPr kumimoji="1" lang="en-US" altLang="zh-TW" dirty="0"/>
              <a:t>HAC,</a:t>
            </a:r>
            <a:r>
              <a:rPr kumimoji="1" lang="zh-TW" altLang="en-US" dirty="0"/>
              <a:t> </a:t>
            </a:r>
            <a:r>
              <a:rPr kumimoji="1" lang="en-US" altLang="zh-TW" dirty="0"/>
              <a:t>PCA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F14D95-8729-57FD-B7DA-E210BA206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7" name="投影片編號版面配置區 4">
            <a:extLst>
              <a:ext uri="{FF2B5EF4-FFF2-40B4-BE49-F238E27FC236}">
                <a16:creationId xmlns:a16="http://schemas.microsoft.com/office/drawing/2014/main" id="{8EBCEF6F-C979-BA23-9673-AAB70844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058116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C4D8C1-172C-A018-BF39-090A3710A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深度學習發展簡史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D2C0EF-E6E6-FC1C-EDBB-56ADD0A01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454" y="2108200"/>
            <a:ext cx="8637030" cy="4188428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萌芽期（</a:t>
            </a:r>
            <a:r>
              <a:rPr kumimoji="1" lang="en-US" altLang="zh-TW" dirty="0"/>
              <a:t>1950s–1960s</a:t>
            </a:r>
            <a:r>
              <a:rPr kumimoji="1" lang="zh-TW" altLang="en-US" dirty="0"/>
              <a:t>）：神經元的數學化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Frank Rosenblatt</a:t>
            </a:r>
            <a:r>
              <a:rPr kumimoji="1" lang="zh-TW" altLang="en-US" dirty="0"/>
              <a:t> 於 </a:t>
            </a:r>
            <a:r>
              <a:rPr kumimoji="1" lang="en-US" altLang="zh-TW" dirty="0"/>
              <a:t>1957</a:t>
            </a:r>
            <a:r>
              <a:rPr kumimoji="1" lang="zh-TW" altLang="en-US" dirty="0"/>
              <a:t> 年提出 </a:t>
            </a:r>
            <a:r>
              <a:rPr kumimoji="1" lang="en-US" altLang="zh-TW" dirty="0"/>
              <a:t>Perceptron</a:t>
            </a:r>
            <a:r>
              <a:rPr kumimoji="1" lang="zh-TW" altLang="en-US" dirty="0"/>
              <a:t> 模型，用數學的方式模擬人腦的神經元。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Minsky &amp; </a:t>
            </a:r>
            <a:r>
              <a:rPr kumimoji="1" lang="en-US" altLang="zh-TW" dirty="0" err="1"/>
              <a:t>Papert</a:t>
            </a:r>
            <a:r>
              <a:rPr kumimoji="1" lang="zh-TW" altLang="en-US" dirty="0"/>
              <a:t> 於 </a:t>
            </a:r>
            <a:r>
              <a:rPr kumimoji="1" lang="en-US" altLang="zh-TW" dirty="0"/>
              <a:t>1969</a:t>
            </a:r>
            <a:r>
              <a:rPr kumimoji="1" lang="zh-TW" altLang="en-US" dirty="0"/>
              <a:t> 年證明 </a:t>
            </a:r>
            <a:r>
              <a:rPr kumimoji="1" lang="en-US" altLang="zh-TW" dirty="0"/>
              <a:t>Perceptron </a:t>
            </a:r>
            <a:r>
              <a:rPr kumimoji="1" lang="zh-TW" altLang="en-US" dirty="0"/>
              <a:t>決策邊界為線性的，所以無法解 </a:t>
            </a:r>
            <a:r>
              <a:rPr kumimoji="1" lang="en-US" altLang="zh-TW" dirty="0"/>
              <a:t>XOR</a:t>
            </a:r>
            <a:r>
              <a:rPr kumimoji="1" lang="zh-TW" altLang="en-US" dirty="0"/>
              <a:t> 問題。因此深度學習相關研究一度停滯，人工智慧領域進入了寒冬。</a:t>
            </a:r>
            <a:endParaRPr kumimoji="1" lang="en-US" altLang="zh-TW" dirty="0"/>
          </a:p>
          <a:p>
            <a:r>
              <a:rPr kumimoji="1" lang="zh-TW" altLang="en-US" dirty="0"/>
              <a:t>沉寂期（</a:t>
            </a:r>
            <a:r>
              <a:rPr kumimoji="1" lang="en-US" altLang="zh-TW" dirty="0"/>
              <a:t>1970s–1980s</a:t>
            </a:r>
            <a:r>
              <a:rPr kumimoji="1" lang="zh-TW" altLang="en-US" dirty="0"/>
              <a:t>）：反向傳播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Geoffrey Hinton</a:t>
            </a:r>
            <a:r>
              <a:rPr kumimoji="1" lang="zh-TW" altLang="en-US" dirty="0"/>
              <a:t> 等研究人員研究和推廣了反向傳播算法（</a:t>
            </a:r>
            <a:r>
              <a:rPr kumimoji="1" lang="en-US" altLang="zh-TW" dirty="0"/>
              <a:t>Back</a:t>
            </a:r>
            <a:r>
              <a:rPr kumimoji="1" lang="zh-TW" altLang="en-US" dirty="0"/>
              <a:t> </a:t>
            </a:r>
            <a:r>
              <a:rPr kumimoji="1" lang="en-US" altLang="zh-TW" dirty="0"/>
              <a:t>Propagation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Algorithm</a:t>
            </a:r>
            <a:r>
              <a:rPr kumimoji="1" lang="zh-TW" altLang="en-US" dirty="0"/>
              <a:t>），為訓練帶有非線性函數的 </a:t>
            </a:r>
            <a:r>
              <a:rPr kumimoji="1" lang="en-US" altLang="zh-TW" dirty="0"/>
              <a:t>Multi-Layer</a:t>
            </a:r>
            <a:r>
              <a:rPr kumimoji="1" lang="zh-TW" altLang="en-US" dirty="0"/>
              <a:t> </a:t>
            </a:r>
            <a:r>
              <a:rPr kumimoji="1" lang="en-US" altLang="zh-TW" dirty="0"/>
              <a:t>Perceptron</a:t>
            </a:r>
            <a:r>
              <a:rPr kumimoji="1" lang="zh-TW" altLang="en-US" dirty="0"/>
              <a:t> 提供了一種有效的訓練方法。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多層神經網路「理論上」可訓練。但為何神經網路卻沒有成為主流？計算力太弱（</a:t>
            </a:r>
            <a:r>
              <a:rPr kumimoji="1" lang="en-US" altLang="zh-TW" dirty="0"/>
              <a:t>CPU </a:t>
            </a:r>
            <a:r>
              <a:rPr kumimoji="1" lang="zh-TW" altLang="en-US" dirty="0"/>
              <a:t>時代） 、資料太少。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E7966E-548F-1D59-705D-0C8537795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83CE781-5BC6-B10E-B4F1-60274FC9A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7" name="圖片 6" descr="一張含有 人的臉孔, 人員, 服裝, 微笑 的圖片&#10;&#10;AI 產生的內容可能不正確。">
            <a:extLst>
              <a:ext uri="{FF2B5EF4-FFF2-40B4-BE49-F238E27FC236}">
                <a16:creationId xmlns:a16="http://schemas.microsoft.com/office/drawing/2014/main" id="{7D0996C1-130C-0285-FACB-E59608718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5184" y="2377599"/>
            <a:ext cx="2902362" cy="342900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5DEE882-6CD5-A342-FC05-9133B8755CC2}"/>
              </a:ext>
            </a:extLst>
          </p:cNvPr>
          <p:cNvSpPr txBox="1"/>
          <p:nvPr/>
        </p:nvSpPr>
        <p:spPr>
          <a:xfrm>
            <a:off x="9799171" y="5817735"/>
            <a:ext cx="1776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Geoffrey Hinton</a:t>
            </a:r>
          </a:p>
        </p:txBody>
      </p:sp>
    </p:spTree>
    <p:extLst>
      <p:ext uri="{BB962C8B-B14F-4D97-AF65-F5344CB8AC3E}">
        <p14:creationId xmlns:p14="http://schemas.microsoft.com/office/powerpoint/2010/main" val="423645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9F2F9E-B289-90D8-E259-1C0307DD3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深度學習發展簡史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15666C-5F3E-EC54-E9EA-3BC5808D7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復興期（</a:t>
            </a:r>
            <a:r>
              <a:rPr kumimoji="1" lang="en-US" altLang="zh-TW" dirty="0"/>
              <a:t>1990s–2000s</a:t>
            </a:r>
            <a:r>
              <a:rPr kumimoji="1" lang="zh-TW" altLang="en-US" dirty="0"/>
              <a:t>）：更種深度學習模型的發明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卷積神經網路（</a:t>
            </a:r>
            <a:r>
              <a:rPr kumimoji="1" lang="en-US" altLang="zh-TW" dirty="0"/>
              <a:t>Convolutional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Network,</a:t>
            </a:r>
            <a:r>
              <a:rPr kumimoji="1" lang="zh-TW" altLang="en-US" dirty="0"/>
              <a:t> </a:t>
            </a:r>
            <a:r>
              <a:rPr kumimoji="1" lang="en-US" altLang="zh-TW" dirty="0"/>
              <a:t>CNN</a:t>
            </a:r>
            <a:r>
              <a:rPr kumimoji="1" lang="zh-TW" altLang="en-US" dirty="0"/>
              <a:t>）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循環神經網絡（</a:t>
            </a:r>
            <a:r>
              <a:rPr kumimoji="1" lang="en-US" altLang="zh-TW" dirty="0"/>
              <a:t>Recurrent</a:t>
            </a:r>
            <a:r>
              <a:rPr kumimoji="1" lang="zh-TW" altLang="en-US" dirty="0"/>
              <a:t> </a:t>
            </a:r>
            <a:r>
              <a:rPr kumimoji="1" lang="en-US" altLang="zh-TW" dirty="0"/>
              <a:t>Neural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Network,</a:t>
            </a:r>
            <a:r>
              <a:rPr kumimoji="1" lang="zh-TW" altLang="en-US" dirty="0"/>
              <a:t> </a:t>
            </a:r>
            <a:r>
              <a:rPr kumimoji="1" lang="en-US" altLang="zh-TW" dirty="0"/>
              <a:t>RNN</a:t>
            </a:r>
            <a:r>
              <a:rPr kumimoji="1" lang="zh-TW" altLang="en-US" dirty="0"/>
              <a:t>）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長短期記憶（</a:t>
            </a:r>
            <a:r>
              <a:rPr kumimoji="1" lang="en-US" altLang="zh-TW" dirty="0"/>
              <a:t>Long</a:t>
            </a:r>
            <a:r>
              <a:rPr kumimoji="1" lang="zh-TW" altLang="en-US" dirty="0"/>
              <a:t> </a:t>
            </a:r>
            <a:r>
              <a:rPr kumimoji="1" lang="en-US" altLang="zh-TW" dirty="0"/>
              <a:t>Short-Term</a:t>
            </a:r>
            <a:r>
              <a:rPr kumimoji="1" lang="zh-TW" altLang="en-US" dirty="0"/>
              <a:t> </a:t>
            </a:r>
            <a:r>
              <a:rPr kumimoji="1" lang="en-US" altLang="zh-TW" dirty="0"/>
              <a:t>Memory,</a:t>
            </a:r>
            <a:r>
              <a:rPr kumimoji="1" lang="zh-TW" altLang="en-US" dirty="0"/>
              <a:t> </a:t>
            </a:r>
            <a:r>
              <a:rPr kumimoji="1" lang="en-US" altLang="zh-TW" dirty="0"/>
              <a:t>LSTM</a:t>
            </a:r>
            <a:r>
              <a:rPr kumimoji="1" lang="zh-TW" altLang="en-US" dirty="0"/>
              <a:t>）</a:t>
            </a:r>
            <a:endParaRPr kumimoji="1" lang="en-US" altLang="zh-TW" dirty="0"/>
          </a:p>
          <a:p>
            <a:r>
              <a:rPr kumimoji="1" lang="zh-TW" altLang="en-US" dirty="0"/>
              <a:t>爆炸期（</a:t>
            </a:r>
            <a:r>
              <a:rPr kumimoji="1" lang="en-US" altLang="zh-TW" dirty="0"/>
              <a:t>2010s–2020s</a:t>
            </a:r>
            <a:r>
              <a:rPr kumimoji="1" lang="zh-TW" altLang="en-US" dirty="0"/>
              <a:t>）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2012</a:t>
            </a:r>
            <a:r>
              <a:rPr kumimoji="1" lang="zh-TW" altLang="en-US" dirty="0"/>
              <a:t> 年的 </a:t>
            </a:r>
            <a:r>
              <a:rPr kumimoji="1" lang="en-US" altLang="zh-TW" dirty="0"/>
              <a:t>ImageNet</a:t>
            </a:r>
            <a:r>
              <a:rPr kumimoji="1" lang="zh-TW" altLang="en-US" dirty="0"/>
              <a:t> 圖像辨識大賽上，</a:t>
            </a:r>
            <a:r>
              <a:rPr kumimoji="1" lang="en-US" altLang="zh-TW" dirty="0" err="1"/>
              <a:t>Krizhevsky</a:t>
            </a:r>
            <a:r>
              <a:rPr kumimoji="1" lang="en-US" altLang="zh-TW" dirty="0"/>
              <a:t>, </a:t>
            </a:r>
            <a:r>
              <a:rPr kumimoji="1" lang="en-US" altLang="zh-TW" dirty="0" err="1"/>
              <a:t>Sutskever</a:t>
            </a:r>
            <a:r>
              <a:rPr kumimoji="1" lang="en-US" altLang="zh-TW" dirty="0"/>
              <a:t>, Hinton</a:t>
            </a:r>
            <a:r>
              <a:rPr kumimoji="1" lang="zh-TW" altLang="en-US" dirty="0"/>
              <a:t> 等人提出的 </a:t>
            </a:r>
            <a:r>
              <a:rPr kumimoji="1" lang="en-US" altLang="zh-TW" dirty="0" err="1"/>
              <a:t>AlexNet</a:t>
            </a:r>
            <a:r>
              <a:rPr kumimoji="1" lang="zh-TW" altLang="en-US" dirty="0"/>
              <a:t> 以壓倒性的 </a:t>
            </a:r>
            <a:r>
              <a:rPr kumimoji="1" lang="en-US" altLang="zh-TW" dirty="0"/>
              <a:t>85%</a:t>
            </a:r>
            <a:r>
              <a:rPr kumimoji="1" lang="zh-TW" altLang="en-US" dirty="0"/>
              <a:t> 正確率奪得冠軍。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神經網路全面統治電腦視覺、傳統方法幾乎團滅。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神經網路廣泛應用於各個領域，包含機器翻譯、影像分割、圖片生成等等。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366D27-8B6D-566F-B3EA-2E82A9077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960B0B0-22FE-A20D-2CC1-4D175919C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742275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16694E0-DA90-9000-0071-E60D96B74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16835"/>
            <a:ext cx="5977937" cy="1666501"/>
          </a:xfrm>
        </p:spPr>
        <p:txBody>
          <a:bodyPr>
            <a:normAutofit/>
          </a:bodyPr>
          <a:lstStyle/>
          <a:p>
            <a:r>
              <a:rPr kumimoji="1" lang="zh-TW" altLang="en-US" sz="4000">
                <a:solidFill>
                  <a:schemeClr val="tx1"/>
                </a:solidFill>
              </a:rPr>
              <a:t>深度學習發展簡史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5896" y="2353592"/>
            <a:ext cx="53035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25C053-3EE2-A054-C69E-64EAE6E30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159" y="2523849"/>
            <a:ext cx="6843723" cy="4062914"/>
          </a:xfrm>
        </p:spPr>
        <p:txBody>
          <a:bodyPr>
            <a:normAutofit/>
          </a:bodyPr>
          <a:lstStyle/>
          <a:p>
            <a:r>
              <a:rPr kumimoji="1" lang="zh-TW" altLang="en-US" dirty="0">
                <a:solidFill>
                  <a:schemeClr val="tx1"/>
                </a:solidFill>
              </a:rPr>
              <a:t>大型語言模型時代（</a:t>
            </a:r>
            <a:r>
              <a:rPr kumimoji="1" lang="en-US" altLang="zh-TW" dirty="0">
                <a:solidFill>
                  <a:schemeClr val="tx1"/>
                </a:solidFill>
              </a:rPr>
              <a:t>2020s–</a:t>
            </a:r>
            <a:r>
              <a:rPr kumimoji="1" lang="zh-TW" altLang="en-US" dirty="0">
                <a:solidFill>
                  <a:schemeClr val="tx1"/>
                </a:solidFill>
              </a:rPr>
              <a:t>）：</a:t>
            </a:r>
            <a:endParaRPr kumimoji="1" lang="en-US" altLang="zh-TW" dirty="0">
              <a:solidFill>
                <a:schemeClr val="tx1"/>
              </a:solidFill>
            </a:endParaRPr>
          </a:p>
          <a:p>
            <a:pPr lvl="1"/>
            <a:r>
              <a:rPr kumimoji="1" lang="en-US" altLang="zh-TW" dirty="0">
                <a:solidFill>
                  <a:schemeClr val="tx1"/>
                </a:solidFill>
              </a:rPr>
              <a:t>Google </a:t>
            </a:r>
            <a:r>
              <a:rPr kumimoji="1" lang="zh-TW" altLang="en-US" dirty="0">
                <a:solidFill>
                  <a:schemeClr val="tx1"/>
                </a:solidFill>
              </a:rPr>
              <a:t>於 </a:t>
            </a:r>
            <a:r>
              <a:rPr kumimoji="1" lang="en-US" altLang="zh-TW" dirty="0">
                <a:solidFill>
                  <a:schemeClr val="tx1"/>
                </a:solidFill>
              </a:rPr>
              <a:t>2017 </a:t>
            </a:r>
            <a:r>
              <a:rPr kumimoji="1" lang="zh-TW" altLang="en-US" dirty="0">
                <a:solidFill>
                  <a:schemeClr val="tx1"/>
                </a:solidFill>
              </a:rPr>
              <a:t>年發表 </a:t>
            </a:r>
            <a:r>
              <a:rPr kumimoji="1" lang="en-US" altLang="zh-TW" dirty="0">
                <a:solidFill>
                  <a:schemeClr val="tx1"/>
                </a:solidFill>
              </a:rPr>
              <a:t>Attention Is All You Need </a:t>
            </a:r>
            <a:r>
              <a:rPr kumimoji="1" lang="zh-TW" altLang="en-US" dirty="0">
                <a:solidFill>
                  <a:schemeClr val="tx1"/>
                </a:solidFill>
              </a:rPr>
              <a:t>論文，提出 </a:t>
            </a:r>
            <a:r>
              <a:rPr kumimoji="1" lang="en-US" altLang="zh-TW" dirty="0">
                <a:solidFill>
                  <a:schemeClr val="tx1"/>
                </a:solidFill>
              </a:rPr>
              <a:t>Transformer </a:t>
            </a:r>
            <a:r>
              <a:rPr kumimoji="1" lang="zh-TW" altLang="en-US" dirty="0">
                <a:solidFill>
                  <a:schemeClr val="tx1"/>
                </a:solidFill>
              </a:rPr>
              <a:t>架構。 </a:t>
            </a:r>
            <a:r>
              <a:rPr kumimoji="1" lang="en-US" altLang="zh-TW" dirty="0">
                <a:solidFill>
                  <a:schemeClr val="tx1"/>
                </a:solidFill>
              </a:rPr>
              <a:t>BERT</a:t>
            </a:r>
            <a:r>
              <a:rPr kumimoji="1" lang="zh-TW" altLang="en-US" dirty="0">
                <a:solidFill>
                  <a:schemeClr val="tx1"/>
                </a:solidFill>
              </a:rPr>
              <a:t>、</a:t>
            </a:r>
            <a:r>
              <a:rPr kumimoji="1" lang="en-US" altLang="zh-TW" dirty="0">
                <a:solidFill>
                  <a:schemeClr val="tx1"/>
                </a:solidFill>
              </a:rPr>
              <a:t>GPT </a:t>
            </a:r>
            <a:r>
              <a:rPr kumimoji="1" lang="zh-TW" altLang="en-US" dirty="0">
                <a:solidFill>
                  <a:schemeClr val="tx1"/>
                </a:solidFill>
              </a:rPr>
              <a:t>等 </a:t>
            </a:r>
            <a:r>
              <a:rPr kumimoji="1" lang="en-US" altLang="zh-TW" dirty="0">
                <a:solidFill>
                  <a:schemeClr val="tx1"/>
                </a:solidFill>
              </a:rPr>
              <a:t>Encoders, Decoders </a:t>
            </a:r>
            <a:r>
              <a:rPr kumimoji="1" lang="zh-TW" altLang="en-US" dirty="0">
                <a:solidFill>
                  <a:schemeClr val="tx1"/>
                </a:solidFill>
              </a:rPr>
              <a:t>架構成為現代 </a:t>
            </a:r>
            <a:r>
              <a:rPr kumimoji="1" lang="en-US" altLang="zh-TW" dirty="0">
                <a:solidFill>
                  <a:schemeClr val="tx1"/>
                </a:solidFill>
              </a:rPr>
              <a:t>AI </a:t>
            </a:r>
            <a:r>
              <a:rPr kumimoji="1" lang="zh-TW" altLang="en-US" dirty="0">
                <a:solidFill>
                  <a:schemeClr val="tx1"/>
                </a:solidFill>
              </a:rPr>
              <a:t>核心。</a:t>
            </a:r>
            <a:endParaRPr kumimoji="1" lang="en-US" altLang="zh-TW" dirty="0">
              <a:solidFill>
                <a:schemeClr val="tx1"/>
              </a:solidFill>
            </a:endParaRPr>
          </a:p>
          <a:p>
            <a:pPr lvl="1"/>
            <a:r>
              <a:rPr kumimoji="1" lang="zh-TW" altLang="en-US" dirty="0">
                <a:solidFill>
                  <a:schemeClr val="tx1"/>
                </a:solidFill>
              </a:rPr>
              <a:t> 例如：</a:t>
            </a:r>
            <a:r>
              <a:rPr kumimoji="1" lang="en-US" altLang="zh-TW" dirty="0">
                <a:solidFill>
                  <a:schemeClr val="tx1"/>
                </a:solidFill>
              </a:rPr>
              <a:t>ChatGPT </a:t>
            </a:r>
            <a:r>
              <a:rPr kumimoji="1" lang="zh-TW" altLang="en-US" dirty="0">
                <a:solidFill>
                  <a:schemeClr val="tx1"/>
                </a:solidFill>
              </a:rPr>
              <a:t>（</a:t>
            </a:r>
            <a:r>
              <a:rPr kumimoji="1" lang="en-US" altLang="zh-TW" dirty="0">
                <a:solidFill>
                  <a:schemeClr val="tx1"/>
                </a:solidFill>
              </a:rPr>
              <a:t>Chat Generative Pre-trained Transformer</a:t>
            </a:r>
            <a:r>
              <a:rPr kumimoji="1" lang="zh-TW" altLang="en-US" dirty="0">
                <a:solidFill>
                  <a:schemeClr val="tx1"/>
                </a:solidFill>
              </a:rPr>
              <a:t>）為 </a:t>
            </a:r>
            <a:r>
              <a:rPr kumimoji="1" lang="en-US" altLang="zh-TW" dirty="0">
                <a:solidFill>
                  <a:schemeClr val="tx1"/>
                </a:solidFill>
              </a:rPr>
              <a:t>Decoder-Only Model</a:t>
            </a:r>
            <a:r>
              <a:rPr kumimoji="1" lang="zh-TW" altLang="en-US" dirty="0">
                <a:solidFill>
                  <a:schemeClr val="tx1"/>
                </a:solidFill>
              </a:rPr>
              <a:t>。 </a:t>
            </a:r>
            <a:endParaRPr kumimoji="1" lang="en-US" altLang="zh-TW" dirty="0">
              <a:solidFill>
                <a:schemeClr val="tx1"/>
              </a:solidFill>
            </a:endParaRPr>
          </a:p>
          <a:p>
            <a:pPr lvl="1"/>
            <a:r>
              <a:rPr kumimoji="1" lang="zh-TW" altLang="en-US" dirty="0">
                <a:solidFill>
                  <a:schemeClr val="tx1"/>
                </a:solidFill>
              </a:rPr>
              <a:t>例如：語意分類、文件比對和海量文章內容搜尋等系統則仰賴 </a:t>
            </a:r>
            <a:r>
              <a:rPr kumimoji="1" lang="en-US" altLang="zh-TW" dirty="0">
                <a:solidFill>
                  <a:schemeClr val="tx1"/>
                </a:solidFill>
              </a:rPr>
              <a:t>BERT </a:t>
            </a:r>
            <a:r>
              <a:rPr kumimoji="1" lang="zh-TW" altLang="en-US" dirty="0">
                <a:solidFill>
                  <a:schemeClr val="tx1"/>
                </a:solidFill>
              </a:rPr>
              <a:t>這種 </a:t>
            </a:r>
            <a:r>
              <a:rPr kumimoji="1" lang="en-US" altLang="zh-TW" dirty="0">
                <a:solidFill>
                  <a:schemeClr val="tx1"/>
                </a:solidFill>
              </a:rPr>
              <a:t>Encoder-Only Model</a:t>
            </a:r>
            <a:r>
              <a:rPr kumimoji="1" lang="zh-TW" altLang="en-US" dirty="0">
                <a:solidFill>
                  <a:schemeClr val="tx1"/>
                </a:solidFill>
              </a:rPr>
              <a:t>。</a:t>
            </a:r>
            <a:endParaRPr kumimoji="1" lang="en-US" altLang="zh-TW" dirty="0">
              <a:solidFill>
                <a:schemeClr val="tx1"/>
              </a:solidFill>
            </a:endParaRPr>
          </a:p>
        </p:txBody>
      </p:sp>
      <p:pic>
        <p:nvPicPr>
          <p:cNvPr id="7" name="圖片 6" descr="一張含有 文字, 圖表, 方案, 螢幕擷取畫面 的圖片&#10;&#10;AI 產生的內容可能不正確。">
            <a:extLst>
              <a:ext uri="{FF2B5EF4-FFF2-40B4-BE49-F238E27FC236}">
                <a16:creationId xmlns:a16="http://schemas.microsoft.com/office/drawing/2014/main" id="{1E68FBE1-BA7F-C8C5-C7D2-F0603E8EC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742" y="370483"/>
            <a:ext cx="2459584" cy="3093817"/>
          </a:xfrm>
          <a:prstGeom prst="rect">
            <a:avLst/>
          </a:prstGeom>
        </p:spPr>
      </p:pic>
      <p:pic>
        <p:nvPicPr>
          <p:cNvPr id="6" name="圖片 5" descr="一張含有 圖表, 螢幕擷取畫面, 文字, 方案 的圖片&#10;&#10;AI 產生的內容可能不正確。">
            <a:extLst>
              <a:ext uri="{FF2B5EF4-FFF2-40B4-BE49-F238E27FC236}">
                <a16:creationId xmlns:a16="http://schemas.microsoft.com/office/drawing/2014/main" id="{3CBC69A7-EC7F-6068-6983-06296F75C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9227" y="3834783"/>
            <a:ext cx="3936614" cy="2155295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0D54DB-425F-51E6-933A-8075D56304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TW"/>
              <a:t>Wilson Ren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2EE95B3-92A1-BA9A-094C-6B3B0AD7A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dirty="0">
                <a:solidFill>
                  <a:schemeClr val="tx1"/>
                </a:solidFill>
              </a:rPr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540000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5CDEDE-EE2F-0368-4E0F-085FBC74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TW" altLang="en-US" dirty="0">
                <a:solidFill>
                  <a:schemeClr val="tx1"/>
                </a:solidFill>
              </a:rPr>
              <a:t>為什麼深度學習到現在才「成功」？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DFB628-CC5A-AE71-2580-B169CF3CB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基於以下因素： 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算力（</a:t>
            </a:r>
            <a:r>
              <a:rPr kumimoji="1" lang="en-US" altLang="zh-TW" dirty="0"/>
              <a:t>GPU </a:t>
            </a:r>
            <a:r>
              <a:rPr kumimoji="1" lang="zh-TW" altLang="en-US" dirty="0"/>
              <a:t>使超大模型得以在可行時間內完成訓練） 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大數據（網路為模型提供足夠樣本以學習高維度、複雜的特徵表示）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算法（</a:t>
            </a:r>
            <a:r>
              <a:rPr kumimoji="1" lang="en-US" altLang="zh-TW" dirty="0"/>
              <a:t>Back Propagation</a:t>
            </a:r>
            <a:r>
              <a:rPr kumimoji="1" lang="zh-TW" altLang="en-US" dirty="0"/>
              <a:t>、</a:t>
            </a:r>
            <a:r>
              <a:rPr kumimoji="1" lang="en-US" altLang="zh-TW" dirty="0"/>
              <a:t>CNN</a:t>
            </a:r>
            <a:r>
              <a:rPr kumimoji="1" lang="zh-TW" altLang="en-US" dirty="0"/>
              <a:t>、</a:t>
            </a:r>
            <a:r>
              <a:rPr kumimoji="1" lang="en-US" altLang="zh-TW" dirty="0"/>
              <a:t>Transformer</a:t>
            </a:r>
            <a:r>
              <a:rPr kumimoji="1" lang="zh-TW" altLang="en-US" dirty="0"/>
              <a:t>）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C3C9D0-20DA-67ED-7BEF-15FB91DC7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82BB2A0-3B72-2535-6413-63966FC34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032718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A549280-B90F-23DD-BFBC-66AE0F506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pic>
        <p:nvPicPr>
          <p:cNvPr id="4" name="圖形 3">
            <a:extLst>
              <a:ext uri="{FF2B5EF4-FFF2-40B4-BE49-F238E27FC236}">
                <a16:creationId xmlns:a16="http://schemas.microsoft.com/office/drawing/2014/main" id="{B269AB15-3FBA-0838-71E4-43DBBABE5D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40834" y="46037"/>
            <a:ext cx="8346153" cy="6374352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9D4E674-B048-477F-8985-EDB49DDB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D51FE4C-C919-99C2-05A9-AA4A9DE5F1AE}"/>
              </a:ext>
            </a:extLst>
          </p:cNvPr>
          <p:cNvSpPr txBox="1"/>
          <p:nvPr/>
        </p:nvSpPr>
        <p:spPr>
          <a:xfrm>
            <a:off x="8669606" y="4242227"/>
            <a:ext cx="29631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 dirty="0"/>
              <a:t>*</a:t>
            </a:r>
            <a:r>
              <a:rPr kumimoji="1" lang="en-US" altLang="zh-TW" sz="1600" dirty="0"/>
              <a:t>.</a:t>
            </a:r>
            <a:r>
              <a:rPr kumimoji="1" lang="zh-TW" altLang="en-US" sz="1600" dirty="0"/>
              <a:t> 機器學習（</a:t>
            </a:r>
            <a:r>
              <a:rPr kumimoji="1" lang="en-US" altLang="zh-TW" sz="1600" dirty="0"/>
              <a:t>Machine Learning, ML</a:t>
            </a:r>
            <a:r>
              <a:rPr kumimoji="1" lang="zh-TW" altLang="en-US" sz="1600" dirty="0"/>
              <a:t>）是人工智慧（</a:t>
            </a:r>
            <a:r>
              <a:rPr kumimoji="1" lang="en-US" altLang="zh-TW" sz="1600" dirty="0"/>
              <a:t>AI</a:t>
            </a:r>
            <a:r>
              <a:rPr kumimoji="1" lang="zh-TW" altLang="en-US" sz="1600" dirty="0"/>
              <a:t>）的一個分支，核心在於不依賴明確的程式指令，而是讓電腦利用演算法分析大量數據、識別模式，並自主「學習」以進行預測、決定或生成特定資料。</a:t>
            </a:r>
          </a:p>
        </p:txBody>
      </p:sp>
    </p:spTree>
    <p:extLst>
      <p:ext uri="{BB962C8B-B14F-4D97-AF65-F5344CB8AC3E}">
        <p14:creationId xmlns:p14="http://schemas.microsoft.com/office/powerpoint/2010/main" val="909941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554B6-802B-C09A-B625-7472A4A4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Notion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D43F43-D4A2-12B2-EC51-CA9498D33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6376946" cy="37608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zh-TW" altLang="en-US" dirty="0"/>
              <a:t>我建議使用免費的跨平台軟體 </a:t>
            </a:r>
            <a:r>
              <a:rPr kumimoji="1" lang="en-US" altLang="zh-TW" dirty="0"/>
              <a:t>Notion </a:t>
            </a:r>
            <a:r>
              <a:rPr kumimoji="1" lang="zh-TW" altLang="en-US" dirty="0"/>
              <a:t>做筆記。 首先，前往：</a:t>
            </a:r>
            <a:br>
              <a:rPr kumimoji="1" lang="en-US" altLang="zh-TW" dirty="0"/>
            </a:br>
            <a:endParaRPr kumimoji="1" lang="en-US" altLang="zh-TW" dirty="0"/>
          </a:p>
          <a:p>
            <a:pPr marL="0" indent="0" algn="ctr">
              <a:buNone/>
            </a:pPr>
            <a:r>
              <a:rPr kumimoji="1" lang="en-US" altLang="zh-TW" dirty="0">
                <a:hlinkClick r:id="rId2"/>
              </a:rPr>
              <a:t>https://www.notion.so/desktop</a:t>
            </a:r>
            <a:endParaRPr kumimoji="1" lang="en-US" altLang="zh-TW" dirty="0"/>
          </a:p>
          <a:p>
            <a:pPr marL="0" indent="0">
              <a:buNone/>
            </a:pPr>
            <a:br>
              <a:rPr kumimoji="1" lang="en-US" altLang="zh-TW" dirty="0"/>
            </a:br>
            <a:r>
              <a:rPr kumimoji="1" lang="zh-TW" altLang="en-US" dirty="0"/>
              <a:t>並根據作業系統下載 </a:t>
            </a:r>
            <a:r>
              <a:rPr kumimoji="1" lang="en-US" altLang="zh-TW" dirty="0"/>
              <a:t>Notion</a:t>
            </a:r>
            <a:r>
              <a:rPr kumimoji="1" lang="zh-TW" altLang="en-US" dirty="0"/>
              <a:t>。 （當然也可以在 </a:t>
            </a:r>
            <a:r>
              <a:rPr kumimoji="1" lang="en-US" altLang="zh-TW" dirty="0"/>
              <a:t>Android </a:t>
            </a:r>
            <a:r>
              <a:rPr kumimoji="1" lang="zh-TW" altLang="en-US" dirty="0"/>
              <a:t>或 </a:t>
            </a:r>
            <a:r>
              <a:rPr kumimoji="1" lang="en-US" altLang="zh-TW" dirty="0"/>
              <a:t>iOS </a:t>
            </a:r>
            <a:r>
              <a:rPr kumimoji="1" lang="zh-TW" altLang="en-US" dirty="0"/>
              <a:t>設備上下載 </a:t>
            </a:r>
            <a:r>
              <a:rPr kumimoji="1" lang="en-US" altLang="zh-TW" dirty="0"/>
              <a:t>Notion</a:t>
            </a:r>
            <a:r>
              <a:rPr kumimoji="1" lang="zh-TW" altLang="en-US" dirty="0"/>
              <a:t>。） </a:t>
            </a:r>
            <a:r>
              <a:rPr kumimoji="1" lang="en-US" altLang="zh-TW" dirty="0"/>
              <a:t>Notion </a:t>
            </a:r>
            <a:r>
              <a:rPr kumimoji="1" lang="zh-TW" altLang="en-US" dirty="0"/>
              <a:t>支持 </a:t>
            </a:r>
            <a:r>
              <a:rPr kumimoji="1" lang="en-US" altLang="zh-TW" dirty="0"/>
              <a:t>markdown </a:t>
            </a:r>
            <a:r>
              <a:rPr kumimoji="1" lang="zh-TW" altLang="en-US" dirty="0"/>
              <a:t>和 </a:t>
            </a:r>
            <a:r>
              <a:rPr kumimoji="1" lang="en-US" altLang="zh-TW" dirty="0"/>
              <a:t>latex </a:t>
            </a:r>
            <a:r>
              <a:rPr kumimoji="1" lang="zh-TW" altLang="en-US" dirty="0"/>
              <a:t>語法。 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此外，我們可以使用 </a:t>
            </a:r>
            <a:r>
              <a:rPr kumimoji="1" lang="en-US" altLang="zh-TW" dirty="0"/>
              <a:t>Notion </a:t>
            </a:r>
            <a:r>
              <a:rPr kumimoji="1" lang="zh-TW" altLang="en-US" dirty="0"/>
              <a:t>來存儲許多不同編程語言的代碼。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03171C-E74B-F4D9-3A5B-6885514E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dirty="0"/>
              <a:t>Wilson Ren</a:t>
            </a:r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EA8F9EAB-D06C-CA24-58D9-AADCF55543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54717" y="2932512"/>
            <a:ext cx="2112267" cy="2112267"/>
          </a:xfrm>
          <a:prstGeom prst="rect">
            <a:avLst/>
          </a:prstGeom>
        </p:spPr>
      </p:pic>
      <p:sp>
        <p:nvSpPr>
          <p:cNvPr id="7" name="投影片編號版面配置區 4">
            <a:extLst>
              <a:ext uri="{FF2B5EF4-FFF2-40B4-BE49-F238E27FC236}">
                <a16:creationId xmlns:a16="http://schemas.microsoft.com/office/drawing/2014/main" id="{421851B2-B8CA-1767-3DF9-09EA1EFF2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440264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AB296D-39DE-FA29-8F13-8E11EFD11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Google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Colab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C66F12-396B-119F-4A9C-1CD351C3A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10058400" cy="3459222"/>
          </a:xfrm>
        </p:spPr>
        <p:txBody>
          <a:bodyPr/>
          <a:lstStyle/>
          <a:p>
            <a:r>
              <a:rPr kumimoji="1" lang="en-US" altLang="zh-TW" dirty="0"/>
              <a:t>Google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Colab</a:t>
            </a:r>
            <a:r>
              <a:rPr kumimoji="1" lang="zh-TW" altLang="en-US" dirty="0"/>
              <a:t> 是 </a:t>
            </a:r>
            <a:r>
              <a:rPr lang="en-US" altLang="zh-TW" dirty="0"/>
              <a:t>Google </a:t>
            </a:r>
            <a:r>
              <a:rPr lang="zh-TW" altLang="en-US" dirty="0"/>
              <a:t>提供的免費線上 </a:t>
            </a:r>
            <a:r>
              <a:rPr lang="en-US" altLang="zh-TW" dirty="0"/>
              <a:t>Python </a:t>
            </a:r>
            <a:r>
              <a:rPr lang="zh-TW" altLang="en-US" dirty="0"/>
              <a:t>開發環境，包含以下特點：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免費使用（</a:t>
            </a:r>
            <a:r>
              <a:rPr kumimoji="1" lang="en-US" altLang="zh-TW" dirty="0"/>
              <a:t>GPU/TPU </a:t>
            </a:r>
            <a:r>
              <a:rPr kumimoji="1" lang="zh-TW" altLang="en-US" dirty="0"/>
              <a:t>加速則需付費）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支援雲端儲存（預設使用 </a:t>
            </a:r>
            <a:r>
              <a:rPr lang="en-US" altLang="zh-TW" dirty="0"/>
              <a:t>Google Drive </a:t>
            </a:r>
            <a:r>
              <a:rPr lang="zh-TW" altLang="en-US" dirty="0"/>
              <a:t>作為儲存空間，所以請確認你的 </a:t>
            </a:r>
            <a:r>
              <a:rPr lang="en-US" altLang="zh-TW" dirty="0"/>
              <a:t>Google</a:t>
            </a:r>
            <a:r>
              <a:rPr lang="zh-TW" altLang="en-US" dirty="0"/>
              <a:t> 帳戶還有空間）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無需安裝，直接瀏覽器開啟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適合資料科學、機器學習、深度學習等應用（套件均已下載完成）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0CA5A4-765C-D8C4-5E49-AB767AD15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6" name="投影片編號版面配置區 4">
            <a:extLst>
              <a:ext uri="{FF2B5EF4-FFF2-40B4-BE49-F238E27FC236}">
                <a16:creationId xmlns:a16="http://schemas.microsoft.com/office/drawing/2014/main" id="{34E3D606-FD0B-54E3-3705-D725D9BC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355397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CE6619-224D-CC41-E10E-2B477FAF3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Google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Colab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F254CA-2154-1191-CF07-DECF0A219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223151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注意事項：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使用 </a:t>
            </a:r>
            <a:r>
              <a:rPr kumimoji="1" lang="en-US" altLang="zh-TW" dirty="0"/>
              <a:t>!</a:t>
            </a:r>
            <a:r>
              <a:rPr kumimoji="1" lang="en-US" altLang="zh-TW" dirty="0" err="1"/>
              <a:t>nvidia-smi</a:t>
            </a:r>
            <a:r>
              <a:rPr kumimoji="1" lang="zh-TW" altLang="en-US" dirty="0"/>
              <a:t> 指令查看目前可用之 </a:t>
            </a:r>
            <a:r>
              <a:rPr kumimoji="1" lang="en-US" altLang="zh-TW" dirty="0"/>
              <a:t>GPU</a:t>
            </a:r>
            <a:r>
              <a:rPr kumimoji="1" lang="zh-TW" altLang="en-US" dirty="0"/>
              <a:t> 與其剩餘記憶體容量。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 err="1"/>
              <a:t>Colab</a:t>
            </a:r>
            <a:r>
              <a:rPr kumimoji="1" lang="zh-TW" altLang="en-US" dirty="0"/>
              <a:t> 免費版目前有約 </a:t>
            </a:r>
            <a:r>
              <a:rPr kumimoji="1" lang="en-US" altLang="zh-TW" dirty="0"/>
              <a:t>12</a:t>
            </a:r>
            <a:r>
              <a:rPr kumimoji="1" lang="zh-TW" altLang="en-US" dirty="0"/>
              <a:t> 小時的 </a:t>
            </a:r>
            <a:r>
              <a:rPr kumimoji="1" lang="en-US" altLang="zh-TW" dirty="0"/>
              <a:t>session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time</a:t>
            </a:r>
            <a:r>
              <a:rPr kumimoji="1" lang="zh-TW" altLang="en-US" dirty="0"/>
              <a:t> 與 </a:t>
            </a:r>
            <a:r>
              <a:rPr kumimoji="1" lang="en-US" altLang="zh-TW" dirty="0"/>
              <a:t>90</a:t>
            </a:r>
            <a:r>
              <a:rPr kumimoji="1" lang="zh-TW" altLang="en-US" dirty="0"/>
              <a:t> 分鐘的 </a:t>
            </a:r>
            <a:r>
              <a:rPr kumimoji="1" lang="en-US" altLang="zh-TW" dirty="0"/>
              <a:t>idle</a:t>
            </a:r>
            <a:r>
              <a:rPr kumimoji="1" lang="zh-TW" altLang="en-US" dirty="0"/>
              <a:t> </a:t>
            </a:r>
            <a:r>
              <a:rPr kumimoji="1" lang="en-US" altLang="zh-TW" dirty="0"/>
              <a:t>timeout</a:t>
            </a:r>
            <a:r>
              <a:rPr kumimoji="1" lang="zh-TW" altLang="en-US" dirty="0"/>
              <a:t>。超過此時限，</a:t>
            </a:r>
            <a:r>
              <a:rPr kumimoji="1" lang="en-US" altLang="zh-TW" dirty="0" err="1"/>
              <a:t>Colab</a:t>
            </a:r>
            <a:r>
              <a:rPr kumimoji="1" lang="zh-TW" altLang="en-US" dirty="0"/>
              <a:t> 會自動斷線。</a:t>
            </a:r>
            <a:endParaRPr kumimoji="1" lang="en-US" altLang="zh-TW" dirty="0"/>
          </a:p>
          <a:p>
            <a:pPr marL="749808" lvl="1" indent="-457200">
              <a:buFont typeface="+mj-lt"/>
              <a:buAutoNum type="arabicPeriod"/>
            </a:pPr>
            <a:r>
              <a:rPr kumimoji="1" lang="zh-TW" altLang="en-US" dirty="0"/>
              <a:t>請不要跑需要超過 </a:t>
            </a:r>
            <a:r>
              <a:rPr kumimoji="1" lang="en-US" altLang="zh-TW" dirty="0"/>
              <a:t>12</a:t>
            </a:r>
            <a:r>
              <a:rPr kumimoji="1" lang="zh-TW" altLang="en-US" dirty="0"/>
              <a:t> 小時才能完成的模型訓練程式碼。</a:t>
            </a:r>
            <a:endParaRPr kumimoji="1" lang="en-US" altLang="zh-TW" dirty="0"/>
          </a:p>
          <a:p>
            <a:pPr marL="749808" lvl="1" indent="-457200">
              <a:buFont typeface="+mj-lt"/>
              <a:buAutoNum type="arabicPeriod"/>
            </a:pPr>
            <a:r>
              <a:rPr kumimoji="1" lang="zh-TW" altLang="en-US" dirty="0"/>
              <a:t>請不要閒置頁面超過 </a:t>
            </a:r>
            <a:r>
              <a:rPr kumimoji="1" lang="en-US" altLang="zh-TW" dirty="0"/>
              <a:t>90</a:t>
            </a:r>
            <a:r>
              <a:rPr kumimoji="1" lang="zh-TW" altLang="en-US" dirty="0"/>
              <a:t> 分鐘。</a:t>
            </a:r>
            <a:endParaRPr kumimoji="1" lang="en-US" altLang="zh-TW" dirty="0"/>
          </a:p>
          <a:p>
            <a:pPr marL="749808" lvl="1" indent="-457200">
              <a:buFont typeface="+mj-lt"/>
              <a:buAutoNum type="arabicPeriod"/>
            </a:pPr>
            <a:r>
              <a:rPr kumimoji="1" lang="zh-TW" altLang="en-US" dirty="0"/>
              <a:t>連結上 </a:t>
            </a:r>
            <a:r>
              <a:rPr kumimoji="1" lang="en-US" altLang="zh-TW" dirty="0"/>
              <a:t>GPU</a:t>
            </a:r>
            <a:r>
              <a:rPr kumimoji="1" lang="zh-TW" altLang="en-US" dirty="0"/>
              <a:t> 後，</a:t>
            </a:r>
            <a:r>
              <a:rPr kumimoji="1" lang="en-US" altLang="zh-TW" dirty="0" err="1"/>
              <a:t>Colab</a:t>
            </a:r>
            <a:r>
              <a:rPr kumimoji="1" lang="zh-TW" altLang="en-US" dirty="0"/>
              <a:t> 會有更快的 </a:t>
            </a:r>
            <a:r>
              <a:rPr kumimoji="1" lang="en-US" altLang="zh-TW" dirty="0"/>
              <a:t>idle</a:t>
            </a:r>
            <a:r>
              <a:rPr kumimoji="1" lang="zh-TW" altLang="en-US" dirty="0"/>
              <a:t> </a:t>
            </a:r>
            <a:r>
              <a:rPr kumimoji="1" lang="en-US" altLang="zh-TW" dirty="0"/>
              <a:t>timeout</a:t>
            </a:r>
            <a:r>
              <a:rPr kumimoji="1" lang="zh-TW" altLang="en-US" dirty="0"/>
              <a:t>（個人經驗）。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 err="1"/>
              <a:t>Colab</a:t>
            </a:r>
            <a:r>
              <a:rPr kumimoji="1" lang="zh-TW" altLang="en-US" dirty="0"/>
              <a:t> 免費版可用 </a:t>
            </a:r>
            <a:r>
              <a:rPr kumimoji="1" lang="en-US" altLang="zh-TW" dirty="0"/>
              <a:t>RAM</a:t>
            </a:r>
            <a:r>
              <a:rPr kumimoji="1" lang="zh-TW" altLang="en-US" dirty="0"/>
              <a:t> 約為 </a:t>
            </a:r>
            <a:r>
              <a:rPr kumimoji="1" lang="en-US" altLang="zh-TW" dirty="0"/>
              <a:t>12GB</a:t>
            </a:r>
            <a:r>
              <a:rPr kumimoji="1" lang="zh-TW" altLang="en-US" dirty="0"/>
              <a:t>、可用硬碟約 </a:t>
            </a:r>
            <a:r>
              <a:rPr kumimoji="1" lang="en-US" altLang="zh-TW" dirty="0"/>
              <a:t>100GB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pPr marL="749808" lvl="1" indent="-457200">
              <a:buFont typeface="+mj-lt"/>
              <a:buAutoNum type="arabicPeriod"/>
            </a:pPr>
            <a:r>
              <a:rPr kumimoji="1" lang="zh-TW" altLang="en-US" dirty="0"/>
              <a:t>請注意不要超過此容量限制。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BEB12D-27CB-A06B-F95F-E91614CEA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91F3671-A5BF-E66D-7C97-3BEDCCDE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804401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7F2C1F-5D0F-6A61-3F8E-2DA4DCF0F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Google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Colab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08A107-DA71-4071-07D7-9B3C56898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kumimoji="1" lang="en-US" altLang="zh-TW" dirty="0" err="1"/>
              <a:t>Colab</a:t>
            </a:r>
            <a:r>
              <a:rPr kumimoji="1" lang="zh-TW" altLang="en-US" dirty="0"/>
              <a:t> 免費版可用的 </a:t>
            </a:r>
            <a:r>
              <a:rPr kumimoji="1" lang="en-US" altLang="zh-TW" dirty="0"/>
              <a:t>GPU</a:t>
            </a:r>
            <a:r>
              <a:rPr kumimoji="1" lang="zh-TW" altLang="en-US" dirty="0"/>
              <a:t> 為 </a:t>
            </a:r>
            <a:r>
              <a:rPr kumimoji="1" lang="en-US" altLang="zh-TW" dirty="0"/>
              <a:t>T4</a:t>
            </a:r>
            <a:r>
              <a:rPr kumimoji="1" lang="zh-TW" altLang="en-US" dirty="0"/>
              <a:t>。</a:t>
            </a:r>
            <a:r>
              <a:rPr kumimoji="1" lang="en-US" altLang="zh-TW" dirty="0"/>
              <a:t>H100</a:t>
            </a:r>
            <a:r>
              <a:rPr kumimoji="1" lang="zh-TW" altLang="en-US" dirty="0"/>
              <a:t> </a:t>
            </a:r>
            <a:r>
              <a:rPr kumimoji="1" lang="en-US" altLang="zh-TW" dirty="0"/>
              <a:t>&gt;&gt;</a:t>
            </a:r>
            <a:r>
              <a:rPr kumimoji="1" lang="zh-TW" altLang="en-US" dirty="0"/>
              <a:t> </a:t>
            </a:r>
            <a:r>
              <a:rPr kumimoji="1" lang="en-US" altLang="zh-TW" dirty="0"/>
              <a:t>GeForce RTX 4090</a:t>
            </a:r>
            <a:r>
              <a:rPr kumimoji="1" lang="zh-TW" altLang="en-US" dirty="0"/>
              <a:t> </a:t>
            </a:r>
            <a:r>
              <a:rPr kumimoji="1" lang="en-US" altLang="zh-TW" dirty="0"/>
              <a:t>&gt;</a:t>
            </a:r>
            <a:r>
              <a:rPr kumimoji="1" lang="zh-TW" altLang="en-US" dirty="0"/>
              <a:t> </a:t>
            </a:r>
            <a:r>
              <a:rPr kumimoji="1" lang="en-US" altLang="zh-TW" dirty="0"/>
              <a:t>Tesla</a:t>
            </a:r>
            <a:r>
              <a:rPr kumimoji="1" lang="zh-TW" altLang="en-US" dirty="0"/>
              <a:t> </a:t>
            </a:r>
            <a:r>
              <a:rPr kumimoji="1" lang="en-US" altLang="zh-TW" dirty="0"/>
              <a:t>T4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pPr marL="749808" lvl="1" indent="-457200">
              <a:buFont typeface="+mj-lt"/>
              <a:buAutoNum type="arabicPeriod"/>
            </a:pPr>
            <a:r>
              <a:rPr kumimoji="1" lang="en-US" altLang="zh-TW" dirty="0"/>
              <a:t>H100</a:t>
            </a:r>
            <a:r>
              <a:rPr kumimoji="1" lang="zh-TW" altLang="en-US" dirty="0"/>
              <a:t> 約 </a:t>
            </a:r>
            <a:r>
              <a:rPr kumimoji="1" lang="en-US" altLang="zh-TW" dirty="0"/>
              <a:t>50</a:t>
            </a:r>
            <a:r>
              <a:rPr kumimoji="1" lang="zh-TW" altLang="en-US" dirty="0"/>
              <a:t> 萬台幣，在超級電腦、企業主機、運算伺服器上常見。</a:t>
            </a:r>
            <a:endParaRPr kumimoji="1" lang="en-US" altLang="zh-TW" dirty="0"/>
          </a:p>
          <a:p>
            <a:pPr marL="749808" lvl="1" indent="-457200">
              <a:buFont typeface="+mj-lt"/>
              <a:buAutoNum type="arabicPeriod"/>
            </a:pPr>
            <a:r>
              <a:rPr kumimoji="1" lang="en-US" altLang="zh-TW" dirty="0"/>
              <a:t>RTX</a:t>
            </a:r>
            <a:r>
              <a:rPr kumimoji="1" lang="zh-TW" altLang="en-US" dirty="0"/>
              <a:t> </a:t>
            </a:r>
            <a:r>
              <a:rPr kumimoji="1" lang="en-US" altLang="zh-TW" dirty="0"/>
              <a:t>4090</a:t>
            </a:r>
            <a:r>
              <a:rPr kumimoji="1" lang="zh-TW" altLang="en-US" dirty="0"/>
              <a:t> 約 </a:t>
            </a:r>
            <a:r>
              <a:rPr kumimoji="1" lang="en-US" altLang="zh-TW" dirty="0"/>
              <a:t>5</a:t>
            </a:r>
            <a:r>
              <a:rPr kumimoji="1" lang="zh-TW" altLang="en-US" dirty="0"/>
              <a:t> 萬台幣，在家用主機上可見。</a:t>
            </a:r>
            <a:endParaRPr kumimoji="1" lang="en-US" altLang="zh-TW" dirty="0"/>
          </a:p>
          <a:p>
            <a:pPr marL="749808" lvl="1" indent="-457200">
              <a:buFont typeface="+mj-lt"/>
              <a:buAutoNum type="arabicPeriod"/>
            </a:pPr>
            <a:r>
              <a:rPr kumimoji="1" lang="en-US" altLang="zh-TW" dirty="0"/>
              <a:t>Tesla</a:t>
            </a:r>
            <a:r>
              <a:rPr kumimoji="1" lang="zh-TW" altLang="en-US" dirty="0"/>
              <a:t> </a:t>
            </a:r>
            <a:r>
              <a:rPr kumimoji="1" lang="en-US" altLang="zh-TW" dirty="0"/>
              <a:t>T4</a:t>
            </a:r>
            <a:r>
              <a:rPr kumimoji="1" lang="zh-TW" altLang="en-US" dirty="0"/>
              <a:t> 約 </a:t>
            </a:r>
            <a:r>
              <a:rPr kumimoji="1" lang="en-US" altLang="zh-TW" dirty="0"/>
              <a:t>2.5</a:t>
            </a:r>
            <a:r>
              <a:rPr kumimoji="1" lang="zh-TW" altLang="en-US" dirty="0"/>
              <a:t> 萬台幣（美國 </a:t>
            </a:r>
            <a:r>
              <a:rPr kumimoji="1" lang="en-US" altLang="zh-TW" dirty="0"/>
              <a:t>Amazon</a:t>
            </a:r>
            <a:r>
              <a:rPr kumimoji="1" lang="zh-TW" altLang="en-US" dirty="0"/>
              <a:t> 上價格）。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A2C71D-641C-3E84-B127-D1E959CAB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8BE99D8-497B-C3B2-2DDB-386694965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419993031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自訂 2">
      <a:dk1>
        <a:srgbClr val="000000"/>
      </a:dk1>
      <a:lt1>
        <a:srgbClr val="FFFFFF"/>
      </a:lt1>
      <a:dk2>
        <a:srgbClr val="1C2031"/>
      </a:dk2>
      <a:lt2>
        <a:srgbClr val="F2F3F0"/>
      </a:lt2>
      <a:accent1>
        <a:srgbClr val="15C554"/>
      </a:accent1>
      <a:accent2>
        <a:srgbClr val="3732DA"/>
      </a:accent2>
      <a:accent3>
        <a:srgbClr val="2973E7"/>
      </a:accent3>
      <a:accent4>
        <a:srgbClr val="17B0D5"/>
      </a:accent4>
      <a:accent5>
        <a:srgbClr val="22C29E"/>
      </a:accent5>
      <a:accent6>
        <a:srgbClr val="16C655"/>
      </a:accent6>
      <a:hlink>
        <a:srgbClr val="339A95"/>
      </a:hlink>
      <a:folHlink>
        <a:srgbClr val="7F7F7F"/>
      </a:folHlink>
    </a:clrScheme>
    <a:fontScheme name="自訂 6">
      <a:majorFont>
        <a:latin typeface="Times New Roman"/>
        <a:ea typeface="Taipei Sans TC Beta"/>
        <a:cs typeface=""/>
      </a:majorFont>
      <a:minorFont>
        <a:latin typeface="Times New Roman"/>
        <a:ea typeface="Taipei Sans TC Beta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14417</TotalTime>
  <Words>1820</Words>
  <Application>Microsoft Macintosh PowerPoint</Application>
  <PresentationFormat>寬螢幕</PresentationFormat>
  <Paragraphs>185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4" baseType="lpstr">
      <vt:lpstr>Aptos</vt:lpstr>
      <vt:lpstr>Calibri</vt:lpstr>
      <vt:lpstr>Times New Roman</vt:lpstr>
      <vt:lpstr>RetrospectVTI</vt:lpstr>
      <vt:lpstr>深度學習課程架構</vt:lpstr>
      <vt:lpstr>深度學習課程架構</vt:lpstr>
      <vt:lpstr>深度學習課程架構</vt:lpstr>
      <vt:lpstr>深度學習課程架構</vt:lpstr>
      <vt:lpstr>課程準備</vt:lpstr>
      <vt:lpstr>如何最好的使用這堂課？</vt:lpstr>
      <vt:lpstr>如何最好的使用這堂課？</vt:lpstr>
      <vt:lpstr>課前準備</vt:lpstr>
      <vt:lpstr>課前準備</vt:lpstr>
      <vt:lpstr>課前準備</vt:lpstr>
      <vt:lpstr>課前準備</vt:lpstr>
      <vt:lpstr>深度學習發展簡史</vt:lpstr>
      <vt:lpstr>深度學習發展簡史</vt:lpstr>
      <vt:lpstr>深度學習發展簡史</vt:lpstr>
      <vt:lpstr>為什麼深度學習到現在才「成功」？</vt:lpstr>
      <vt:lpstr>PowerPoint 簡報</vt:lpstr>
      <vt:lpstr>Notion</vt:lpstr>
      <vt:lpstr>Google Colab</vt:lpstr>
      <vt:lpstr>Google Colab</vt:lpstr>
      <vt:lpstr>Google Colab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Algorithm Design</dc:title>
  <dc:creator>Yu-Hsien Jen</dc:creator>
  <cp:lastModifiedBy>宇賢 任</cp:lastModifiedBy>
  <cp:revision>2481</cp:revision>
  <dcterms:created xsi:type="dcterms:W3CDTF">2021-02-23T11:38:50Z</dcterms:created>
  <dcterms:modified xsi:type="dcterms:W3CDTF">2026-05-28T10:27:54Z</dcterms:modified>
</cp:coreProperties>
</file>