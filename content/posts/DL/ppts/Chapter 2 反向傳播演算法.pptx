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37"/>
  </p:notesMasterIdLst>
  <p:sldIdLst>
    <p:sldId id="256" r:id="rId2"/>
    <p:sldId id="257" r:id="rId3"/>
    <p:sldId id="260" r:id="rId4"/>
    <p:sldId id="261" r:id="rId5"/>
    <p:sldId id="263" r:id="rId6"/>
    <p:sldId id="262" r:id="rId7"/>
    <p:sldId id="267" r:id="rId8"/>
    <p:sldId id="266" r:id="rId9"/>
    <p:sldId id="268" r:id="rId10"/>
    <p:sldId id="269" r:id="rId11"/>
    <p:sldId id="270" r:id="rId12"/>
    <p:sldId id="271" r:id="rId13"/>
    <p:sldId id="273" r:id="rId14"/>
    <p:sldId id="274" r:id="rId15"/>
    <p:sldId id="275" r:id="rId16"/>
    <p:sldId id="276" r:id="rId17"/>
    <p:sldId id="277" r:id="rId18"/>
    <p:sldId id="278" r:id="rId19"/>
    <p:sldId id="279" r:id="rId20"/>
    <p:sldId id="272" r:id="rId21"/>
    <p:sldId id="281" r:id="rId22"/>
    <p:sldId id="282" r:id="rId23"/>
    <p:sldId id="283" r:id="rId24"/>
    <p:sldId id="284" r:id="rId25"/>
    <p:sldId id="285" r:id="rId26"/>
    <p:sldId id="286" r:id="rId27"/>
    <p:sldId id="287" r:id="rId28"/>
    <p:sldId id="288" r:id="rId29"/>
    <p:sldId id="289" r:id="rId30"/>
    <p:sldId id="290" r:id="rId31"/>
    <p:sldId id="291" r:id="rId32"/>
    <p:sldId id="280" r:id="rId33"/>
    <p:sldId id="292" r:id="rId34"/>
    <p:sldId id="293" r:id="rId35"/>
    <p:sldId id="294" r:id="rId3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74" autoAdjust="0"/>
    <p:restoredTop sz="94660"/>
  </p:normalViewPr>
  <p:slideViewPr>
    <p:cSldViewPr snapToGrid="0">
      <p:cViewPr varScale="1">
        <p:scale>
          <a:sx n="111" d="100"/>
          <a:sy n="111" d="100"/>
        </p:scale>
        <p:origin x="368" y="208"/>
      </p:cViewPr>
      <p:guideLst/>
    </p:cSldViewPr>
  </p:slideViewPr>
  <p:notesTextViewPr>
    <p:cViewPr>
      <p:scale>
        <a:sx n="1" d="1"/>
        <a:sy n="1" d="1"/>
      </p:scale>
      <p:origin x="0" y="0"/>
    </p:cViewPr>
  </p:notesTextViewPr>
  <p:notesViewPr>
    <p:cSldViewPr snapToGrid="0">
      <p:cViewPr varScale="1">
        <p:scale>
          <a:sx n="73" d="100"/>
          <a:sy n="73" d="100"/>
        </p:scale>
        <p:origin x="3216"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D5E851-B301-8440-A31A-2666B5099906}" type="datetimeFigureOut">
              <a:rPr kumimoji="1" lang="zh-TW" altLang="en-US" smtClean="0"/>
              <a:t>2026/4/21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7913E7-7146-234E-81D5-B698B33CD06E}" type="slidenum">
              <a:rPr kumimoji="1" lang="zh-TW" altLang="en-US" smtClean="0"/>
              <a:t>‹#›</a:t>
            </a:fld>
            <a:endParaRPr kumimoji="1" lang="zh-TW" altLang="en-US"/>
          </a:p>
        </p:txBody>
      </p:sp>
    </p:spTree>
    <p:extLst>
      <p:ext uri="{BB962C8B-B14F-4D97-AF65-F5344CB8AC3E}">
        <p14:creationId xmlns:p14="http://schemas.microsoft.com/office/powerpoint/2010/main" val="82572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r>
              <a:rPr lang="en-US" altLang="zh-TW"/>
              <a:t>Wilson Ren</a:t>
            </a:r>
            <a:endParaRPr lang="en-US" altLang="zh-TW"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
        <p:nvSpPr>
          <p:cNvPr id="7" name="標題 6">
            <a:extLst>
              <a:ext uri="{FF2B5EF4-FFF2-40B4-BE49-F238E27FC236}">
                <a16:creationId xmlns:a16="http://schemas.microsoft.com/office/drawing/2014/main" id="{C3795BDB-1CA7-B881-D67A-FEC0E195553F}"/>
              </a:ext>
            </a:extLst>
          </p:cNvPr>
          <p:cNvSpPr>
            <a:spLocks noGrp="1"/>
          </p:cNvSpPr>
          <p:nvPr>
            <p:ph type="title"/>
          </p:nvPr>
        </p:nvSpPr>
        <p:spPr/>
        <p:txBody>
          <a:bodyPr/>
          <a:lstStyle/>
          <a:p>
            <a:r>
              <a:rPr kumimoji="1" lang="zh-TW" altLang="en-US"/>
              <a:t>按一下以編輯母片標題樣式</a:t>
            </a:r>
          </a:p>
        </p:txBody>
      </p:sp>
    </p:spTree>
    <p:extLst>
      <p:ext uri="{BB962C8B-B14F-4D97-AF65-F5344CB8AC3E}">
        <p14:creationId xmlns:p14="http://schemas.microsoft.com/office/powerpoint/2010/main" val="3960360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r>
              <a:rPr lang="en-US" altLang="zh-TW"/>
              <a:t>Wilson Ren</a:t>
            </a:r>
            <a:endParaRPr lang="en-US" altLang="zh-TW"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3806969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r>
              <a:rPr lang="en-US" altLang="zh-TW"/>
              <a:t>Wilson Ren</a:t>
            </a:r>
            <a:endParaRPr lang="en-US" altLang="zh-TW"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1109285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r>
              <a:rPr lang="en-US" altLang="zh-TW"/>
              <a:t>Wilson Ren</a:t>
            </a:r>
            <a:endParaRPr lang="en-US" altLang="zh-TW"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485084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r>
              <a:rPr lang="en-US" altLang="zh-TW"/>
              <a:t>Wilson Ren</a:t>
            </a:r>
            <a:endParaRPr lang="en-US" altLang="zh-TW"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2114238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r>
              <a:rPr lang="en-US" altLang="zh-TW"/>
              <a:t>Wilson Ren</a:t>
            </a:r>
            <a:endParaRPr lang="en-US" altLang="zh-TW"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781294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r>
              <a:rPr lang="en-US" altLang="zh-TW"/>
              <a:t>Wilson Ren</a:t>
            </a:r>
            <a:endParaRPr lang="en-US" altLang="zh-TW"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3407069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chemeClr val="tx1"/>
                </a:solidFill>
              </a:defRPr>
            </a:lvl1pPr>
          </a:lstStyle>
          <a:p>
            <a:r>
              <a:rPr lang="en-US" altLang="zh-TW"/>
              <a:t>Wilson Ren</a:t>
            </a:r>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r>
              <a:rPr lang="en-US" dirty="0"/>
              <a:t>Deep Learning</a:t>
            </a:r>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24993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Lst>
  <p:hf hdr="0" ftr="0"/>
  <p:txStyles>
    <p:titleStyle>
      <a:lvl1pPr algn="l" defTabSz="914400" rtl="0" eaLnBrk="1" latinLnBrk="0" hangingPunct="1">
        <a:lnSpc>
          <a:spcPct val="90000"/>
        </a:lnSpc>
        <a:spcBef>
          <a:spcPct val="0"/>
        </a:spcBef>
        <a:buNone/>
        <a:defRPr sz="53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cxnSp>
        <p:nvCxnSpPr>
          <p:cNvPr id="73" name="Straight Connector 72">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75" name="Rectangle 74">
            <a:extLst>
              <a:ext uri="{FF2B5EF4-FFF2-40B4-BE49-F238E27FC236}">
                <a16:creationId xmlns:a16="http://schemas.microsoft.com/office/drawing/2014/main" id="{33428ACC-71EC-4171-9527-10983BA6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85B19F76-33F3-4DB4-91A0-510A8FE2A916}"/>
              </a:ext>
            </a:extLst>
          </p:cNvPr>
          <p:cNvSpPr>
            <a:spLocks noGrp="1"/>
          </p:cNvSpPr>
          <p:nvPr>
            <p:ph type="ctrTitle"/>
          </p:nvPr>
        </p:nvSpPr>
        <p:spPr>
          <a:xfrm>
            <a:off x="8141110" y="639098"/>
            <a:ext cx="3401961" cy="3494790"/>
          </a:xfrm>
        </p:spPr>
        <p:txBody>
          <a:bodyPr vert="horz" lIns="91440" tIns="45720" rIns="91440" bIns="45720" rtlCol="0" anchor="b">
            <a:normAutofit/>
          </a:bodyPr>
          <a:lstStyle/>
          <a:p>
            <a:r>
              <a:rPr lang="zh-TW" altLang="en-US" sz="5400" dirty="0">
                <a:solidFill>
                  <a:schemeClr val="tx1">
                    <a:lumMod val="85000"/>
                    <a:lumOff val="15000"/>
                  </a:schemeClr>
                </a:solidFill>
              </a:rPr>
              <a:t>反向傳播演算法</a:t>
            </a:r>
          </a:p>
        </p:txBody>
      </p:sp>
      <p:sp>
        <p:nvSpPr>
          <p:cNvPr id="3" name="副標題 2">
            <a:extLst>
              <a:ext uri="{FF2B5EF4-FFF2-40B4-BE49-F238E27FC236}">
                <a16:creationId xmlns:a16="http://schemas.microsoft.com/office/drawing/2014/main" id="{35262B4D-3674-44E6-AC6B-FAEDB090D61E}"/>
              </a:ext>
            </a:extLst>
          </p:cNvPr>
          <p:cNvSpPr>
            <a:spLocks noGrp="1"/>
          </p:cNvSpPr>
          <p:nvPr>
            <p:ph type="subTitle" idx="1"/>
          </p:nvPr>
        </p:nvSpPr>
        <p:spPr>
          <a:xfrm>
            <a:off x="8141110" y="4455621"/>
            <a:ext cx="3417990" cy="1238616"/>
          </a:xfrm>
        </p:spPr>
        <p:txBody>
          <a:bodyPr vert="horz" lIns="91440" tIns="45720" rIns="91440" bIns="45720" rtlCol="0">
            <a:normAutofit/>
          </a:bodyPr>
          <a:lstStyle/>
          <a:p>
            <a:r>
              <a:rPr lang="en-US" altLang="zh-TW" sz="2000" dirty="0">
                <a:solidFill>
                  <a:schemeClr val="tx1">
                    <a:lumMod val="85000"/>
                    <a:lumOff val="15000"/>
                  </a:schemeClr>
                </a:solidFill>
              </a:rPr>
              <a:t>Chapter 2</a:t>
            </a:r>
          </a:p>
          <a:p>
            <a:endParaRPr lang="en-US" altLang="zh-TW" sz="2000" dirty="0">
              <a:solidFill>
                <a:schemeClr val="tx1">
                  <a:lumMod val="85000"/>
                  <a:lumOff val="15000"/>
                </a:schemeClr>
              </a:solidFill>
            </a:endParaRPr>
          </a:p>
        </p:txBody>
      </p:sp>
      <p:pic>
        <p:nvPicPr>
          <p:cNvPr id="6" name="圖形 5">
            <a:extLst>
              <a:ext uri="{FF2B5EF4-FFF2-40B4-BE49-F238E27FC236}">
                <a16:creationId xmlns:a16="http://schemas.microsoft.com/office/drawing/2014/main" id="{CAE9179D-ACD8-22BE-28D5-88E5377CC6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863087"/>
            <a:ext cx="6912217" cy="4608144"/>
          </a:xfrm>
          <a:prstGeom prst="rect">
            <a:avLst/>
          </a:prstGeom>
        </p:spPr>
      </p:pic>
      <p:cxnSp>
        <p:nvCxnSpPr>
          <p:cNvPr id="77" name="Straight Connector 76">
            <a:extLst>
              <a:ext uri="{FF2B5EF4-FFF2-40B4-BE49-F238E27FC236}">
                <a16:creationId xmlns:a16="http://schemas.microsoft.com/office/drawing/2014/main" id="{BA22713B-ABB6-4391-97F9-0449A2B9B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8D4480B4-953D-41FA-9052-09AB3A02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8" name="投影片編號版面配置區 4">
            <a:extLst>
              <a:ext uri="{FF2B5EF4-FFF2-40B4-BE49-F238E27FC236}">
                <a16:creationId xmlns:a16="http://schemas.microsoft.com/office/drawing/2014/main" id="{9918F90A-E918-55A6-FF90-3163BE918873}"/>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lnSpc>
                <a:spcPct val="90000"/>
              </a:lnSpc>
              <a:spcAft>
                <a:spcPts val="600"/>
              </a:spcAft>
            </a:pPr>
            <a:r>
              <a:rPr lang="en-US" altLang="zh-TW" dirty="0"/>
              <a:t>Deep Learning</a:t>
            </a:r>
          </a:p>
        </p:txBody>
      </p:sp>
    </p:spTree>
    <p:extLst>
      <p:ext uri="{BB962C8B-B14F-4D97-AF65-F5344CB8AC3E}">
        <p14:creationId xmlns:p14="http://schemas.microsoft.com/office/powerpoint/2010/main" val="7502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9F570E-9E40-010E-8B1A-2DE283171B3E}"/>
              </a:ext>
            </a:extLst>
          </p:cNvPr>
          <p:cNvSpPr>
            <a:spLocks noGrp="1"/>
          </p:cNvSpPr>
          <p:nvPr>
            <p:ph type="title"/>
          </p:nvPr>
        </p:nvSpPr>
        <p:spPr/>
        <p:txBody>
          <a:bodyPr>
            <a:normAutofit/>
          </a:bodyPr>
          <a:lstStyle/>
          <a:p>
            <a:r>
              <a:rPr lang="zh-TW" altLang="en-US" dirty="0">
                <a:solidFill>
                  <a:schemeClr val="tx1">
                    <a:lumMod val="85000"/>
                    <a:lumOff val="15000"/>
                  </a:schemeClr>
                </a:solidFill>
              </a:rPr>
              <a:t>反向傳播演算法</a:t>
            </a:r>
            <a:endParaRPr kumimoji="1" lang="zh-TW" altLang="en-US" dirty="0"/>
          </a:p>
        </p:txBody>
      </p:sp>
      <p:sp>
        <p:nvSpPr>
          <p:cNvPr id="3" name="內容版面配置區 2">
            <a:extLst>
              <a:ext uri="{FF2B5EF4-FFF2-40B4-BE49-F238E27FC236}">
                <a16:creationId xmlns:a16="http://schemas.microsoft.com/office/drawing/2014/main" id="{44CAD42E-8D6B-6471-C14F-9587E60D9221}"/>
              </a:ext>
            </a:extLst>
          </p:cNvPr>
          <p:cNvSpPr>
            <a:spLocks noGrp="1"/>
          </p:cNvSpPr>
          <p:nvPr>
            <p:ph idx="1"/>
          </p:nvPr>
        </p:nvSpPr>
        <p:spPr>
          <a:xfrm>
            <a:off x="1097280" y="2108201"/>
            <a:ext cx="10058400" cy="4188427"/>
          </a:xfrm>
        </p:spPr>
        <p:txBody>
          <a:bodyPr>
            <a:noAutofit/>
          </a:bodyPr>
          <a:lstStyle/>
          <a:p>
            <a:r>
              <a:rPr kumimoji="1" lang="zh-TW" altLang="en-US" dirty="0"/>
              <a:t>反向傳播（</a:t>
            </a:r>
            <a:r>
              <a:rPr kumimoji="1" lang="en-US" altLang="zh-TW" dirty="0"/>
              <a:t>Back Propagation</a:t>
            </a:r>
            <a:r>
              <a:rPr kumimoji="1" lang="zh-TW" altLang="en-US" dirty="0"/>
              <a:t>）是一種梯度（</a:t>
            </a:r>
            <a:r>
              <a:rPr kumimoji="1" lang="en-US" altLang="zh-TW" dirty="0"/>
              <a:t>Gradient</a:t>
            </a:r>
            <a:r>
              <a:rPr kumimoji="1" lang="zh-TW" altLang="en-US" dirty="0"/>
              <a:t>）的計算方法。將反向傳播與梯度下降演算法（</a:t>
            </a:r>
            <a:r>
              <a:rPr kumimoji="1" lang="en-US" altLang="zh-TW" dirty="0"/>
              <a:t>Gradient Descent Algorithm</a:t>
            </a:r>
            <a:r>
              <a:rPr kumimoji="1" lang="zh-TW" altLang="en-US" dirty="0"/>
              <a:t>）結合使用，即可訓練人工神經網路。具體步驟：</a:t>
            </a:r>
            <a:endParaRPr kumimoji="1" lang="en-US" altLang="zh-TW" dirty="0"/>
          </a:p>
          <a:p>
            <a:pPr marL="457200" indent="-457200">
              <a:buFont typeface="+mj-lt"/>
              <a:buAutoNum type="arabicPeriod"/>
            </a:pPr>
            <a:r>
              <a:rPr kumimoji="1" lang="zh-TW" altLang="en-US" dirty="0"/>
              <a:t>先使用正向傳播（</a:t>
            </a:r>
            <a:r>
              <a:rPr kumimoji="1" lang="en-US" altLang="zh-TW" dirty="0"/>
              <a:t>Forward Propagation</a:t>
            </a:r>
            <a:r>
              <a:rPr kumimoji="1" lang="zh-TW" altLang="en-US" dirty="0"/>
              <a:t>）</a:t>
            </a:r>
            <a:r>
              <a:rPr kumimoji="1" lang="zh-TW" altLang="en-US" b="1" dirty="0">
                <a:solidFill>
                  <a:srgbClr val="FF0000"/>
                </a:solidFill>
              </a:rPr>
              <a:t>由前至後</a:t>
            </a:r>
            <a:r>
              <a:rPr lang="zh-TW" altLang="en-US" dirty="0"/>
              <a:t>計算神經網路的輸出結果，並根據預測結果與正確答案計算損失（</a:t>
            </a:r>
            <a:r>
              <a:rPr lang="en-US" altLang="zh-TW" dirty="0"/>
              <a:t>Loss</a:t>
            </a:r>
            <a:r>
              <a:rPr lang="zh-TW" altLang="en-US" dirty="0"/>
              <a:t>）。</a:t>
            </a:r>
            <a:endParaRPr lang="en-US" altLang="zh-TW" dirty="0"/>
          </a:p>
          <a:p>
            <a:pPr marL="457200" indent="-457200">
              <a:buFont typeface="+mj-lt"/>
              <a:buAutoNum type="arabicPeriod"/>
            </a:pPr>
            <a:r>
              <a:rPr kumimoji="1" lang="zh-TW" altLang="en-US" dirty="0"/>
              <a:t>透過反向傳播（</a:t>
            </a:r>
            <a:r>
              <a:rPr kumimoji="1" lang="en-US" altLang="zh-TW" dirty="0"/>
              <a:t>Back Propagation</a:t>
            </a:r>
            <a:r>
              <a:rPr kumimoji="1" lang="zh-TW" altLang="en-US" dirty="0"/>
              <a:t>），</a:t>
            </a:r>
            <a:r>
              <a:rPr kumimoji="1" lang="zh-TW" altLang="en-US" b="1" dirty="0">
                <a:solidFill>
                  <a:srgbClr val="FF0000"/>
                </a:solidFill>
              </a:rPr>
              <a:t>由後至前</a:t>
            </a:r>
            <a:r>
              <a:rPr kumimoji="1" lang="zh-TW" altLang="en-US" dirty="0"/>
              <a:t>計算各層權重對損失函數的梯度。</a:t>
            </a:r>
            <a:endParaRPr kumimoji="1" lang="en-US" altLang="zh-TW" dirty="0"/>
          </a:p>
          <a:p>
            <a:pPr marL="457200" indent="-457200">
              <a:buFont typeface="+mj-lt"/>
              <a:buAutoNum type="arabicPeriod"/>
            </a:pPr>
            <a:r>
              <a:rPr kumimoji="1" lang="zh-TW" altLang="en-US" dirty="0"/>
              <a:t>利用梯度下降演算法使權重沿著梯度的負方向更新。</a:t>
            </a:r>
            <a:endParaRPr kumimoji="1" lang="en-US" altLang="zh-TW" dirty="0"/>
          </a:p>
          <a:p>
            <a:pPr marL="0" indent="0">
              <a:buNone/>
            </a:pPr>
            <a:r>
              <a:rPr kumimoji="1" lang="zh-TW" altLang="en-US" dirty="0"/>
              <a:t>不斷重複以上過程，直到模型收斂。</a:t>
            </a:r>
            <a:endParaRPr kumimoji="1" lang="en-US" altLang="zh-TW" dirty="0"/>
          </a:p>
        </p:txBody>
      </p:sp>
      <p:sp>
        <p:nvSpPr>
          <p:cNvPr id="4" name="日期版面配置區 3">
            <a:extLst>
              <a:ext uri="{FF2B5EF4-FFF2-40B4-BE49-F238E27FC236}">
                <a16:creationId xmlns:a16="http://schemas.microsoft.com/office/drawing/2014/main" id="{ED024ECE-D850-C72F-5B04-F99847664B83}"/>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5A63E805-3EC2-FF34-7655-CB8EFA7B00A7}"/>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955622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08FB87-BC01-4E32-E3D3-A179966A28D4}"/>
              </a:ext>
            </a:extLst>
          </p:cNvPr>
          <p:cNvSpPr>
            <a:spLocks noGrp="1"/>
          </p:cNvSpPr>
          <p:nvPr>
            <p:ph type="title"/>
          </p:nvPr>
        </p:nvSpPr>
        <p:spPr/>
        <p:txBody>
          <a:bodyPr>
            <a:normAutofit/>
          </a:bodyPr>
          <a:lstStyle/>
          <a:p>
            <a:r>
              <a:rPr lang="zh-TW" altLang="en-US" dirty="0">
                <a:solidFill>
                  <a:schemeClr val="tx1">
                    <a:lumMod val="85000"/>
                    <a:lumOff val="15000"/>
                  </a:schemeClr>
                </a:solidFill>
              </a:rPr>
              <a:t>反向傳播演算法</a:t>
            </a:r>
            <a:endParaRPr kumimoji="1" lang="zh-TW" altLang="en-US" dirty="0"/>
          </a:p>
        </p:txBody>
      </p:sp>
      <p:sp>
        <p:nvSpPr>
          <p:cNvPr id="4" name="日期版面配置區 3">
            <a:extLst>
              <a:ext uri="{FF2B5EF4-FFF2-40B4-BE49-F238E27FC236}">
                <a16:creationId xmlns:a16="http://schemas.microsoft.com/office/drawing/2014/main" id="{B0F097E4-D1C7-9E2B-9513-099151AD3442}"/>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A25819E-24FF-4B44-15E2-04BC57365524}"/>
              </a:ext>
            </a:extLst>
          </p:cNvPr>
          <p:cNvSpPr>
            <a:spLocks noGrp="1"/>
          </p:cNvSpPr>
          <p:nvPr>
            <p:ph type="sldNum" sz="quarter" idx="12"/>
          </p:nvPr>
        </p:nvSpPr>
        <p:spPr/>
        <p:txBody>
          <a:bodyPr/>
          <a:lstStyle/>
          <a:p>
            <a:r>
              <a:rPr lang="en-US" altLang="zh-TW" dirty="0"/>
              <a:t>Deep Learning</a:t>
            </a:r>
          </a:p>
        </p:txBody>
      </p:sp>
      <p:sp>
        <p:nvSpPr>
          <p:cNvPr id="7" name="內容版面配置區 2">
            <a:extLst>
              <a:ext uri="{FF2B5EF4-FFF2-40B4-BE49-F238E27FC236}">
                <a16:creationId xmlns:a16="http://schemas.microsoft.com/office/drawing/2014/main" id="{EF06EBDF-9B24-F95A-A380-45C83983C266}"/>
              </a:ext>
            </a:extLst>
          </p:cNvPr>
          <p:cNvSpPr>
            <a:spLocks noGrp="1"/>
          </p:cNvSpPr>
          <p:nvPr>
            <p:ph idx="1"/>
          </p:nvPr>
        </p:nvSpPr>
        <p:spPr>
          <a:xfrm>
            <a:off x="1097280" y="2108201"/>
            <a:ext cx="10058400" cy="3760891"/>
          </a:xfrm>
        </p:spPr>
        <p:txBody>
          <a:bodyPr>
            <a:normAutofit/>
          </a:bodyPr>
          <a:lstStyle/>
          <a:p>
            <a:r>
              <a:rPr kumimoji="1" lang="zh-TW" altLang="en-US" dirty="0"/>
              <a:t>但在實務與文獻中，「反向傳播演算法」一詞也常被用來泛指整個神經網路的學習演算法。</a:t>
            </a:r>
            <a:endParaRPr kumimoji="1" lang="en-US" altLang="zh-TW" dirty="0"/>
          </a:p>
          <a:p>
            <a:r>
              <a:rPr kumimoji="1" lang="zh-TW" altLang="en-US" dirty="0"/>
              <a:t>為何使用反向傳播方法來計算梯度？</a:t>
            </a:r>
            <a:endParaRPr kumimoji="1" lang="en-US" altLang="zh-TW" dirty="0"/>
          </a:p>
          <a:p>
            <a:pPr>
              <a:buFont typeface="Wingdings" pitchFamily="2" charset="2"/>
              <a:buChar char="n"/>
            </a:pPr>
            <a:r>
              <a:rPr kumimoji="1" lang="zh-TW" altLang="en-US" dirty="0"/>
              <a:t>神經網路通常包含大量參數（現代大型語言模型動輒數十億起跳）。若直接對每個權重獨立計算梯度，計算成本將極為龐大。 </a:t>
            </a:r>
            <a:endParaRPr kumimoji="1" lang="en-US" altLang="zh-TW" dirty="0"/>
          </a:p>
          <a:p>
            <a:pPr>
              <a:buFont typeface="Wingdings" pitchFamily="2" charset="2"/>
              <a:buChar char="n"/>
            </a:pPr>
            <a:r>
              <a:rPr kumimoji="1" lang="zh-TW" altLang="en-US" dirty="0"/>
              <a:t>反向傳播演算法的原理是使用 </a:t>
            </a:r>
            <a:r>
              <a:rPr kumimoji="1" lang="en-US" altLang="zh-TW" dirty="0"/>
              <a:t>Chain Rule</a:t>
            </a:r>
            <a:r>
              <a:rPr kumimoji="1" lang="zh-TW" altLang="en-US" dirty="0"/>
              <a:t> 與 </a:t>
            </a:r>
            <a:r>
              <a:rPr kumimoji="1" lang="en-US" altLang="zh-TW" dirty="0"/>
              <a:t>Dynamic</a:t>
            </a:r>
            <a:r>
              <a:rPr kumimoji="1" lang="zh-TW" altLang="en-US" dirty="0"/>
              <a:t> </a:t>
            </a:r>
            <a:r>
              <a:rPr kumimoji="1" lang="en-US" altLang="zh-TW" dirty="0"/>
              <a:t>Programming</a:t>
            </a:r>
            <a:r>
              <a:rPr kumimoji="1" lang="zh-TW" altLang="en-US" dirty="0"/>
              <a:t>（會重複使用過去的計算結果、避免重複工作）來</a:t>
            </a:r>
            <a:r>
              <a:rPr kumimoji="1" lang="zh-TW" altLang="en-US" b="1" dirty="0">
                <a:solidFill>
                  <a:srgbClr val="FF0000"/>
                </a:solidFill>
              </a:rPr>
              <a:t>高效地</a:t>
            </a:r>
            <a:r>
              <a:rPr kumimoji="1" lang="zh-TW" altLang="en-US" dirty="0"/>
              <a:t>計算所有權重的梯度。</a:t>
            </a:r>
            <a:endParaRPr kumimoji="1" lang="en-US" altLang="zh-TW" dirty="0"/>
          </a:p>
        </p:txBody>
      </p:sp>
    </p:spTree>
    <p:extLst>
      <p:ext uri="{BB962C8B-B14F-4D97-AF65-F5344CB8AC3E}">
        <p14:creationId xmlns:p14="http://schemas.microsoft.com/office/powerpoint/2010/main" val="295808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840FD7-C444-4F13-A1F4-6E833DF24DF9}"/>
              </a:ext>
            </a:extLst>
          </p:cNvPr>
          <p:cNvSpPr>
            <a:spLocks noGrp="1"/>
          </p:cNvSpPr>
          <p:nvPr>
            <p:ph type="title"/>
          </p:nvPr>
        </p:nvSpPr>
        <p:spPr/>
        <p:txBody>
          <a:bodyPr/>
          <a:lstStyle/>
          <a:p>
            <a:r>
              <a:rPr kumimoji="1" lang="zh-TW" altLang="en-US" dirty="0"/>
              <a:t>梯度下降演算法</a:t>
            </a:r>
          </a:p>
        </p:txBody>
      </p:sp>
      <p:sp>
        <p:nvSpPr>
          <p:cNvPr id="3" name="內容版面配置區 2">
            <a:extLst>
              <a:ext uri="{FF2B5EF4-FFF2-40B4-BE49-F238E27FC236}">
                <a16:creationId xmlns:a16="http://schemas.microsoft.com/office/drawing/2014/main" id="{F6350873-8C22-05F4-A1C5-BC6E923D0E30}"/>
              </a:ext>
            </a:extLst>
          </p:cNvPr>
          <p:cNvSpPr>
            <a:spLocks noGrp="1"/>
          </p:cNvSpPr>
          <p:nvPr>
            <p:ph idx="1"/>
          </p:nvPr>
        </p:nvSpPr>
        <p:spPr/>
        <p:txBody>
          <a:bodyPr/>
          <a:lstStyle/>
          <a:p>
            <a:r>
              <a:rPr kumimoji="1" lang="zh-TW" altLang="en-US" dirty="0"/>
              <a:t>梯度下降演算法是一種用來訓練機器學習與人工神經網路模型的方法。其核心想法是：計算損失函數對模型權重的梯度，並且重複沿著梯度的負方向逐步更新參數，使模型的誤差不斷下降，最終收斂到誤差的（局部）最小值。</a:t>
            </a:r>
          </a:p>
        </p:txBody>
      </p:sp>
      <p:sp>
        <p:nvSpPr>
          <p:cNvPr id="4" name="日期版面配置區 3">
            <a:extLst>
              <a:ext uri="{FF2B5EF4-FFF2-40B4-BE49-F238E27FC236}">
                <a16:creationId xmlns:a16="http://schemas.microsoft.com/office/drawing/2014/main" id="{7592B70F-EAFC-68B5-3130-419B69A9CA0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A5B2669A-57A2-9176-8208-4D9C63E9CBF4}"/>
              </a:ext>
            </a:extLst>
          </p:cNvPr>
          <p:cNvSpPr>
            <a:spLocks noGrp="1"/>
          </p:cNvSpPr>
          <p:nvPr>
            <p:ph type="sldNum" sz="quarter" idx="12"/>
          </p:nvPr>
        </p:nvSpPr>
        <p:spPr/>
        <p:txBody>
          <a:bodyPr/>
          <a:lstStyle/>
          <a:p>
            <a:r>
              <a:rPr lang="en-US" altLang="zh-TW" dirty="0"/>
              <a:t>Deep Learning</a:t>
            </a:r>
          </a:p>
        </p:txBody>
      </p:sp>
      <p:graphicFrame>
        <p:nvGraphicFramePr>
          <p:cNvPr id="7" name="表格 6">
            <a:extLst>
              <a:ext uri="{FF2B5EF4-FFF2-40B4-BE49-F238E27FC236}">
                <a16:creationId xmlns:a16="http://schemas.microsoft.com/office/drawing/2014/main" id="{92826B6E-2362-1DE2-F42B-04BF5195BF1D}"/>
              </a:ext>
            </a:extLst>
          </p:cNvPr>
          <p:cNvGraphicFramePr>
            <a:graphicFrameLocks noGrp="1"/>
          </p:cNvGraphicFramePr>
          <p:nvPr>
            <p:extLst>
              <p:ext uri="{D42A27DB-BD31-4B8C-83A1-F6EECF244321}">
                <p14:modId xmlns:p14="http://schemas.microsoft.com/office/powerpoint/2010/main" val="1192088659"/>
              </p:ext>
            </p:extLst>
          </p:nvPr>
        </p:nvGraphicFramePr>
        <p:xfrm>
          <a:off x="2914649" y="3490965"/>
          <a:ext cx="6362702" cy="2667000"/>
        </p:xfrm>
        <a:graphic>
          <a:graphicData uri="http://schemas.openxmlformats.org/drawingml/2006/table">
            <a:tbl>
              <a:tblPr>
                <a:tableStyleId>{5C22544A-7EE6-4342-B048-85BDC9FD1C3A}</a:tableStyleId>
              </a:tblPr>
              <a:tblGrid>
                <a:gridCol w="712243">
                  <a:extLst>
                    <a:ext uri="{9D8B030D-6E8A-4147-A177-3AD203B41FA5}">
                      <a16:colId xmlns:a16="http://schemas.microsoft.com/office/drawing/2014/main" val="3657986882"/>
                    </a:ext>
                  </a:extLst>
                </a:gridCol>
                <a:gridCol w="712243">
                  <a:extLst>
                    <a:ext uri="{9D8B030D-6E8A-4147-A177-3AD203B41FA5}">
                      <a16:colId xmlns:a16="http://schemas.microsoft.com/office/drawing/2014/main" val="433246265"/>
                    </a:ext>
                  </a:extLst>
                </a:gridCol>
                <a:gridCol w="1168078">
                  <a:extLst>
                    <a:ext uri="{9D8B030D-6E8A-4147-A177-3AD203B41FA5}">
                      <a16:colId xmlns:a16="http://schemas.microsoft.com/office/drawing/2014/main" val="1363613674"/>
                    </a:ext>
                  </a:extLst>
                </a:gridCol>
                <a:gridCol w="1329519">
                  <a:extLst>
                    <a:ext uri="{9D8B030D-6E8A-4147-A177-3AD203B41FA5}">
                      <a16:colId xmlns:a16="http://schemas.microsoft.com/office/drawing/2014/main" val="3026866348"/>
                    </a:ext>
                  </a:extLst>
                </a:gridCol>
                <a:gridCol w="712243">
                  <a:extLst>
                    <a:ext uri="{9D8B030D-6E8A-4147-A177-3AD203B41FA5}">
                      <a16:colId xmlns:a16="http://schemas.microsoft.com/office/drawing/2014/main" val="339593385"/>
                    </a:ext>
                  </a:extLst>
                </a:gridCol>
                <a:gridCol w="1016133">
                  <a:extLst>
                    <a:ext uri="{9D8B030D-6E8A-4147-A177-3AD203B41FA5}">
                      <a16:colId xmlns:a16="http://schemas.microsoft.com/office/drawing/2014/main" val="2686267315"/>
                    </a:ext>
                  </a:extLst>
                </a:gridCol>
                <a:gridCol w="712243">
                  <a:extLst>
                    <a:ext uri="{9D8B030D-6E8A-4147-A177-3AD203B41FA5}">
                      <a16:colId xmlns:a16="http://schemas.microsoft.com/office/drawing/2014/main" val="3988088217"/>
                    </a:ext>
                  </a:extLst>
                </a:gridCol>
              </a:tblGrid>
              <a:tr h="177800">
                <a:tc>
                  <a:txBody>
                    <a:bodyPr/>
                    <a:lstStyle/>
                    <a:p>
                      <a:pPr algn="ctr" fontAlgn="ctr">
                        <a:buNone/>
                      </a:pPr>
                      <a:r>
                        <a:rPr lang="zh-TW" altLang="en-US" sz="1100" u="none" strike="noStrike">
                          <a:effectLst/>
                        </a:rPr>
                        <a:t>父親身高</a:t>
                      </a:r>
                      <a:endParaRPr lang="zh-TW" altLang="en-US"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zh-TW" altLang="en-US" sz="1100" u="none" strike="noStrike">
                          <a:effectLst/>
                        </a:rPr>
                        <a:t>母親身高</a:t>
                      </a:r>
                      <a:endParaRPr lang="zh-TW" altLang="en-US"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zh-TW" altLang="en-US" sz="1100" u="none" strike="noStrike">
                          <a:effectLst/>
                        </a:rPr>
                        <a:t>每日牛奶攝取量</a:t>
                      </a:r>
                      <a:endParaRPr lang="zh-TW" altLang="en-US" sz="1100" b="0" i="0" u="none" strike="noStrike">
                        <a:solidFill>
                          <a:srgbClr val="000000"/>
                        </a:solidFill>
                        <a:effectLst/>
                        <a:latin typeface="PMingLiU" panose="02020500000000000000" pitchFamily="18" charset="-120"/>
                        <a:ea typeface="PMingLiU" panose="02020500000000000000" pitchFamily="18" charset="-120"/>
                      </a:endParaRPr>
                    </a:p>
                  </a:txBody>
                  <a:tcPr marL="9525" marR="9525" marT="9525" marB="0" anchor="ctr"/>
                </a:tc>
                <a:tc>
                  <a:txBody>
                    <a:bodyPr/>
                    <a:lstStyle/>
                    <a:p>
                      <a:pPr algn="ctr" fontAlgn="ctr">
                        <a:buNone/>
                      </a:pPr>
                      <a:r>
                        <a:rPr lang="zh-TW" altLang="en-US" sz="1100" u="none" strike="noStrike">
                          <a:effectLst/>
                        </a:rPr>
                        <a:t>每日蛋白質攝取量</a:t>
                      </a:r>
                      <a:endParaRPr lang="zh-TW" altLang="en-US" sz="1100" b="0" i="0" u="none" strike="noStrike">
                        <a:solidFill>
                          <a:srgbClr val="000000"/>
                        </a:solidFill>
                        <a:effectLst/>
                        <a:latin typeface="PMingLiU" panose="02020500000000000000" pitchFamily="18" charset="-120"/>
                        <a:ea typeface="PMingLiU" panose="02020500000000000000" pitchFamily="18" charset="-120"/>
                      </a:endParaRPr>
                    </a:p>
                  </a:txBody>
                  <a:tcPr marL="9525" marR="9525" marT="9525" marB="0" anchor="ctr"/>
                </a:tc>
                <a:tc>
                  <a:txBody>
                    <a:bodyPr/>
                    <a:lstStyle/>
                    <a:p>
                      <a:pPr algn="ctr" fontAlgn="ctr">
                        <a:buNone/>
                      </a:pPr>
                      <a:r>
                        <a:rPr lang="zh-TW" altLang="en-US" sz="1100" u="none" strike="noStrike">
                          <a:effectLst/>
                        </a:rPr>
                        <a:t>每日睡眠</a:t>
                      </a:r>
                      <a:endParaRPr lang="zh-TW" altLang="en-US" sz="1100" b="0" i="0" u="none" strike="noStrike">
                        <a:solidFill>
                          <a:srgbClr val="000000"/>
                        </a:solidFill>
                        <a:effectLst/>
                        <a:latin typeface="PMingLiU" panose="02020500000000000000" pitchFamily="18" charset="-120"/>
                        <a:ea typeface="PMingLiU" panose="02020500000000000000" pitchFamily="18" charset="-120"/>
                      </a:endParaRPr>
                    </a:p>
                  </a:txBody>
                  <a:tcPr marL="9525" marR="9525" marT="9525" marB="0" anchor="ctr"/>
                </a:tc>
                <a:tc>
                  <a:txBody>
                    <a:bodyPr/>
                    <a:lstStyle/>
                    <a:p>
                      <a:pPr algn="ctr" fontAlgn="ctr">
                        <a:buNone/>
                      </a:pPr>
                      <a:r>
                        <a:rPr lang="zh-TW" altLang="en-US" sz="1100" u="none" strike="noStrike">
                          <a:effectLst/>
                        </a:rPr>
                        <a:t>每日運動時數</a:t>
                      </a:r>
                      <a:endParaRPr lang="zh-TW" altLang="en-US" sz="1100" b="0" i="0" u="none" strike="noStrike">
                        <a:solidFill>
                          <a:srgbClr val="000000"/>
                        </a:solidFill>
                        <a:effectLst/>
                        <a:latin typeface="PMingLiU" panose="02020500000000000000" pitchFamily="18" charset="-120"/>
                        <a:ea typeface="PMingLiU" panose="02020500000000000000" pitchFamily="18" charset="-120"/>
                      </a:endParaRPr>
                    </a:p>
                  </a:txBody>
                  <a:tcPr marL="9525" marR="9525" marT="9525" marB="0" anchor="ctr"/>
                </a:tc>
                <a:tc>
                  <a:txBody>
                    <a:bodyPr/>
                    <a:lstStyle/>
                    <a:p>
                      <a:pPr algn="ctr" fontAlgn="ctr">
                        <a:buNone/>
                      </a:pPr>
                      <a:r>
                        <a:rPr lang="zh-TW" altLang="en-US" sz="1100" u="none" strike="noStrike" dirty="0">
                          <a:effectLst/>
                        </a:rPr>
                        <a:t>實際身高</a:t>
                      </a:r>
                      <a:endParaRPr lang="zh-TW" altLang="en-US" sz="1100" b="0" i="0" u="none" strike="noStrike" dirty="0">
                        <a:solidFill>
                          <a:srgbClr val="000000"/>
                        </a:solidFill>
                        <a:effectLst/>
                        <a:latin typeface="PMingLiU" panose="02020500000000000000" pitchFamily="18" charset="-120"/>
                        <a:ea typeface="PMingLiU"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1255668849"/>
                  </a:ext>
                </a:extLst>
              </a:tr>
              <a:tr h="177800">
                <a:tc>
                  <a:txBody>
                    <a:bodyPr/>
                    <a:lstStyle/>
                    <a:p>
                      <a:pPr algn="ctr" fontAlgn="ctr">
                        <a:buNone/>
                      </a:pPr>
                      <a:r>
                        <a:rPr lang="en-US" altLang="zh-TW" sz="1100" u="none" strike="noStrike">
                          <a:effectLst/>
                        </a:rPr>
                        <a:t>171.1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159.1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1.72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75.5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162.6</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734789036"/>
                  </a:ext>
                </a:extLst>
              </a:tr>
              <a:tr h="177800">
                <a:tc>
                  <a:txBody>
                    <a:bodyPr/>
                    <a:lstStyle/>
                    <a:p>
                      <a:pPr algn="ctr" fontAlgn="ctr">
                        <a:buNone/>
                      </a:pPr>
                      <a:r>
                        <a:rPr lang="en-US" altLang="zh-TW" sz="1100" u="none" strike="noStrike">
                          <a:effectLst/>
                        </a:rPr>
                        <a:t>170.4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158.9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1.88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68.5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9.2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163.7</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626568440"/>
                  </a:ext>
                </a:extLst>
              </a:tr>
              <a:tr h="177800">
                <a:tc>
                  <a:txBody>
                    <a:bodyPr/>
                    <a:lstStyle/>
                    <a:p>
                      <a:pPr algn="ctr" fontAlgn="ctr">
                        <a:buNone/>
                      </a:pPr>
                      <a:r>
                        <a:rPr lang="en-US" altLang="zh-TW" sz="1100" u="none" strike="noStrike">
                          <a:effectLst/>
                        </a:rPr>
                        <a:t>167.6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154.9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1.97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84.7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3.8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161.5</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63896492"/>
                  </a:ext>
                </a:extLst>
              </a:tr>
              <a:tr h="177800">
                <a:tc>
                  <a:txBody>
                    <a:bodyPr/>
                    <a:lstStyle/>
                    <a:p>
                      <a:pPr algn="ctr" fontAlgn="ctr">
                        <a:buNone/>
                      </a:pPr>
                      <a:r>
                        <a:rPr lang="en-US" altLang="zh-TW" sz="1100" u="none" strike="noStrike">
                          <a:effectLst/>
                        </a:rPr>
                        <a:t>163.3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158.4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2.14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78.1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4.8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160.3</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2258160808"/>
                  </a:ext>
                </a:extLst>
              </a:tr>
              <a:tr h="177800">
                <a:tc>
                  <a:txBody>
                    <a:bodyPr/>
                    <a:lstStyle/>
                    <a:p>
                      <a:pPr algn="ctr" fontAlgn="ctr">
                        <a:buNone/>
                      </a:pPr>
                      <a:r>
                        <a:rPr lang="en-US" altLang="zh-TW" sz="1100" u="none" strike="noStrike">
                          <a:effectLst/>
                        </a:rPr>
                        <a:t>176.7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154.4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42.3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156.8</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450295811"/>
                  </a:ext>
                </a:extLst>
              </a:tr>
              <a:tr h="177800">
                <a:tc>
                  <a:txBody>
                    <a:bodyPr/>
                    <a:lstStyle/>
                    <a:p>
                      <a:pPr algn="ctr" fontAlgn="ctr">
                        <a:buNone/>
                      </a:pPr>
                      <a:r>
                        <a:rPr lang="en-US" altLang="zh-TW" sz="1100" u="none" strike="noStrike">
                          <a:effectLst/>
                        </a:rPr>
                        <a:t>177.3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163.3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0.95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77.7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7</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3.8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164.4</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4136099059"/>
                  </a:ext>
                </a:extLst>
              </a:tr>
              <a:tr h="177800">
                <a:tc>
                  <a:txBody>
                    <a:bodyPr/>
                    <a:lstStyle/>
                    <a:p>
                      <a:pPr algn="ctr" fontAlgn="ctr">
                        <a:buNone/>
                      </a:pPr>
                      <a:r>
                        <a:rPr lang="en-US" altLang="zh-TW" sz="1100" u="none" strike="noStrike">
                          <a:effectLst/>
                        </a:rPr>
                        <a:t>172.7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164.1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2.25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70.2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165</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1578011341"/>
                  </a:ext>
                </a:extLst>
              </a:tr>
              <a:tr h="177800">
                <a:tc>
                  <a:txBody>
                    <a:bodyPr/>
                    <a:lstStyle/>
                    <a:p>
                      <a:pPr algn="ctr" fontAlgn="ctr">
                        <a:buNone/>
                      </a:pPr>
                      <a:r>
                        <a:rPr lang="en-US" altLang="zh-TW" sz="1100" u="none" strike="noStrike">
                          <a:effectLst/>
                        </a:rPr>
                        <a:t>167.7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157.7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2.15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61.2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10.3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158.4</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958811105"/>
                  </a:ext>
                </a:extLst>
              </a:tr>
              <a:tr h="177800">
                <a:tc>
                  <a:txBody>
                    <a:bodyPr/>
                    <a:lstStyle/>
                    <a:p>
                      <a:pPr algn="ctr" fontAlgn="ctr">
                        <a:buNone/>
                      </a:pPr>
                      <a:r>
                        <a:rPr lang="en-US" altLang="zh-TW" sz="1100" u="none" strike="noStrike">
                          <a:effectLst/>
                        </a:rPr>
                        <a:t>176.6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167.1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2.15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77.5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9.4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3.8</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166.2</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027349881"/>
                  </a:ext>
                </a:extLst>
              </a:tr>
              <a:tr h="177800">
                <a:tc>
                  <a:txBody>
                    <a:bodyPr/>
                    <a:lstStyle/>
                    <a:p>
                      <a:pPr algn="ctr" fontAlgn="ctr">
                        <a:buNone/>
                      </a:pPr>
                      <a:r>
                        <a:rPr lang="en-US" altLang="zh-TW" sz="1100" u="none" strike="noStrike">
                          <a:effectLst/>
                        </a:rPr>
                        <a:t>168.8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164.8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0.79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65.5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3.4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164.4</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4139165013"/>
                  </a:ext>
                </a:extLst>
              </a:tr>
              <a:tr h="177800">
                <a:tc>
                  <a:txBody>
                    <a:bodyPr/>
                    <a:lstStyle/>
                    <a:p>
                      <a:pPr algn="ctr" fontAlgn="ctr">
                        <a:buNone/>
                      </a:pPr>
                      <a:r>
                        <a:rPr lang="en-US" altLang="zh-TW" sz="1100" u="none" strike="noStrike">
                          <a:effectLst/>
                        </a:rPr>
                        <a:t>175.5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171.6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2.23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55.9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171.8</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438866491"/>
                  </a:ext>
                </a:extLst>
              </a:tr>
              <a:tr h="177800">
                <a:tc>
                  <a:txBody>
                    <a:bodyPr/>
                    <a:lstStyle/>
                    <a:p>
                      <a:pPr algn="ctr" fontAlgn="ctr">
                        <a:buNone/>
                      </a:pPr>
                      <a:r>
                        <a:rPr lang="en-US" altLang="zh-TW" sz="1100" u="none" strike="noStrike">
                          <a:effectLst/>
                        </a:rPr>
                        <a:t>168.6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159.6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2.32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54.1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0.3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156.9</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059877219"/>
                  </a:ext>
                </a:extLst>
              </a:tr>
              <a:tr h="177800">
                <a:tc>
                  <a:txBody>
                    <a:bodyPr/>
                    <a:lstStyle/>
                    <a:p>
                      <a:pPr algn="ctr" fontAlgn="ctr">
                        <a:buNone/>
                      </a:pPr>
                      <a:r>
                        <a:rPr lang="en-US" altLang="zh-TW" sz="1100" u="none" strike="noStrike">
                          <a:effectLst/>
                        </a:rPr>
                        <a:t>168.6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162.1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2.64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64.7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4.3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167.2</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579137533"/>
                  </a:ext>
                </a:extLst>
              </a:tr>
              <a:tr h="177800">
                <a:tc>
                  <a:txBody>
                    <a:bodyPr/>
                    <a:lstStyle/>
                    <a:p>
                      <a:pPr algn="ctr" fontAlgn="ctr">
                        <a:buNone/>
                      </a:pPr>
                      <a:r>
                        <a:rPr lang="en-US" altLang="zh-TW" sz="1100" u="none" strike="noStrike">
                          <a:effectLst/>
                        </a:rPr>
                        <a:t>177.4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161.4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1.09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78.6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166.5</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724763025"/>
                  </a:ext>
                </a:extLst>
              </a:tr>
            </a:tbl>
          </a:graphicData>
        </a:graphic>
      </p:graphicFrame>
    </p:spTree>
    <p:extLst>
      <p:ext uri="{BB962C8B-B14F-4D97-AF65-F5344CB8AC3E}">
        <p14:creationId xmlns:p14="http://schemas.microsoft.com/office/powerpoint/2010/main" val="4137454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72E09FC-896F-A5C8-EDF1-5F34D00740C4}"/>
              </a:ext>
            </a:extLst>
          </p:cNvPr>
          <p:cNvSpPr>
            <a:spLocks noGrp="1"/>
          </p:cNvSpPr>
          <p:nvPr>
            <p:ph type="dt" sz="half" idx="10"/>
          </p:nvPr>
        </p:nvSpPr>
        <p:spPr/>
        <p:txBody>
          <a:bodyPr/>
          <a:lstStyle/>
          <a:p>
            <a:r>
              <a:rPr lang="en-US" altLang="zh-TW"/>
              <a:t>Wilson Ren</a:t>
            </a:r>
            <a:endParaRPr lang="en-US" altLang="zh-TW" dirty="0"/>
          </a:p>
        </p:txBody>
      </p:sp>
      <p:sp>
        <p:nvSpPr>
          <p:cNvPr id="3" name="投影片編號版面配置區 2">
            <a:extLst>
              <a:ext uri="{FF2B5EF4-FFF2-40B4-BE49-F238E27FC236}">
                <a16:creationId xmlns:a16="http://schemas.microsoft.com/office/drawing/2014/main" id="{47E5FAF2-A2B6-5161-5D86-7A2B386A7250}"/>
              </a:ext>
            </a:extLst>
          </p:cNvPr>
          <p:cNvSpPr>
            <a:spLocks noGrp="1"/>
          </p:cNvSpPr>
          <p:nvPr>
            <p:ph type="sldNum" sz="quarter" idx="12"/>
          </p:nvPr>
        </p:nvSpPr>
        <p:spPr/>
        <p:txBody>
          <a:bodyPr/>
          <a:lstStyle/>
          <a:p>
            <a:r>
              <a:rPr lang="en-US" altLang="zh-TW" dirty="0"/>
              <a:t>Deep Learning</a:t>
            </a:r>
          </a:p>
        </p:txBody>
      </p:sp>
      <p:graphicFrame>
        <p:nvGraphicFramePr>
          <p:cNvPr id="4" name="表格 3">
            <a:extLst>
              <a:ext uri="{FF2B5EF4-FFF2-40B4-BE49-F238E27FC236}">
                <a16:creationId xmlns:a16="http://schemas.microsoft.com/office/drawing/2014/main" id="{697105E7-E7C9-850F-89F1-1486E2F0E135}"/>
              </a:ext>
            </a:extLst>
          </p:cNvPr>
          <p:cNvGraphicFramePr>
            <a:graphicFrameLocks noGrp="1"/>
          </p:cNvGraphicFramePr>
          <p:nvPr>
            <p:extLst>
              <p:ext uri="{D42A27DB-BD31-4B8C-83A1-F6EECF244321}">
                <p14:modId xmlns:p14="http://schemas.microsoft.com/office/powerpoint/2010/main" val="3079369875"/>
              </p:ext>
            </p:extLst>
          </p:nvPr>
        </p:nvGraphicFramePr>
        <p:xfrm>
          <a:off x="121936" y="347723"/>
          <a:ext cx="5651500" cy="2667000"/>
        </p:xfrm>
        <a:graphic>
          <a:graphicData uri="http://schemas.openxmlformats.org/drawingml/2006/table">
            <a:tbl>
              <a:tblPr>
                <a:tableStyleId>{5C22544A-7EE6-4342-B048-85BDC9FD1C3A}</a:tableStyleId>
              </a:tblPr>
              <a:tblGrid>
                <a:gridCol w="712374">
                  <a:extLst>
                    <a:ext uri="{9D8B030D-6E8A-4147-A177-3AD203B41FA5}">
                      <a16:colId xmlns:a16="http://schemas.microsoft.com/office/drawing/2014/main" val="3775353222"/>
                    </a:ext>
                  </a:extLst>
                </a:gridCol>
                <a:gridCol w="712374">
                  <a:extLst>
                    <a:ext uri="{9D8B030D-6E8A-4147-A177-3AD203B41FA5}">
                      <a16:colId xmlns:a16="http://schemas.microsoft.com/office/drawing/2014/main" val="4282924648"/>
                    </a:ext>
                  </a:extLst>
                </a:gridCol>
                <a:gridCol w="1168293">
                  <a:extLst>
                    <a:ext uri="{9D8B030D-6E8A-4147-A177-3AD203B41FA5}">
                      <a16:colId xmlns:a16="http://schemas.microsoft.com/office/drawing/2014/main" val="4099688132"/>
                    </a:ext>
                  </a:extLst>
                </a:gridCol>
                <a:gridCol w="1329765">
                  <a:extLst>
                    <a:ext uri="{9D8B030D-6E8A-4147-A177-3AD203B41FA5}">
                      <a16:colId xmlns:a16="http://schemas.microsoft.com/office/drawing/2014/main" val="2387553956"/>
                    </a:ext>
                  </a:extLst>
                </a:gridCol>
                <a:gridCol w="712374">
                  <a:extLst>
                    <a:ext uri="{9D8B030D-6E8A-4147-A177-3AD203B41FA5}">
                      <a16:colId xmlns:a16="http://schemas.microsoft.com/office/drawing/2014/main" val="1488067174"/>
                    </a:ext>
                  </a:extLst>
                </a:gridCol>
                <a:gridCol w="1016320">
                  <a:extLst>
                    <a:ext uri="{9D8B030D-6E8A-4147-A177-3AD203B41FA5}">
                      <a16:colId xmlns:a16="http://schemas.microsoft.com/office/drawing/2014/main" val="2590575762"/>
                    </a:ext>
                  </a:extLst>
                </a:gridCol>
              </a:tblGrid>
              <a:tr h="177800">
                <a:tc>
                  <a:txBody>
                    <a:bodyPr/>
                    <a:lstStyle/>
                    <a:p>
                      <a:pPr algn="ctr" fontAlgn="ctr">
                        <a:buNone/>
                      </a:pPr>
                      <a:r>
                        <a:rPr lang="zh-TW" altLang="en-US" sz="1100" u="none" strike="noStrike">
                          <a:effectLst/>
                        </a:rPr>
                        <a:t>父親身高</a:t>
                      </a:r>
                      <a:endParaRPr lang="zh-TW" altLang="en-US"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zh-TW" altLang="en-US" sz="1100" u="none" strike="noStrike">
                          <a:effectLst/>
                        </a:rPr>
                        <a:t>母親身高</a:t>
                      </a:r>
                      <a:endParaRPr lang="zh-TW" altLang="en-US"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zh-TW" altLang="en-US" sz="1100" u="none" strike="noStrike">
                          <a:effectLst/>
                        </a:rPr>
                        <a:t>每日牛奶攝取量</a:t>
                      </a:r>
                      <a:endParaRPr lang="zh-TW" altLang="en-US" sz="1100" b="0" i="0" u="none" strike="noStrike">
                        <a:solidFill>
                          <a:srgbClr val="000000"/>
                        </a:solidFill>
                        <a:effectLst/>
                        <a:latin typeface="PMingLiU" panose="02020500000000000000" pitchFamily="18" charset="-120"/>
                        <a:ea typeface="PMingLiU" panose="02020500000000000000" pitchFamily="18" charset="-120"/>
                      </a:endParaRPr>
                    </a:p>
                  </a:txBody>
                  <a:tcPr marL="9525" marR="9525" marT="9525" marB="0" anchor="ctr"/>
                </a:tc>
                <a:tc>
                  <a:txBody>
                    <a:bodyPr/>
                    <a:lstStyle/>
                    <a:p>
                      <a:pPr algn="ctr" fontAlgn="ctr">
                        <a:buNone/>
                      </a:pPr>
                      <a:r>
                        <a:rPr lang="zh-TW" altLang="en-US" sz="1100" u="none" strike="noStrike">
                          <a:effectLst/>
                        </a:rPr>
                        <a:t>每日蛋白質攝取量</a:t>
                      </a:r>
                      <a:endParaRPr lang="zh-TW" altLang="en-US" sz="1100" b="0" i="0" u="none" strike="noStrike">
                        <a:solidFill>
                          <a:srgbClr val="000000"/>
                        </a:solidFill>
                        <a:effectLst/>
                        <a:latin typeface="PMingLiU" panose="02020500000000000000" pitchFamily="18" charset="-120"/>
                        <a:ea typeface="PMingLiU" panose="02020500000000000000" pitchFamily="18" charset="-120"/>
                      </a:endParaRPr>
                    </a:p>
                  </a:txBody>
                  <a:tcPr marL="9525" marR="9525" marT="9525" marB="0" anchor="ctr"/>
                </a:tc>
                <a:tc>
                  <a:txBody>
                    <a:bodyPr/>
                    <a:lstStyle/>
                    <a:p>
                      <a:pPr algn="ctr" fontAlgn="ctr">
                        <a:buNone/>
                      </a:pPr>
                      <a:r>
                        <a:rPr lang="zh-TW" altLang="en-US" sz="1100" u="none" strike="noStrike">
                          <a:effectLst/>
                        </a:rPr>
                        <a:t>每日睡眠</a:t>
                      </a:r>
                      <a:endParaRPr lang="zh-TW" altLang="en-US" sz="1100" b="0" i="0" u="none" strike="noStrike">
                        <a:solidFill>
                          <a:srgbClr val="000000"/>
                        </a:solidFill>
                        <a:effectLst/>
                        <a:latin typeface="PMingLiU" panose="02020500000000000000" pitchFamily="18" charset="-120"/>
                        <a:ea typeface="PMingLiU" panose="02020500000000000000" pitchFamily="18" charset="-120"/>
                      </a:endParaRPr>
                    </a:p>
                  </a:txBody>
                  <a:tcPr marL="9525" marR="9525" marT="9525" marB="0" anchor="ctr"/>
                </a:tc>
                <a:tc>
                  <a:txBody>
                    <a:bodyPr/>
                    <a:lstStyle/>
                    <a:p>
                      <a:pPr algn="ctr" fontAlgn="ctr">
                        <a:buNone/>
                      </a:pPr>
                      <a:r>
                        <a:rPr lang="zh-TW" altLang="en-US" sz="1100" u="none" strike="noStrike">
                          <a:effectLst/>
                        </a:rPr>
                        <a:t>每日運動時數</a:t>
                      </a:r>
                      <a:endParaRPr lang="zh-TW" altLang="en-US" sz="1100" b="0" i="0" u="none" strike="noStrike">
                        <a:solidFill>
                          <a:srgbClr val="000000"/>
                        </a:solidFill>
                        <a:effectLst/>
                        <a:latin typeface="PMingLiU" panose="02020500000000000000" pitchFamily="18" charset="-120"/>
                        <a:ea typeface="PMingLiU" panose="02020500000000000000" pitchFamily="18" charset="-120"/>
                      </a:endParaRPr>
                    </a:p>
                  </a:txBody>
                  <a:tcPr marL="9525" marR="9525" marT="9525" marB="0" anchor="ctr"/>
                </a:tc>
                <a:extLst>
                  <a:ext uri="{0D108BD9-81ED-4DB2-BD59-A6C34878D82A}">
                    <a16:rowId xmlns:a16="http://schemas.microsoft.com/office/drawing/2014/main" val="980761267"/>
                  </a:ext>
                </a:extLst>
              </a:tr>
              <a:tr h="177800">
                <a:tc>
                  <a:txBody>
                    <a:bodyPr/>
                    <a:lstStyle/>
                    <a:p>
                      <a:pPr algn="ctr" fontAlgn="ctr">
                        <a:buNone/>
                      </a:pPr>
                      <a:r>
                        <a:rPr lang="en-US" altLang="zh-TW" sz="1100" u="none" strike="noStrike">
                          <a:effectLst/>
                        </a:rPr>
                        <a:t>171.1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159.1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1.72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75.5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693611533"/>
                  </a:ext>
                </a:extLst>
              </a:tr>
              <a:tr h="177800">
                <a:tc>
                  <a:txBody>
                    <a:bodyPr/>
                    <a:lstStyle/>
                    <a:p>
                      <a:pPr algn="ctr" fontAlgn="ctr">
                        <a:buNone/>
                      </a:pPr>
                      <a:r>
                        <a:rPr lang="en-US" altLang="zh-TW" sz="1100" u="none" strike="noStrike">
                          <a:effectLst/>
                        </a:rPr>
                        <a:t>170.4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158.9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1.88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68.5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9.2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681704917"/>
                  </a:ext>
                </a:extLst>
              </a:tr>
              <a:tr h="177800">
                <a:tc>
                  <a:txBody>
                    <a:bodyPr/>
                    <a:lstStyle/>
                    <a:p>
                      <a:pPr algn="ctr" fontAlgn="ctr">
                        <a:buNone/>
                      </a:pPr>
                      <a:r>
                        <a:rPr lang="en-US" altLang="zh-TW" sz="1100" u="none" strike="noStrike">
                          <a:effectLst/>
                        </a:rPr>
                        <a:t>167.6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154.9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1.97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84.7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3.8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920597481"/>
                  </a:ext>
                </a:extLst>
              </a:tr>
              <a:tr h="177800">
                <a:tc>
                  <a:txBody>
                    <a:bodyPr/>
                    <a:lstStyle/>
                    <a:p>
                      <a:pPr algn="ctr" fontAlgn="ctr">
                        <a:buNone/>
                      </a:pPr>
                      <a:r>
                        <a:rPr lang="en-US" altLang="zh-TW" sz="1100" u="none" strike="noStrike">
                          <a:effectLst/>
                        </a:rPr>
                        <a:t>163.3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158.4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2.14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78.1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4.8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610713369"/>
                  </a:ext>
                </a:extLst>
              </a:tr>
              <a:tr h="177800">
                <a:tc>
                  <a:txBody>
                    <a:bodyPr/>
                    <a:lstStyle/>
                    <a:p>
                      <a:pPr algn="ctr" fontAlgn="ctr">
                        <a:buNone/>
                      </a:pPr>
                      <a:r>
                        <a:rPr lang="en-US" altLang="zh-TW" sz="1100" u="none" strike="noStrike">
                          <a:effectLst/>
                        </a:rPr>
                        <a:t>176.7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154.4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42.3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275412214"/>
                  </a:ext>
                </a:extLst>
              </a:tr>
              <a:tr h="177800">
                <a:tc>
                  <a:txBody>
                    <a:bodyPr/>
                    <a:lstStyle/>
                    <a:p>
                      <a:pPr algn="ctr" fontAlgn="ctr">
                        <a:buNone/>
                      </a:pPr>
                      <a:r>
                        <a:rPr lang="en-US" altLang="zh-TW" sz="1100" u="none" strike="noStrike">
                          <a:effectLst/>
                        </a:rPr>
                        <a:t>177.3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163.3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0.95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77.7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3.8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805105016"/>
                  </a:ext>
                </a:extLst>
              </a:tr>
              <a:tr h="177800">
                <a:tc>
                  <a:txBody>
                    <a:bodyPr/>
                    <a:lstStyle/>
                    <a:p>
                      <a:pPr algn="ctr" fontAlgn="ctr">
                        <a:buNone/>
                      </a:pPr>
                      <a:r>
                        <a:rPr lang="en-US" altLang="zh-TW" sz="1100" u="none" strike="noStrike">
                          <a:effectLst/>
                        </a:rPr>
                        <a:t>172.7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164.1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2.25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70.2</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446144825"/>
                  </a:ext>
                </a:extLst>
              </a:tr>
              <a:tr h="177800">
                <a:tc>
                  <a:txBody>
                    <a:bodyPr/>
                    <a:lstStyle/>
                    <a:p>
                      <a:pPr algn="ctr" fontAlgn="ctr">
                        <a:buNone/>
                      </a:pPr>
                      <a:r>
                        <a:rPr lang="en-US" altLang="zh-TW" sz="1100" u="none" strike="noStrike">
                          <a:effectLst/>
                        </a:rPr>
                        <a:t>167.7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157.7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2.15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61.2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10.3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1866600300"/>
                  </a:ext>
                </a:extLst>
              </a:tr>
              <a:tr h="177800">
                <a:tc>
                  <a:txBody>
                    <a:bodyPr/>
                    <a:lstStyle/>
                    <a:p>
                      <a:pPr algn="ctr" fontAlgn="ctr">
                        <a:buNone/>
                      </a:pPr>
                      <a:r>
                        <a:rPr lang="en-US" altLang="zh-TW" sz="1100" u="none" strike="noStrike">
                          <a:effectLst/>
                        </a:rPr>
                        <a:t>176.6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167.1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2.15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77.5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9.4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3.8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2815395082"/>
                  </a:ext>
                </a:extLst>
              </a:tr>
              <a:tr h="177800">
                <a:tc>
                  <a:txBody>
                    <a:bodyPr/>
                    <a:lstStyle/>
                    <a:p>
                      <a:pPr algn="ctr" fontAlgn="ctr">
                        <a:buNone/>
                      </a:pPr>
                      <a:r>
                        <a:rPr lang="en-US" altLang="zh-TW" sz="1100" u="none" strike="noStrike">
                          <a:effectLst/>
                        </a:rPr>
                        <a:t>168.8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164.8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0.79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65.5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3.4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145732995"/>
                  </a:ext>
                </a:extLst>
              </a:tr>
              <a:tr h="177800">
                <a:tc>
                  <a:txBody>
                    <a:bodyPr/>
                    <a:lstStyle/>
                    <a:p>
                      <a:pPr algn="ctr" fontAlgn="ctr">
                        <a:buNone/>
                      </a:pPr>
                      <a:r>
                        <a:rPr lang="en-US" altLang="zh-TW" sz="1100" u="none" strike="noStrike">
                          <a:effectLst/>
                        </a:rPr>
                        <a:t>175.5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171.6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2.23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55.9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262248718"/>
                  </a:ext>
                </a:extLst>
              </a:tr>
              <a:tr h="177800">
                <a:tc>
                  <a:txBody>
                    <a:bodyPr/>
                    <a:lstStyle/>
                    <a:p>
                      <a:pPr algn="ctr" fontAlgn="ctr">
                        <a:buNone/>
                      </a:pPr>
                      <a:r>
                        <a:rPr lang="en-US" altLang="zh-TW" sz="1100" u="none" strike="noStrike">
                          <a:effectLst/>
                        </a:rPr>
                        <a:t>168.6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159.6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2.32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54.1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0.3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3797077968"/>
                  </a:ext>
                </a:extLst>
              </a:tr>
              <a:tr h="177800">
                <a:tc>
                  <a:txBody>
                    <a:bodyPr/>
                    <a:lstStyle/>
                    <a:p>
                      <a:pPr algn="ctr" fontAlgn="ctr">
                        <a:buNone/>
                      </a:pPr>
                      <a:r>
                        <a:rPr lang="en-US" altLang="zh-TW" sz="1100" u="none" strike="noStrike">
                          <a:effectLst/>
                        </a:rPr>
                        <a:t>168.6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162.1</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2.64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64.7</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8.3</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4.3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987912143"/>
                  </a:ext>
                </a:extLst>
              </a:tr>
              <a:tr h="177800">
                <a:tc>
                  <a:txBody>
                    <a:bodyPr/>
                    <a:lstStyle/>
                    <a:p>
                      <a:pPr algn="ctr" fontAlgn="ctr">
                        <a:buNone/>
                      </a:pPr>
                      <a:r>
                        <a:rPr lang="en-US" altLang="zh-TW" sz="1100" u="none" strike="noStrike">
                          <a:effectLst/>
                        </a:rPr>
                        <a:t>177.4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161.4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1.09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78.6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a:effectLst/>
                        </a:rPr>
                        <a:t>8.4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tc>
                  <a:txBody>
                    <a:bodyPr/>
                    <a:lstStyle/>
                    <a:p>
                      <a:pPr algn="ctr" fontAlgn="ctr">
                        <a:buNone/>
                      </a:pPr>
                      <a:r>
                        <a:rPr lang="en-US" altLang="zh-TW" sz="1100" u="none" strike="noStrike" dirty="0">
                          <a:effectLst/>
                        </a:rPr>
                        <a:t>6.5</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tc>
                <a:extLst>
                  <a:ext uri="{0D108BD9-81ED-4DB2-BD59-A6C34878D82A}">
                    <a16:rowId xmlns:a16="http://schemas.microsoft.com/office/drawing/2014/main" val="4022641291"/>
                  </a:ext>
                </a:extLst>
              </a:tr>
            </a:tbl>
          </a:graphicData>
        </a:graphic>
      </p:graphicFrame>
      <p:cxnSp>
        <p:nvCxnSpPr>
          <p:cNvPr id="6" name="直線箭頭接點 5">
            <a:extLst>
              <a:ext uri="{FF2B5EF4-FFF2-40B4-BE49-F238E27FC236}">
                <a16:creationId xmlns:a16="http://schemas.microsoft.com/office/drawing/2014/main" id="{E1F883EB-CF7D-804A-AE6D-163A7AB263EF}"/>
              </a:ext>
            </a:extLst>
          </p:cNvPr>
          <p:cNvCxnSpPr>
            <a:cxnSpLocks/>
          </p:cNvCxnSpPr>
          <p:nvPr/>
        </p:nvCxnSpPr>
        <p:spPr>
          <a:xfrm>
            <a:off x="5868364" y="1681223"/>
            <a:ext cx="1973081" cy="1333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69EE37A0-15A9-1AA6-4B1C-09494B4648C7}"/>
                  </a:ext>
                </a:extLst>
              </p:cNvPr>
              <p:cNvSpPr txBox="1"/>
              <p:nvPr/>
            </p:nvSpPr>
            <p:spPr>
              <a:xfrm>
                <a:off x="7974957" y="1684116"/>
                <a:ext cx="3250156" cy="4159793"/>
              </a:xfrm>
              <a:prstGeom prst="rect">
                <a:avLst/>
              </a:prstGeom>
              <a:noFill/>
            </p:spPr>
            <p:txBody>
              <a:bodyPr wrap="square" rtlCol="0">
                <a:spAutoFit/>
              </a:bodyPr>
              <a:lstStyle/>
              <a:p>
                <a:r>
                  <a:rPr kumimoji="1" lang="en-US" altLang="zh-TW" b="1" dirty="0"/>
                  <a:t>Linear Regression Model:</a:t>
                </a:r>
              </a:p>
              <a:p>
                <a:pPr/>
                <a14:m>
                  <m:oMathPara xmlns:m="http://schemas.openxmlformats.org/officeDocument/2006/math">
                    <m:oMathParaPr>
                      <m:jc m:val="centerGroup"/>
                    </m:oMathParaPr>
                    <m:oMath xmlns:m="http://schemas.openxmlformats.org/officeDocument/2006/math">
                      <m:r>
                        <a:rPr kumimoji="1" lang="en-US" altLang="zh-TW" b="0" i="1" smtClean="0">
                          <a:latin typeface="Cambria Math" panose="02040503050406030204" pitchFamily="18" charset="0"/>
                        </a:rPr>
                        <m:t>h</m:t>
                      </m:r>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eqArr>
                            <m:eqArrPr>
                              <m:ctrlPr>
                                <a:rPr kumimoji="1" lang="en-US" altLang="zh-TW" i="1">
                                  <a:latin typeface="Cambria Math" panose="02040503050406030204" pitchFamily="18" charset="0"/>
                                </a:rPr>
                              </m:ctrlPr>
                            </m:eqArr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1</m:t>
                                  </m:r>
                                </m:sub>
                              </m:sSub>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b="0" i="1" smtClean="0">
                                      <a:latin typeface="Cambria Math" panose="02040503050406030204" pitchFamily="18" charset="0"/>
                                    </a:rPr>
                                    <m:t>2</m:t>
                                  </m:r>
                                </m:sub>
                              </m:sSub>
                            </m:e>
                            <m:e>
                              <m:r>
                                <a:rPr kumimoji="1" lang="en-US" altLang="zh-TW" b="0" i="1" smtClean="0">
                                  <a:latin typeface="Cambria Math" panose="02040503050406030204" pitchFamily="18" charset="0"/>
                                </a:rPr>
                                <m:t>…</m:t>
                              </m:r>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b="0" i="1" smtClean="0">
                                      <a:latin typeface="Cambria Math" panose="02040503050406030204" pitchFamily="18" charset="0"/>
                                    </a:rPr>
                                    <m:t>6</m:t>
                                  </m:r>
                                </m:sub>
                              </m:sSub>
                            </m:e>
                          </m:eqArr>
                        </m:e>
                      </m:d>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𝑎</m:t>
                      </m:r>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𝑥</m:t>
                          </m:r>
                        </m:e>
                        <m:sub>
                          <m:r>
                            <a:rPr kumimoji="1" lang="en-US" altLang="zh-TW" b="0" i="1" smtClean="0">
                              <a:latin typeface="Cambria Math" panose="02040503050406030204" pitchFamily="18" charset="0"/>
                            </a:rPr>
                            <m:t>1</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𝑏</m:t>
                          </m:r>
                          <m:r>
                            <a:rPr kumimoji="1" lang="en-US" altLang="zh-TW" i="1">
                              <a:latin typeface="Cambria Math" panose="02040503050406030204" pitchFamily="18" charset="0"/>
                            </a:rPr>
                            <m:t>𝑥</m:t>
                          </m:r>
                        </m:e>
                        <m:sub>
                          <m:r>
                            <a:rPr kumimoji="1" lang="en-US" altLang="zh-TW" b="0" i="1" smtClean="0">
                              <a:latin typeface="Cambria Math" panose="02040503050406030204" pitchFamily="18" charset="0"/>
                            </a:rPr>
                            <m:t>2</m:t>
                          </m:r>
                        </m:sub>
                      </m:sSub>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𝑓</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b="0" i="1" smtClean="0">
                              <a:latin typeface="Cambria Math" panose="02040503050406030204" pitchFamily="18" charset="0"/>
                            </a:rPr>
                            <m:t>6</m:t>
                          </m:r>
                        </m:sub>
                      </m:sSub>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𝑒</m:t>
                      </m:r>
                    </m:oMath>
                  </m:oMathPara>
                </a14:m>
                <a:endParaRPr kumimoji="1" lang="en-US" altLang="zh-TW" dirty="0"/>
              </a:p>
              <a:p>
                <a:endParaRPr kumimoji="1" lang="en-US" altLang="zh-TW" dirty="0"/>
              </a:p>
              <a:p>
                <a:endParaRPr kumimoji="1" lang="en-US" altLang="zh-TW" b="1" dirty="0"/>
              </a:p>
              <a:p>
                <a:r>
                  <a:rPr kumimoji="1" lang="en-US" altLang="zh-TW" b="1" dirty="0"/>
                  <a:t>Deep Neural Network Model:</a:t>
                </a:r>
              </a:p>
              <a:p>
                <a:r>
                  <a:rPr kumimoji="1" lang="en-US" altLang="zh-TW" dirty="0"/>
                  <a:t>The model consists of an input layer with 6 neurons, followed by 5 hidden layers, each containing 10 neurons with </a:t>
                </a:r>
                <a:r>
                  <a:rPr kumimoji="1" lang="en-US" altLang="zh-TW" dirty="0" err="1"/>
                  <a:t>ReLU</a:t>
                </a:r>
                <a:r>
                  <a:rPr kumimoji="1" lang="en-US" altLang="zh-TW" dirty="0"/>
                  <a:t> activation functions, and a final output layer with a single neuron for prediction.</a:t>
                </a:r>
              </a:p>
            </p:txBody>
          </p:sp>
        </mc:Choice>
        <mc:Fallback xmlns="">
          <p:sp>
            <p:nvSpPr>
              <p:cNvPr id="7" name="文字方塊 6">
                <a:extLst>
                  <a:ext uri="{FF2B5EF4-FFF2-40B4-BE49-F238E27FC236}">
                    <a16:creationId xmlns:a16="http://schemas.microsoft.com/office/drawing/2014/main" id="{69EE37A0-15A9-1AA6-4B1C-09494B4648C7}"/>
                  </a:ext>
                </a:extLst>
              </p:cNvPr>
              <p:cNvSpPr txBox="1">
                <a:spLocks noRot="1" noChangeAspect="1" noMove="1" noResize="1" noEditPoints="1" noAdjustHandles="1" noChangeArrowheads="1" noChangeShapeType="1" noTextEdit="1"/>
              </p:cNvSpPr>
              <p:nvPr/>
            </p:nvSpPr>
            <p:spPr>
              <a:xfrm>
                <a:off x="7974957" y="1684116"/>
                <a:ext cx="3250156" cy="4159793"/>
              </a:xfrm>
              <a:prstGeom prst="rect">
                <a:avLst/>
              </a:prstGeom>
              <a:blipFill>
                <a:blip r:embed="rId2"/>
                <a:stretch>
                  <a:fillRect l="-1167" t="-608" r="-2335" b="-1216"/>
                </a:stretch>
              </a:blipFill>
            </p:spPr>
            <p:txBody>
              <a:bodyPr/>
              <a:lstStyle/>
              <a:p>
                <a:r>
                  <a:rPr lang="zh-TW" altLang="en-US">
                    <a:noFill/>
                  </a:rPr>
                  <a:t> </a:t>
                </a:r>
              </a:p>
            </p:txBody>
          </p:sp>
        </mc:Fallback>
      </mc:AlternateContent>
      <p:pic>
        <p:nvPicPr>
          <p:cNvPr id="9" name="圖片 8" descr="一張含有 符號, 圖形, 字型, 設計 的圖片&#10;&#10;AI 產生的內容可能不正確。">
            <a:extLst>
              <a:ext uri="{FF2B5EF4-FFF2-40B4-BE49-F238E27FC236}">
                <a16:creationId xmlns:a16="http://schemas.microsoft.com/office/drawing/2014/main" id="{48EC3D42-6F46-BB33-4BFB-FBEDDF2AEE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67233" y="4112474"/>
            <a:ext cx="913999" cy="913999"/>
          </a:xfrm>
          <a:prstGeom prst="rect">
            <a:avLst/>
          </a:prstGeom>
        </p:spPr>
      </p:pic>
      <p:cxnSp>
        <p:nvCxnSpPr>
          <p:cNvPr id="10" name="直線箭頭接點 9">
            <a:extLst>
              <a:ext uri="{FF2B5EF4-FFF2-40B4-BE49-F238E27FC236}">
                <a16:creationId xmlns:a16="http://schemas.microsoft.com/office/drawing/2014/main" id="{214CF565-9A62-8440-8A93-68834A6FFD50}"/>
              </a:ext>
            </a:extLst>
          </p:cNvPr>
          <p:cNvCxnSpPr>
            <a:cxnSpLocks/>
          </p:cNvCxnSpPr>
          <p:nvPr/>
        </p:nvCxnSpPr>
        <p:spPr>
          <a:xfrm flipH="1">
            <a:off x="4457576" y="4348930"/>
            <a:ext cx="3383869" cy="163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表格 13">
            <a:extLst>
              <a:ext uri="{FF2B5EF4-FFF2-40B4-BE49-F238E27FC236}">
                <a16:creationId xmlns:a16="http://schemas.microsoft.com/office/drawing/2014/main" id="{11569039-E60A-223E-7673-37C44F97A179}"/>
              </a:ext>
            </a:extLst>
          </p:cNvPr>
          <p:cNvGraphicFramePr>
            <a:graphicFrameLocks noGrp="1"/>
          </p:cNvGraphicFramePr>
          <p:nvPr>
            <p:extLst>
              <p:ext uri="{D42A27DB-BD31-4B8C-83A1-F6EECF244321}">
                <p14:modId xmlns:p14="http://schemas.microsoft.com/office/powerpoint/2010/main" val="3874854512"/>
              </p:ext>
            </p:extLst>
          </p:nvPr>
        </p:nvGraphicFramePr>
        <p:xfrm>
          <a:off x="667767" y="3428999"/>
          <a:ext cx="711200" cy="2667000"/>
        </p:xfrm>
        <a:graphic>
          <a:graphicData uri="http://schemas.openxmlformats.org/drawingml/2006/table">
            <a:tbl>
              <a:tblPr>
                <a:tableStyleId>{5C22544A-7EE6-4342-B048-85BDC9FD1C3A}</a:tableStyleId>
              </a:tblPr>
              <a:tblGrid>
                <a:gridCol w="711200">
                  <a:extLst>
                    <a:ext uri="{9D8B030D-6E8A-4147-A177-3AD203B41FA5}">
                      <a16:colId xmlns:a16="http://schemas.microsoft.com/office/drawing/2014/main" val="4035471733"/>
                    </a:ext>
                  </a:extLst>
                </a:gridCol>
              </a:tblGrid>
              <a:tr h="177800">
                <a:tc>
                  <a:txBody>
                    <a:bodyPr/>
                    <a:lstStyle/>
                    <a:p>
                      <a:pPr algn="ctr" fontAlgn="ctr">
                        <a:buNone/>
                      </a:pPr>
                      <a:r>
                        <a:rPr lang="zh-TW" altLang="en-US" sz="1100" u="none" strike="noStrike" dirty="0">
                          <a:effectLst/>
                        </a:rPr>
                        <a:t>實際身高</a:t>
                      </a:r>
                      <a:endParaRPr lang="zh-TW" altLang="en-US" sz="1100" b="0" i="0" u="none" strike="noStrike" dirty="0">
                        <a:solidFill>
                          <a:srgbClr val="000000"/>
                        </a:solidFill>
                        <a:effectLst/>
                        <a:latin typeface="PMingLiU" panose="02020500000000000000" pitchFamily="18" charset="-120"/>
                        <a:ea typeface="PMingLiU"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1589057472"/>
                  </a:ext>
                </a:extLst>
              </a:tr>
              <a:tr h="177800">
                <a:tc>
                  <a:txBody>
                    <a:bodyPr/>
                    <a:lstStyle/>
                    <a:p>
                      <a:pPr algn="ctr" fontAlgn="ctr">
                        <a:buNone/>
                      </a:pPr>
                      <a:r>
                        <a:rPr lang="en-US" altLang="zh-TW" sz="1100" u="none" strike="noStrike">
                          <a:effectLst/>
                        </a:rPr>
                        <a:t>162.6</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1359497603"/>
                  </a:ext>
                </a:extLst>
              </a:tr>
              <a:tr h="177800">
                <a:tc>
                  <a:txBody>
                    <a:bodyPr/>
                    <a:lstStyle/>
                    <a:p>
                      <a:pPr algn="ctr" fontAlgn="ctr">
                        <a:buNone/>
                      </a:pPr>
                      <a:r>
                        <a:rPr lang="en-US" altLang="zh-TW" sz="1100" u="none" strike="noStrike" dirty="0">
                          <a:effectLst/>
                        </a:rPr>
                        <a:t>163.7</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2748711521"/>
                  </a:ext>
                </a:extLst>
              </a:tr>
              <a:tr h="177800">
                <a:tc>
                  <a:txBody>
                    <a:bodyPr/>
                    <a:lstStyle/>
                    <a:p>
                      <a:pPr algn="ctr" fontAlgn="ctr">
                        <a:buNone/>
                      </a:pPr>
                      <a:r>
                        <a:rPr lang="en-US" altLang="zh-TW" sz="1100" u="none" strike="noStrike">
                          <a:effectLst/>
                        </a:rPr>
                        <a:t>161.5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285325356"/>
                  </a:ext>
                </a:extLst>
              </a:tr>
              <a:tr h="177800">
                <a:tc>
                  <a:txBody>
                    <a:bodyPr/>
                    <a:lstStyle/>
                    <a:p>
                      <a:pPr algn="ctr" fontAlgn="ctr">
                        <a:buNone/>
                      </a:pPr>
                      <a:r>
                        <a:rPr lang="en-US" altLang="zh-TW" sz="1100" u="none" strike="noStrike">
                          <a:effectLst/>
                        </a:rPr>
                        <a:t>160.3</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2204849899"/>
                  </a:ext>
                </a:extLst>
              </a:tr>
              <a:tr h="177800">
                <a:tc>
                  <a:txBody>
                    <a:bodyPr/>
                    <a:lstStyle/>
                    <a:p>
                      <a:pPr algn="ctr" fontAlgn="ctr">
                        <a:buNone/>
                      </a:pPr>
                      <a:r>
                        <a:rPr lang="en-US" altLang="zh-TW" sz="1100" u="none" strike="noStrike">
                          <a:effectLst/>
                        </a:rPr>
                        <a:t>156.8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574250086"/>
                  </a:ext>
                </a:extLst>
              </a:tr>
              <a:tr h="177800">
                <a:tc>
                  <a:txBody>
                    <a:bodyPr/>
                    <a:lstStyle/>
                    <a:p>
                      <a:pPr algn="ctr" fontAlgn="ctr">
                        <a:buNone/>
                      </a:pPr>
                      <a:r>
                        <a:rPr lang="en-US" altLang="zh-TW" sz="1100" u="none" strike="noStrike" dirty="0">
                          <a:effectLst/>
                        </a:rPr>
                        <a:t>164.4</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712037771"/>
                  </a:ext>
                </a:extLst>
              </a:tr>
              <a:tr h="177800">
                <a:tc>
                  <a:txBody>
                    <a:bodyPr/>
                    <a:lstStyle/>
                    <a:p>
                      <a:pPr algn="ctr" fontAlgn="ctr">
                        <a:buNone/>
                      </a:pPr>
                      <a:r>
                        <a:rPr lang="en-US" altLang="zh-TW" sz="1100" u="none" strike="noStrike">
                          <a:effectLst/>
                        </a:rPr>
                        <a:t>165</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734998434"/>
                  </a:ext>
                </a:extLst>
              </a:tr>
              <a:tr h="177800">
                <a:tc>
                  <a:txBody>
                    <a:bodyPr/>
                    <a:lstStyle/>
                    <a:p>
                      <a:pPr algn="ctr" fontAlgn="ctr">
                        <a:buNone/>
                      </a:pPr>
                      <a:r>
                        <a:rPr lang="en-US" altLang="zh-TW" sz="1100" u="none" strike="noStrike" dirty="0">
                          <a:effectLst/>
                        </a:rPr>
                        <a:t>158.4</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8439826"/>
                  </a:ext>
                </a:extLst>
              </a:tr>
              <a:tr h="177800">
                <a:tc>
                  <a:txBody>
                    <a:bodyPr/>
                    <a:lstStyle/>
                    <a:p>
                      <a:pPr algn="ctr" fontAlgn="ctr">
                        <a:buNone/>
                      </a:pPr>
                      <a:r>
                        <a:rPr lang="en-US" altLang="zh-TW" sz="1100" u="none" strike="noStrike">
                          <a:effectLst/>
                        </a:rPr>
                        <a:t>166.2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4061774355"/>
                  </a:ext>
                </a:extLst>
              </a:tr>
              <a:tr h="177800">
                <a:tc>
                  <a:txBody>
                    <a:bodyPr/>
                    <a:lstStyle/>
                    <a:p>
                      <a:pPr algn="ctr" fontAlgn="ctr">
                        <a:buNone/>
                      </a:pPr>
                      <a:r>
                        <a:rPr lang="en-US" altLang="zh-TW" sz="1100" u="none" strike="noStrike">
                          <a:effectLst/>
                        </a:rPr>
                        <a:t>164.4</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4063964348"/>
                  </a:ext>
                </a:extLst>
              </a:tr>
              <a:tr h="177800">
                <a:tc>
                  <a:txBody>
                    <a:bodyPr/>
                    <a:lstStyle/>
                    <a:p>
                      <a:pPr algn="ctr" fontAlgn="ctr">
                        <a:buNone/>
                      </a:pPr>
                      <a:r>
                        <a:rPr lang="en-US" altLang="zh-TW" sz="1100" u="none" strike="noStrike">
                          <a:effectLst/>
                        </a:rPr>
                        <a:t>171.8</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159066902"/>
                  </a:ext>
                </a:extLst>
              </a:tr>
              <a:tr h="177800">
                <a:tc>
                  <a:txBody>
                    <a:bodyPr/>
                    <a:lstStyle/>
                    <a:p>
                      <a:pPr algn="ctr" fontAlgn="ctr">
                        <a:buNone/>
                      </a:pPr>
                      <a:r>
                        <a:rPr lang="en-US" altLang="zh-TW" sz="1100" u="none" strike="noStrike">
                          <a:effectLst/>
                        </a:rPr>
                        <a:t>156.9</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440321376"/>
                  </a:ext>
                </a:extLst>
              </a:tr>
              <a:tr h="177800">
                <a:tc>
                  <a:txBody>
                    <a:bodyPr/>
                    <a:lstStyle/>
                    <a:p>
                      <a:pPr algn="ctr" fontAlgn="ctr">
                        <a:buNone/>
                      </a:pPr>
                      <a:r>
                        <a:rPr lang="en-US" altLang="zh-TW" sz="1100" u="none" strike="noStrike">
                          <a:effectLst/>
                        </a:rPr>
                        <a:t>167.2</a:t>
                      </a:r>
                      <a:endParaRPr lang="en-US" altLang="zh-TW" sz="1100" b="0" i="0" u="none" strike="noStrike">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3440245888"/>
                  </a:ext>
                </a:extLst>
              </a:tr>
              <a:tr h="177800">
                <a:tc>
                  <a:txBody>
                    <a:bodyPr/>
                    <a:lstStyle/>
                    <a:p>
                      <a:pPr algn="ctr" fontAlgn="ctr">
                        <a:buNone/>
                      </a:pPr>
                      <a:r>
                        <a:rPr lang="en-US" altLang="zh-TW" sz="1100" u="none" strike="noStrike" dirty="0">
                          <a:effectLst/>
                        </a:rPr>
                        <a:t>166.5</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chemeClr val="accent5">
                        <a:lumMod val="40000"/>
                        <a:lumOff val="60000"/>
                      </a:schemeClr>
                    </a:solidFill>
                  </a:tcPr>
                </a:tc>
                <a:extLst>
                  <a:ext uri="{0D108BD9-81ED-4DB2-BD59-A6C34878D82A}">
                    <a16:rowId xmlns:a16="http://schemas.microsoft.com/office/drawing/2014/main" val="1174509414"/>
                  </a:ext>
                </a:extLst>
              </a:tr>
            </a:tbl>
          </a:graphicData>
        </a:graphic>
      </p:graphicFrame>
      <p:graphicFrame>
        <p:nvGraphicFramePr>
          <p:cNvPr id="15" name="表格 14">
            <a:extLst>
              <a:ext uri="{FF2B5EF4-FFF2-40B4-BE49-F238E27FC236}">
                <a16:creationId xmlns:a16="http://schemas.microsoft.com/office/drawing/2014/main" id="{90DC0DF2-F4A2-1E1C-C454-05FCC0485024}"/>
              </a:ext>
            </a:extLst>
          </p:cNvPr>
          <p:cNvGraphicFramePr>
            <a:graphicFrameLocks noGrp="1"/>
          </p:cNvGraphicFramePr>
          <p:nvPr>
            <p:extLst>
              <p:ext uri="{D42A27DB-BD31-4B8C-83A1-F6EECF244321}">
                <p14:modId xmlns:p14="http://schemas.microsoft.com/office/powerpoint/2010/main" val="1923345842"/>
              </p:ext>
            </p:extLst>
          </p:nvPr>
        </p:nvGraphicFramePr>
        <p:xfrm>
          <a:off x="3553428" y="3429635"/>
          <a:ext cx="837031" cy="2666365"/>
        </p:xfrm>
        <a:graphic>
          <a:graphicData uri="http://schemas.openxmlformats.org/drawingml/2006/table">
            <a:tbl>
              <a:tblPr>
                <a:tableStyleId>{5C22544A-7EE6-4342-B048-85BDC9FD1C3A}</a:tableStyleId>
              </a:tblPr>
              <a:tblGrid>
                <a:gridCol w="837031">
                  <a:extLst>
                    <a:ext uri="{9D8B030D-6E8A-4147-A177-3AD203B41FA5}">
                      <a16:colId xmlns:a16="http://schemas.microsoft.com/office/drawing/2014/main" val="4035471733"/>
                    </a:ext>
                  </a:extLst>
                </a:gridCol>
              </a:tblGrid>
              <a:tr h="177800">
                <a:tc>
                  <a:txBody>
                    <a:bodyPr/>
                    <a:lstStyle/>
                    <a:p>
                      <a:pPr algn="ctr" fontAlgn="ctr">
                        <a:buNone/>
                      </a:pPr>
                      <a:r>
                        <a:rPr lang="zh-TW" altLang="en-US" sz="1100" u="none" strike="noStrike" dirty="0">
                          <a:effectLst/>
                        </a:rPr>
                        <a:t>模型預測值</a:t>
                      </a:r>
                      <a:endParaRPr lang="zh-TW" altLang="en-US" sz="1100" b="0" i="0" u="none" strike="noStrike" dirty="0">
                        <a:solidFill>
                          <a:srgbClr val="000000"/>
                        </a:solidFill>
                        <a:effectLst/>
                        <a:latin typeface="PMingLiU" panose="02020500000000000000" pitchFamily="18" charset="-120"/>
                        <a:ea typeface="PMingLiU"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1589057472"/>
                  </a:ext>
                </a:extLst>
              </a:tr>
              <a:tr h="177800">
                <a:tc>
                  <a:txBody>
                    <a:bodyPr/>
                    <a:lstStyle/>
                    <a:p>
                      <a:pPr algn="ctr" fontAlgn="ctr">
                        <a:buNone/>
                      </a:pPr>
                      <a:r>
                        <a:rPr lang="en-US" altLang="zh-TW" sz="1100" b="0" i="0" u="none" strike="noStrike" dirty="0">
                          <a:solidFill>
                            <a:srgbClr val="000000"/>
                          </a:solidFill>
                          <a:effectLst/>
                          <a:latin typeface="Times New Roman" panose="02020603050405020304" pitchFamily="18" charset="0"/>
                          <a:ea typeface="新細明體" panose="02020500000000000000" pitchFamily="18" charset="-120"/>
                        </a:rPr>
                        <a:t>164.3</a:t>
                      </a:r>
                    </a:p>
                  </a:txBody>
                  <a:tcPr marL="9525" marR="9525" marT="9525" marB="0" anchor="ctr">
                    <a:solidFill>
                      <a:srgbClr val="FFC000"/>
                    </a:solidFill>
                  </a:tcPr>
                </a:tc>
                <a:extLst>
                  <a:ext uri="{0D108BD9-81ED-4DB2-BD59-A6C34878D82A}">
                    <a16:rowId xmlns:a16="http://schemas.microsoft.com/office/drawing/2014/main" val="1359497603"/>
                  </a:ext>
                </a:extLst>
              </a:tr>
              <a:tr h="177800">
                <a:tc>
                  <a:txBody>
                    <a:bodyPr/>
                    <a:lstStyle/>
                    <a:p>
                      <a:pPr algn="ctr" fontAlgn="ctr">
                        <a:buNone/>
                      </a:pPr>
                      <a:r>
                        <a:rPr lang="en-US" altLang="zh-TW" sz="1100" u="none" strike="noStrike" dirty="0">
                          <a:effectLst/>
                        </a:rPr>
                        <a:t>163.3</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2748711521"/>
                  </a:ext>
                </a:extLst>
              </a:tr>
              <a:tr h="63661">
                <a:tc>
                  <a:txBody>
                    <a:bodyPr/>
                    <a:lstStyle/>
                    <a:p>
                      <a:pPr algn="ctr" fontAlgn="ctr">
                        <a:buNone/>
                      </a:pPr>
                      <a:r>
                        <a:rPr lang="en-US" altLang="zh-TW" sz="1100" b="0" i="0" u="none" strike="noStrike" dirty="0">
                          <a:solidFill>
                            <a:srgbClr val="000000"/>
                          </a:solidFill>
                          <a:effectLst/>
                          <a:latin typeface="Times New Roman" panose="02020603050405020304" pitchFamily="18" charset="0"/>
                          <a:ea typeface="新細明體" panose="02020500000000000000" pitchFamily="18" charset="-120"/>
                        </a:rPr>
                        <a:t>154.3</a:t>
                      </a:r>
                    </a:p>
                  </a:txBody>
                  <a:tcPr marL="9525" marR="9525" marT="9525" marB="0" anchor="ctr">
                    <a:solidFill>
                      <a:srgbClr val="FFC000"/>
                    </a:solidFill>
                  </a:tcPr>
                </a:tc>
                <a:extLst>
                  <a:ext uri="{0D108BD9-81ED-4DB2-BD59-A6C34878D82A}">
                    <a16:rowId xmlns:a16="http://schemas.microsoft.com/office/drawing/2014/main" val="3285325356"/>
                  </a:ext>
                </a:extLst>
              </a:tr>
              <a:tr h="177800">
                <a:tc>
                  <a:txBody>
                    <a:bodyPr/>
                    <a:lstStyle/>
                    <a:p>
                      <a:pPr algn="ctr" fontAlgn="ctr">
                        <a:buNone/>
                      </a:pPr>
                      <a:r>
                        <a:rPr lang="en-US" altLang="zh-TW" sz="1100" b="0" i="0" u="none" strike="noStrike" dirty="0">
                          <a:solidFill>
                            <a:srgbClr val="000000"/>
                          </a:solidFill>
                          <a:effectLst/>
                          <a:latin typeface="Times New Roman" panose="02020603050405020304" pitchFamily="18" charset="0"/>
                          <a:ea typeface="新細明體" panose="02020500000000000000" pitchFamily="18" charset="-120"/>
                        </a:rPr>
                        <a:t>177.5</a:t>
                      </a:r>
                    </a:p>
                  </a:txBody>
                  <a:tcPr marL="9525" marR="9525" marT="9525" marB="0" anchor="ctr">
                    <a:solidFill>
                      <a:srgbClr val="FFC000"/>
                    </a:solidFill>
                  </a:tcPr>
                </a:tc>
                <a:extLst>
                  <a:ext uri="{0D108BD9-81ED-4DB2-BD59-A6C34878D82A}">
                    <a16:rowId xmlns:a16="http://schemas.microsoft.com/office/drawing/2014/main" val="2204849899"/>
                  </a:ext>
                </a:extLst>
              </a:tr>
              <a:tr h="177800">
                <a:tc>
                  <a:txBody>
                    <a:bodyPr/>
                    <a:lstStyle/>
                    <a:p>
                      <a:pPr algn="ctr" fontAlgn="ctr">
                        <a:buNone/>
                      </a:pPr>
                      <a:r>
                        <a:rPr lang="en-US" altLang="zh-TW" sz="1100" u="none" strike="noStrike" dirty="0">
                          <a:effectLst/>
                        </a:rPr>
                        <a:t>158.9</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3574250086"/>
                  </a:ext>
                </a:extLst>
              </a:tr>
              <a:tr h="177800">
                <a:tc>
                  <a:txBody>
                    <a:bodyPr/>
                    <a:lstStyle/>
                    <a:p>
                      <a:pPr algn="ctr" fontAlgn="ctr">
                        <a:buNone/>
                      </a:pPr>
                      <a:r>
                        <a:rPr lang="en-US" altLang="zh-TW" sz="1100" u="none" strike="noStrike" dirty="0">
                          <a:effectLst/>
                        </a:rPr>
                        <a:t>164.4</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3712037771"/>
                  </a:ext>
                </a:extLst>
              </a:tr>
              <a:tr h="177800">
                <a:tc>
                  <a:txBody>
                    <a:bodyPr/>
                    <a:lstStyle/>
                    <a:p>
                      <a:pPr algn="ctr" fontAlgn="ctr">
                        <a:buNone/>
                      </a:pPr>
                      <a:r>
                        <a:rPr lang="en-US" altLang="zh-TW" sz="1100" u="none" strike="noStrike" dirty="0">
                          <a:effectLst/>
                        </a:rPr>
                        <a:t>165.3</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3734998434"/>
                  </a:ext>
                </a:extLst>
              </a:tr>
              <a:tr h="177800">
                <a:tc>
                  <a:txBody>
                    <a:bodyPr/>
                    <a:lstStyle/>
                    <a:p>
                      <a:pPr algn="ctr" fontAlgn="ctr">
                        <a:buNone/>
                      </a:pPr>
                      <a:r>
                        <a:rPr lang="en-US" altLang="zh-TW" sz="1100" u="none" strike="noStrike" dirty="0">
                          <a:effectLst/>
                        </a:rPr>
                        <a:t>155.6</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8439826"/>
                  </a:ext>
                </a:extLst>
              </a:tr>
              <a:tr h="177800">
                <a:tc>
                  <a:txBody>
                    <a:bodyPr/>
                    <a:lstStyle/>
                    <a:p>
                      <a:pPr algn="ctr" fontAlgn="ctr">
                        <a:buNone/>
                      </a:pPr>
                      <a:r>
                        <a:rPr lang="en-US" altLang="zh-TW" sz="1100" u="none" strike="noStrike" dirty="0">
                          <a:effectLst/>
                        </a:rPr>
                        <a:t>167.3</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4061774355"/>
                  </a:ext>
                </a:extLst>
              </a:tr>
              <a:tr h="177800">
                <a:tc>
                  <a:txBody>
                    <a:bodyPr/>
                    <a:lstStyle/>
                    <a:p>
                      <a:pPr algn="ctr" fontAlgn="ctr">
                        <a:buNone/>
                      </a:pPr>
                      <a:r>
                        <a:rPr lang="en-US" altLang="zh-TW" sz="1100" u="none" strike="noStrike" dirty="0">
                          <a:effectLst/>
                        </a:rPr>
                        <a:t>169.4</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4063964348"/>
                  </a:ext>
                </a:extLst>
              </a:tr>
              <a:tr h="177800">
                <a:tc>
                  <a:txBody>
                    <a:bodyPr/>
                    <a:lstStyle/>
                    <a:p>
                      <a:pPr algn="ctr" fontAlgn="ctr">
                        <a:buNone/>
                      </a:pPr>
                      <a:r>
                        <a:rPr lang="en-US" altLang="zh-TW" sz="1100" u="none" strike="noStrike" dirty="0">
                          <a:effectLst/>
                        </a:rPr>
                        <a:t>170.2</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3159066902"/>
                  </a:ext>
                </a:extLst>
              </a:tr>
              <a:tr h="177800">
                <a:tc>
                  <a:txBody>
                    <a:bodyPr/>
                    <a:lstStyle/>
                    <a:p>
                      <a:pPr algn="ctr" fontAlgn="ctr">
                        <a:buNone/>
                      </a:pPr>
                      <a:r>
                        <a:rPr lang="en-US" altLang="zh-TW" sz="1100" u="none" strike="noStrike" dirty="0">
                          <a:effectLst/>
                        </a:rPr>
                        <a:t>156.1</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440321376"/>
                  </a:ext>
                </a:extLst>
              </a:tr>
              <a:tr h="177800">
                <a:tc>
                  <a:txBody>
                    <a:bodyPr/>
                    <a:lstStyle/>
                    <a:p>
                      <a:pPr algn="ctr" fontAlgn="ctr">
                        <a:buNone/>
                      </a:pPr>
                      <a:r>
                        <a:rPr lang="en-US" altLang="zh-TW" sz="1100" u="none" strike="noStrike" dirty="0">
                          <a:effectLst/>
                        </a:rPr>
                        <a:t>180.9</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3440245888"/>
                  </a:ext>
                </a:extLst>
              </a:tr>
              <a:tr h="177800">
                <a:tc>
                  <a:txBody>
                    <a:bodyPr/>
                    <a:lstStyle/>
                    <a:p>
                      <a:pPr algn="ctr" fontAlgn="ctr">
                        <a:buNone/>
                      </a:pPr>
                      <a:r>
                        <a:rPr lang="en-US" altLang="zh-TW" sz="1100" u="none" strike="noStrike" dirty="0">
                          <a:effectLst/>
                        </a:rPr>
                        <a:t>165.5</a:t>
                      </a:r>
                      <a:endParaRPr lang="en-US" altLang="zh-TW" sz="1100" b="0" i="0" u="none" strike="noStrike" dirty="0">
                        <a:solidFill>
                          <a:srgbClr val="000000"/>
                        </a:solidFill>
                        <a:effectLst/>
                        <a:latin typeface="Times New Roman" panose="02020603050405020304" pitchFamily="18" charset="0"/>
                        <a:ea typeface="新細明體" panose="02020500000000000000" pitchFamily="18" charset="-120"/>
                      </a:endParaRPr>
                    </a:p>
                  </a:txBody>
                  <a:tcPr marL="9525" marR="9525" marT="9525" marB="0" anchor="ctr">
                    <a:solidFill>
                      <a:srgbClr val="FFC000"/>
                    </a:solidFill>
                  </a:tcPr>
                </a:tc>
                <a:extLst>
                  <a:ext uri="{0D108BD9-81ED-4DB2-BD59-A6C34878D82A}">
                    <a16:rowId xmlns:a16="http://schemas.microsoft.com/office/drawing/2014/main" val="1174509414"/>
                  </a:ext>
                </a:extLst>
              </a:tr>
            </a:tbl>
          </a:graphicData>
        </a:graphic>
      </p:graphicFrame>
      <p:sp>
        <p:nvSpPr>
          <p:cNvPr id="19" name="文字方塊 18">
            <a:extLst>
              <a:ext uri="{FF2B5EF4-FFF2-40B4-BE49-F238E27FC236}">
                <a16:creationId xmlns:a16="http://schemas.microsoft.com/office/drawing/2014/main" id="{454FDEE5-8465-4633-A1C0-D3F815595BB2}"/>
              </a:ext>
            </a:extLst>
          </p:cNvPr>
          <p:cNvSpPr txBox="1"/>
          <p:nvPr/>
        </p:nvSpPr>
        <p:spPr>
          <a:xfrm>
            <a:off x="6575183" y="1589550"/>
            <a:ext cx="1182145" cy="646331"/>
          </a:xfrm>
          <a:prstGeom prst="rect">
            <a:avLst/>
          </a:prstGeom>
          <a:noFill/>
        </p:spPr>
        <p:txBody>
          <a:bodyPr wrap="square" rtlCol="0">
            <a:spAutoFit/>
          </a:bodyPr>
          <a:lstStyle/>
          <a:p>
            <a:r>
              <a:rPr kumimoji="1" lang="en-US" altLang="zh-TW" dirty="0"/>
              <a:t>1.</a:t>
            </a:r>
            <a:r>
              <a:rPr kumimoji="1" lang="zh-TW" altLang="en-US" dirty="0"/>
              <a:t> 將數據餵給模型</a:t>
            </a:r>
          </a:p>
        </p:txBody>
      </p:sp>
      <p:sp>
        <p:nvSpPr>
          <p:cNvPr id="22" name="文字方塊 21">
            <a:extLst>
              <a:ext uri="{FF2B5EF4-FFF2-40B4-BE49-F238E27FC236}">
                <a16:creationId xmlns:a16="http://schemas.microsoft.com/office/drawing/2014/main" id="{2D20415E-22F3-7FBE-B36A-750D1E84F079}"/>
              </a:ext>
            </a:extLst>
          </p:cNvPr>
          <p:cNvSpPr txBox="1"/>
          <p:nvPr/>
        </p:nvSpPr>
        <p:spPr>
          <a:xfrm>
            <a:off x="5556737" y="3770679"/>
            <a:ext cx="1567643" cy="646331"/>
          </a:xfrm>
          <a:prstGeom prst="rect">
            <a:avLst/>
          </a:prstGeom>
          <a:noFill/>
        </p:spPr>
        <p:txBody>
          <a:bodyPr wrap="square" rtlCol="0">
            <a:spAutoFit/>
          </a:bodyPr>
          <a:lstStyle/>
          <a:p>
            <a:r>
              <a:rPr kumimoji="1" lang="en-US" altLang="zh-TW" dirty="0"/>
              <a:t>2.</a:t>
            </a:r>
            <a:r>
              <a:rPr kumimoji="1" lang="zh-TW" altLang="en-US" dirty="0"/>
              <a:t> 模型生成身高預測值</a:t>
            </a:r>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5C693B58-E45C-2CD0-3706-A3CF7B348FA1}"/>
                  </a:ext>
                </a:extLst>
              </p:cNvPr>
              <p:cNvSpPr txBox="1"/>
              <p:nvPr/>
            </p:nvSpPr>
            <p:spPr>
              <a:xfrm>
                <a:off x="1446084" y="3827532"/>
                <a:ext cx="2040588" cy="1869935"/>
              </a:xfrm>
              <a:prstGeom prst="rect">
                <a:avLst/>
              </a:prstGeom>
              <a:noFill/>
            </p:spPr>
            <p:txBody>
              <a:bodyPr wrap="square" rtlCol="0">
                <a:spAutoFit/>
              </a:bodyPr>
              <a:lstStyle/>
              <a:p>
                <a:r>
                  <a:rPr kumimoji="1" lang="en-US" altLang="zh-TW" dirty="0"/>
                  <a:t>3.</a:t>
                </a:r>
                <a:r>
                  <a:rPr kumimoji="1" lang="zh-TW" altLang="en-US" dirty="0"/>
                  <a:t> 計算模型預測值與實際數值之間的誤差。例如，我們可以計算 </a:t>
                </a:r>
                <a:r>
                  <a:rPr kumimoji="1" lang="en-US" altLang="zh-TW" dirty="0"/>
                  <a:t>Mean</a:t>
                </a:r>
                <a:r>
                  <a:rPr kumimoji="1" lang="zh-TW" altLang="en-US" dirty="0"/>
                  <a:t> </a:t>
                </a:r>
                <a:r>
                  <a:rPr kumimoji="1" lang="en-US" altLang="zh-TW" dirty="0"/>
                  <a:t>Squared</a:t>
                </a:r>
                <a:r>
                  <a:rPr kumimoji="1" lang="zh-TW" altLang="en-US" dirty="0"/>
                  <a:t> </a:t>
                </a:r>
                <a:r>
                  <a:rPr kumimoji="1" lang="en-US" altLang="zh-TW" dirty="0"/>
                  <a:t>Error</a:t>
                </a:r>
                <a:r>
                  <a:rPr kumimoji="1" lang="zh-TW" altLang="en-US" dirty="0"/>
                  <a:t> </a:t>
                </a:r>
                <a:r>
                  <a:rPr kumimoji="1" lang="en-US" altLang="zh-TW" dirty="0"/>
                  <a:t>=</a:t>
                </a:r>
                <a:r>
                  <a:rPr kumimoji="1" lang="zh-TW" altLang="en-US" dirty="0"/>
                  <a:t> </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𝑛</m:t>
                        </m:r>
                      </m:den>
                    </m:f>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=1</m:t>
                        </m:r>
                      </m:sub>
                      <m:sup>
                        <m:r>
                          <a:rPr kumimoji="1" lang="en-US" altLang="zh-TW" i="1">
                            <a:latin typeface="Cambria Math" panose="02040503050406030204" pitchFamily="18" charset="0"/>
                          </a:rPr>
                          <m:t>𝑛</m:t>
                        </m:r>
                      </m:sup>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acc>
                              <m:accPr>
                                <m:chr m:val="̂"/>
                                <m:ctrlPr>
                                  <a:rPr kumimoji="1" lang="en-US" altLang="zh-TW" i="1">
                                    <a:latin typeface="Cambria Math" panose="02040503050406030204" pitchFamily="18" charset="0"/>
                                  </a:rPr>
                                </m:ctrlPr>
                              </m:acc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𝑦</m:t>
                                    </m:r>
                                  </m:e>
                                  <m:sub>
                                    <m:r>
                                      <a:rPr kumimoji="1" lang="en-US" altLang="zh-TW" i="1">
                                        <a:latin typeface="Cambria Math" panose="02040503050406030204" pitchFamily="18" charset="0"/>
                                      </a:rPr>
                                      <m:t>𝑖</m:t>
                                    </m:r>
                                  </m:sub>
                                </m:sSub>
                              </m:e>
                            </m:acc>
                            <m:r>
                              <a:rPr kumimoji="1" lang="en-US" altLang="zh-TW" i="1">
                                <a:latin typeface="Cambria Math" panose="02040503050406030204" pitchFamily="18" charset="0"/>
                              </a:rPr>
                              <m:t>)</m:t>
                            </m:r>
                          </m:e>
                          <m:sup>
                            <m:r>
                              <a:rPr kumimoji="1" lang="en-US" altLang="zh-TW" i="1">
                                <a:latin typeface="Cambria Math" panose="02040503050406030204" pitchFamily="18" charset="0"/>
                              </a:rPr>
                              <m:t>2</m:t>
                            </m:r>
                          </m:sup>
                        </m:sSup>
                      </m:e>
                    </m:nary>
                  </m:oMath>
                </a14:m>
                <a:endParaRPr kumimoji="1" lang="en-US" altLang="zh-TW" dirty="0"/>
              </a:p>
            </p:txBody>
          </p:sp>
        </mc:Choice>
        <mc:Fallback xmlns="">
          <p:sp>
            <p:nvSpPr>
              <p:cNvPr id="23" name="文字方塊 22">
                <a:extLst>
                  <a:ext uri="{FF2B5EF4-FFF2-40B4-BE49-F238E27FC236}">
                    <a16:creationId xmlns:a16="http://schemas.microsoft.com/office/drawing/2014/main" id="{5C693B58-E45C-2CD0-3706-A3CF7B348FA1}"/>
                  </a:ext>
                </a:extLst>
              </p:cNvPr>
              <p:cNvSpPr txBox="1">
                <a:spLocks noRot="1" noChangeAspect="1" noMove="1" noResize="1" noEditPoints="1" noAdjustHandles="1" noChangeArrowheads="1" noChangeShapeType="1" noTextEdit="1"/>
              </p:cNvSpPr>
              <p:nvPr/>
            </p:nvSpPr>
            <p:spPr>
              <a:xfrm>
                <a:off x="1446084" y="3827532"/>
                <a:ext cx="2040588" cy="1869935"/>
              </a:xfrm>
              <a:prstGeom prst="rect">
                <a:avLst/>
              </a:prstGeom>
              <a:blipFill>
                <a:blip r:embed="rId4"/>
                <a:stretch>
                  <a:fillRect l="-8025" t="-1351" r="-1235" b="-297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89104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A7A003-B643-D82B-6DB7-4765EC6796D2}"/>
              </a:ext>
            </a:extLst>
          </p:cNvPr>
          <p:cNvSpPr>
            <a:spLocks noGrp="1"/>
          </p:cNvSpPr>
          <p:nvPr>
            <p:ph type="title"/>
          </p:nvPr>
        </p:nvSpPr>
        <p:spPr/>
        <p:txBody>
          <a:bodyPr/>
          <a:lstStyle/>
          <a:p>
            <a:r>
              <a:rPr kumimoji="1" lang="zh-TW" altLang="en-US" dirty="0"/>
              <a:t>梯度下降演算法</a:t>
            </a:r>
          </a:p>
        </p:txBody>
      </p:sp>
      <p:sp>
        <p:nvSpPr>
          <p:cNvPr id="3" name="內容版面配置區 2">
            <a:extLst>
              <a:ext uri="{FF2B5EF4-FFF2-40B4-BE49-F238E27FC236}">
                <a16:creationId xmlns:a16="http://schemas.microsoft.com/office/drawing/2014/main" id="{AF80A04B-DF6E-AC33-CE21-A35C31716FF8}"/>
              </a:ext>
            </a:extLst>
          </p:cNvPr>
          <p:cNvSpPr>
            <a:spLocks noGrp="1"/>
          </p:cNvSpPr>
          <p:nvPr>
            <p:ph idx="1"/>
          </p:nvPr>
        </p:nvSpPr>
        <p:spPr/>
        <p:txBody>
          <a:bodyPr/>
          <a:lstStyle/>
          <a:p>
            <a:r>
              <a:rPr kumimoji="1" lang="zh-TW" altLang="en-US" dirty="0"/>
              <a:t>若模型中的參數（又稱權重）設定的很「剛好」，模型的預測值將會非常接近實際數值，因而產生較小的誤差；反之，若參數品質不佳（例如隨機初始化的參數），模型的預測結果會與真實值有非常大的落差。這種用來衡量模型預測結果與實際數值差距的指標，在機器學習中稱為</a:t>
            </a:r>
            <a:r>
              <a:rPr kumimoji="1" lang="zh-TW" altLang="en-US" b="1" dirty="0">
                <a:solidFill>
                  <a:srgbClr val="FF0000"/>
                </a:solidFill>
              </a:rPr>
              <a:t>損失（</a:t>
            </a:r>
            <a:r>
              <a:rPr kumimoji="1" lang="en-US" altLang="zh-TW" b="1" dirty="0">
                <a:solidFill>
                  <a:srgbClr val="FF0000"/>
                </a:solidFill>
              </a:rPr>
              <a:t>Loss</a:t>
            </a:r>
            <a:r>
              <a:rPr kumimoji="1" lang="zh-TW" altLang="en-US" b="1" dirty="0">
                <a:solidFill>
                  <a:srgbClr val="FF0000"/>
                </a:solidFill>
              </a:rPr>
              <a:t>）</a:t>
            </a:r>
            <a:r>
              <a:rPr kumimoji="1" lang="zh-TW" altLang="en-US" dirty="0"/>
              <a:t>。</a:t>
            </a:r>
            <a:endParaRPr kumimoji="1" lang="en-US" altLang="zh-TW" dirty="0"/>
          </a:p>
          <a:p>
            <a:r>
              <a:rPr kumimoji="1" lang="zh-TW" altLang="en-US" dirty="0"/>
              <a:t>由於每一組不同的參數都會對應到一個的損失值，因此參數與損失之間是一種函數關係。機器學習中稱之為</a:t>
            </a:r>
            <a:r>
              <a:rPr kumimoji="1" lang="zh-TW" altLang="en-US" b="1" dirty="0">
                <a:solidFill>
                  <a:srgbClr val="FF0000"/>
                </a:solidFill>
              </a:rPr>
              <a:t>損失函數（</a:t>
            </a:r>
            <a:r>
              <a:rPr kumimoji="1" lang="en-US" altLang="zh-TW" b="1" dirty="0">
                <a:solidFill>
                  <a:srgbClr val="FF0000"/>
                </a:solidFill>
              </a:rPr>
              <a:t>Loss</a:t>
            </a:r>
            <a:r>
              <a:rPr kumimoji="1" lang="zh-TW" altLang="en-US" b="1" dirty="0">
                <a:solidFill>
                  <a:srgbClr val="FF0000"/>
                </a:solidFill>
              </a:rPr>
              <a:t> </a:t>
            </a:r>
            <a:r>
              <a:rPr kumimoji="1" lang="en-US" altLang="zh-TW" b="1" dirty="0">
                <a:solidFill>
                  <a:srgbClr val="FF0000"/>
                </a:solidFill>
              </a:rPr>
              <a:t>Function</a:t>
            </a:r>
            <a:r>
              <a:rPr kumimoji="1" lang="zh-TW" altLang="en-US" b="1" dirty="0">
                <a:solidFill>
                  <a:srgbClr val="FF0000"/>
                </a:solidFill>
              </a:rPr>
              <a:t>）</a:t>
            </a:r>
            <a:r>
              <a:rPr kumimoji="1" lang="zh-TW" altLang="en-US" dirty="0"/>
              <a:t>。</a:t>
            </a:r>
            <a:endParaRPr kumimoji="1" lang="en-US" altLang="zh-TW" dirty="0"/>
          </a:p>
          <a:p>
            <a:pPr marL="0" indent="0">
              <a:buNone/>
            </a:pPr>
            <a:r>
              <a:rPr kumimoji="1" lang="zh-TW" altLang="en-US" dirty="0"/>
              <a:t>模型訓練的目標即是尋找一組最佳的參數組合，使損失函數的值能夠被最小化（讓模型的預測結果盡可能接近真實數值）。</a:t>
            </a:r>
            <a:endParaRPr kumimoji="1" lang="en-US" altLang="zh-TW" dirty="0"/>
          </a:p>
        </p:txBody>
      </p:sp>
      <p:sp>
        <p:nvSpPr>
          <p:cNvPr id="4" name="日期版面配置區 3">
            <a:extLst>
              <a:ext uri="{FF2B5EF4-FFF2-40B4-BE49-F238E27FC236}">
                <a16:creationId xmlns:a16="http://schemas.microsoft.com/office/drawing/2014/main" id="{4B8664AF-CD42-ABB9-C53A-098F9DE8BCBD}"/>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1094B6F5-874E-BF51-0D52-AF3CA82F9181}"/>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10943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485F0FB-DD7E-A1CC-D6EE-937AB40442A2}"/>
              </a:ext>
            </a:extLst>
          </p:cNvPr>
          <p:cNvSpPr>
            <a:spLocks noGrp="1"/>
          </p:cNvSpPr>
          <p:nvPr>
            <p:ph type="dt" sz="half" idx="10"/>
          </p:nvPr>
        </p:nvSpPr>
        <p:spPr/>
        <p:txBody>
          <a:bodyPr/>
          <a:lstStyle/>
          <a:p>
            <a:r>
              <a:rPr lang="en-US" altLang="zh-TW"/>
              <a:t>Wilson Ren</a:t>
            </a:r>
            <a:endParaRPr lang="en-US" altLang="zh-TW" dirty="0"/>
          </a:p>
        </p:txBody>
      </p:sp>
      <p:sp>
        <p:nvSpPr>
          <p:cNvPr id="3" name="投影片編號版面配置區 2">
            <a:extLst>
              <a:ext uri="{FF2B5EF4-FFF2-40B4-BE49-F238E27FC236}">
                <a16:creationId xmlns:a16="http://schemas.microsoft.com/office/drawing/2014/main" id="{09256335-BD22-11A2-BCB4-0D8041D3A9B2}"/>
              </a:ext>
            </a:extLst>
          </p:cNvPr>
          <p:cNvSpPr>
            <a:spLocks noGrp="1"/>
          </p:cNvSpPr>
          <p:nvPr>
            <p:ph type="sldNum" sz="quarter" idx="12"/>
          </p:nvPr>
        </p:nvSpPr>
        <p:spPr/>
        <p:txBody>
          <a:bodyPr/>
          <a:lstStyle/>
          <a:p>
            <a:r>
              <a:rPr lang="en-US" altLang="zh-TW" dirty="0"/>
              <a:t>Deep Learning</a:t>
            </a:r>
          </a:p>
        </p:txBody>
      </p:sp>
      <p:pic>
        <p:nvPicPr>
          <p:cNvPr id="4" name="圖片 3">
            <a:extLst>
              <a:ext uri="{FF2B5EF4-FFF2-40B4-BE49-F238E27FC236}">
                <a16:creationId xmlns:a16="http://schemas.microsoft.com/office/drawing/2014/main" id="{CB70F557-2422-7BB9-5FC4-304AF4A303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862" y="547723"/>
            <a:ext cx="8336887" cy="5414042"/>
          </a:xfrm>
          <a:prstGeom prst="rect">
            <a:avLst/>
          </a:prstGeom>
        </p:spPr>
      </p:pic>
      <p:sp>
        <p:nvSpPr>
          <p:cNvPr id="5" name="文字方塊 4">
            <a:extLst>
              <a:ext uri="{FF2B5EF4-FFF2-40B4-BE49-F238E27FC236}">
                <a16:creationId xmlns:a16="http://schemas.microsoft.com/office/drawing/2014/main" id="{7E0C0624-C05F-95D7-FDAA-0563952DDB84}"/>
              </a:ext>
            </a:extLst>
          </p:cNvPr>
          <p:cNvSpPr txBox="1"/>
          <p:nvPr/>
        </p:nvSpPr>
        <p:spPr>
          <a:xfrm>
            <a:off x="9711455" y="4462818"/>
            <a:ext cx="2183642" cy="1754326"/>
          </a:xfrm>
          <a:prstGeom prst="rect">
            <a:avLst/>
          </a:prstGeom>
          <a:noFill/>
        </p:spPr>
        <p:txBody>
          <a:bodyPr wrap="square" rtlCol="0">
            <a:spAutoFit/>
          </a:bodyPr>
          <a:lstStyle/>
          <a:p>
            <a:r>
              <a:rPr kumimoji="1" lang="en-US" altLang="zh-TW" dirty="0"/>
              <a:t>https://</a:t>
            </a:r>
            <a:r>
              <a:rPr kumimoji="1" lang="en-US" altLang="zh-TW" dirty="0" err="1"/>
              <a:t>www.researchgate.net</a:t>
            </a:r>
            <a:r>
              <a:rPr kumimoji="1" lang="en-US" altLang="zh-TW" dirty="0"/>
              <a:t>/figure/An-example-of-error-surface-in-an-ANN-DNN_fig4_341708933</a:t>
            </a:r>
            <a:endParaRPr kumimoji="1" lang="zh-TW" altLang="en-US" dirty="0"/>
          </a:p>
        </p:txBody>
      </p:sp>
      <p:cxnSp>
        <p:nvCxnSpPr>
          <p:cNvPr id="6" name="直線箭頭接點 5">
            <a:extLst>
              <a:ext uri="{FF2B5EF4-FFF2-40B4-BE49-F238E27FC236}">
                <a16:creationId xmlns:a16="http://schemas.microsoft.com/office/drawing/2014/main" id="{A4462C43-F05F-4A0B-BEB3-BFC3966C3DAC}"/>
              </a:ext>
            </a:extLst>
          </p:cNvPr>
          <p:cNvCxnSpPr>
            <a:cxnSpLocks/>
          </p:cNvCxnSpPr>
          <p:nvPr/>
        </p:nvCxnSpPr>
        <p:spPr>
          <a:xfrm flipH="1" flipV="1">
            <a:off x="7293374" y="1791890"/>
            <a:ext cx="1399213" cy="129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D0586C5D-2704-3A6A-F766-B94E41943A94}"/>
              </a:ext>
            </a:extLst>
          </p:cNvPr>
          <p:cNvSpPr txBox="1"/>
          <p:nvPr/>
        </p:nvSpPr>
        <p:spPr>
          <a:xfrm>
            <a:off x="8843749" y="1784732"/>
            <a:ext cx="2441567" cy="923330"/>
          </a:xfrm>
          <a:prstGeom prst="rect">
            <a:avLst/>
          </a:prstGeom>
          <a:noFill/>
        </p:spPr>
        <p:txBody>
          <a:bodyPr wrap="square">
            <a:spAutoFit/>
          </a:bodyPr>
          <a:lstStyle/>
          <a:p>
            <a:r>
              <a:rPr lang="zh-TW" altLang="en-US" dirty="0"/>
              <a:t>損失函數在參數空間中的具象化呈現，被稱為</a:t>
            </a:r>
            <a:r>
              <a:rPr lang="zh-TW" altLang="en-US" b="1" dirty="0">
                <a:solidFill>
                  <a:srgbClr val="FF0000"/>
                </a:solidFill>
              </a:rPr>
              <a:t> </a:t>
            </a:r>
            <a:r>
              <a:rPr lang="en-US" altLang="zh-TW" b="1" dirty="0">
                <a:solidFill>
                  <a:srgbClr val="FF0000"/>
                </a:solidFill>
              </a:rPr>
              <a:t>L</a:t>
            </a:r>
            <a:r>
              <a:rPr lang="zh-TW" altLang="en-US" b="1" dirty="0">
                <a:solidFill>
                  <a:srgbClr val="FF0000"/>
                </a:solidFill>
              </a:rPr>
              <a:t>oss </a:t>
            </a:r>
            <a:r>
              <a:rPr lang="en-US" altLang="zh-TW" b="1" dirty="0">
                <a:solidFill>
                  <a:srgbClr val="FF0000"/>
                </a:solidFill>
              </a:rPr>
              <a:t>S</a:t>
            </a:r>
            <a:r>
              <a:rPr lang="zh-TW" altLang="en-US" b="1" dirty="0">
                <a:solidFill>
                  <a:srgbClr val="FF0000"/>
                </a:solidFill>
              </a:rPr>
              <a:t>urface</a:t>
            </a:r>
            <a:r>
              <a:rPr lang="zh-TW" altLang="en-US" dirty="0"/>
              <a:t>。</a:t>
            </a:r>
          </a:p>
        </p:txBody>
      </p:sp>
    </p:spTree>
    <p:extLst>
      <p:ext uri="{BB962C8B-B14F-4D97-AF65-F5344CB8AC3E}">
        <p14:creationId xmlns:p14="http://schemas.microsoft.com/office/powerpoint/2010/main" val="3189299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7BC207-FE44-4C30-F512-A8F5CC579162}"/>
              </a:ext>
            </a:extLst>
          </p:cNvPr>
          <p:cNvSpPr>
            <a:spLocks noGrp="1"/>
          </p:cNvSpPr>
          <p:nvPr>
            <p:ph type="title"/>
          </p:nvPr>
        </p:nvSpPr>
        <p:spPr/>
        <p:txBody>
          <a:bodyPr/>
          <a:lstStyle/>
          <a:p>
            <a:r>
              <a:rPr kumimoji="1" lang="zh-TW" altLang="en-US" dirty="0"/>
              <a:t>梯度下降演算法</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6D22705-395C-1DD0-AE05-2DF7EA56D1FF}"/>
                  </a:ext>
                </a:extLst>
              </p:cNvPr>
              <p:cNvSpPr>
                <a:spLocks noGrp="1"/>
              </p:cNvSpPr>
              <p:nvPr>
                <p:ph idx="1"/>
              </p:nvPr>
            </p:nvSpPr>
            <p:spPr>
              <a:xfrm>
                <a:off x="1097280" y="2108201"/>
                <a:ext cx="10058400" cy="4165277"/>
              </a:xfrm>
            </p:spPr>
            <p:txBody>
              <a:bodyPr>
                <a:normAutofit fontScale="85000" lnSpcReduction="10000"/>
              </a:bodyPr>
              <a:lstStyle/>
              <a:p>
                <a:pPr marL="0" indent="0">
                  <a:buNone/>
                </a:pPr>
                <a:r>
                  <a:rPr kumimoji="1" lang="zh-TW" altLang="en-US" dirty="0"/>
                  <a:t>梯度下降演算法找到最佳參數的步驟：</a:t>
                </a:r>
                <a:endParaRPr kumimoji="1" lang="en-US" altLang="zh-TW" dirty="0"/>
              </a:p>
              <a:p>
                <a:pPr marL="457200" indent="-457200">
                  <a:buFont typeface="+mj-lt"/>
                  <a:buAutoNum type="arabicPeriod"/>
                </a:pPr>
                <a:r>
                  <a:rPr kumimoji="1" lang="zh-TW" altLang="en-US" dirty="0"/>
                  <a:t>隨機選擇一個權重初始值。</a:t>
                </a:r>
                <a:endParaRPr kumimoji="1" lang="en-US" altLang="zh-TW" dirty="0"/>
              </a:p>
              <a:p>
                <a:pPr marL="457200" indent="-457200">
                  <a:buFont typeface="+mj-lt"/>
                  <a:buAutoNum type="arabicPeriod"/>
                </a:pPr>
                <a:r>
                  <a:rPr kumimoji="1" lang="zh-TW" altLang="en-US" dirty="0"/>
                  <a:t>計算梯度，並且透過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𝜂</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𝑤</m:t>
                            </m:r>
                          </m:e>
                          <m:sub>
                            <m:r>
                              <a:rPr kumimoji="1" lang="en-US" altLang="zh-TW" i="1">
                                <a:latin typeface="Cambria Math" panose="02040503050406030204" pitchFamily="18" charset="0"/>
                              </a:rPr>
                              <m:t>𝑖</m:t>
                            </m:r>
                          </m:sub>
                        </m:sSub>
                      </m:den>
                    </m:f>
                  </m:oMath>
                </a14:m>
                <a:r>
                  <a:rPr kumimoji="1" lang="zh-TW" altLang="en-US" dirty="0"/>
                  <a:t>  公式來更新權重。</a:t>
                </a:r>
                <a:endParaRPr kumimoji="1" lang="en-US" altLang="zh-TW" dirty="0"/>
              </a:p>
              <a:p>
                <a:pPr marL="457200" indent="-457200">
                  <a:buFont typeface="+mj-lt"/>
                  <a:buAutoNum type="arabicPeriod"/>
                </a:pPr>
                <a:r>
                  <a:rPr kumimoji="1" lang="zh-TW" altLang="en-US" dirty="0"/>
                  <a:t>其中 𝜂 為學習率（</a:t>
                </a:r>
                <a:r>
                  <a:rPr kumimoji="1" lang="en-US" altLang="zh-TW" dirty="0"/>
                  <a:t>learning rate</a:t>
                </a:r>
                <a:r>
                  <a:rPr kumimoji="1" lang="zh-TW" altLang="en-US" dirty="0"/>
                  <a:t>），是一個可自由調整的超參數（</a:t>
                </a:r>
                <a:r>
                  <a:rPr kumimoji="1" lang="en-US" altLang="zh-TW" dirty="0"/>
                  <a:t>hyperparameter</a:t>
                </a:r>
                <a:r>
                  <a:rPr kumimoji="1" lang="zh-TW" altLang="en-US" dirty="0"/>
                  <a:t>）。 </a:t>
                </a:r>
                <a:endParaRPr kumimoji="1" lang="en-US" altLang="zh-TW" dirty="0"/>
              </a:p>
              <a:p>
                <a:pPr marL="457200" indent="-457200">
                  <a:buFont typeface="+mj-lt"/>
                  <a:buAutoNum type="arabicPeriod"/>
                </a:pPr>
                <a:r>
                  <a:rPr kumimoji="1" lang="zh-TW" altLang="en-US" dirty="0"/>
                  <a:t>不斷重複以上公式更新權重，直到某個停止條件被滿足。常見的停止條件有： </a:t>
                </a:r>
                <a:endParaRPr kumimoji="1" lang="en-US" altLang="zh-TW" dirty="0"/>
              </a:p>
              <a:p>
                <a:pPr marL="749808" lvl="1" indent="-457200">
                  <a:buFont typeface="+mj-lt"/>
                  <a:buAutoNum type="arabicPeriod"/>
                </a:pPr>
                <a:r>
                  <a:rPr kumimoji="1" lang="zh-TW" altLang="en-US" dirty="0"/>
                  <a:t>達到預定的最大迭代次數 </a:t>
                </a:r>
                <a:r>
                  <a:rPr kumimoji="1" lang="en-US" altLang="zh-TW" dirty="0"/>
                  <a:t>(Maximum Number of Iterations</a:t>
                </a:r>
                <a:r>
                  <a:rPr kumimoji="1" lang="zh-TW" altLang="en-US" dirty="0"/>
                  <a:t>） </a:t>
                </a:r>
                <a:endParaRPr kumimoji="1" lang="en-US" altLang="zh-TW" dirty="0"/>
              </a:p>
              <a:p>
                <a:pPr marL="749808" lvl="1" indent="-457200">
                  <a:buFont typeface="+mj-lt"/>
                  <a:buAutoNum type="arabicPeriod"/>
                </a:pPr>
                <a:r>
                  <a:rPr kumimoji="1" lang="zh-TW" altLang="en-US" dirty="0"/>
                  <a:t>權重不再更新，或者更新幅度很小（</a:t>
                </a:r>
                <a:r>
                  <a:rPr kumimoji="1" lang="en-US" altLang="zh-TW" dirty="0"/>
                  <a:t>Small Change in Weights</a:t>
                </a:r>
                <a:r>
                  <a:rPr kumimoji="1" lang="zh-TW" altLang="en-US" dirty="0"/>
                  <a:t>） </a:t>
                </a:r>
                <a:endParaRPr kumimoji="1" lang="en-US" altLang="zh-TW" dirty="0"/>
              </a:p>
              <a:p>
                <a:pPr marL="749808" lvl="1" indent="-457200">
                  <a:buFont typeface="+mj-lt"/>
                  <a:buAutoNum type="arabicPeriod"/>
                </a:pPr>
                <a:r>
                  <a:rPr kumimoji="1" lang="zh-TW" altLang="en-US" dirty="0"/>
                  <a:t>損失函數的變化非常小 </a:t>
                </a:r>
                <a:r>
                  <a:rPr kumimoji="1" lang="en-US" altLang="zh-TW" dirty="0"/>
                  <a:t>(Small Change in Loss) </a:t>
                </a:r>
              </a:p>
              <a:p>
                <a:pPr marL="749808" lvl="1" indent="-457200">
                  <a:buFont typeface="+mj-lt"/>
                  <a:buAutoNum type="arabicPeriod"/>
                </a:pPr>
                <a:r>
                  <a:rPr kumimoji="1" lang="zh-TW" altLang="en-US" dirty="0"/>
                  <a:t>時間限制 </a:t>
                </a:r>
                <a:r>
                  <a:rPr kumimoji="1" lang="en-US" altLang="zh-TW" dirty="0"/>
                  <a:t>(Time Limit)</a:t>
                </a:r>
              </a:p>
            </p:txBody>
          </p:sp>
        </mc:Choice>
        <mc:Fallback xmlns="">
          <p:sp>
            <p:nvSpPr>
              <p:cNvPr id="3" name="內容版面配置區 2">
                <a:extLst>
                  <a:ext uri="{FF2B5EF4-FFF2-40B4-BE49-F238E27FC236}">
                    <a16:creationId xmlns:a16="http://schemas.microsoft.com/office/drawing/2014/main" id="{36D22705-395C-1DD0-AE05-2DF7EA56D1FF}"/>
                  </a:ext>
                </a:extLst>
              </p:cNvPr>
              <p:cNvSpPr>
                <a:spLocks noGrp="1" noRot="1" noChangeAspect="1" noMove="1" noResize="1" noEditPoints="1" noAdjustHandles="1" noChangeArrowheads="1" noChangeShapeType="1" noTextEdit="1"/>
              </p:cNvSpPr>
              <p:nvPr>
                <p:ph idx="1"/>
              </p:nvPr>
            </p:nvSpPr>
            <p:spPr>
              <a:xfrm>
                <a:off x="1097280" y="2108201"/>
                <a:ext cx="10058400" cy="4165277"/>
              </a:xfrm>
              <a:blipFill>
                <a:blip r:embed="rId2"/>
                <a:stretch>
                  <a:fillRect l="-1513" t="-1524"/>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572CBB7F-9BEA-7354-0BC2-292027738006}"/>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9AB42C8-DC88-F957-331C-3B3505F8CAE7}"/>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543099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1">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 name="Rectangle 13">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標題 1">
            <a:extLst>
              <a:ext uri="{FF2B5EF4-FFF2-40B4-BE49-F238E27FC236}">
                <a16:creationId xmlns:a16="http://schemas.microsoft.com/office/drawing/2014/main" id="{5EC28643-6C0D-7745-7230-0FA132A37C5B}"/>
              </a:ext>
            </a:extLst>
          </p:cNvPr>
          <p:cNvSpPr>
            <a:spLocks noGrp="1"/>
          </p:cNvSpPr>
          <p:nvPr>
            <p:ph type="title"/>
          </p:nvPr>
        </p:nvSpPr>
        <p:spPr>
          <a:xfrm>
            <a:off x="492370" y="516836"/>
            <a:ext cx="3084844" cy="1961086"/>
          </a:xfrm>
        </p:spPr>
        <p:txBody>
          <a:bodyPr vert="horz" lIns="91440" tIns="45720" rIns="91440" bIns="45720" rtlCol="0" anchor="b">
            <a:normAutofit/>
          </a:bodyPr>
          <a:lstStyle/>
          <a:p>
            <a:r>
              <a:rPr kumimoji="1" lang="zh-TW" altLang="en-US" sz="4000">
                <a:solidFill>
                  <a:srgbClr val="FFFFFF"/>
                </a:solidFill>
              </a:rPr>
              <a:t>梯度下降演算法</a:t>
            </a:r>
          </a:p>
        </p:txBody>
      </p:sp>
      <p:cxnSp>
        <p:nvCxnSpPr>
          <p:cNvPr id="20" name="Straight Connector 15">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字方塊 5">
            <a:extLst>
              <a:ext uri="{FF2B5EF4-FFF2-40B4-BE49-F238E27FC236}">
                <a16:creationId xmlns:a16="http://schemas.microsoft.com/office/drawing/2014/main" id="{8927BBFF-5822-0EA1-EEA5-38E5BC5E6046}"/>
              </a:ext>
            </a:extLst>
          </p:cNvPr>
          <p:cNvSpPr txBox="1"/>
          <p:nvPr/>
        </p:nvSpPr>
        <p:spPr>
          <a:xfrm>
            <a:off x="300942" y="2799654"/>
            <a:ext cx="3276272" cy="3189665"/>
          </a:xfrm>
          <a:prstGeom prst="rect">
            <a:avLst/>
          </a:prstGeom>
        </p:spPr>
        <p:txBody>
          <a:bodyPr vert="horz" lIns="0" tIns="45720" rIns="0" bIns="45720" rtlCol="0">
            <a:normAutofit/>
          </a:bodyPr>
          <a:lstStyle/>
          <a:p>
            <a:pPr marL="342900" indent="-342900">
              <a:spcAft>
                <a:spcPts val="600"/>
              </a:spcAft>
              <a:buClr>
                <a:schemeClr val="accent6"/>
              </a:buClr>
              <a:buFont typeface="Wingdings" pitchFamily="2" charset="2"/>
              <a:buChar char="n"/>
            </a:pPr>
            <a:r>
              <a:rPr kumimoji="1" lang="zh-TW" altLang="en-US" sz="2000" dirty="0">
                <a:solidFill>
                  <a:srgbClr val="FFFFFF"/>
                </a:solidFill>
              </a:rPr>
              <a:t>對於 </a:t>
            </a:r>
            <a:r>
              <a:rPr kumimoji="1" lang="en-US" altLang="zh-TW" sz="2000" dirty="0">
                <a:solidFill>
                  <a:srgbClr val="FFFFFF"/>
                </a:solidFill>
              </a:rPr>
              <a:t>Point A </a:t>
            </a:r>
            <a:r>
              <a:rPr kumimoji="1" lang="zh-TW" altLang="en-US" sz="2000" dirty="0">
                <a:solidFill>
                  <a:srgbClr val="FFFFFF"/>
                </a:solidFill>
              </a:rPr>
              <a:t>來說，梯度為正，所以 </a:t>
            </a:r>
            <a:r>
              <a:rPr kumimoji="1" lang="en-US" altLang="zh-TW" sz="2000" dirty="0">
                <a:solidFill>
                  <a:srgbClr val="FFFFFF"/>
                </a:solidFill>
              </a:rPr>
              <a:t>Loss Function </a:t>
            </a:r>
            <a:r>
              <a:rPr kumimoji="1" lang="zh-TW" altLang="en-US" sz="2000" dirty="0">
                <a:solidFill>
                  <a:srgbClr val="FFFFFF"/>
                </a:solidFill>
              </a:rPr>
              <a:t>最低值在左側。因此，應讓權重值更小。</a:t>
            </a:r>
            <a:endParaRPr kumimoji="1" lang="en-US" altLang="zh-TW" sz="2000" dirty="0">
              <a:solidFill>
                <a:srgbClr val="FFFFFF"/>
              </a:solidFill>
            </a:endParaRPr>
          </a:p>
          <a:p>
            <a:pPr marL="342900" indent="-342900">
              <a:spcAft>
                <a:spcPts val="600"/>
              </a:spcAft>
              <a:buClr>
                <a:schemeClr val="accent6"/>
              </a:buClr>
              <a:buFont typeface="Wingdings" pitchFamily="2" charset="2"/>
              <a:buChar char="n"/>
            </a:pPr>
            <a:r>
              <a:rPr kumimoji="1" lang="zh-TW" altLang="en-US" sz="2000" dirty="0">
                <a:solidFill>
                  <a:srgbClr val="FFFFFF"/>
                </a:solidFill>
              </a:rPr>
              <a:t>對於 </a:t>
            </a:r>
            <a:r>
              <a:rPr kumimoji="1" lang="en-US" altLang="zh-TW" sz="2000" dirty="0">
                <a:solidFill>
                  <a:srgbClr val="FFFFFF"/>
                </a:solidFill>
              </a:rPr>
              <a:t>Point B </a:t>
            </a:r>
            <a:r>
              <a:rPr kumimoji="1" lang="zh-TW" altLang="en-US" sz="2000" dirty="0">
                <a:solidFill>
                  <a:srgbClr val="FFFFFF"/>
                </a:solidFill>
              </a:rPr>
              <a:t>來說，梯度為負，所以 </a:t>
            </a:r>
            <a:r>
              <a:rPr kumimoji="1" lang="en-US" altLang="zh-TW" sz="2000" dirty="0">
                <a:solidFill>
                  <a:srgbClr val="FFFFFF"/>
                </a:solidFill>
              </a:rPr>
              <a:t>Loss Function </a:t>
            </a:r>
            <a:r>
              <a:rPr kumimoji="1" lang="zh-TW" altLang="en-US" sz="2000" dirty="0">
                <a:solidFill>
                  <a:srgbClr val="FFFFFF"/>
                </a:solidFill>
              </a:rPr>
              <a:t>最低值在右側。因此，應讓權重值更大。</a:t>
            </a:r>
          </a:p>
          <a:p>
            <a:pPr marL="342900" indent="-342900">
              <a:spcAft>
                <a:spcPts val="600"/>
              </a:spcAft>
              <a:buClr>
                <a:schemeClr val="accent6"/>
              </a:buClr>
              <a:buFont typeface="Calibri" panose="020F0502020204030204" pitchFamily="34" charset="0"/>
              <a:buChar char="l"/>
            </a:pPr>
            <a:endParaRPr kumimoji="1" lang="en-US" altLang="zh-TW" dirty="0">
              <a:solidFill>
                <a:srgbClr val="FFFFFF"/>
              </a:solidFill>
            </a:endParaRPr>
          </a:p>
        </p:txBody>
      </p:sp>
      <p:pic>
        <p:nvPicPr>
          <p:cNvPr id="7" name="圖形 6">
            <a:extLst>
              <a:ext uri="{FF2B5EF4-FFF2-40B4-BE49-F238E27FC236}">
                <a16:creationId xmlns:a16="http://schemas.microsoft.com/office/drawing/2014/main" id="{5B926BE2-457E-4707-97E6-9B6646099A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42017" y="690325"/>
            <a:ext cx="6798082" cy="5477350"/>
          </a:xfrm>
          <a:prstGeom prst="rect">
            <a:avLst/>
          </a:prstGeom>
        </p:spPr>
      </p:pic>
      <p:sp>
        <p:nvSpPr>
          <p:cNvPr id="4" name="日期版面配置區 3">
            <a:extLst>
              <a:ext uri="{FF2B5EF4-FFF2-40B4-BE49-F238E27FC236}">
                <a16:creationId xmlns:a16="http://schemas.microsoft.com/office/drawing/2014/main" id="{1A9D38E8-63D5-F3B2-FF35-9C6D2FC78FEE}"/>
              </a:ext>
            </a:extLst>
          </p:cNvPr>
          <p:cNvSpPr>
            <a:spLocks noGrp="1"/>
          </p:cNvSpPr>
          <p:nvPr>
            <p:ph type="dt" sz="half" idx="10"/>
          </p:nvPr>
        </p:nvSpPr>
        <p:spPr>
          <a:xfrm>
            <a:off x="571752" y="6446838"/>
            <a:ext cx="3005462" cy="365125"/>
          </a:xfrm>
        </p:spPr>
        <p:txBody>
          <a:bodyPr vert="horz" lIns="91440" tIns="45720" rIns="91440" bIns="45720" rtlCol="0" anchor="ctr">
            <a:normAutofit/>
          </a:bodyPr>
          <a:lstStyle/>
          <a:p>
            <a:pPr algn="l">
              <a:spcAft>
                <a:spcPts val="600"/>
              </a:spcAft>
            </a:pPr>
            <a:r>
              <a:rPr lang="en-US" altLang="zh-TW">
                <a:solidFill>
                  <a:srgbClr val="FFFFFF"/>
                </a:solidFill>
              </a:rPr>
              <a:t>Wilson Ren</a:t>
            </a:r>
          </a:p>
        </p:txBody>
      </p:sp>
      <p:sp>
        <p:nvSpPr>
          <p:cNvPr id="5" name="投影片編號版面配置區 4">
            <a:extLst>
              <a:ext uri="{FF2B5EF4-FFF2-40B4-BE49-F238E27FC236}">
                <a16:creationId xmlns:a16="http://schemas.microsoft.com/office/drawing/2014/main" id="{CC392E21-E7F5-9F33-EAD8-DD244C0FC020}"/>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lnSpc>
                <a:spcPct val="90000"/>
              </a:lnSpc>
              <a:spcAft>
                <a:spcPts val="600"/>
              </a:spcAft>
            </a:pPr>
            <a:r>
              <a:rPr lang="en-US" altLang="zh-TW" dirty="0">
                <a:solidFill>
                  <a:schemeClr val="tx1">
                    <a:lumMod val="85000"/>
                    <a:lumOff val="15000"/>
                  </a:schemeClr>
                </a:solidFill>
              </a:rPr>
              <a:t>Deep Learning</a:t>
            </a:r>
          </a:p>
        </p:txBody>
      </p:sp>
    </p:spTree>
    <p:extLst>
      <p:ext uri="{BB962C8B-B14F-4D97-AF65-F5344CB8AC3E}">
        <p14:creationId xmlns:p14="http://schemas.microsoft.com/office/powerpoint/2010/main" val="888361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4FAA6B4-BAFB-4474-9B14-DC83A90965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E03177C0-E034-58B2-2719-AE929BB456DC}"/>
              </a:ext>
            </a:extLst>
          </p:cNvPr>
          <p:cNvSpPr>
            <a:spLocks noGrp="1"/>
          </p:cNvSpPr>
          <p:nvPr>
            <p:ph type="title"/>
          </p:nvPr>
        </p:nvSpPr>
        <p:spPr>
          <a:xfrm>
            <a:off x="1097280" y="286603"/>
            <a:ext cx="10058400" cy="1450757"/>
          </a:xfrm>
        </p:spPr>
        <p:txBody>
          <a:bodyPr>
            <a:normAutofit/>
          </a:bodyPr>
          <a:lstStyle/>
          <a:p>
            <a:r>
              <a:rPr kumimoji="1" lang="zh-TW" altLang="en-US" dirty="0"/>
              <a:t>梯度下降演算法的問題</a:t>
            </a:r>
          </a:p>
        </p:txBody>
      </p:sp>
      <p:cxnSp>
        <p:nvCxnSpPr>
          <p:cNvPr id="14" name="!!Straight Connector">
            <a:extLst>
              <a:ext uri="{FF2B5EF4-FFF2-40B4-BE49-F238E27FC236}">
                <a16:creationId xmlns:a16="http://schemas.microsoft.com/office/drawing/2014/main" id="{4364CDC3-ADB0-4691-9286-5925F160C2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內容版面配置區 2">
            <a:extLst>
              <a:ext uri="{FF2B5EF4-FFF2-40B4-BE49-F238E27FC236}">
                <a16:creationId xmlns:a16="http://schemas.microsoft.com/office/drawing/2014/main" id="{BCD8BC93-B909-1B9D-D9F5-56BB82629BDA}"/>
              </a:ext>
            </a:extLst>
          </p:cNvPr>
          <p:cNvSpPr>
            <a:spLocks noGrp="1"/>
          </p:cNvSpPr>
          <p:nvPr>
            <p:ph idx="1"/>
          </p:nvPr>
        </p:nvSpPr>
        <p:spPr>
          <a:xfrm>
            <a:off x="1097280" y="2108201"/>
            <a:ext cx="5575367" cy="3760891"/>
          </a:xfrm>
        </p:spPr>
        <p:txBody>
          <a:bodyPr>
            <a:normAutofit/>
          </a:bodyPr>
          <a:lstStyle/>
          <a:p>
            <a:pPr marL="457200" indent="-457200">
              <a:buFont typeface="+mj-lt"/>
              <a:buAutoNum type="arabicPeriod"/>
            </a:pPr>
            <a:r>
              <a:rPr kumimoji="1" lang="zh-TW" altLang="en-US"/>
              <a:t>學習率控制每次權重更新的步伐大小。太大的話，容易不斷震盪、無法收斂。太小的話，權重更新幅度過小，很可能導致訓練很久也無法收斂。學習率怎麼選？</a:t>
            </a:r>
            <a:endParaRPr kumimoji="1" lang="en-US" altLang="zh-TW"/>
          </a:p>
          <a:p>
            <a:pPr marL="457200" indent="-457200">
              <a:buFont typeface="+mj-lt"/>
              <a:buAutoNum type="arabicPeriod"/>
            </a:pPr>
            <a:r>
              <a:rPr kumimoji="1" lang="zh-TW" altLang="en-US"/>
              <a:t>不同的初始權重可能導致不同的收斂點。梯度下降演算法可能停在局部極小值（</a:t>
            </a:r>
            <a:r>
              <a:rPr kumimoji="1" lang="en-US" altLang="zh-TW"/>
              <a:t>Local Minimum</a:t>
            </a:r>
            <a:r>
              <a:rPr kumimoji="1" lang="zh-TW" altLang="en-US"/>
              <a:t>）。如何避免模型收斂到局部極小值？</a:t>
            </a:r>
            <a:endParaRPr kumimoji="1" lang="en-US" altLang="zh-TW" dirty="0"/>
          </a:p>
        </p:txBody>
      </p:sp>
      <p:pic>
        <p:nvPicPr>
          <p:cNvPr id="7" name="圖片 6" descr="一張含有 螢幕擷取畫面, 圖表, 文字, 繪圖 的圖片&#10;&#10;AI 產生的內容可能不正確。">
            <a:extLst>
              <a:ext uri="{FF2B5EF4-FFF2-40B4-BE49-F238E27FC236}">
                <a16:creationId xmlns:a16="http://schemas.microsoft.com/office/drawing/2014/main" id="{AE4C92D2-9536-6F18-77B2-35E7454D9C11}"/>
              </a:ext>
            </a:extLst>
          </p:cNvPr>
          <p:cNvPicPr>
            <a:picLocks noChangeAspect="1"/>
          </p:cNvPicPr>
          <p:nvPr/>
        </p:nvPicPr>
        <p:blipFill>
          <a:blip r:embed="rId2">
            <a:extLst>
              <a:ext uri="{28A0092B-C50C-407E-A947-70E740481C1C}">
                <a14:useLocalDpi xmlns:a14="http://schemas.microsoft.com/office/drawing/2010/main" val="0"/>
              </a:ext>
            </a:extLst>
          </a:blip>
          <a:srcRect t="564" r="5" b="5"/>
          <a:stretch>
            <a:fillRect/>
          </a:stretch>
        </p:blipFill>
        <p:spPr>
          <a:xfrm>
            <a:off x="7048982" y="2108200"/>
            <a:ext cx="4106698" cy="40835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Rectangle 15">
            <a:extLst>
              <a:ext uri="{FF2B5EF4-FFF2-40B4-BE49-F238E27FC236}">
                <a16:creationId xmlns:a16="http://schemas.microsoft.com/office/drawing/2014/main" id="{DB148495-5F82-48E2-A76C-C8E1C8949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4" name="日期版面配置區 3">
            <a:extLst>
              <a:ext uri="{FF2B5EF4-FFF2-40B4-BE49-F238E27FC236}">
                <a16:creationId xmlns:a16="http://schemas.microsoft.com/office/drawing/2014/main" id="{31206B78-E797-2621-5851-97FFE034D2F8}"/>
              </a:ext>
            </a:extLst>
          </p:cNvPr>
          <p:cNvSpPr>
            <a:spLocks noGrp="1"/>
          </p:cNvSpPr>
          <p:nvPr>
            <p:ph type="dt" sz="half" idx="10"/>
          </p:nvPr>
        </p:nvSpPr>
        <p:spPr>
          <a:xfrm>
            <a:off x="8218426" y="6446838"/>
            <a:ext cx="2584850" cy="365125"/>
          </a:xfrm>
        </p:spPr>
        <p:txBody>
          <a:bodyPr>
            <a:normAutofit/>
          </a:bodyPr>
          <a:lstStyle/>
          <a:p>
            <a:pPr>
              <a:spcAft>
                <a:spcPts val="600"/>
              </a:spcAft>
            </a:pPr>
            <a:r>
              <a:rPr lang="en-US" altLang="zh-TW"/>
              <a:t>Wilson Ren</a:t>
            </a:r>
          </a:p>
        </p:txBody>
      </p:sp>
      <p:sp>
        <p:nvSpPr>
          <p:cNvPr id="5" name="投影片編號版面配置區 4">
            <a:extLst>
              <a:ext uri="{FF2B5EF4-FFF2-40B4-BE49-F238E27FC236}">
                <a16:creationId xmlns:a16="http://schemas.microsoft.com/office/drawing/2014/main" id="{FED11A1E-0C39-4906-752E-BEF6F1620346}"/>
              </a:ext>
            </a:extLst>
          </p:cNvPr>
          <p:cNvSpPr>
            <a:spLocks noGrp="1"/>
          </p:cNvSpPr>
          <p:nvPr>
            <p:ph type="sldNum" sz="quarter" idx="12"/>
          </p:nvPr>
        </p:nvSpPr>
        <p:spPr>
          <a:xfrm>
            <a:off x="10993582" y="6446838"/>
            <a:ext cx="780010" cy="365125"/>
          </a:xfrm>
        </p:spPr>
        <p:txBody>
          <a:bodyPr>
            <a:normAutofit/>
          </a:bodyPr>
          <a:lstStyle/>
          <a:p>
            <a:pPr>
              <a:lnSpc>
                <a:spcPct val="90000"/>
              </a:lnSpc>
              <a:spcAft>
                <a:spcPts val="600"/>
              </a:spcAft>
            </a:pPr>
            <a:r>
              <a:rPr lang="en-US" altLang="zh-TW" dirty="0"/>
              <a:t>Deep Learning</a:t>
            </a:r>
          </a:p>
        </p:txBody>
      </p:sp>
    </p:spTree>
    <p:extLst>
      <p:ext uri="{BB962C8B-B14F-4D97-AF65-F5344CB8AC3E}">
        <p14:creationId xmlns:p14="http://schemas.microsoft.com/office/powerpoint/2010/main" val="3304682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B5E8E3-672A-FD44-BF3A-589DFEEFB6FE}"/>
              </a:ext>
            </a:extLst>
          </p:cNvPr>
          <p:cNvSpPr>
            <a:spLocks noGrp="1"/>
          </p:cNvSpPr>
          <p:nvPr>
            <p:ph type="title"/>
          </p:nvPr>
        </p:nvSpPr>
        <p:spPr/>
        <p:txBody>
          <a:bodyPr/>
          <a:lstStyle/>
          <a:p>
            <a:r>
              <a:rPr lang="zh-TW" altLang="en-US">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95B0B55-4739-CC98-36BB-FD7BE4D1165A}"/>
                  </a:ext>
                </a:extLst>
              </p:cNvPr>
              <p:cNvSpPr>
                <a:spLocks noGrp="1"/>
              </p:cNvSpPr>
              <p:nvPr>
                <p:ph idx="1"/>
              </p:nvPr>
            </p:nvSpPr>
            <p:spPr>
              <a:xfrm>
                <a:off x="127320" y="2188525"/>
                <a:ext cx="6314975" cy="3727047"/>
              </a:xfrm>
            </p:spPr>
            <p:txBody>
              <a:bodyPr>
                <a:noAutofit/>
              </a:bodyPr>
              <a:lstStyle/>
              <a:p>
                <a:r>
                  <a:rPr kumimoji="1" lang="zh-TW" altLang="en-US" dirty="0"/>
                  <a:t>為方便示範與計算，我們令人工神經網路使用的非線性激勵函數為 </a:t>
                </a:r>
                <a:r>
                  <a:rPr kumimoji="1" lang="en-US" altLang="zh-TW" dirty="0"/>
                  <a:t>logistic</a:t>
                </a:r>
                <a:r>
                  <a:rPr kumimoji="1" lang="zh-TW" altLang="en-US" dirty="0"/>
                  <a:t> </a:t>
                </a:r>
                <a:r>
                  <a:rPr kumimoji="1" lang="en-US" altLang="zh-TW" dirty="0"/>
                  <a:t>function</a:t>
                </a:r>
                <a:r>
                  <a:rPr kumimoji="1" lang="zh-TW" altLang="en-US" dirty="0"/>
                  <a:t>。</a:t>
                </a:r>
                <a:r>
                  <a:rPr kumimoji="1" lang="en-US" altLang="zh-TW" dirty="0"/>
                  <a:t>Logistic</a:t>
                </a:r>
                <a:r>
                  <a:rPr kumimoji="1" lang="zh-TW" altLang="en-US" dirty="0"/>
                  <a:t> </a:t>
                </a:r>
                <a:r>
                  <a:rPr kumimoji="1" lang="en-US" altLang="zh-TW" dirty="0"/>
                  <a:t>function</a:t>
                </a:r>
                <a:r>
                  <a:rPr kumimoji="1" lang="zh-TW" altLang="en-US" dirty="0"/>
                  <a:t> 的公式為：</a:t>
                </a:r>
                <a:endParaRPr kumimoji="1" lang="en-US" altLang="zh-TW" dirty="0"/>
              </a:p>
              <a:p>
                <a:pPr marL="0" indent="0">
                  <a:buNone/>
                </a:pPr>
                <a14:m>
                  <m:oMathPara xmlns:m="http://schemas.openxmlformats.org/officeDocument/2006/math">
                    <m:oMathParaPr>
                      <m:jc m:val="center"/>
                    </m:oMathParaPr>
                    <m:oMath xmlns:m="http://schemas.openxmlformats.org/officeDocument/2006/math">
                      <m:r>
                        <a:rPr kumimoji="1" lang="en-US" altLang="zh-TW" i="1">
                          <a:latin typeface="Cambria Math" panose="02040503050406030204" pitchFamily="18" charset="0"/>
                        </a:rPr>
                        <m:t>𝑦</m:t>
                      </m:r>
                      <m:r>
                        <a:rPr kumimoji="1" lang="en-US" altLang="zh-TW" i="1">
                          <a:latin typeface="Cambria Math" panose="02040503050406030204" pitchFamily="18" charset="0"/>
                        </a:rPr>
                        <m:t>=</m:t>
                      </m:r>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den>
                      </m:f>
                    </m:oMath>
                  </m:oMathPara>
                </a14:m>
                <a:endParaRPr kumimoji="1" lang="en-US" altLang="zh-TW" dirty="0"/>
              </a:p>
              <a:p>
                <a:endParaRPr kumimoji="1" lang="en-US" altLang="zh-TW" sz="1800" dirty="0"/>
              </a:p>
              <a:p>
                <a:endParaRPr kumimoji="1" lang="en-US" altLang="zh-TW" sz="1800" dirty="0"/>
              </a:p>
              <a:p>
                <a:r>
                  <a:rPr kumimoji="1" lang="zh-TW" altLang="en-US" sz="1800" dirty="0"/>
                  <a:t>*</a:t>
                </a:r>
                <a:r>
                  <a:rPr kumimoji="1" lang="en-US" altLang="zh-TW" sz="1800" dirty="0"/>
                  <a:t>.</a:t>
                </a:r>
                <a:r>
                  <a:rPr kumimoji="1" lang="zh-TW" altLang="en-US" sz="1800" dirty="0"/>
                  <a:t> 此公式在深度學習中，也常被稱為 </a:t>
                </a:r>
                <a:r>
                  <a:rPr kumimoji="1" lang="en-US" altLang="zh-TW" sz="1800" dirty="0"/>
                  <a:t>sigmoid</a:t>
                </a:r>
                <a:r>
                  <a:rPr kumimoji="1" lang="zh-TW" altLang="en-US" sz="1800" dirty="0"/>
                  <a:t> </a:t>
                </a:r>
                <a:r>
                  <a:rPr kumimoji="1" lang="en-US" altLang="zh-TW" sz="1800" dirty="0"/>
                  <a:t>function</a:t>
                </a:r>
                <a:r>
                  <a:rPr kumimoji="1" lang="zh-TW" altLang="en-US" sz="1800" dirty="0"/>
                  <a:t>。但 </a:t>
                </a:r>
                <a:r>
                  <a:rPr kumimoji="1" lang="en-US" altLang="zh-TW" sz="1800" dirty="0"/>
                  <a:t>Sigmoid</a:t>
                </a:r>
                <a:r>
                  <a:rPr kumimoji="1" lang="zh-TW" altLang="en-US" sz="1800" dirty="0"/>
                  <a:t> </a:t>
                </a:r>
                <a:r>
                  <a:rPr kumimoji="1" lang="en-US" altLang="zh-TW" sz="1800" dirty="0"/>
                  <a:t>function</a:t>
                </a:r>
                <a:r>
                  <a:rPr kumimoji="1" lang="zh-TW" altLang="en-US" sz="1800" dirty="0"/>
                  <a:t> 其實泛指有 </a:t>
                </a:r>
                <a:r>
                  <a:rPr kumimoji="1" lang="en-US" altLang="zh-TW" sz="1800" dirty="0"/>
                  <a:t>S</a:t>
                </a:r>
                <a:r>
                  <a:rPr kumimoji="1" lang="zh-TW" altLang="en-US" sz="1800" dirty="0"/>
                  <a:t> 形狀的函數。常見的有 </a:t>
                </a:r>
                <a:r>
                  <a:rPr kumimoji="1" lang="en-US" altLang="zh-TW" sz="1800" dirty="0"/>
                  <a:t>Logistic</a:t>
                </a:r>
                <a:r>
                  <a:rPr kumimoji="1" lang="zh-TW" altLang="en-US" sz="1800" dirty="0"/>
                  <a:t> </a:t>
                </a:r>
                <a:r>
                  <a:rPr kumimoji="1" lang="en-US" altLang="zh-TW" sz="1800" dirty="0"/>
                  <a:t>Function,</a:t>
                </a:r>
                <a:r>
                  <a:rPr kumimoji="1" lang="zh-TW" altLang="en-US" sz="1800" dirty="0"/>
                  <a:t> </a:t>
                </a:r>
                <a:r>
                  <a:rPr kumimoji="1" lang="en-US" altLang="zh-TW" sz="1800" dirty="0"/>
                  <a:t>Hyperbolic</a:t>
                </a:r>
                <a:r>
                  <a:rPr kumimoji="1" lang="zh-TW" altLang="en-US" sz="1800" dirty="0"/>
                  <a:t> </a:t>
                </a:r>
                <a:r>
                  <a:rPr kumimoji="1" lang="en-US" altLang="zh-TW" sz="1800" dirty="0"/>
                  <a:t>Tangent,</a:t>
                </a:r>
                <a:r>
                  <a:rPr kumimoji="1" lang="zh-TW" altLang="en-US" sz="1800" dirty="0"/>
                  <a:t> </a:t>
                </a:r>
                <a:r>
                  <a:rPr kumimoji="1" lang="en-US" altLang="zh-TW" sz="1800" dirty="0"/>
                  <a:t>Arctangent</a:t>
                </a:r>
                <a:r>
                  <a:rPr kumimoji="1" lang="zh-TW" altLang="en-US" sz="1800" dirty="0"/>
                  <a:t> 等等。</a:t>
                </a:r>
                <a:endParaRPr kumimoji="1" lang="en-US" altLang="zh-TW" sz="1800" dirty="0"/>
              </a:p>
            </p:txBody>
          </p:sp>
        </mc:Choice>
        <mc:Fallback xmlns="">
          <p:sp>
            <p:nvSpPr>
              <p:cNvPr id="3" name="內容版面配置區 2">
                <a:extLst>
                  <a:ext uri="{FF2B5EF4-FFF2-40B4-BE49-F238E27FC236}">
                    <a16:creationId xmlns:a16="http://schemas.microsoft.com/office/drawing/2014/main" id="{795B0B55-4739-CC98-36BB-FD7BE4D1165A}"/>
                  </a:ext>
                </a:extLst>
              </p:cNvPr>
              <p:cNvSpPr>
                <a:spLocks noGrp="1" noRot="1" noChangeAspect="1" noMove="1" noResize="1" noEditPoints="1" noAdjustHandles="1" noChangeArrowheads="1" noChangeShapeType="1" noTextEdit="1"/>
              </p:cNvSpPr>
              <p:nvPr>
                <p:ph idx="1"/>
              </p:nvPr>
            </p:nvSpPr>
            <p:spPr>
              <a:xfrm>
                <a:off x="127320" y="2188525"/>
                <a:ext cx="6314975" cy="3727047"/>
              </a:xfrm>
              <a:blipFill>
                <a:blip r:embed="rId2"/>
                <a:stretch>
                  <a:fillRect l="-1606" t="-1361" r="-1004" b="-5102"/>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075D1567-80F4-0B3C-1783-8958B5EB142C}"/>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035A580-C896-151B-3387-49D7081186C1}"/>
              </a:ext>
            </a:extLst>
          </p:cNvPr>
          <p:cNvSpPr>
            <a:spLocks noGrp="1"/>
          </p:cNvSpPr>
          <p:nvPr>
            <p:ph type="sldNum" sz="quarter" idx="12"/>
          </p:nvPr>
        </p:nvSpPr>
        <p:spPr/>
        <p:txBody>
          <a:bodyPr/>
          <a:lstStyle/>
          <a:p>
            <a:r>
              <a:rPr lang="en-US" altLang="zh-TW" dirty="0"/>
              <a:t>Deep Learning</a:t>
            </a:r>
          </a:p>
        </p:txBody>
      </p:sp>
      <p:pic>
        <p:nvPicPr>
          <p:cNvPr id="6" name="圖片 5" descr="一張含有 行, 繪圖, 平行, 圖表 的圖片&#10;&#10;AI 產生的內容可能不正確。">
            <a:extLst>
              <a:ext uri="{FF2B5EF4-FFF2-40B4-BE49-F238E27FC236}">
                <a16:creationId xmlns:a16="http://schemas.microsoft.com/office/drawing/2014/main" id="{03366276-8107-079B-B2EC-1EA442DD9E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5282" y="2670808"/>
            <a:ext cx="5108310" cy="27624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25717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AF8964-7EA0-A739-A4CF-9E4E56B7AA2D}"/>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22B195-B6CF-431E-9E36-3FC689098A25}"/>
                  </a:ext>
                </a:extLst>
              </p:cNvPr>
              <p:cNvSpPr>
                <a:spLocks noGrp="1"/>
              </p:cNvSpPr>
              <p:nvPr>
                <p:ph idx="1"/>
              </p:nvPr>
            </p:nvSpPr>
            <p:spPr/>
            <p:txBody>
              <a:bodyPr/>
              <a:lstStyle/>
              <a:p>
                <a:r>
                  <a:rPr kumimoji="1" lang="en-US" altLang="zh-TW" dirty="0"/>
                  <a:t>Logistic</a:t>
                </a:r>
                <a:r>
                  <a:rPr kumimoji="1" lang="zh-TW" altLang="en-US" dirty="0"/>
                  <a:t> </a:t>
                </a:r>
                <a:r>
                  <a:rPr kumimoji="1" lang="en-US" altLang="zh-TW" dirty="0"/>
                  <a:t>Function</a:t>
                </a:r>
                <a:r>
                  <a:rPr kumimoji="1" lang="zh-TW" altLang="en-US" dirty="0"/>
                  <a:t> 的性質：</a:t>
                </a:r>
                <a:endParaRPr kumimoji="1" lang="en-US" altLang="zh-TW" dirty="0"/>
              </a:p>
              <a:p>
                <a:pPr marL="457200" indent="-457200">
                  <a:buFont typeface="+mj-lt"/>
                  <a:buAutoNum type="arabicPeriod"/>
                </a:pPr>
                <a:r>
                  <a:rPr kumimoji="1" lang="en-US" altLang="zh-TW" dirty="0"/>
                  <a:t>It’s</a:t>
                </a:r>
                <a:r>
                  <a:rPr kumimoji="1" lang="zh-TW" altLang="en-US" dirty="0"/>
                  <a:t> </a:t>
                </a:r>
                <a:r>
                  <a:rPr kumimoji="1" lang="en-US" altLang="zh-TW" dirty="0"/>
                  <a:t>a</a:t>
                </a:r>
                <a:r>
                  <a:rPr kumimoji="1" lang="zh-TW" altLang="en-US" dirty="0"/>
                  <a:t> </a:t>
                </a:r>
                <a:r>
                  <a:rPr kumimoji="1" lang="en-US" altLang="zh-TW" dirty="0"/>
                  <a:t>mapping</a:t>
                </a:r>
                <a:r>
                  <a:rPr kumimoji="1" lang="zh-TW" altLang="en-US" dirty="0"/>
                  <a:t> </a:t>
                </a:r>
                <a:r>
                  <a:rPr kumimoji="1" lang="en-US" altLang="zh-TW" dirty="0"/>
                  <a:t>from</a:t>
                </a:r>
                <a:r>
                  <a:rPr kumimoji="1" lang="zh-TW" altLang="en-US" dirty="0"/>
                  <a:t> </a:t>
                </a:r>
                <a14:m>
                  <m:oMath xmlns:m="http://schemas.openxmlformats.org/officeDocument/2006/math">
                    <m:r>
                      <a:rPr kumimoji="1" lang="en-US" altLang="zh-TW" i="1">
                        <a:latin typeface="Cambria Math" panose="02040503050406030204" pitchFamily="18" charset="0"/>
                        <a:ea typeface="Cambria Math" panose="02040503050406030204" pitchFamily="18" charset="0"/>
                      </a:rPr>
                      <m:t>ℝ</m:t>
                    </m:r>
                  </m:oMath>
                </a14:m>
                <a:r>
                  <a:rPr kumimoji="1" lang="zh-TW" altLang="en-US" dirty="0"/>
                  <a:t> </a:t>
                </a:r>
                <a:r>
                  <a:rPr kumimoji="1" lang="en-US" altLang="zh-TW" dirty="0"/>
                  <a:t>to</a:t>
                </a:r>
                <a:r>
                  <a:rPr kumimoji="1" lang="zh-TW" altLang="en-US" dirty="0"/>
                  <a:t> </a:t>
                </a:r>
                <a:r>
                  <a:rPr kumimoji="1" lang="en-US" altLang="zh-TW" dirty="0"/>
                  <a:t>[0,</a:t>
                </a:r>
                <a:r>
                  <a:rPr kumimoji="1" lang="zh-TW" altLang="en-US" dirty="0"/>
                  <a:t> </a:t>
                </a:r>
                <a:r>
                  <a:rPr kumimoji="1" lang="en-US" altLang="zh-TW" dirty="0"/>
                  <a:t>1]</a:t>
                </a:r>
                <a:r>
                  <a:rPr kumimoji="1" lang="zh-TW" altLang="en-US" dirty="0"/>
                  <a:t>。因此，</a:t>
                </a:r>
                <a:r>
                  <a:rPr kumimoji="1" lang="en-US" altLang="zh-TW" dirty="0"/>
                  <a:t>Logistic</a:t>
                </a:r>
                <a:r>
                  <a:rPr kumimoji="1" lang="zh-TW" altLang="en-US" dirty="0"/>
                  <a:t> </a:t>
                </a:r>
                <a:r>
                  <a:rPr kumimoji="1" lang="en-US" altLang="zh-TW" dirty="0"/>
                  <a:t>Function</a:t>
                </a:r>
                <a:r>
                  <a:rPr kumimoji="1" lang="zh-TW" altLang="en-US" dirty="0"/>
                  <a:t> 的輸出值適合用來表示機率。</a:t>
                </a:r>
                <a:endParaRPr kumimoji="1" lang="en-US" altLang="zh-TW" dirty="0"/>
              </a:p>
              <a:p>
                <a:pPr marL="457200" indent="-457200">
                  <a:buFont typeface="+mj-lt"/>
                  <a:buAutoNum type="arabicPeriod"/>
                </a:pPr>
                <a:r>
                  <a:rPr kumimoji="1" lang="zh-TW" altLang="en-US" dirty="0"/>
                  <a:t>當 </a:t>
                </a:r>
                <a:r>
                  <a:rPr kumimoji="1" lang="en-US" altLang="zh-TW" dirty="0"/>
                  <a:t>x</a:t>
                </a:r>
                <a:r>
                  <a:rPr kumimoji="1" lang="zh-TW" altLang="en-US" dirty="0"/>
                  <a:t> </a:t>
                </a:r>
                <a:r>
                  <a:rPr kumimoji="1" lang="en-US" altLang="zh-TW" dirty="0"/>
                  <a:t>=</a:t>
                </a:r>
                <a:r>
                  <a:rPr kumimoji="1" lang="zh-TW" altLang="en-US" dirty="0"/>
                  <a:t> </a:t>
                </a:r>
                <a:r>
                  <a:rPr kumimoji="1" lang="en-US" altLang="zh-TW" dirty="0"/>
                  <a:t>0</a:t>
                </a:r>
                <a:r>
                  <a:rPr kumimoji="1" lang="zh-TW" altLang="en-US" dirty="0"/>
                  <a:t> 時，</a:t>
                </a:r>
                <a14:m>
                  <m:oMath xmlns:m="http://schemas.openxmlformats.org/officeDocument/2006/math">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=0.5</m:t>
                    </m:r>
                  </m:oMath>
                </a14:m>
                <a:r>
                  <a:rPr kumimoji="1" lang="zh-TW" altLang="en-US" dirty="0"/>
                  <a:t>。當 </a:t>
                </a:r>
                <a:r>
                  <a:rPr kumimoji="1" lang="en-US" altLang="zh-TW" dirty="0"/>
                  <a:t>x</a:t>
                </a:r>
                <a:r>
                  <a:rPr kumimoji="1" lang="zh-TW" altLang="en-US" dirty="0"/>
                  <a:t> 越接近無限大，</a:t>
                </a:r>
                <a:r>
                  <a:rPr kumimoji="1" lang="en-US" altLang="zh-TW" dirty="0"/>
                  <a:t> </a:t>
                </a:r>
                <a14:m>
                  <m:oMath xmlns:m="http://schemas.openxmlformats.org/officeDocument/2006/math">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oMath>
                </a14:m>
                <a:r>
                  <a:rPr kumimoji="1" lang="zh-TW" altLang="en-US" dirty="0"/>
                  <a:t> 則越接近 </a:t>
                </a:r>
                <a:r>
                  <a:rPr kumimoji="1" lang="en-US" altLang="zh-TW" dirty="0"/>
                  <a:t>1</a:t>
                </a:r>
                <a:r>
                  <a:rPr kumimoji="1" lang="zh-TW" altLang="en-US" dirty="0"/>
                  <a:t>。反之，當 </a:t>
                </a:r>
                <a:r>
                  <a:rPr kumimoji="1" lang="en-US" altLang="zh-TW" dirty="0"/>
                  <a:t>x</a:t>
                </a:r>
                <a:r>
                  <a:rPr kumimoji="1" lang="zh-TW" altLang="en-US" dirty="0"/>
                  <a:t> 越接近負無限大，</a:t>
                </a:r>
                <a:r>
                  <a:rPr kumimoji="1" lang="en-US" altLang="zh-TW" dirty="0"/>
                  <a:t> </a:t>
                </a:r>
                <a14:m>
                  <m:oMath xmlns:m="http://schemas.openxmlformats.org/officeDocument/2006/math">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oMath>
                </a14:m>
                <a:r>
                  <a:rPr kumimoji="1" lang="zh-TW" altLang="en-US" dirty="0"/>
                  <a:t> 則越接近 </a:t>
                </a:r>
                <a:r>
                  <a:rPr kumimoji="1" lang="en-US" altLang="zh-TW" dirty="0"/>
                  <a:t>0</a:t>
                </a:r>
                <a:r>
                  <a:rPr kumimoji="1" lang="zh-TW" altLang="en-US" dirty="0"/>
                  <a:t>。</a:t>
                </a:r>
                <a:endParaRPr kumimoji="1" lang="en-US" altLang="zh-TW" dirty="0"/>
              </a:p>
              <a:p>
                <a:pPr marL="457200" indent="-457200">
                  <a:buFont typeface="+mj-lt"/>
                  <a:buAutoNum type="arabicPeriod"/>
                </a:pPr>
                <a:r>
                  <a:rPr kumimoji="1" lang="en-US" altLang="zh-TW" dirty="0"/>
                  <a:t>Logistic Function </a:t>
                </a:r>
                <a:r>
                  <a:rPr kumimoji="1" lang="zh-TW" altLang="en-US" dirty="0"/>
                  <a:t>的反函式是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𝑓</m:t>
                        </m:r>
                      </m:e>
                      <m:sup>
                        <m:r>
                          <a:rPr kumimoji="1" lang="en-US" altLang="zh-TW" i="1">
                            <a:latin typeface="Cambria Math" panose="02040503050406030204" pitchFamily="18" charset="0"/>
                          </a:rPr>
                          <m:t>−1</m:t>
                        </m:r>
                      </m:sup>
                    </m:s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𝑦</m:t>
                        </m:r>
                      </m:e>
                    </m:d>
                    <m:r>
                      <a:rPr kumimoji="1" lang="en-US" altLang="zh-TW" i="1">
                        <a:latin typeface="Cambria Math" panose="02040503050406030204" pitchFamily="18" charset="0"/>
                      </a:rPr>
                      <m:t>=</m:t>
                    </m:r>
                    <m:r>
                      <m:rPr>
                        <m:sty m:val="p"/>
                      </m:rPr>
                      <a:rPr kumimoji="1" lang="en-US" altLang="zh-TW">
                        <a:latin typeface="Cambria Math" panose="02040503050406030204" pitchFamily="18" charset="0"/>
                      </a:rPr>
                      <m:t>ln</m:t>
                    </m:r>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𝑦</m:t>
                        </m:r>
                      </m:num>
                      <m:den>
                        <m:r>
                          <a:rPr kumimoji="1" lang="en-US" altLang="zh-TW" i="1">
                            <a:latin typeface="Cambria Math" panose="02040503050406030204" pitchFamily="18" charset="0"/>
                          </a:rPr>
                          <m:t>1−</m:t>
                        </m:r>
                        <m:r>
                          <a:rPr kumimoji="1" lang="en-US" altLang="zh-TW" i="1">
                            <a:latin typeface="Cambria Math" panose="02040503050406030204" pitchFamily="18" charset="0"/>
                          </a:rPr>
                          <m:t>𝑦</m:t>
                        </m:r>
                      </m:den>
                    </m:f>
                    <m:r>
                      <a:rPr kumimoji="1" lang="en-US" altLang="zh-TW" i="1">
                        <a:latin typeface="Cambria Math" panose="02040503050406030204" pitchFamily="18" charset="0"/>
                      </a:rPr>
                      <m:t>)</m:t>
                    </m:r>
                  </m:oMath>
                </a14:m>
                <a:endParaRPr kumimoji="1" lang="en-US" altLang="zh-TW" dirty="0"/>
              </a:p>
              <a:p>
                <a:pPr marL="457200" indent="-457200">
                  <a:buFont typeface="+mj-lt"/>
                  <a:buAutoNum type="arabicPeriod"/>
                </a:pPr>
                <a:r>
                  <a:rPr kumimoji="1" lang="en-US" altLang="zh-TW" dirty="0"/>
                  <a:t>Logistic Function </a:t>
                </a:r>
                <a:r>
                  <a:rPr kumimoji="1" lang="zh-TW" altLang="en-US" dirty="0"/>
                  <a:t>的導數是</a:t>
                </a:r>
                <a:r>
                  <a:rPr kumimoji="1" lang="en-US" altLang="zh-TW" dirty="0"/>
                  <a:t>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𝑓</m:t>
                        </m:r>
                      </m:e>
                      <m:sup>
                        <m:r>
                          <a:rPr kumimoji="1" lang="en-US" altLang="zh-TW" i="1">
                            <a:latin typeface="Cambria Math" panose="02040503050406030204" pitchFamily="18" charset="0"/>
                          </a:rPr>
                          <m:t>′</m:t>
                        </m:r>
                      </m:sup>
                    </m:s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m:t>
                    </m:r>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∗(1−</m:t>
                    </m:r>
                    <m:r>
                      <a:rPr kumimoji="1" lang="en-US" altLang="zh-TW" i="1">
                        <a:latin typeface="Cambria Math" panose="02040503050406030204" pitchFamily="18" charset="0"/>
                      </a:rPr>
                      <m:t>𝑓</m:t>
                    </m:r>
                    <m:r>
                      <a:rPr kumimoji="1" lang="en-US" altLang="zh-TW" i="1">
                        <a:latin typeface="Cambria Math" panose="02040503050406030204" pitchFamily="18" charset="0"/>
                      </a:rPr>
                      <m:t>(</m:t>
                    </m:r>
                    <m:r>
                      <a:rPr kumimoji="1" lang="en-US" altLang="zh-TW" i="1">
                        <a:latin typeface="Cambria Math" panose="02040503050406030204" pitchFamily="18" charset="0"/>
                      </a:rPr>
                      <m:t>𝑥</m:t>
                    </m:r>
                    <m:r>
                      <a:rPr kumimoji="1" lang="en-US" altLang="zh-TW" i="1">
                        <a:latin typeface="Cambria Math" panose="02040503050406030204" pitchFamily="18" charset="0"/>
                      </a:rPr>
                      <m:t>))</m:t>
                    </m:r>
                  </m:oMath>
                </a14:m>
                <a:endParaRPr kumimoji="1" lang="en-US" altLang="zh-TW" dirty="0"/>
              </a:p>
            </p:txBody>
          </p:sp>
        </mc:Choice>
        <mc:Fallback xmlns="">
          <p:sp>
            <p:nvSpPr>
              <p:cNvPr id="3" name="內容版面配置區 2">
                <a:extLst>
                  <a:ext uri="{FF2B5EF4-FFF2-40B4-BE49-F238E27FC236}">
                    <a16:creationId xmlns:a16="http://schemas.microsoft.com/office/drawing/2014/main" id="{4622B195-B6CF-431E-9E36-3FC689098A25}"/>
                  </a:ext>
                </a:extLst>
              </p:cNvPr>
              <p:cNvSpPr>
                <a:spLocks noGrp="1" noRot="1" noChangeAspect="1" noMove="1" noResize="1" noEditPoints="1" noAdjustHandles="1" noChangeArrowheads="1" noChangeShapeType="1" noTextEdit="1"/>
              </p:cNvSpPr>
              <p:nvPr>
                <p:ph idx="1"/>
              </p:nvPr>
            </p:nvSpPr>
            <p:spPr>
              <a:blipFill>
                <a:blip r:embed="rId2"/>
                <a:stretch>
                  <a:fillRect l="-1765" t="-1347" r="-138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24AC559-DC26-BC7B-2DC5-71EF873C537C}"/>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A6FBC48-4B18-13BF-97F9-822EEAC9433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79090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7ABF1A-DB21-5111-82D1-EF3142E47673}"/>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74B0A1F-DC21-4B2B-09EF-826E031D6FB4}"/>
                  </a:ext>
                </a:extLst>
              </p:cNvPr>
              <p:cNvSpPr>
                <a:spLocks noGrp="1"/>
              </p:cNvSpPr>
              <p:nvPr>
                <p:ph idx="1"/>
              </p:nvPr>
            </p:nvSpPr>
            <p:spPr/>
            <p:txBody>
              <a:bodyPr/>
              <a:lstStyle/>
              <a:p>
                <a14:m>
                  <m:oMath xmlns:m="http://schemas.openxmlformats.org/officeDocument/2006/math">
                    <m:r>
                      <a:rPr kumimoji="1" lang="en-US" altLang="zh-TW" i="1">
                        <a:latin typeface="Cambria Math" panose="02040503050406030204" pitchFamily="18" charset="0"/>
                      </a:rPr>
                      <m:t>𝑦</m:t>
                    </m:r>
                    <m:r>
                      <a:rPr kumimoji="1" lang="en-US" altLang="zh-TW" i="1">
                        <a:latin typeface="Cambria Math" panose="02040503050406030204" pitchFamily="18" charset="0"/>
                      </a:rPr>
                      <m:t>=</m:t>
                    </m:r>
                    <m:r>
                      <a:rPr kumimoji="1" lang="en-US" altLang="zh-TW" i="1">
                        <a:latin typeface="Cambria Math" panose="02040503050406030204" pitchFamily="18" charset="0"/>
                      </a:rPr>
                      <m:t>𝑓</m:t>
                    </m:r>
                    <m:r>
                      <a:rPr kumimoji="1" lang="en-US" altLang="zh-TW" i="1">
                        <a:latin typeface="Cambria Math" panose="02040503050406030204" pitchFamily="18" charset="0"/>
                      </a:rPr>
                      <m:t>(</m:t>
                    </m:r>
                    <m:r>
                      <a:rPr kumimoji="1" lang="en-US" altLang="zh-TW" i="1">
                        <a:latin typeface="Cambria Math" panose="02040503050406030204" pitchFamily="18" charset="0"/>
                      </a:rPr>
                      <m:t>𝑥</m:t>
                    </m:r>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den>
                    </m:f>
                  </m:oMath>
                </a14:m>
                <a:r>
                  <a:rPr kumimoji="1" lang="en-US" altLang="zh-TW" dirty="0"/>
                  <a:t>, let </a:t>
                </a:r>
                <a14:m>
                  <m:oMath xmlns:m="http://schemas.openxmlformats.org/officeDocument/2006/math">
                    <m:r>
                      <a:rPr kumimoji="1" lang="en-US" altLang="zh-TW" i="1">
                        <a:latin typeface="Cambria Math" panose="02040503050406030204" pitchFamily="18" charset="0"/>
                      </a:rPr>
                      <m:t>𝑢</m:t>
                    </m:r>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r>
                      <a:rPr kumimoji="1" lang="en-US" altLang="zh-TW" i="1">
                        <a:latin typeface="Cambria Math" panose="02040503050406030204" pitchFamily="18" charset="0"/>
                      </a:rPr>
                      <m:t>, </m:t>
                    </m:r>
                    <m:r>
                      <a:rPr kumimoji="1" lang="en-US" altLang="zh-TW" i="1">
                        <a:latin typeface="Cambria Math" panose="02040503050406030204" pitchFamily="18" charset="0"/>
                      </a:rPr>
                      <m:t>𝑦</m:t>
                    </m:r>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𝑢</m:t>
                        </m:r>
                      </m:den>
                    </m:f>
                  </m:oMath>
                </a14:m>
                <a:endParaRPr kumimoji="1" lang="en-US" altLang="zh-TW" dirty="0"/>
              </a:p>
              <a:p>
                <a14:m>
                  <m:oMath xmlns:m="http://schemas.openxmlformats.org/officeDocument/2006/math">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𝑑</m:t>
                        </m:r>
                      </m:num>
                      <m:den>
                        <m:r>
                          <a:rPr kumimoji="1" lang="en-US" altLang="zh-TW" i="1">
                            <a:latin typeface="Cambria Math" panose="02040503050406030204" pitchFamily="18" charset="0"/>
                          </a:rPr>
                          <m:t>𝑑𝑥</m:t>
                        </m:r>
                      </m:den>
                    </m:f>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𝑑𝑦</m:t>
                        </m:r>
                      </m:num>
                      <m:den>
                        <m:r>
                          <a:rPr kumimoji="1" lang="en-US" altLang="zh-TW" i="1">
                            <a:latin typeface="Cambria Math" panose="02040503050406030204" pitchFamily="18" charset="0"/>
                          </a:rPr>
                          <m:t>𝑑𝑢</m:t>
                        </m:r>
                      </m:den>
                    </m:f>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𝑑𝑢</m:t>
                        </m:r>
                      </m:num>
                      <m:den>
                        <m:r>
                          <a:rPr kumimoji="1" lang="en-US" altLang="zh-TW" i="1">
                            <a:latin typeface="Cambria Math" panose="02040503050406030204" pitchFamily="18" charset="0"/>
                          </a:rPr>
                          <m:t>𝑑𝑥</m:t>
                        </m:r>
                      </m:den>
                    </m:f>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𝑑</m:t>
                        </m:r>
                      </m:num>
                      <m:den>
                        <m:r>
                          <a:rPr kumimoji="1" lang="en-US" altLang="zh-TW" i="1">
                            <a:latin typeface="Cambria Math" panose="02040503050406030204" pitchFamily="18" charset="0"/>
                          </a:rPr>
                          <m:t>𝑑𝑢</m:t>
                        </m:r>
                      </m:den>
                    </m:f>
                    <m:d>
                      <m:dPr>
                        <m:ctrlPr>
                          <a:rPr kumimoji="1" lang="en-US" altLang="zh-TW" i="1">
                            <a:latin typeface="Cambria Math" panose="02040503050406030204" pitchFamily="18" charset="0"/>
                          </a:rPr>
                        </m:ctrlPr>
                      </m:d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𝑢</m:t>
                            </m:r>
                          </m:e>
                          <m:sup>
                            <m:r>
                              <a:rPr kumimoji="1" lang="en-US" altLang="zh-TW" i="1">
                                <a:latin typeface="Cambria Math" panose="02040503050406030204" pitchFamily="18" charset="0"/>
                              </a:rPr>
                              <m:t>−1</m:t>
                            </m:r>
                          </m:sup>
                        </m:sSup>
                      </m:e>
                    </m:d>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e>
                    </m:d>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r>
                      <a:rPr kumimoji="1"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𝑢</m:t>
                        </m:r>
                      </m:e>
                      <m:sup>
                        <m:r>
                          <a:rPr kumimoji="1" lang="en-US" altLang="zh-TW" i="1">
                            <a:latin typeface="Cambria Math" panose="02040503050406030204" pitchFamily="18" charset="0"/>
                          </a:rPr>
                          <m:t>−2</m:t>
                        </m:r>
                      </m:sup>
                    </m:s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e>
                    </m:d>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num>
                      <m:den>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r>
                              <a:rPr kumimoji="1" lang="en-US" altLang="zh-TW" i="1">
                                <a:latin typeface="Cambria Math" panose="02040503050406030204" pitchFamily="18" charset="0"/>
                              </a:rPr>
                              <m:t>)</m:t>
                            </m:r>
                          </m:e>
                          <m:sup>
                            <m:r>
                              <a:rPr kumimoji="1" lang="en-US" altLang="zh-TW" i="1">
                                <a:latin typeface="Cambria Math" panose="02040503050406030204" pitchFamily="18" charset="0"/>
                              </a:rPr>
                              <m:t>2</m:t>
                            </m:r>
                          </m:sup>
                        </m:sSup>
                      </m:den>
                    </m:f>
                  </m:oMath>
                </a14:m>
                <a:endParaRPr kumimoji="1" lang="en-US" altLang="zh-TW" dirty="0"/>
              </a:p>
              <a:p>
                <a:r>
                  <a:rPr kumimoji="1" lang="en-US" altLang="zh-TW" dirty="0"/>
                  <a:t>Since </a:t>
                </a:r>
                <a14:m>
                  <m:oMath xmlns:m="http://schemas.openxmlformats.org/officeDocument/2006/math">
                    <m:r>
                      <a:rPr kumimoji="1" lang="en-US" altLang="zh-TW" i="1">
                        <a:latin typeface="Cambria Math" panose="02040503050406030204" pitchFamily="18" charset="0"/>
                      </a:rPr>
                      <m:t>1−</m:t>
                    </m:r>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=1−</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den>
                    </m:f>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num>
                      <m:den>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den>
                    </m:f>
                  </m:oMath>
                </a14:m>
                <a:r>
                  <a:rPr kumimoji="1" lang="en-US" altLang="zh-TW" dirty="0"/>
                  <a:t> , and </a:t>
                </a:r>
                <a14:m>
                  <m:oMath xmlns:m="http://schemas.openxmlformats.org/officeDocument/2006/math">
                    <m:r>
                      <a:rPr kumimoji="1" lang="en-US" altLang="zh-TW" i="1">
                        <a:latin typeface="Cambria Math" panose="02040503050406030204" pitchFamily="18" charset="0"/>
                      </a:rPr>
                      <m:t>𝑓</m:t>
                    </m:r>
                    <m:d>
                      <m:dPr>
                        <m:ctrlPr>
                          <a:rPr kumimoji="1" lang="en-US" altLang="zh-TW" i="1" dirty="0">
                            <a:latin typeface="Cambria Math" panose="02040503050406030204" pitchFamily="18" charset="0"/>
                          </a:rPr>
                        </m:ctrlPr>
                      </m:dPr>
                      <m:e>
                        <m:r>
                          <m:rPr>
                            <m:sty m:val="p"/>
                          </m:rPr>
                          <a:rPr kumimoji="1" lang="en-US" altLang="zh-TW" dirty="0">
                            <a:latin typeface="Cambria Math" panose="02040503050406030204" pitchFamily="18" charset="0"/>
                          </a:rPr>
                          <m:t>x</m:t>
                        </m:r>
                      </m:e>
                    </m:d>
                    <m:d>
                      <m:dPr>
                        <m:ctrlPr>
                          <a:rPr kumimoji="1" lang="en-US" altLang="zh-TW" i="1" dirty="0">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e>
                    </m:d>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num>
                      <m:den>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r>
                              <a:rPr kumimoji="1" lang="en-US" altLang="zh-TW" i="1">
                                <a:latin typeface="Cambria Math" panose="02040503050406030204" pitchFamily="18" charset="0"/>
                              </a:rPr>
                              <m:t>)</m:t>
                            </m:r>
                          </m:e>
                          <m:sup>
                            <m:r>
                              <a:rPr kumimoji="1" lang="en-US" altLang="zh-TW" i="1">
                                <a:latin typeface="Cambria Math" panose="02040503050406030204" pitchFamily="18" charset="0"/>
                              </a:rPr>
                              <m:t>2</m:t>
                            </m:r>
                          </m:sup>
                        </m:sSup>
                      </m:den>
                    </m:f>
                  </m:oMath>
                </a14:m>
                <a:endParaRPr kumimoji="1" lang="en-US" altLang="zh-TW" dirty="0"/>
              </a:p>
              <a:p>
                <a:r>
                  <a:rPr kumimoji="1" lang="en-US" altLang="zh-TW" dirty="0"/>
                  <a:t>Therefore, </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𝑑</m:t>
                        </m:r>
                      </m:num>
                      <m:den>
                        <m:r>
                          <a:rPr kumimoji="1" lang="en-US" altLang="zh-TW" i="1">
                            <a:latin typeface="Cambria Math" panose="02040503050406030204" pitchFamily="18" charset="0"/>
                          </a:rPr>
                          <m:t>𝑑𝑥</m:t>
                        </m:r>
                      </m:den>
                    </m:f>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m:t>
                    </m:r>
                    <m:r>
                      <a:rPr kumimoji="1" lang="en-US" altLang="zh-TW" i="1">
                        <a:latin typeface="Cambria Math" panose="02040503050406030204" pitchFamily="18" charset="0"/>
                      </a:rPr>
                      <m:t>𝑓</m:t>
                    </m:r>
                    <m:d>
                      <m:dPr>
                        <m:ctrlPr>
                          <a:rPr kumimoji="1" lang="en-US" altLang="zh-TW" i="1" dirty="0">
                            <a:latin typeface="Cambria Math" panose="02040503050406030204" pitchFamily="18" charset="0"/>
                          </a:rPr>
                        </m:ctrlPr>
                      </m:dPr>
                      <m:e>
                        <m:r>
                          <m:rPr>
                            <m:sty m:val="p"/>
                          </m:rPr>
                          <a:rPr kumimoji="1" lang="en-US" altLang="zh-TW" dirty="0">
                            <a:latin typeface="Cambria Math" panose="02040503050406030204" pitchFamily="18" charset="0"/>
                          </a:rPr>
                          <m:t>x</m:t>
                        </m:r>
                      </m:e>
                    </m:d>
                    <m:d>
                      <m:dPr>
                        <m:ctrlPr>
                          <a:rPr kumimoji="1" lang="en-US" altLang="zh-TW" i="1" dirty="0">
                            <a:latin typeface="Cambria Math" panose="02040503050406030204" pitchFamily="18" charset="0"/>
                          </a:rPr>
                        </m:ctrlPr>
                      </m:dPr>
                      <m:e>
                        <m:r>
                          <a:rPr kumimoji="1" lang="en-US" altLang="zh-TW" i="1">
                            <a:latin typeface="Cambria Math" panose="02040503050406030204" pitchFamily="18" charset="0"/>
                          </a:rPr>
                          <m:t>1−</m:t>
                        </m:r>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e>
                    </m:d>
                  </m:oMath>
                </a14:m>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974B0A1F-DC21-4B2B-09EF-826E031D6FB4}"/>
                  </a:ext>
                </a:extLst>
              </p:cNvPr>
              <p:cNvSpPr>
                <a:spLocks noGrp="1" noRot="1" noChangeAspect="1" noMove="1" noResize="1" noEditPoints="1" noAdjustHandles="1" noChangeArrowheads="1" noChangeShapeType="1" noTextEdit="1"/>
              </p:cNvSpPr>
              <p:nvPr>
                <p:ph idx="1"/>
              </p:nvPr>
            </p:nvSpPr>
            <p:spPr>
              <a:blipFill>
                <a:blip r:embed="rId2"/>
                <a:stretch>
                  <a:fillRect l="-1892"/>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35BBFD34-FC94-920E-7914-33562F40339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E549A1D-9517-77A6-0646-85167B29A64F}"/>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198530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DF5673-EAA8-A1AF-C88E-ADDE5F81CF4A}"/>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194DA0D-D9A6-D1FA-6EF1-B85349ED3BA8}"/>
                  </a:ext>
                </a:extLst>
              </p:cNvPr>
              <p:cNvSpPr>
                <a:spLocks noGrp="1"/>
              </p:cNvSpPr>
              <p:nvPr>
                <p:ph idx="1"/>
              </p:nvPr>
            </p:nvSpPr>
            <p:spPr>
              <a:xfrm>
                <a:off x="1097280" y="2015602"/>
                <a:ext cx="10058400" cy="4338638"/>
              </a:xfrm>
            </p:spPr>
            <p:txBody>
              <a:bodyPr>
                <a:noAutofit/>
              </a:bodyPr>
              <a:lstStyle/>
              <a:p>
                <a:pPr>
                  <a:buFont typeface="Wingdings" pitchFamily="2" charset="2"/>
                  <a:buChar char="n"/>
                </a:pPr>
                <a:r>
                  <a:rPr kumimoji="1" lang="zh-TW" altLang="en-US" dirty="0"/>
                  <a:t> 人工神經網路的 </a:t>
                </a:r>
                <a:r>
                  <a:rPr kumimoji="1" lang="en-US" altLang="zh-TW" dirty="0"/>
                  <a:t>output</a:t>
                </a:r>
                <a:r>
                  <a:rPr kumimoji="1" lang="zh-TW" altLang="en-US" dirty="0"/>
                  <a:t> </a:t>
                </a:r>
                <a:r>
                  <a:rPr kumimoji="1" lang="en-US" altLang="zh-TW" dirty="0"/>
                  <a:t>layer</a:t>
                </a:r>
                <a:r>
                  <a:rPr kumimoji="1" lang="zh-TW" altLang="en-US" dirty="0"/>
                  <a:t> 有若干個神經元。第 </a:t>
                </a:r>
                <a14:m>
                  <m:oMath xmlns:m="http://schemas.openxmlformats.org/officeDocument/2006/math">
                    <m:r>
                      <a:rPr kumimoji="1" lang="en-US" altLang="zh-TW" b="0" i="1" smtClean="0">
                        <a:latin typeface="Cambria Math" panose="02040503050406030204" pitchFamily="18" charset="0"/>
                      </a:rPr>
                      <m:t>𝑘</m:t>
                    </m:r>
                  </m:oMath>
                </a14:m>
                <a:r>
                  <a:rPr kumimoji="1" lang="zh-TW" altLang="en-US" dirty="0"/>
                  <a:t> 個神經元的輸出值為</a:t>
                </a:r>
                <a14:m>
                  <m:oMath xmlns:m="http://schemas.openxmlformats.org/officeDocument/2006/math">
                    <m:r>
                      <a:rPr kumimoji="1" lang="zh-TW" altLang="en-US" b="0" i="1" smtClean="0">
                        <a:latin typeface="Cambria Math" panose="02040503050406030204" pitchFamily="18" charset="0"/>
                      </a:rPr>
                      <m:t> </m:t>
                    </m:r>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b="0" i="1" smtClean="0">
                            <a:latin typeface="Cambria Math" panose="02040503050406030204" pitchFamily="18" charset="0"/>
                          </a:rPr>
                          <m:t>𝑘</m:t>
                        </m:r>
                      </m:sub>
                    </m:sSub>
                  </m:oMath>
                </a14:m>
                <a:r>
                  <a:rPr kumimoji="1" lang="zh-TW" altLang="en-US" dirty="0"/>
                  <a:t>，與之對應的目標值的第 </a:t>
                </a:r>
                <a14:m>
                  <m:oMath xmlns:m="http://schemas.openxmlformats.org/officeDocument/2006/math">
                    <m:r>
                      <a:rPr kumimoji="1" lang="en-US" altLang="zh-TW" i="1">
                        <a:latin typeface="Cambria Math" panose="02040503050406030204" pitchFamily="18" charset="0"/>
                      </a:rPr>
                      <m:t>𝑘</m:t>
                    </m:r>
                  </m:oMath>
                </a14:m>
                <a:r>
                  <a:rPr kumimoji="1" lang="zh-TW" altLang="en-US" dirty="0"/>
                  <a:t> 項為</a:t>
                </a:r>
                <a14:m>
                  <m:oMath xmlns:m="http://schemas.openxmlformats.org/officeDocument/2006/math">
                    <m:r>
                      <a:rPr kumimoji="1" lang="zh-TW" altLang="en-US" b="0" i="0" smtClean="0">
                        <a:latin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𝑡</m:t>
                        </m:r>
                      </m:e>
                      <m:sub>
                        <m:r>
                          <a:rPr kumimoji="1" lang="en-US" altLang="zh-TW" i="1">
                            <a:latin typeface="Cambria Math" panose="02040503050406030204" pitchFamily="18" charset="0"/>
                          </a:rPr>
                          <m:t>𝑘</m:t>
                        </m:r>
                      </m:sub>
                    </m:sSub>
                  </m:oMath>
                </a14:m>
                <a:r>
                  <a:rPr kumimoji="1" lang="zh-TW" altLang="en-US" dirty="0"/>
                  <a:t>。</a:t>
                </a:r>
                <a:endParaRPr kumimoji="1" lang="en-US" altLang="zh-TW" dirty="0"/>
              </a:p>
              <a:p>
                <a:pPr>
                  <a:buFont typeface="Wingdings" pitchFamily="2" charset="2"/>
                  <a:buChar char="n"/>
                </a:pPr>
                <a:r>
                  <a:rPr kumimoji="1" lang="zh-TW" altLang="en-US" dirty="0"/>
                  <a:t> 第 </a:t>
                </a:r>
                <a14:m>
                  <m:oMath xmlns:m="http://schemas.openxmlformats.org/officeDocument/2006/math">
                    <m:r>
                      <a:rPr kumimoji="1" lang="en-US" altLang="zh-TW" b="0" i="1" smtClean="0">
                        <a:latin typeface="Cambria Math" panose="02040503050406030204" pitchFamily="18" charset="0"/>
                      </a:rPr>
                      <m:t>𝑑</m:t>
                    </m:r>
                  </m:oMath>
                </a14:m>
                <a:r>
                  <a:rPr kumimoji="1" lang="zh-TW" altLang="en-US" dirty="0"/>
                  <a:t> 筆資料的損失為 </a:t>
                </a:r>
                <a14:m>
                  <m:oMath xmlns:m="http://schemas.openxmlformats.org/officeDocument/2006/math">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𝐸</m:t>
                        </m:r>
                      </m:e>
                      <m:sub>
                        <m:r>
                          <a:rPr kumimoji="1" lang="en-US" altLang="zh-TW" b="0" i="1" smtClean="0">
                            <a:latin typeface="Cambria Math" panose="02040503050406030204" pitchFamily="18" charset="0"/>
                          </a:rPr>
                          <m:t>𝑑</m:t>
                        </m:r>
                      </m:sub>
                    </m:sSub>
                  </m:oMath>
                </a14:m>
                <a:r>
                  <a:rPr kumimoji="1" lang="zh-TW" altLang="en-US" dirty="0"/>
                  <a:t>。</a:t>
                </a: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oMath>
                </a14:m>
                <a:r>
                  <a:rPr kumimoji="1" lang="zh-TW" altLang="en-US" dirty="0">
                    <a:latin typeface="Cambria Math" panose="02040503050406030204" pitchFamily="18" charset="0"/>
                  </a:rPr>
                  <a:t> 公式為：</a:t>
                </a:r>
                <a:endParaRPr kumimoji="1" lang="en-US" altLang="zh-TW"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r>
                        <a:rPr kumimoji="1" lang="en-US" altLang="zh-TW" b="0" i="0" smtClean="0">
                          <a:latin typeface="Cambria Math" panose="02040503050406030204" pitchFamily="18" charset="0"/>
                        </a:rPr>
                        <m:t>=</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1</m:t>
                          </m:r>
                        </m:num>
                        <m:den>
                          <m:r>
                            <a:rPr kumimoji="1" lang="en-US" altLang="zh-TW" b="0" i="1" smtClean="0">
                              <a:latin typeface="Cambria Math" panose="02040503050406030204" pitchFamily="18" charset="0"/>
                            </a:rPr>
                            <m:t>2</m:t>
                          </m:r>
                        </m:den>
                      </m:f>
                      <m:nary>
                        <m:naryPr>
                          <m:chr m:val="∑"/>
                          <m:supHide m:val="on"/>
                          <m:ctrlPr>
                            <a:rPr kumimoji="1" lang="en-US" altLang="zh-TW" b="0"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𝑘</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𝑜𝑢𝑡𝑝𝑢𝑡𝑠</m:t>
                          </m:r>
                        </m:sub>
                        <m:sup/>
                        <m:e>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𝑘</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𝑘</m:t>
                                  </m:r>
                                </m:sub>
                              </m:sSub>
                              <m:r>
                                <a:rPr kumimoji="1" lang="en-US" altLang="zh-TW" b="0" i="1" smtClean="0">
                                  <a:latin typeface="Cambria Math" panose="02040503050406030204" pitchFamily="18" charset="0"/>
                                </a:rPr>
                                <m:t>)</m:t>
                              </m:r>
                            </m:e>
                            <m:sup>
                              <m:r>
                                <a:rPr kumimoji="1" lang="en-US" altLang="zh-TW" b="0" i="1" smtClean="0">
                                  <a:latin typeface="Cambria Math" panose="02040503050406030204" pitchFamily="18" charset="0"/>
                                </a:rPr>
                                <m:t>2</m:t>
                              </m:r>
                            </m:sup>
                          </m:sSup>
                        </m:e>
                      </m:nary>
                    </m:oMath>
                  </m:oMathPara>
                </a14:m>
                <a:endParaRPr kumimoji="1" lang="en-US" altLang="zh-TW" dirty="0"/>
              </a:p>
              <a:p>
                <a:pPr>
                  <a:buFont typeface="Wingdings" pitchFamily="2" charset="2"/>
                  <a:buChar char="n"/>
                </a:pPr>
                <a:r>
                  <a:rPr kumimoji="1" lang="zh-TW" altLang="en-US" dirty="0"/>
                  <a:t>對神經元 </a:t>
                </a:r>
                <a14:m>
                  <m:oMath xmlns:m="http://schemas.openxmlformats.org/officeDocument/2006/math">
                    <m:r>
                      <a:rPr kumimoji="1" lang="en-US" altLang="zh-TW" i="1">
                        <a:latin typeface="Cambria Math" panose="02040503050406030204" pitchFamily="18" charset="0"/>
                      </a:rPr>
                      <m:t>𝑞</m:t>
                    </m:r>
                  </m:oMath>
                </a14:m>
                <a:r>
                  <a:rPr kumimoji="1" lang="zh-TW" altLang="en-US" dirty="0"/>
                  <a:t> 來說，前層第 </a:t>
                </a:r>
                <a14:m>
                  <m:oMath xmlns:m="http://schemas.openxmlformats.org/officeDocument/2006/math">
                    <m:r>
                      <a:rPr kumimoji="1" lang="en-US" altLang="zh-TW" b="0" i="1" smtClean="0">
                        <a:latin typeface="Cambria Math" panose="02040503050406030204" pitchFamily="18" charset="0"/>
                      </a:rPr>
                      <m:t>𝑝</m:t>
                    </m:r>
                  </m:oMath>
                </a14:m>
                <a:r>
                  <a:rPr kumimoji="1" lang="zh-TW" altLang="en-US" dirty="0"/>
                  <a:t> 個神經元指向 </a:t>
                </a:r>
                <a14:m>
                  <m:oMath xmlns:m="http://schemas.openxmlformats.org/officeDocument/2006/math">
                    <m:r>
                      <a:rPr kumimoji="1" lang="en-US" altLang="zh-TW" i="1">
                        <a:latin typeface="Cambria Math" panose="02040503050406030204" pitchFamily="18" charset="0"/>
                      </a:rPr>
                      <m:t>𝑞</m:t>
                    </m:r>
                  </m:oMath>
                </a14:m>
                <a:r>
                  <a:rPr kumimoji="1" lang="zh-TW" altLang="en-US" dirty="0"/>
                  <a:t> 之權重為 </a:t>
                </a:r>
                <a14:m>
                  <m:oMath xmlns:m="http://schemas.openxmlformats.org/officeDocument/2006/math">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𝑤</m:t>
                        </m:r>
                      </m:e>
                      <m:sub>
                        <m:r>
                          <a:rPr kumimoji="1" lang="en-US" altLang="zh-TW" b="0" i="1" smtClean="0">
                            <a:latin typeface="Cambria Math" panose="02040503050406030204" pitchFamily="18" charset="0"/>
                          </a:rPr>
                          <m:t>𝑝𝑞</m:t>
                        </m:r>
                      </m:sub>
                    </m:sSub>
                  </m:oMath>
                </a14:m>
                <a:r>
                  <a:rPr kumimoji="1" lang="zh-TW" altLang="en-US" dirty="0"/>
                  <a:t>。</a:t>
                </a:r>
                <a:endParaRPr kumimoji="1" lang="en-US" altLang="zh-TW" dirty="0"/>
              </a:p>
              <a:p>
                <a:pPr>
                  <a:buFont typeface="Wingdings" pitchFamily="2" charset="2"/>
                  <a:buChar char="n"/>
                </a:pPr>
                <a:r>
                  <a:rPr kumimoji="1" lang="zh-TW" altLang="en-US" dirty="0"/>
                  <a:t>對神經元 </a:t>
                </a:r>
                <a14:m>
                  <m:oMath xmlns:m="http://schemas.openxmlformats.org/officeDocument/2006/math">
                    <m:r>
                      <a:rPr kumimoji="1" lang="en-US" altLang="zh-TW" b="0" i="1" smtClean="0">
                        <a:latin typeface="Cambria Math" panose="02040503050406030204" pitchFamily="18" charset="0"/>
                      </a:rPr>
                      <m:t>𝑝</m:t>
                    </m:r>
                  </m:oMath>
                </a14:m>
                <a:r>
                  <a:rPr kumimoji="1" lang="zh-TW" altLang="en-US" dirty="0"/>
                  <a:t> 來說，</a:t>
                </a:r>
                <a14:m>
                  <m:oMath xmlns:m="http://schemas.openxmlformats.org/officeDocument/2006/math">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b="0" i="1" smtClean="0">
                            <a:latin typeface="Cambria Math" panose="02040503050406030204" pitchFamily="18" charset="0"/>
                          </a:rPr>
                          <m:t>𝑝</m:t>
                        </m:r>
                      </m:sub>
                    </m:sSub>
                  </m:oMath>
                </a14:m>
                <a:r>
                  <a:rPr kumimoji="1" lang="zh-TW" altLang="en-US" dirty="0"/>
                  <a:t> 是指此神經元 </a:t>
                </a:r>
                <a14:m>
                  <m:oMath xmlns:m="http://schemas.openxmlformats.org/officeDocument/2006/math">
                    <m:r>
                      <a:rPr kumimoji="1" lang="en-US" altLang="zh-TW" i="1">
                        <a:latin typeface="Cambria Math" panose="02040503050406030204" pitchFamily="18" charset="0"/>
                      </a:rPr>
                      <m:t>𝑝</m:t>
                    </m:r>
                  </m:oMath>
                </a14:m>
                <a:r>
                  <a:rPr kumimoji="1" lang="zh-TW" altLang="en-US" dirty="0"/>
                  <a:t> （經過非線性激活函數後）的輸出值。</a:t>
                </a:r>
                <a:endParaRPr kumimoji="1" lang="en-US" altLang="zh-TW" dirty="0"/>
              </a:p>
            </p:txBody>
          </p:sp>
        </mc:Choice>
        <mc:Fallback xmlns="">
          <p:sp>
            <p:nvSpPr>
              <p:cNvPr id="3" name="內容版面配置區 2">
                <a:extLst>
                  <a:ext uri="{FF2B5EF4-FFF2-40B4-BE49-F238E27FC236}">
                    <a16:creationId xmlns:a16="http://schemas.microsoft.com/office/drawing/2014/main" id="{6194DA0D-D9A6-D1FA-6EF1-B85349ED3BA8}"/>
                  </a:ext>
                </a:extLst>
              </p:cNvPr>
              <p:cNvSpPr>
                <a:spLocks noGrp="1" noRot="1" noChangeAspect="1" noMove="1" noResize="1" noEditPoints="1" noAdjustHandles="1" noChangeArrowheads="1" noChangeShapeType="1" noTextEdit="1"/>
              </p:cNvSpPr>
              <p:nvPr>
                <p:ph idx="1"/>
              </p:nvPr>
            </p:nvSpPr>
            <p:spPr>
              <a:xfrm>
                <a:off x="1097280" y="2015602"/>
                <a:ext cx="10058400" cy="4338638"/>
              </a:xfrm>
              <a:blipFill>
                <a:blip r:embed="rId2"/>
                <a:stretch>
                  <a:fillRect l="-1765" t="-87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910824B-7497-891C-0087-794D4B73F5D1}"/>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CFD34E4B-6051-BA95-690B-E421D764699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144003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BF7BB5-426E-A0C8-465A-BE3E6001EA8F}"/>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36EC963-B987-4AFF-0CF3-EC9448B25023}"/>
                  </a:ext>
                </a:extLst>
              </p:cNvPr>
              <p:cNvSpPr>
                <a:spLocks noGrp="1"/>
              </p:cNvSpPr>
              <p:nvPr>
                <p:ph idx="1"/>
              </p:nvPr>
            </p:nvSpPr>
            <p:spPr>
              <a:xfrm>
                <a:off x="1097280" y="2108201"/>
                <a:ext cx="10058400" cy="4107404"/>
              </a:xfrm>
            </p:spPr>
            <p:txBody>
              <a:bodyPr>
                <a:normAutofit/>
              </a:bodyPr>
              <a:lstStyle/>
              <a:p>
                <a:pPr>
                  <a:buFont typeface="Wingdings" pitchFamily="2" charset="2"/>
                  <a:buChar char="n"/>
                </a:pPr>
                <a:r>
                  <a:rPr kumimoji="1" lang="zh-TW" altLang="en-US" dirty="0"/>
                  <a:t>對神經元 </a:t>
                </a:r>
                <a14:m>
                  <m:oMath xmlns:m="http://schemas.openxmlformats.org/officeDocument/2006/math">
                    <m:r>
                      <a:rPr kumimoji="1" lang="en-US" altLang="zh-TW" i="1">
                        <a:latin typeface="Cambria Math" panose="02040503050406030204" pitchFamily="18" charset="0"/>
                      </a:rPr>
                      <m:t>𝑞</m:t>
                    </m:r>
                  </m:oMath>
                </a14:m>
                <a:r>
                  <a:rPr kumimoji="1" lang="zh-TW" altLang="en-US" dirty="0"/>
                  <a:t> 來說，</a:t>
                </a: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r>
                      <a:rPr kumimoji="1" lang="zh-TW" altLang="en-US">
                        <a:latin typeface="Cambria Math" panose="02040503050406030204" pitchFamily="18" charset="0"/>
                      </a:rPr>
                      <m:t> </m:t>
                    </m:r>
                  </m:oMath>
                </a14:m>
                <a:r>
                  <a:rPr kumimoji="1" lang="zh-TW" altLang="en-US" dirty="0"/>
                  <a:t>為前層所有神經元輸出值的加權和。</a:t>
                </a: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oMath>
                </a14:m>
                <a:r>
                  <a:rPr kumimoji="1" lang="zh-TW" altLang="en-US" i="1" dirty="0">
                    <a:latin typeface="Cambria Math" panose="02040503050406030204" pitchFamily="18" charset="0"/>
                  </a:rPr>
                  <a:t> </a:t>
                </a:r>
                <a:r>
                  <a:rPr kumimoji="1" lang="zh-TW" altLang="en-US" dirty="0">
                    <a:latin typeface="Cambria Math" panose="02040503050406030204" pitchFamily="18" charset="0"/>
                  </a:rPr>
                  <a:t>的公式為：</a:t>
                </a:r>
                <a:endParaRPr kumimoji="1" lang="en-US" altLang="zh-TW"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𝑟</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𝑟𝑞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𝑟</m:t>
                              </m:r>
                            </m:sub>
                          </m:sSub>
                        </m:e>
                      </m:nary>
                    </m:oMath>
                  </m:oMathPara>
                </a14:m>
                <a:endParaRPr kumimoji="1" lang="en-US" altLang="zh-TW" dirty="0"/>
              </a:p>
              <a:p>
                <a:pPr marL="0" indent="0">
                  <a:buNone/>
                </a:pPr>
                <a:r>
                  <a:rPr kumimoji="1" lang="zh-TW" altLang="en-US" dirty="0"/>
                  <a:t>則：</a:t>
                </a:r>
                <a:endParaRPr kumimoji="1" lang="en-US" altLang="zh-TW" dirty="0"/>
              </a:p>
              <a:p>
                <a:pPr marL="0" indent="0">
                  <a:buNone/>
                </a:pPr>
                <a14:m>
                  <m:oMathPara xmlns:m="http://schemas.openxmlformats.org/officeDocument/2006/math">
                    <m:oMathParaPr>
                      <m:jc m:val="centerGroup"/>
                    </m:oMathParaPr>
                    <m:oMath xmlns:m="http://schemas.openxmlformats.org/officeDocument/2006/math">
                      <m:f>
                        <m:fPr>
                          <m:ctrlPr>
                            <a:rPr kumimoji="1" lang="en-US" altLang="zh-TW" i="1" smtClean="0">
                              <a:latin typeface="Cambria Math" panose="02040503050406030204" pitchFamily="18" charset="0"/>
                            </a:rPr>
                          </m:ctrlPr>
                        </m:fPr>
                        <m:num>
                          <m:r>
                            <a:rPr kumimoji="1" lang="en-US" altLang="zh-TW" i="1" smtClean="0">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𝑛𝑒𝑡</m:t>
                              </m:r>
                            </m:e>
                            <m:sub>
                              <m:r>
                                <a:rPr kumimoji="1" lang="en-US" altLang="zh-TW" i="1">
                                  <a:latin typeface="Cambria Math" panose="02040503050406030204" pitchFamily="18" charset="0"/>
                                </a:rPr>
                                <m:t>𝑞</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𝑛𝑒𝑡</m:t>
                              </m:r>
                            </m:e>
                            <m:sub>
                              <m:r>
                                <a:rPr kumimoji="1" lang="en-US" altLang="zh-TW" b="0" i="1" smtClean="0">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den>
                      </m:f>
                    </m:oMath>
                    <m:oMath xmlns:m="http://schemas.openxmlformats.org/officeDocument/2006/math">
                      <m:r>
                        <a:rPr kumimoji="1" lang="zh-TW" altLang="en-US" b="0" i="0" smtClean="0">
                          <a:latin typeface="Cambria Math" panose="02040503050406030204" pitchFamily="18" charset="0"/>
                        </a:rPr>
                        <m:t>            </m:t>
                      </m:r>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den>
                      </m:f>
                      <m:nary>
                        <m:naryPr>
                          <m:chr m:val="∑"/>
                          <m:supHide m:val="on"/>
                          <m:ctrlPr>
                            <a:rPr kumimoji="1" lang="en-US" altLang="zh-TW"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𝑟</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𝑟𝑞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𝑟</m:t>
                              </m:r>
                            </m:sub>
                          </m:sSub>
                        </m:e>
                      </m:nary>
                    </m:oMath>
                  </m:oMathPara>
                </a14:m>
                <a:endParaRPr kumimoji="1" lang="en-US" altLang="zh-TW" dirty="0"/>
              </a:p>
            </p:txBody>
          </p:sp>
        </mc:Choice>
        <mc:Fallback xmlns="">
          <p:sp>
            <p:nvSpPr>
              <p:cNvPr id="3" name="內容版面配置區 2">
                <a:extLst>
                  <a:ext uri="{FF2B5EF4-FFF2-40B4-BE49-F238E27FC236}">
                    <a16:creationId xmlns:a16="http://schemas.microsoft.com/office/drawing/2014/main" id="{936EC963-B987-4AFF-0CF3-EC9448B25023}"/>
                  </a:ext>
                </a:extLst>
              </p:cNvPr>
              <p:cNvSpPr>
                <a:spLocks noGrp="1" noRot="1" noChangeAspect="1" noMove="1" noResize="1" noEditPoints="1" noAdjustHandles="1" noChangeArrowheads="1" noChangeShapeType="1" noTextEdit="1"/>
              </p:cNvSpPr>
              <p:nvPr>
                <p:ph idx="1"/>
              </p:nvPr>
            </p:nvSpPr>
            <p:spPr>
              <a:xfrm>
                <a:off x="1097280" y="2108201"/>
                <a:ext cx="10058400" cy="4107404"/>
              </a:xfrm>
              <a:blipFill>
                <a:blip r:embed="rId2"/>
                <a:stretch>
                  <a:fillRect l="-1892" t="-12654" r="-757" b="-4197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CEFE569F-3858-85A0-7C00-746B0488AC1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8BE0EC4-D82E-4E70-080A-E04B1C8D42B5}"/>
              </a:ext>
            </a:extLst>
          </p:cNvPr>
          <p:cNvSpPr>
            <a:spLocks noGrp="1"/>
          </p:cNvSpPr>
          <p:nvPr>
            <p:ph type="sldNum" sz="quarter" idx="12"/>
          </p:nvPr>
        </p:nvSpPr>
        <p:spPr/>
        <p:txBody>
          <a:bodyPr/>
          <a:lstStyle/>
          <a:p>
            <a:r>
              <a:rPr lang="en-US" altLang="zh-TW" dirty="0"/>
              <a:t>Deep Learning</a:t>
            </a:r>
          </a:p>
        </p:txBody>
      </p:sp>
      <p:cxnSp>
        <p:nvCxnSpPr>
          <p:cNvPr id="9" name="直線箭頭接點 8">
            <a:extLst>
              <a:ext uri="{FF2B5EF4-FFF2-40B4-BE49-F238E27FC236}">
                <a16:creationId xmlns:a16="http://schemas.microsoft.com/office/drawing/2014/main" id="{9CA38EA4-2D24-BB63-AC0A-AEEB737998BA}"/>
              </a:ext>
            </a:extLst>
          </p:cNvPr>
          <p:cNvCxnSpPr>
            <a:cxnSpLocks/>
          </p:cNvCxnSpPr>
          <p:nvPr/>
        </p:nvCxnSpPr>
        <p:spPr>
          <a:xfrm flipH="1">
            <a:off x="6979534" y="4328932"/>
            <a:ext cx="1238892" cy="393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24EFF1E0-E8D5-4196-96A7-B23693576B87}"/>
              </a:ext>
            </a:extLst>
          </p:cNvPr>
          <p:cNvSpPr txBox="1"/>
          <p:nvPr/>
        </p:nvSpPr>
        <p:spPr>
          <a:xfrm>
            <a:off x="8218426" y="4097699"/>
            <a:ext cx="1229824" cy="369332"/>
          </a:xfrm>
          <a:prstGeom prst="rect">
            <a:avLst/>
          </a:prstGeom>
          <a:noFill/>
        </p:spPr>
        <p:txBody>
          <a:bodyPr wrap="none" rtlCol="0">
            <a:spAutoFit/>
          </a:bodyPr>
          <a:lstStyle/>
          <a:p>
            <a:r>
              <a:rPr kumimoji="1" lang="en-US" altLang="zh-TW" dirty="0"/>
              <a:t>Chain Rule</a:t>
            </a:r>
            <a:endParaRPr kumimoji="1" lang="zh-TW" altLang="en-US" dirty="0"/>
          </a:p>
        </p:txBody>
      </p:sp>
    </p:spTree>
    <p:extLst>
      <p:ext uri="{BB962C8B-B14F-4D97-AF65-F5344CB8AC3E}">
        <p14:creationId xmlns:p14="http://schemas.microsoft.com/office/powerpoint/2010/main" val="1425993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71FC6E-4979-8A5E-DEEC-57816B05FBA4}"/>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BD7EBC0-EFAA-7B12-67CE-0E0158821BD9}"/>
                  </a:ext>
                </a:extLst>
              </p:cNvPr>
              <p:cNvSpPr>
                <a:spLocks noGrp="1"/>
              </p:cNvSpPr>
              <p:nvPr>
                <p:ph idx="1"/>
              </p:nvPr>
            </p:nvSpPr>
            <p:spPr>
              <a:xfrm>
                <a:off x="1097280" y="2108201"/>
                <a:ext cx="10058400" cy="4153703"/>
              </a:xfrm>
            </p:spPr>
            <p:txBody>
              <a:bodyPr>
                <a:normAutofit/>
              </a:bodyPr>
              <a:lstStyle/>
              <a:p>
                <a:pPr marL="0" indent="0">
                  <a:buNone/>
                </a:pPr>
                <a14:m>
                  <m:oMathPara xmlns:m="http://schemas.openxmlformats.org/officeDocument/2006/math">
                    <m:oMathParaPr>
                      <m:jc m:val="left"/>
                    </m:oMathParaPr>
                    <m:oMath xmlns:m="http://schemas.openxmlformats.org/officeDocument/2006/math">
                      <m:f>
                        <m:fPr>
                          <m:ctrlPr>
                            <a:rPr kumimoji="1" lang="en-US" altLang="zh-TW" i="1" smtClean="0">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den>
                      </m:f>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𝑟</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𝑟𝑞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𝑟</m:t>
                              </m:r>
                            </m:sub>
                          </m:sSub>
                        </m:e>
                      </m:nary>
                    </m:oMath>
                  </m:oMathPara>
                </a14:m>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nary>
                        <m:naryPr>
                          <m:chr m:val="∑"/>
                          <m:supHide m:val="on"/>
                          <m:ctrlPr>
                            <a:rPr kumimoji="1" lang="en-US" altLang="zh-TW"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𝑟</m:t>
                          </m:r>
                        </m:sub>
                        <m:sup/>
                        <m:e>
                          <m:f>
                            <m:fPr>
                              <m:ctrlPr>
                                <a:rPr kumimoji="1" lang="en-US" altLang="zh-TW" i="1" smtClean="0">
                                  <a:solidFill>
                                    <a:srgbClr val="FF0000"/>
                                  </a:solidFill>
                                  <a:latin typeface="Cambria Math" panose="02040503050406030204" pitchFamily="18" charset="0"/>
                                </a:rPr>
                              </m:ctrlPr>
                            </m:fPr>
                            <m:num>
                              <m:r>
                                <a:rPr kumimoji="1" lang="en-US" altLang="zh-TW" i="1">
                                  <a:solidFill>
                                    <a:srgbClr val="FF0000"/>
                                  </a:solidFill>
                                  <a:latin typeface="Cambria Math" panose="02040503050406030204" pitchFamily="18" charset="0"/>
                                  <a:ea typeface="Cambria Math" panose="02040503050406030204" pitchFamily="18" charset="0"/>
                                </a:rPr>
                                <m:t>𝜕</m:t>
                              </m:r>
                            </m:num>
                            <m:den>
                              <m:r>
                                <a:rPr kumimoji="1" lang="en-US" altLang="zh-TW" i="1">
                                  <a:solidFill>
                                    <a:srgbClr val="FF0000"/>
                                  </a:solidFill>
                                  <a:latin typeface="Cambria Math" panose="02040503050406030204" pitchFamily="18" charset="0"/>
                                  <a:ea typeface="Cambria Math" panose="02040503050406030204" pitchFamily="18" charset="0"/>
                                </a:rPr>
                                <m:t>𝜕</m:t>
                              </m:r>
                              <m:sSub>
                                <m:sSubPr>
                                  <m:ctrlPr>
                                    <a:rPr kumimoji="1" lang="en-US" altLang="zh-TW" i="1">
                                      <a:solidFill>
                                        <a:srgbClr val="FF0000"/>
                                      </a:solidFill>
                                      <a:latin typeface="Cambria Math" panose="02040503050406030204" pitchFamily="18" charset="0"/>
                                    </a:rPr>
                                  </m:ctrlPr>
                                </m:sSubPr>
                                <m:e>
                                  <m:r>
                                    <a:rPr kumimoji="1" lang="en-US" altLang="zh-TW" i="1">
                                      <a:solidFill>
                                        <a:srgbClr val="FF0000"/>
                                      </a:solidFill>
                                      <a:latin typeface="Cambria Math" panose="02040503050406030204" pitchFamily="18" charset="0"/>
                                    </a:rPr>
                                    <m:t>𝑤</m:t>
                                  </m:r>
                                </m:e>
                                <m:sub>
                                  <m:r>
                                    <a:rPr kumimoji="1" lang="en-US" altLang="zh-TW" i="1">
                                      <a:solidFill>
                                        <a:srgbClr val="FF0000"/>
                                      </a:solidFill>
                                      <a:latin typeface="Cambria Math" panose="02040503050406030204" pitchFamily="18" charset="0"/>
                                    </a:rPr>
                                    <m:t>𝑝𝑞</m:t>
                                  </m:r>
                                </m:sub>
                              </m:sSub>
                            </m:den>
                          </m:f>
                          <m:r>
                            <a:rPr kumimoji="1" lang="en-US" altLang="zh-TW" b="0" i="1" smtClean="0">
                              <a:solidFill>
                                <a:srgbClr val="FF0000"/>
                              </a:solidFill>
                              <a:latin typeface="Cambria Math" panose="02040503050406030204" pitchFamily="18" charset="0"/>
                            </a:rPr>
                            <m:t>(</m:t>
                          </m:r>
                          <m:sSub>
                            <m:sSubPr>
                              <m:ctrlPr>
                                <a:rPr kumimoji="1" lang="en-US" altLang="zh-TW" i="1">
                                  <a:solidFill>
                                    <a:srgbClr val="FF0000"/>
                                  </a:solidFill>
                                  <a:latin typeface="Cambria Math" panose="02040503050406030204" pitchFamily="18" charset="0"/>
                                </a:rPr>
                              </m:ctrlPr>
                            </m:sSubPr>
                            <m:e>
                              <m:r>
                                <a:rPr kumimoji="1" lang="en-US" altLang="zh-TW" i="1">
                                  <a:solidFill>
                                    <a:srgbClr val="FF0000"/>
                                  </a:solidFill>
                                  <a:latin typeface="Cambria Math" panose="02040503050406030204" pitchFamily="18" charset="0"/>
                                </a:rPr>
                                <m:t>𝑤</m:t>
                              </m:r>
                            </m:e>
                            <m:sub>
                              <m:r>
                                <a:rPr kumimoji="1" lang="en-US" altLang="zh-TW" i="1">
                                  <a:solidFill>
                                    <a:srgbClr val="FF0000"/>
                                  </a:solidFill>
                                  <a:latin typeface="Cambria Math" panose="02040503050406030204" pitchFamily="18" charset="0"/>
                                </a:rPr>
                                <m:t>𝑟𝑞</m:t>
                              </m:r>
                            </m:sub>
                          </m:sSub>
                          <m:sSub>
                            <m:sSubPr>
                              <m:ctrlPr>
                                <a:rPr kumimoji="1" lang="en-US" altLang="zh-TW" i="1">
                                  <a:solidFill>
                                    <a:srgbClr val="FF0000"/>
                                  </a:solidFill>
                                  <a:latin typeface="Cambria Math" panose="02040503050406030204" pitchFamily="18" charset="0"/>
                                </a:rPr>
                              </m:ctrlPr>
                            </m:sSubPr>
                            <m:e>
                              <m:r>
                                <a:rPr kumimoji="1" lang="en-US" altLang="zh-TW" i="1">
                                  <a:solidFill>
                                    <a:srgbClr val="FF0000"/>
                                  </a:solidFill>
                                  <a:latin typeface="Cambria Math" panose="02040503050406030204" pitchFamily="18" charset="0"/>
                                </a:rPr>
                                <m:t>𝑜</m:t>
                              </m:r>
                            </m:e>
                            <m:sub>
                              <m:r>
                                <a:rPr kumimoji="1" lang="en-US" altLang="zh-TW" i="1">
                                  <a:solidFill>
                                    <a:srgbClr val="FF0000"/>
                                  </a:solidFill>
                                  <a:latin typeface="Cambria Math" panose="02040503050406030204" pitchFamily="18" charset="0"/>
                                </a:rPr>
                                <m:t>𝑟</m:t>
                              </m:r>
                            </m:sub>
                          </m:sSub>
                          <m:r>
                            <a:rPr kumimoji="1" lang="en-US" altLang="zh-TW" b="0" i="1" smtClean="0">
                              <a:solidFill>
                                <a:srgbClr val="FF0000"/>
                              </a:solidFill>
                              <a:latin typeface="Cambria Math" panose="02040503050406030204" pitchFamily="18" charset="0"/>
                            </a:rPr>
                            <m:t>)</m:t>
                          </m:r>
                        </m:e>
                      </m:nary>
                    </m:oMath>
                  </m:oMathPara>
                </a14:m>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b="0" i="1" smtClean="0">
                              <a:latin typeface="Cambria Math" panose="02040503050406030204" pitchFamily="18" charset="0"/>
                            </a:rPr>
                            <m:t>𝑝</m:t>
                          </m:r>
                        </m:sub>
                      </m:sSub>
                    </m:oMath>
                  </m:oMathPara>
                </a14:m>
                <a:endParaRPr kumimoji="1" lang="en-US" altLang="zh-TW" dirty="0"/>
              </a:p>
            </p:txBody>
          </p:sp>
        </mc:Choice>
        <mc:Fallback xmlns="">
          <p:sp>
            <p:nvSpPr>
              <p:cNvPr id="3" name="內容版面配置區 2">
                <a:extLst>
                  <a:ext uri="{FF2B5EF4-FFF2-40B4-BE49-F238E27FC236}">
                    <a16:creationId xmlns:a16="http://schemas.microsoft.com/office/drawing/2014/main" id="{FBD7EBC0-EFAA-7B12-67CE-0E0158821BD9}"/>
                  </a:ext>
                </a:extLst>
              </p:cNvPr>
              <p:cNvSpPr>
                <a:spLocks noGrp="1" noRot="1" noChangeAspect="1" noMove="1" noResize="1" noEditPoints="1" noAdjustHandles="1" noChangeArrowheads="1" noChangeShapeType="1" noTextEdit="1"/>
              </p:cNvSpPr>
              <p:nvPr>
                <p:ph idx="1"/>
              </p:nvPr>
            </p:nvSpPr>
            <p:spPr>
              <a:xfrm>
                <a:off x="1097280" y="2108201"/>
                <a:ext cx="10058400" cy="4153703"/>
              </a:xfrm>
              <a:blipFill>
                <a:blip r:embed="rId2"/>
                <a:stretch>
                  <a:fillRect l="-1135" t="-31498"/>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93D85ADC-839B-96C2-C3AE-B18BC6610D2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AF14C2C2-D43A-83EB-EDC9-726C7C58DD7D}"/>
              </a:ext>
            </a:extLst>
          </p:cNvPr>
          <p:cNvSpPr>
            <a:spLocks noGrp="1"/>
          </p:cNvSpPr>
          <p:nvPr>
            <p:ph type="sldNum" sz="quarter" idx="12"/>
          </p:nvPr>
        </p:nvSpPr>
        <p:spPr/>
        <p:txBody>
          <a:bodyPr/>
          <a:lstStyle/>
          <a:p>
            <a:r>
              <a:rPr lang="en-US" altLang="zh-TW" dirty="0"/>
              <a:t>Deep Learning</a:t>
            </a:r>
          </a:p>
        </p:txBody>
      </p:sp>
      <p:cxnSp>
        <p:nvCxnSpPr>
          <p:cNvPr id="6" name="直線箭頭接點 5">
            <a:extLst>
              <a:ext uri="{FF2B5EF4-FFF2-40B4-BE49-F238E27FC236}">
                <a16:creationId xmlns:a16="http://schemas.microsoft.com/office/drawing/2014/main" id="{94644C14-75CE-14EB-B066-7BFAF06C4459}"/>
              </a:ext>
            </a:extLst>
          </p:cNvPr>
          <p:cNvCxnSpPr>
            <a:cxnSpLocks/>
          </p:cNvCxnSpPr>
          <p:nvPr/>
        </p:nvCxnSpPr>
        <p:spPr>
          <a:xfrm flipH="1">
            <a:off x="4514127" y="3429000"/>
            <a:ext cx="1284789" cy="101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A05F3A7B-79BA-3EBE-1119-5FA43CD8AA3E}"/>
                  </a:ext>
                </a:extLst>
              </p:cNvPr>
              <p:cNvSpPr txBox="1"/>
              <p:nvPr/>
            </p:nvSpPr>
            <p:spPr>
              <a:xfrm>
                <a:off x="5918436" y="3059668"/>
                <a:ext cx="2438486" cy="667747"/>
              </a:xfrm>
              <a:prstGeom prst="rect">
                <a:avLst/>
              </a:prstGeom>
              <a:noFill/>
            </p:spPr>
            <p:txBody>
              <a:bodyPr wrap="square" rtlCol="0">
                <a:spAutoFit/>
              </a:bodyPr>
              <a:lstStyle/>
              <a:p>
                <a:r>
                  <a:rPr kumimoji="1" lang="en-US" altLang="zh-TW" dirty="0"/>
                  <a:t>If </a:t>
                </a:r>
                <a14:m>
                  <m:oMath xmlns:m="http://schemas.openxmlformats.org/officeDocument/2006/math">
                    <m:r>
                      <a:rPr kumimoji="1" lang="en-US" altLang="zh-TW" b="0" i="1" smtClean="0">
                        <a:latin typeface="Cambria Math" panose="02040503050406030204" pitchFamily="18" charset="0"/>
                      </a:rPr>
                      <m:t>𝑟</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𝑝</m:t>
                    </m:r>
                  </m:oMath>
                </a14:m>
                <a:r>
                  <a:rPr kumimoji="1" lang="en-US" altLang="zh-TW" dirty="0"/>
                  <a:t>, it becomes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oMath>
                </a14:m>
                <a:r>
                  <a:rPr kumimoji="1" lang="en-US" altLang="zh-TW" dirty="0"/>
                  <a:t>. If </a:t>
                </a:r>
                <a14:m>
                  <m:oMath xmlns:m="http://schemas.openxmlformats.org/officeDocument/2006/math">
                    <m:r>
                      <a:rPr kumimoji="1" lang="en-US" altLang="zh-TW" b="0" i="1" smtClean="0">
                        <a:latin typeface="Cambria Math" panose="02040503050406030204" pitchFamily="18" charset="0"/>
                      </a:rPr>
                      <m:t>𝑟</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𝑝</m:t>
                    </m:r>
                  </m:oMath>
                </a14:m>
                <a:r>
                  <a:rPr kumimoji="1" lang="en-US" altLang="zh-TW" dirty="0"/>
                  <a:t>, it becomes 0.</a:t>
                </a:r>
                <a:endParaRPr kumimoji="1" lang="zh-TW" altLang="en-US" dirty="0"/>
              </a:p>
            </p:txBody>
          </p:sp>
        </mc:Choice>
        <mc:Fallback xmlns="">
          <p:sp>
            <p:nvSpPr>
              <p:cNvPr id="11" name="文字方塊 10">
                <a:extLst>
                  <a:ext uri="{FF2B5EF4-FFF2-40B4-BE49-F238E27FC236}">
                    <a16:creationId xmlns:a16="http://schemas.microsoft.com/office/drawing/2014/main" id="{A05F3A7B-79BA-3EBE-1119-5FA43CD8AA3E}"/>
                  </a:ext>
                </a:extLst>
              </p:cNvPr>
              <p:cNvSpPr txBox="1">
                <a:spLocks noRot="1" noChangeAspect="1" noMove="1" noResize="1" noEditPoints="1" noAdjustHandles="1" noChangeArrowheads="1" noChangeShapeType="1" noTextEdit="1"/>
              </p:cNvSpPr>
              <p:nvPr/>
            </p:nvSpPr>
            <p:spPr>
              <a:xfrm>
                <a:off x="5918436" y="3059668"/>
                <a:ext cx="2438486" cy="667747"/>
              </a:xfrm>
              <a:prstGeom prst="rect">
                <a:avLst/>
              </a:prstGeom>
              <a:blipFill>
                <a:blip r:embed="rId3"/>
                <a:stretch>
                  <a:fillRect l="-2591" t="-3704" r="-1554" b="-12963"/>
                </a:stretch>
              </a:blipFill>
            </p:spPr>
            <p:txBody>
              <a:bodyPr/>
              <a:lstStyle/>
              <a:p>
                <a:r>
                  <a:rPr lang="zh-TW" altLang="en-US">
                    <a:noFill/>
                  </a:rPr>
                  <a:t> </a:t>
                </a:r>
              </a:p>
            </p:txBody>
          </p:sp>
        </mc:Fallback>
      </mc:AlternateContent>
      <p:cxnSp>
        <p:nvCxnSpPr>
          <p:cNvPr id="19" name="直線箭頭接點 18">
            <a:extLst>
              <a:ext uri="{FF2B5EF4-FFF2-40B4-BE49-F238E27FC236}">
                <a16:creationId xmlns:a16="http://schemas.microsoft.com/office/drawing/2014/main" id="{87FD7212-4314-EC8E-B962-5E5C1E090B06}"/>
              </a:ext>
            </a:extLst>
          </p:cNvPr>
          <p:cNvCxnSpPr>
            <a:cxnSpLocks/>
          </p:cNvCxnSpPr>
          <p:nvPr/>
        </p:nvCxnSpPr>
        <p:spPr>
          <a:xfrm flipH="1" flipV="1">
            <a:off x="2222339" y="4745620"/>
            <a:ext cx="1458410" cy="613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EAA0B72-9A2B-17E7-3604-03AF21186A99}"/>
                  </a:ext>
                </a:extLst>
              </p:cNvPr>
              <p:cNvSpPr txBox="1"/>
              <p:nvPr/>
            </p:nvSpPr>
            <p:spPr>
              <a:xfrm>
                <a:off x="3801221" y="4850755"/>
                <a:ext cx="4234429" cy="923330"/>
              </a:xfrm>
              <a:prstGeom prst="rect">
                <a:avLst/>
              </a:prstGeom>
              <a:noFill/>
            </p:spPr>
            <p:txBody>
              <a:bodyPr wrap="none" rtlCol="0">
                <a:spAutoFit/>
              </a:bodyPr>
              <a:lstStyle/>
              <a:p>
                <a:r>
                  <a:rPr kumimoji="1" lang="zh-TW" altLang="en-US" dirty="0"/>
                  <a:t>兩種情況需要考慮：</a:t>
                </a:r>
                <a:endParaRPr kumimoji="1" lang="en-US" altLang="zh-TW" dirty="0"/>
              </a:p>
              <a:p>
                <a:r>
                  <a:rPr kumimoji="1" lang="en-US" altLang="zh-TW" dirty="0"/>
                  <a:t>1.</a:t>
                </a:r>
                <a:r>
                  <a:rPr kumimoji="1" lang="zh-TW" altLang="en-US" dirty="0"/>
                  <a:t>若神經元 </a:t>
                </a:r>
                <a14:m>
                  <m:oMath xmlns:m="http://schemas.openxmlformats.org/officeDocument/2006/math">
                    <m:r>
                      <a:rPr kumimoji="1" lang="en-US" altLang="zh-TW" i="1">
                        <a:latin typeface="Cambria Math" panose="02040503050406030204" pitchFamily="18" charset="0"/>
                      </a:rPr>
                      <m:t>𝑞</m:t>
                    </m:r>
                  </m:oMath>
                </a14:m>
                <a:r>
                  <a:rPr kumimoji="1" lang="zh-TW" altLang="en-US" dirty="0"/>
                  <a:t> 是 </a:t>
                </a:r>
                <a:r>
                  <a:rPr kumimoji="1" lang="en-US" altLang="zh-TW" dirty="0"/>
                  <a:t>output</a:t>
                </a:r>
                <a:r>
                  <a:rPr kumimoji="1" lang="zh-TW" altLang="en-US" dirty="0"/>
                  <a:t> </a:t>
                </a:r>
                <a:r>
                  <a:rPr kumimoji="1" lang="en-US" altLang="zh-TW" dirty="0"/>
                  <a:t>layer</a:t>
                </a:r>
                <a:r>
                  <a:rPr kumimoji="1" lang="zh-TW" altLang="en-US" dirty="0"/>
                  <a:t> 的神經元？</a:t>
                </a:r>
                <a:endParaRPr kumimoji="1" lang="en-US" altLang="zh-TW" dirty="0"/>
              </a:p>
              <a:p>
                <a:r>
                  <a:rPr kumimoji="1" lang="en-US" altLang="zh-TW" dirty="0"/>
                  <a:t>2.</a:t>
                </a:r>
                <a:r>
                  <a:rPr kumimoji="1" lang="zh-TW" altLang="en-US" dirty="0"/>
                  <a:t> 若神經元 </a:t>
                </a:r>
                <a14:m>
                  <m:oMath xmlns:m="http://schemas.openxmlformats.org/officeDocument/2006/math">
                    <m:r>
                      <a:rPr kumimoji="1" lang="en-US" altLang="zh-TW" i="1">
                        <a:latin typeface="Cambria Math" panose="02040503050406030204" pitchFamily="18" charset="0"/>
                      </a:rPr>
                      <m:t>𝑞</m:t>
                    </m:r>
                  </m:oMath>
                </a14:m>
                <a:r>
                  <a:rPr kumimoji="1" lang="zh-TW" altLang="en-US" dirty="0"/>
                  <a:t> 是 </a:t>
                </a:r>
                <a:r>
                  <a:rPr kumimoji="1" lang="en-US" altLang="zh-TW" dirty="0"/>
                  <a:t>hidden</a:t>
                </a:r>
                <a:r>
                  <a:rPr kumimoji="1" lang="zh-TW" altLang="en-US" dirty="0"/>
                  <a:t> </a:t>
                </a:r>
                <a:r>
                  <a:rPr kumimoji="1" lang="en-US" altLang="zh-TW" dirty="0"/>
                  <a:t>layer</a:t>
                </a:r>
                <a:r>
                  <a:rPr kumimoji="1" lang="zh-TW" altLang="en-US" dirty="0"/>
                  <a:t> 的神經元？</a:t>
                </a:r>
                <a:endParaRPr kumimoji="1" lang="en-US" altLang="zh-TW" dirty="0"/>
              </a:p>
            </p:txBody>
          </p:sp>
        </mc:Choice>
        <mc:Fallback xmlns="">
          <p:sp>
            <p:nvSpPr>
              <p:cNvPr id="21" name="文字方塊 20">
                <a:extLst>
                  <a:ext uri="{FF2B5EF4-FFF2-40B4-BE49-F238E27FC236}">
                    <a16:creationId xmlns:a16="http://schemas.microsoft.com/office/drawing/2014/main" id="{5EAA0B72-9A2B-17E7-3604-03AF21186A99}"/>
                  </a:ext>
                </a:extLst>
              </p:cNvPr>
              <p:cNvSpPr txBox="1">
                <a:spLocks noRot="1" noChangeAspect="1" noMove="1" noResize="1" noEditPoints="1" noAdjustHandles="1" noChangeArrowheads="1" noChangeShapeType="1" noTextEdit="1"/>
              </p:cNvSpPr>
              <p:nvPr/>
            </p:nvSpPr>
            <p:spPr>
              <a:xfrm>
                <a:off x="3801221" y="4850755"/>
                <a:ext cx="4234429" cy="923330"/>
              </a:xfrm>
              <a:prstGeom prst="rect">
                <a:avLst/>
              </a:prstGeom>
              <a:blipFill>
                <a:blip r:embed="rId4"/>
                <a:stretch>
                  <a:fillRect l="-1198" t="-4110" r="-299" b="-958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01979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AF190F-1144-396E-2EA9-55078A5235A4}"/>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08FB9D8-4D0B-E2D3-4511-331750DB2315}"/>
                  </a:ext>
                </a:extLst>
              </p:cNvPr>
              <p:cNvSpPr>
                <a:spLocks noGrp="1"/>
              </p:cNvSpPr>
              <p:nvPr>
                <p:ph idx="1"/>
              </p:nvPr>
            </p:nvSpPr>
            <p:spPr/>
            <p:txBody>
              <a:bodyPr/>
              <a:lstStyle/>
              <a:p>
                <a:pPr marL="0" indent="0">
                  <a:buNone/>
                </a:pPr>
                <a:r>
                  <a:rPr kumimoji="1" lang="zh-TW" altLang="en-US" dirty="0">
                    <a:latin typeface="Cambria Math" panose="02040503050406030204" pitchFamily="18" charset="0"/>
                  </a:rPr>
                  <a:t>如果</a:t>
                </a:r>
                <a:r>
                  <a:rPr kumimoji="1" lang="zh-TW" altLang="en-US" dirty="0"/>
                  <a:t>神經元 </a:t>
                </a:r>
                <a14:m>
                  <m:oMath xmlns:m="http://schemas.openxmlformats.org/officeDocument/2006/math">
                    <m:r>
                      <a:rPr kumimoji="1" lang="en-US" altLang="zh-TW" i="1">
                        <a:latin typeface="Cambria Math" panose="02040503050406030204" pitchFamily="18" charset="0"/>
                      </a:rPr>
                      <m:t>𝑞</m:t>
                    </m:r>
                  </m:oMath>
                </a14:m>
                <a:r>
                  <a:rPr kumimoji="1" lang="zh-TW" altLang="en-US" dirty="0"/>
                  <a:t> 是 </a:t>
                </a:r>
                <a:r>
                  <a:rPr kumimoji="1" lang="en-US" altLang="zh-TW" dirty="0"/>
                  <a:t>output</a:t>
                </a:r>
                <a:r>
                  <a:rPr kumimoji="1" lang="zh-TW" altLang="en-US" dirty="0"/>
                  <a:t> </a:t>
                </a:r>
                <a:r>
                  <a:rPr kumimoji="1" lang="en-US" altLang="zh-TW" dirty="0"/>
                  <a:t>layer</a:t>
                </a:r>
                <a:r>
                  <a:rPr kumimoji="1" lang="zh-TW" altLang="en-US" dirty="0"/>
                  <a:t> 的神經元：</a:t>
                </a:r>
                <a:endParaRPr kumimoji="1" lang="en-US" altLang="zh-TW"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f>
                        <m:fPr>
                          <m:ctrlPr>
                            <a:rPr kumimoji="1" lang="en-US" altLang="zh-TW" i="1" smtClean="0">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i="1">
                                  <a:latin typeface="Cambria Math" panose="02040503050406030204" pitchFamily="18" charset="0"/>
                                </a:rPr>
                                <m:t>𝑞</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b="0" i="1" smtClean="0">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𝑛𝑒𝑡</m:t>
                              </m:r>
                            </m:e>
                            <m:sub>
                              <m:r>
                                <a:rPr kumimoji="1" lang="en-US" altLang="zh-TW" i="1">
                                  <a:latin typeface="Cambria Math" panose="02040503050406030204" pitchFamily="18" charset="0"/>
                                </a:rPr>
                                <m:t>𝑞</m:t>
                              </m:r>
                            </m:sub>
                          </m:sSub>
                        </m:den>
                      </m:f>
                    </m:oMath>
                  </m:oMathPara>
                </a14:m>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en>
                      </m:f>
                      <m:d>
                        <m:dPr>
                          <m:ctrlPr>
                            <a:rPr kumimoji="1" lang="en-US" altLang="zh-TW" b="0" i="1" smtClean="0">
                              <a:latin typeface="Cambria Math" panose="02040503050406030204" pitchFamily="18" charset="0"/>
                            </a:rPr>
                          </m:ctrlPr>
                        </m:dPr>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2</m:t>
                              </m:r>
                            </m:den>
                          </m:f>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𝑜𝑢𝑡𝑝𝑢𝑡𝑠</m:t>
                              </m:r>
                            </m:sub>
                            <m:sup/>
                            <m:e>
                              <m:sSup>
                                <m:sSupPr>
                                  <m:ctrlPr>
                                    <a:rPr kumimoji="1" lang="en-US" altLang="zh-TW" i="1">
                                      <a:latin typeface="Cambria Math" panose="02040503050406030204" pitchFamily="18" charset="0"/>
                                    </a:rPr>
                                  </m:ctrlPr>
                                </m:sSupPr>
                                <m:e>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𝑘</m:t>
                                          </m:r>
                                        </m:sub>
                                      </m:sSub>
                                    </m:e>
                                  </m:d>
                                </m:e>
                                <m:sup>
                                  <m:r>
                                    <a:rPr kumimoji="1" lang="en-US" altLang="zh-TW" i="1">
                                      <a:latin typeface="Cambria Math" panose="02040503050406030204" pitchFamily="18" charset="0"/>
                                    </a:rPr>
                                    <m:t>2</m:t>
                                  </m:r>
                                </m:sup>
                              </m:sSup>
                            </m:e>
                          </m:nary>
                        </m:e>
                      </m:d>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oMath>
                  </m:oMathPara>
                </a14:m>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2</m:t>
                          </m:r>
                        </m:den>
                      </m:f>
                      <m:d>
                        <m:dPr>
                          <m:ctrlPr>
                            <a:rPr kumimoji="1" lang="en-US" altLang="zh-TW" i="1">
                              <a:latin typeface="Cambria Math" panose="02040503050406030204" pitchFamily="18" charset="0"/>
                            </a:rPr>
                          </m:ctrlPr>
                        </m:dPr>
                        <m:e>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𝑜𝑢𝑡𝑝𝑢𝑡𝑠</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en>
                              </m:f>
                              <m:sSup>
                                <m:sSupPr>
                                  <m:ctrlPr>
                                    <a:rPr kumimoji="1" lang="en-US" altLang="zh-TW" i="1">
                                      <a:latin typeface="Cambria Math" panose="02040503050406030204" pitchFamily="18" charset="0"/>
                                    </a:rPr>
                                  </m:ctrlPr>
                                </m:sSupPr>
                                <m:e>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𝑘</m:t>
                                          </m:r>
                                        </m:sub>
                                      </m:sSub>
                                    </m:e>
                                  </m:d>
                                </m:e>
                                <m:sup>
                                  <m:r>
                                    <a:rPr kumimoji="1" lang="en-US" altLang="zh-TW" i="1">
                                      <a:latin typeface="Cambria Math" panose="02040503050406030204" pitchFamily="18" charset="0"/>
                                    </a:rPr>
                                    <m:t>2</m:t>
                                  </m:r>
                                </m:sup>
                              </m:sSup>
                            </m:e>
                          </m:nary>
                        </m:e>
                      </m:d>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oMath>
                  </m:oMathPara>
                </a14:m>
                <a:endParaRPr kumimoji="1" lang="en-US" altLang="zh-TW" dirty="0"/>
              </a:p>
              <a:p>
                <a:pPr marL="0" indent="0">
                  <a:buNone/>
                </a:pPr>
                <a:endParaRPr kumimoji="1" lang="en-US" altLang="zh-TW" dirty="0"/>
              </a:p>
            </p:txBody>
          </p:sp>
        </mc:Choice>
        <mc:Fallback xmlns="">
          <p:sp>
            <p:nvSpPr>
              <p:cNvPr id="3" name="內容版面配置區 2">
                <a:extLst>
                  <a:ext uri="{FF2B5EF4-FFF2-40B4-BE49-F238E27FC236}">
                    <a16:creationId xmlns:a16="http://schemas.microsoft.com/office/drawing/2014/main" id="{408FB9D8-4D0B-E2D3-4511-331750DB2315}"/>
                  </a:ext>
                </a:extLst>
              </p:cNvPr>
              <p:cNvSpPr>
                <a:spLocks noGrp="1" noRot="1" noChangeAspect="1" noMove="1" noResize="1" noEditPoints="1" noAdjustHandles="1" noChangeArrowheads="1" noChangeShapeType="1" noTextEdit="1"/>
              </p:cNvSpPr>
              <p:nvPr>
                <p:ph idx="1"/>
              </p:nvPr>
            </p:nvSpPr>
            <p:spPr>
              <a:blipFill>
                <a:blip r:embed="rId2"/>
                <a:stretch>
                  <a:fillRect l="-1892" t="-2020" b="-3198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5CE63A86-2F0E-2A42-BB86-B978B54DBF5A}"/>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2D13C957-B6D6-903C-1583-1CB65E4927A0}"/>
              </a:ext>
            </a:extLst>
          </p:cNvPr>
          <p:cNvSpPr>
            <a:spLocks noGrp="1"/>
          </p:cNvSpPr>
          <p:nvPr>
            <p:ph type="sldNum" sz="quarter" idx="12"/>
          </p:nvPr>
        </p:nvSpPr>
        <p:spPr/>
        <p:txBody>
          <a:bodyPr/>
          <a:lstStyle/>
          <a:p>
            <a:r>
              <a:rPr lang="en-US" altLang="zh-TW" dirty="0"/>
              <a:t>Deep Learning</a:t>
            </a:r>
          </a:p>
        </p:txBody>
      </p:sp>
      <p:cxnSp>
        <p:nvCxnSpPr>
          <p:cNvPr id="7" name="直線箭頭接點 6">
            <a:extLst>
              <a:ext uri="{FF2B5EF4-FFF2-40B4-BE49-F238E27FC236}">
                <a16:creationId xmlns:a16="http://schemas.microsoft.com/office/drawing/2014/main" id="{E73C909A-161E-2308-8BC7-6BA28D92392D}"/>
              </a:ext>
            </a:extLst>
          </p:cNvPr>
          <p:cNvCxnSpPr>
            <a:cxnSpLocks/>
          </p:cNvCxnSpPr>
          <p:nvPr/>
        </p:nvCxnSpPr>
        <p:spPr>
          <a:xfrm flipH="1">
            <a:off x="5960962" y="3429000"/>
            <a:ext cx="1990846" cy="402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9B67B8B4-40A6-6CD5-748F-97A94667D39C}"/>
                  </a:ext>
                </a:extLst>
              </p:cNvPr>
              <p:cNvSpPr txBox="1"/>
              <p:nvPr/>
            </p:nvSpPr>
            <p:spPr>
              <a:xfrm>
                <a:off x="7951808" y="2687383"/>
                <a:ext cx="2851469" cy="1885453"/>
              </a:xfrm>
              <a:prstGeom prst="rect">
                <a:avLst/>
              </a:prstGeom>
              <a:noFill/>
            </p:spPr>
            <p:txBody>
              <a:bodyPr wrap="square" rtlCol="0">
                <a:spAutoFit/>
              </a:bodyPr>
              <a:lstStyle/>
              <a:p>
                <a:r>
                  <a:rPr kumimoji="1" lang="zh-TW" altLang="en-US" dirty="0"/>
                  <a:t>令 </a:t>
                </a:r>
                <a:r>
                  <a:rPr kumimoji="1" lang="en-US" altLang="zh-TW" dirty="0"/>
                  <a:t>logistic</a:t>
                </a:r>
                <a:r>
                  <a:rPr kumimoji="1" lang="zh-TW" altLang="en-US" dirty="0"/>
                  <a:t> </a:t>
                </a:r>
                <a:r>
                  <a:rPr kumimoji="1" lang="en-US" altLang="zh-TW" dirty="0"/>
                  <a:t>function</a:t>
                </a:r>
                <a:r>
                  <a:rPr kumimoji="1" lang="zh-TW" altLang="en-US" dirty="0"/>
                  <a:t> 為</a:t>
                </a:r>
                <a14:m>
                  <m:oMath xmlns:m="http://schemas.openxmlformats.org/officeDocument/2006/math">
                    <m:r>
                      <a:rPr kumimoji="1" lang="zh-TW" altLang="en-US" b="0" i="0" smtClean="0">
                        <a:latin typeface="Cambria Math" panose="02040503050406030204" pitchFamily="18" charset="0"/>
                      </a:rPr>
                      <m:t> </m:t>
                    </m:r>
                    <m:r>
                      <a:rPr kumimoji="1" lang="zh-TW" altLang="en-US" i="1" smtClean="0">
                        <a:latin typeface="Cambria Math" panose="02040503050406030204" pitchFamily="18" charset="0"/>
                      </a:rPr>
                      <m:t>𝜎</m:t>
                    </m:r>
                  </m:oMath>
                </a14:m>
                <a:r>
                  <a:rPr kumimoji="1" lang="zh-TW" altLang="en-US" dirty="0"/>
                  <a:t>，則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r>
                      <a:rPr kumimoji="1" lang="en-US" altLang="zh-TW" b="0" i="1" smtClean="0">
                        <a:latin typeface="Cambria Math" panose="02040503050406030204" pitchFamily="18" charset="0"/>
                      </a:rPr>
                      <m:t>=</m:t>
                    </m:r>
                    <m:r>
                      <a:rPr kumimoji="1" lang="zh-TW" altLang="en-US" i="1">
                        <a:latin typeface="Cambria Math" panose="02040503050406030204" pitchFamily="18" charset="0"/>
                      </a:rPr>
                      <m:t>𝜎</m:t>
                    </m:r>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r>
                      <a:rPr kumimoji="1" lang="en-US" altLang="zh-TW" b="0" i="1" smtClean="0">
                        <a:latin typeface="Cambria Math" panose="02040503050406030204" pitchFamily="18" charset="0"/>
                      </a:rPr>
                      <m:t>)</m:t>
                    </m:r>
                    <m:r>
                      <a:rPr kumimoji="1" lang="zh-TW" altLang="en-US" i="1">
                        <a:latin typeface="Cambria Math" panose="02040503050406030204" pitchFamily="18" charset="0"/>
                      </a:rPr>
                      <m:t>。</m:t>
                    </m:r>
                  </m:oMath>
                </a14:m>
                <a:endParaRPr kumimoji="1" lang="en-US" altLang="zh-TW" dirty="0"/>
              </a:p>
              <a:p>
                <a:r>
                  <a:rPr kumimoji="1" lang="zh-TW" altLang="en-US" dirty="0"/>
                  <a:t>因此，</a:t>
                </a:r>
                <a:r>
                  <a:rPr kumimoji="1" lang="en-US" altLang="zh-TW" dirty="0"/>
                  <a:t> </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b="0" i="1" smtClean="0">
                        <a:latin typeface="Cambria Math" panose="02040503050406030204" pitchFamily="18" charset="0"/>
                      </a:rPr>
                      <m:t>=</m:t>
                    </m:r>
                    <m:r>
                      <a:rPr kumimoji="1" lang="zh-TW" altLang="en-US" i="1">
                        <a:latin typeface="Cambria Math" panose="02040503050406030204" pitchFamily="18" charset="0"/>
                      </a:rPr>
                      <m:t>𝜎</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e>
                    </m:d>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m:t>
                        </m:r>
                        <m:r>
                          <a:rPr kumimoji="1" lang="zh-TW" altLang="en-US" i="1">
                            <a:latin typeface="Cambria Math" panose="02040503050406030204" pitchFamily="18" charset="0"/>
                          </a:rPr>
                          <m:t>𝜎</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e>
                        </m:d>
                      </m:e>
                    </m:d>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r>
                      <a:rPr kumimoji="1" lang="zh-TW" altLang="en-US" i="1">
                        <a:latin typeface="Cambria Math" panose="02040503050406030204" pitchFamily="18" charset="0"/>
                      </a:rPr>
                      <m:t>。</m:t>
                    </m:r>
                  </m:oMath>
                </a14:m>
                <a:endParaRPr kumimoji="1" lang="zh-TW" altLang="en-US" dirty="0"/>
              </a:p>
            </p:txBody>
          </p:sp>
        </mc:Choice>
        <mc:Fallback xmlns="">
          <p:sp>
            <p:nvSpPr>
              <p:cNvPr id="9" name="文字方塊 8">
                <a:extLst>
                  <a:ext uri="{FF2B5EF4-FFF2-40B4-BE49-F238E27FC236}">
                    <a16:creationId xmlns:a16="http://schemas.microsoft.com/office/drawing/2014/main" id="{9B67B8B4-40A6-6CD5-748F-97A94667D39C}"/>
                  </a:ext>
                </a:extLst>
              </p:cNvPr>
              <p:cNvSpPr txBox="1">
                <a:spLocks noRot="1" noChangeAspect="1" noMove="1" noResize="1" noEditPoints="1" noAdjustHandles="1" noChangeArrowheads="1" noChangeShapeType="1" noTextEdit="1"/>
              </p:cNvSpPr>
              <p:nvPr/>
            </p:nvSpPr>
            <p:spPr>
              <a:xfrm>
                <a:off x="7951808" y="2687383"/>
                <a:ext cx="2851469" cy="1885453"/>
              </a:xfrm>
              <a:prstGeom prst="rect">
                <a:avLst/>
              </a:prstGeom>
              <a:blipFill>
                <a:blip r:embed="rId3"/>
                <a:stretch>
                  <a:fillRect l="-1327" t="-1342" b="-6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92353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C63730-A318-64D8-4ABF-D5797D96F851}"/>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E497601-ACA8-56C0-7B13-C9C856DF4E6F}"/>
                  </a:ext>
                </a:extLst>
              </p:cNvPr>
              <p:cNvSpPr>
                <a:spLocks noGrp="1"/>
              </p:cNvSpPr>
              <p:nvPr>
                <p:ph idx="1"/>
              </p:nvPr>
            </p:nvSpPr>
            <p:spPr>
              <a:xfrm>
                <a:off x="1097280" y="2108201"/>
                <a:ext cx="10058400" cy="4338637"/>
              </a:xfrm>
            </p:spPr>
            <p:txBody>
              <a:bodyPr/>
              <a:lstStyle/>
              <a:p>
                <a:pPr marL="0" indent="0">
                  <a:buNone/>
                </a:pPr>
                <a14:m>
                  <m:oMathPara xmlns:m="http://schemas.openxmlformats.org/officeDocument/2006/math">
                    <m:oMathParaPr>
                      <m:jc m:val="left"/>
                    </m:oMathParaPr>
                    <m:oMath xmlns:m="http://schemas.openxmlformats.org/officeDocument/2006/math">
                      <m:f>
                        <m:fPr>
                          <m:ctrlPr>
                            <a:rPr kumimoji="1" lang="en-US" altLang="zh-TW" i="1" smtClean="0">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2</m:t>
                          </m:r>
                        </m:den>
                      </m:f>
                      <m:d>
                        <m:dPr>
                          <m:ctrlPr>
                            <a:rPr kumimoji="1" lang="en-US" altLang="zh-TW" i="1">
                              <a:latin typeface="Cambria Math" panose="02040503050406030204" pitchFamily="18" charset="0"/>
                            </a:rPr>
                          </m:ctrlPr>
                        </m:dPr>
                        <m:e>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𝑜𝑢𝑡𝑝𝑢𝑡𝑠</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en>
                              </m:f>
                              <m:sSup>
                                <m:sSupPr>
                                  <m:ctrlPr>
                                    <a:rPr kumimoji="1" lang="en-US" altLang="zh-TW" i="1">
                                      <a:latin typeface="Cambria Math" panose="02040503050406030204" pitchFamily="18" charset="0"/>
                                    </a:rPr>
                                  </m:ctrlPr>
                                </m:sSupPr>
                                <m:e>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𝑘</m:t>
                                          </m:r>
                                        </m:sub>
                                      </m:sSub>
                                    </m:e>
                                  </m:d>
                                </m:e>
                                <m:sup>
                                  <m:r>
                                    <a:rPr kumimoji="1" lang="en-US" altLang="zh-TW" i="1">
                                      <a:latin typeface="Cambria Math" panose="02040503050406030204" pitchFamily="18" charset="0"/>
                                    </a:rPr>
                                    <m:t>2</m:t>
                                  </m:r>
                                </m:sup>
                              </m:sSup>
                            </m:e>
                          </m:nary>
                        </m:e>
                      </m:d>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2</m:t>
                          </m:r>
                        </m:den>
                      </m:f>
                      <m:d>
                        <m:dPr>
                          <m:ctrlPr>
                            <a:rPr kumimoji="1" lang="en-US" altLang="zh-TW" i="1">
                              <a:latin typeface="Cambria Math" panose="02040503050406030204" pitchFamily="18" charset="0"/>
                            </a:rPr>
                          </m:ctrlPr>
                        </m:dPr>
                        <m:e>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𝑜𝑢𝑡𝑝𝑢𝑡𝑠</m:t>
                              </m:r>
                            </m:sub>
                            <m:sup/>
                            <m:e>
                              <m:r>
                                <a:rPr kumimoji="1" lang="en-US" altLang="zh-TW" b="0" i="1" smtClean="0">
                                  <a:latin typeface="Cambria Math" panose="02040503050406030204" pitchFamily="18" charset="0"/>
                                  <a:ea typeface="Cambria Math" panose="02040503050406030204" pitchFamily="18" charset="0"/>
                                </a:rPr>
                                <m:t>2</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𝑘</m:t>
                                      </m:r>
                                    </m:sub>
                                  </m:sSub>
                                </m:e>
                              </m:d>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en>
                              </m:f>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𝑘</m:t>
                                      </m:r>
                                    </m:sub>
                                  </m:sSub>
                                </m:e>
                              </m:d>
                            </m:e>
                          </m:nary>
                        </m:e>
                      </m:d>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𝑜𝑢𝑡𝑝𝑢𝑡𝑠</m:t>
                              </m:r>
                            </m:sub>
                            <m:sup/>
                            <m:e>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𝑘</m:t>
                                      </m:r>
                                    </m:sub>
                                  </m:sSub>
                                </m:e>
                              </m:d>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en>
                              </m:f>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𝑘</m:t>
                                      </m:r>
                                    </m:sub>
                                  </m:sSub>
                                </m:e>
                              </m:d>
                            </m:e>
                          </m:nary>
                        </m:e>
                      </m:d>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oMath>
                  </m:oMathPara>
                </a14:m>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b="0" i="1" smtClean="0">
                                  <a:latin typeface="Cambria Math" panose="02040503050406030204" pitchFamily="18" charset="0"/>
                                </a:rPr>
                                <m:t>𝑞</m:t>
                              </m:r>
                            </m:sub>
                          </m:sSub>
                          <m:r>
                            <a:rPr kumimoji="1" lang="en-US" altLang="zh-TW"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b="0" i="1" smtClean="0">
                                  <a:latin typeface="Cambria Math" panose="02040503050406030204" pitchFamily="18" charset="0"/>
                                </a:rPr>
                                <m:t>𝑞</m:t>
                              </m:r>
                            </m:sub>
                          </m:sSub>
                          <m:r>
                            <a:rPr kumimoji="1" lang="en-US" altLang="zh-TW" b="0" i="1" smtClean="0">
                              <a:latin typeface="Cambria Math" panose="02040503050406030204" pitchFamily="18" charset="0"/>
                            </a:rPr>
                            <m:t>)</m:t>
                          </m:r>
                        </m:e>
                      </m:d>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m:oMathPara>
                </a14:m>
                <a:endParaRPr kumimoji="1" lang="en-US" altLang="zh-TW" dirty="0"/>
              </a:p>
            </p:txBody>
          </p:sp>
        </mc:Choice>
        <mc:Fallback xmlns="">
          <p:sp>
            <p:nvSpPr>
              <p:cNvPr id="3" name="內容版面配置區 2">
                <a:extLst>
                  <a:ext uri="{FF2B5EF4-FFF2-40B4-BE49-F238E27FC236}">
                    <a16:creationId xmlns:a16="http://schemas.microsoft.com/office/drawing/2014/main" id="{7E497601-ACA8-56C0-7B13-C9C856DF4E6F}"/>
                  </a:ext>
                </a:extLst>
              </p:cNvPr>
              <p:cNvSpPr>
                <a:spLocks noGrp="1" noRot="1" noChangeAspect="1" noMove="1" noResize="1" noEditPoints="1" noAdjustHandles="1" noChangeArrowheads="1" noChangeShapeType="1" noTextEdit="1"/>
              </p:cNvSpPr>
              <p:nvPr>
                <p:ph idx="1"/>
              </p:nvPr>
            </p:nvSpPr>
            <p:spPr>
              <a:xfrm>
                <a:off x="1097280" y="2108201"/>
                <a:ext cx="10058400" cy="4338637"/>
              </a:xfrm>
              <a:blipFill>
                <a:blip r:embed="rId2"/>
                <a:stretch>
                  <a:fillRect l="-4035" t="-30117" b="-7310"/>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E9D7CEF7-A76B-60FD-39CB-979A7A030AF5}"/>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57C3CE1C-8CAD-3E00-69F4-90C31EE297B8}"/>
              </a:ext>
            </a:extLst>
          </p:cNvPr>
          <p:cNvSpPr>
            <a:spLocks noGrp="1"/>
          </p:cNvSpPr>
          <p:nvPr>
            <p:ph type="sldNum" sz="quarter" idx="12"/>
          </p:nvPr>
        </p:nvSpPr>
        <p:spPr/>
        <p:txBody>
          <a:bodyPr/>
          <a:lstStyle/>
          <a:p>
            <a:r>
              <a:rPr lang="en-US" altLang="zh-TW" dirty="0"/>
              <a:t>Deep Learning</a:t>
            </a:r>
          </a:p>
        </p:txBody>
      </p:sp>
      <p:cxnSp>
        <p:nvCxnSpPr>
          <p:cNvPr id="6" name="直線箭頭接點 5">
            <a:extLst>
              <a:ext uri="{FF2B5EF4-FFF2-40B4-BE49-F238E27FC236}">
                <a16:creationId xmlns:a16="http://schemas.microsoft.com/office/drawing/2014/main" id="{9ADA7F23-92B4-70F9-2118-5B1239E5B366}"/>
              </a:ext>
            </a:extLst>
          </p:cNvPr>
          <p:cNvCxnSpPr>
            <a:cxnSpLocks/>
            <a:stCxn id="8" idx="1"/>
          </p:cNvCxnSpPr>
          <p:nvPr/>
        </p:nvCxnSpPr>
        <p:spPr>
          <a:xfrm flipH="1" flipV="1">
            <a:off x="4965539" y="4699322"/>
            <a:ext cx="3252887" cy="323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969AD764-42FF-B42F-54AD-DC6DFF152DD6}"/>
                  </a:ext>
                </a:extLst>
              </p:cNvPr>
              <p:cNvSpPr txBox="1"/>
              <p:nvPr/>
            </p:nvSpPr>
            <p:spPr>
              <a:xfrm>
                <a:off x="8218426" y="4699322"/>
                <a:ext cx="2364045" cy="646331"/>
              </a:xfrm>
              <a:prstGeom prst="rect">
                <a:avLst/>
              </a:prstGeom>
              <a:noFill/>
            </p:spPr>
            <p:txBody>
              <a:bodyPr wrap="none" rtlCol="0">
                <a:spAutoFit/>
              </a:bodyPr>
              <a:lstStyle/>
              <a:p>
                <a:r>
                  <a:rPr kumimoji="1" lang="en-US" altLang="zh-TW" dirty="0"/>
                  <a:t>If </a:t>
                </a:r>
                <a14:m>
                  <m:oMath xmlns:m="http://schemas.openxmlformats.org/officeDocument/2006/math">
                    <m:r>
                      <a:rPr kumimoji="1" lang="en-US" altLang="zh-TW" b="0" i="1" smtClean="0">
                        <a:latin typeface="Cambria Math" panose="02040503050406030204" pitchFamily="18" charset="0"/>
                      </a:rPr>
                      <m:t>𝑘</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𝑞</m:t>
                    </m:r>
                    <m:r>
                      <a:rPr kumimoji="1" lang="en-US" altLang="zh-TW" b="0" i="0" smtClean="0">
                        <a:latin typeface="Cambria Math" panose="02040503050406030204" pitchFamily="18" charset="0"/>
                      </a:rPr>
                      <m:t>, </m:t>
                    </m:r>
                  </m:oMath>
                </a14:m>
                <a:r>
                  <a:rPr kumimoji="1" lang="en-US" altLang="zh-TW" dirty="0"/>
                  <a:t>it becomes -1.</a:t>
                </a:r>
              </a:p>
              <a:p>
                <a:r>
                  <a:rPr kumimoji="1" lang="en-US" altLang="zh-TW" dirty="0"/>
                  <a:t>If </a:t>
                </a:r>
                <a14:m>
                  <m:oMath xmlns:m="http://schemas.openxmlformats.org/officeDocument/2006/math">
                    <m:r>
                      <a:rPr kumimoji="1" lang="en-US" altLang="zh-TW" b="0" i="1" smtClean="0">
                        <a:latin typeface="Cambria Math" panose="02040503050406030204" pitchFamily="18" charset="0"/>
                      </a:rPr>
                      <m:t>𝑘</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𝑞</m:t>
                    </m:r>
                  </m:oMath>
                </a14:m>
                <a:r>
                  <a:rPr kumimoji="1" lang="en-US" altLang="zh-TW" dirty="0"/>
                  <a:t>, it becomes 0.</a:t>
                </a:r>
                <a:endParaRPr kumimoji="1" lang="zh-TW" altLang="en-US" dirty="0"/>
              </a:p>
            </p:txBody>
          </p:sp>
        </mc:Choice>
        <mc:Fallback xmlns="">
          <p:sp>
            <p:nvSpPr>
              <p:cNvPr id="8" name="文字方塊 7">
                <a:extLst>
                  <a:ext uri="{FF2B5EF4-FFF2-40B4-BE49-F238E27FC236}">
                    <a16:creationId xmlns:a16="http://schemas.microsoft.com/office/drawing/2014/main" id="{969AD764-42FF-B42F-54AD-DC6DFF152DD6}"/>
                  </a:ext>
                </a:extLst>
              </p:cNvPr>
              <p:cNvSpPr txBox="1">
                <a:spLocks noRot="1" noChangeAspect="1" noMove="1" noResize="1" noEditPoints="1" noAdjustHandles="1" noChangeArrowheads="1" noChangeShapeType="1" noTextEdit="1"/>
              </p:cNvSpPr>
              <p:nvPr/>
            </p:nvSpPr>
            <p:spPr>
              <a:xfrm>
                <a:off x="8218426" y="4699322"/>
                <a:ext cx="2364045" cy="646331"/>
              </a:xfrm>
              <a:prstGeom prst="rect">
                <a:avLst/>
              </a:prstGeom>
              <a:blipFill>
                <a:blip r:embed="rId3"/>
                <a:stretch>
                  <a:fillRect l="-2139" t="-5882" r="-1070" b="-1372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33766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DF9D68-D5AB-0456-66B3-29AD98AE30EE}"/>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83E2427-51A0-871E-B970-A81DD0859DE6}"/>
                  </a:ext>
                </a:extLst>
              </p:cNvPr>
              <p:cNvSpPr>
                <a:spLocks noGrp="1"/>
              </p:cNvSpPr>
              <p:nvPr>
                <p:ph idx="1"/>
              </p:nvPr>
            </p:nvSpPr>
            <p:spPr>
              <a:xfrm>
                <a:off x="1097280" y="2108201"/>
                <a:ext cx="10058400" cy="4160252"/>
              </a:xfrm>
            </p:spPr>
            <p:txBody>
              <a:bodyPr>
                <a:normAutofit/>
              </a:bodyPr>
              <a:lstStyle/>
              <a:p>
                <a:r>
                  <a:rPr kumimoji="1" lang="zh-TW" altLang="en-US" dirty="0">
                    <a:latin typeface="Cambria Math" panose="02040503050406030204" pitchFamily="18" charset="0"/>
                  </a:rPr>
                  <a:t>最後，將此結果：</a:t>
                </a:r>
                <a:endParaRPr kumimoji="1" lang="en-US" altLang="zh-TW" dirty="0">
                  <a:latin typeface="Cambria Math" panose="02040503050406030204" pitchFamily="18" charset="0"/>
                </a:endParaRPr>
              </a:p>
              <a:p>
                <a:pPr algn="ct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r>
                  <a:rPr kumimoji="1" lang="en-US" altLang="zh-TW" dirty="0"/>
                  <a:t> </a:t>
                </a:r>
              </a:p>
              <a:p>
                <a:endParaRPr kumimoji="1" lang="en-US" altLang="zh-TW" dirty="0"/>
              </a:p>
              <a:p>
                <a:r>
                  <a:rPr kumimoji="1" lang="zh-TW" altLang="en-US" dirty="0"/>
                  <a:t>帶回梯度下降演算法，並且設定學習率為 </a:t>
                </a:r>
                <a14:m>
                  <m:oMath xmlns:m="http://schemas.openxmlformats.org/officeDocument/2006/math">
                    <m:r>
                      <a:rPr kumimoji="1" lang="en-US" altLang="zh-TW" b="0" i="1" smtClean="0">
                        <a:latin typeface="Cambria Math" panose="02040503050406030204" pitchFamily="18" charset="0"/>
                      </a:rPr>
                      <m:t>𝑐</m:t>
                    </m:r>
                    <m:r>
                      <a:rPr kumimoji="1" lang="zh-TW" altLang="en-US" i="1">
                        <a:latin typeface="Cambria Math" panose="02040503050406030204" pitchFamily="18" charset="0"/>
                      </a:rPr>
                      <m:t>，</m:t>
                    </m:r>
                  </m:oMath>
                </a14:m>
                <a:r>
                  <a:rPr kumimoji="1" lang="zh-TW" altLang="en-US" dirty="0"/>
                  <a:t>則：</a:t>
                </a:r>
                <a:endParaRPr kumimoji="1" lang="en-US" altLang="zh-TW" dirty="0"/>
              </a:p>
              <a:p>
                <a:pPr marL="0" indent="0">
                  <a:buNone/>
                </a:pPr>
                <a14:m>
                  <m:oMathPara xmlns:m="http://schemas.openxmlformats.org/officeDocument/2006/math">
                    <m:oMathParaPr>
                      <m:jc m:val="centerGroup"/>
                    </m:oMathParaPr>
                    <m:oMath xmlns:m="http://schemas.openxmlformats.org/officeDocument/2006/math">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i="1">
                          <a:latin typeface="Cambria Math" panose="02040503050406030204" pitchFamily="18" charset="0"/>
                        </a:rPr>
                        <m:t>=−</m:t>
                      </m:r>
                      <m:r>
                        <a:rPr kumimoji="1" lang="en-US" altLang="zh-TW" i="1">
                          <a:latin typeface="Cambria Math" panose="02040503050406030204" pitchFamily="18" charset="0"/>
                        </a:rPr>
                        <m:t>𝑐</m:t>
                      </m:r>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oMath>
                  </m:oMathPara>
                </a14:m>
                <a:endParaRPr kumimoji="1" lang="en-US" altLang="zh-TW" dirty="0"/>
              </a:p>
              <a:p>
                <a:pPr marL="0" indent="0">
                  <a:buNone/>
                </a:pPr>
                <a:endParaRPr kumimoji="1" lang="en-US" altLang="zh-TW" dirty="0"/>
              </a:p>
              <a:p>
                <a:pPr marL="0" indent="0">
                  <a:buNone/>
                </a:pPr>
                <a:endParaRPr kumimoji="1" lang="zh-TW" altLang="en-US" dirty="0"/>
              </a:p>
            </p:txBody>
          </p:sp>
        </mc:Choice>
        <mc:Fallback xmlns="">
          <p:sp>
            <p:nvSpPr>
              <p:cNvPr id="3" name="內容版面配置區 2">
                <a:extLst>
                  <a:ext uri="{FF2B5EF4-FFF2-40B4-BE49-F238E27FC236}">
                    <a16:creationId xmlns:a16="http://schemas.microsoft.com/office/drawing/2014/main" id="{F83E2427-51A0-871E-B970-A81DD0859DE6}"/>
                  </a:ext>
                </a:extLst>
              </p:cNvPr>
              <p:cNvSpPr>
                <a:spLocks noGrp="1" noRot="1" noChangeAspect="1" noMove="1" noResize="1" noEditPoints="1" noAdjustHandles="1" noChangeArrowheads="1" noChangeShapeType="1" noTextEdit="1"/>
              </p:cNvSpPr>
              <p:nvPr>
                <p:ph idx="1"/>
              </p:nvPr>
            </p:nvSpPr>
            <p:spPr>
              <a:xfrm>
                <a:off x="1097280" y="2108201"/>
                <a:ext cx="10058400" cy="4160252"/>
              </a:xfrm>
              <a:blipFill>
                <a:blip r:embed="rId2"/>
                <a:stretch>
                  <a:fillRect l="-1009" t="-1220"/>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6484FE55-553A-FBE7-73B5-84FE9EB1DA0A}"/>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203B4D7F-7476-03BA-156C-CDECE79D65B0}"/>
              </a:ext>
            </a:extLst>
          </p:cNvPr>
          <p:cNvSpPr>
            <a:spLocks noGrp="1"/>
          </p:cNvSpPr>
          <p:nvPr>
            <p:ph type="sldNum" sz="quarter" idx="12"/>
          </p:nvPr>
        </p:nvSpPr>
        <p:spPr/>
        <p:txBody>
          <a:bodyPr/>
          <a:lstStyle/>
          <a:p>
            <a:r>
              <a:rPr lang="en-US" altLang="zh-TW" dirty="0"/>
              <a:t>Deep Learning</a:t>
            </a:r>
          </a:p>
        </p:txBody>
      </p:sp>
      <p:cxnSp>
        <p:nvCxnSpPr>
          <p:cNvPr id="6" name="直線箭頭接點 5">
            <a:extLst>
              <a:ext uri="{FF2B5EF4-FFF2-40B4-BE49-F238E27FC236}">
                <a16:creationId xmlns:a16="http://schemas.microsoft.com/office/drawing/2014/main" id="{6A21E704-200D-6C15-4433-56B71F8DCE08}"/>
              </a:ext>
            </a:extLst>
          </p:cNvPr>
          <p:cNvCxnSpPr>
            <a:cxnSpLocks/>
          </p:cNvCxnSpPr>
          <p:nvPr/>
        </p:nvCxnSpPr>
        <p:spPr>
          <a:xfrm flipH="1" flipV="1">
            <a:off x="8579375" y="4849684"/>
            <a:ext cx="444309" cy="440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AC05851C-FD57-F853-5E8B-91883DF583D5}"/>
                  </a:ext>
                </a:extLst>
              </p:cNvPr>
              <p:cNvSpPr txBox="1"/>
              <p:nvPr/>
            </p:nvSpPr>
            <p:spPr>
              <a:xfrm>
                <a:off x="7213640" y="5230365"/>
                <a:ext cx="4594421" cy="6962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zh-TW" altLang="en-US" i="1" smtClean="0">
                          <a:latin typeface="Cambria Math" panose="02040503050406030204" pitchFamily="18" charset="0"/>
                        </a:rPr>
                        <m:t>注意</m:t>
                      </m:r>
                      <m:r>
                        <a:rPr kumimoji="1" lang="zh-TW" altLang="en-US" i="1">
                          <a:latin typeface="Cambria Math" panose="02040503050406030204" pitchFamily="18" charset="0"/>
                        </a:rPr>
                        <m:t>！別忘記</m:t>
                      </m:r>
                      <m:r>
                        <a:rPr kumimoji="1" lang="zh-TW" altLang="en-US" b="0" i="1" smtClean="0">
                          <a:latin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r>
                        <a:rPr kumimoji="1" lang="zh-TW" altLang="en-US" i="1" smtClean="0">
                          <a:latin typeface="Cambria Math" panose="02040503050406030204" pitchFamily="18" charset="0"/>
                        </a:rPr>
                        <m:t>，</m:t>
                      </m:r>
                      <m:r>
                        <a:rPr kumimoji="1" lang="zh-TW" altLang="en-US" i="1">
                          <a:latin typeface="Cambria Math" panose="02040503050406030204" pitchFamily="18" charset="0"/>
                        </a:rPr>
                        <m:t>因為</m:t>
                      </m:r>
                      <m:r>
                        <a:rPr kumimoji="1" lang="zh-TW" altLang="en-US" b="0" i="1" smtClean="0">
                          <a:latin typeface="Cambria Math" panose="02040503050406030204" pitchFamily="18" charset="0"/>
                        </a:rPr>
                        <m:t> </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oMath>
                  </m:oMathPara>
                </a14:m>
                <a:endParaRPr kumimoji="1" lang="zh-TW" altLang="en-US" dirty="0"/>
              </a:p>
            </p:txBody>
          </p:sp>
        </mc:Choice>
        <mc:Fallback xmlns="">
          <p:sp>
            <p:nvSpPr>
              <p:cNvPr id="11" name="文字方塊 10">
                <a:extLst>
                  <a:ext uri="{FF2B5EF4-FFF2-40B4-BE49-F238E27FC236}">
                    <a16:creationId xmlns:a16="http://schemas.microsoft.com/office/drawing/2014/main" id="{AC05851C-FD57-F853-5E8B-91883DF583D5}"/>
                  </a:ext>
                </a:extLst>
              </p:cNvPr>
              <p:cNvSpPr txBox="1">
                <a:spLocks noRot="1" noChangeAspect="1" noMove="1" noResize="1" noEditPoints="1" noAdjustHandles="1" noChangeArrowheads="1" noChangeShapeType="1" noTextEdit="1"/>
              </p:cNvSpPr>
              <p:nvPr/>
            </p:nvSpPr>
            <p:spPr>
              <a:xfrm>
                <a:off x="7213640" y="5230365"/>
                <a:ext cx="4594421" cy="696281"/>
              </a:xfrm>
              <a:prstGeom prst="rect">
                <a:avLst/>
              </a:prstGeom>
              <a:blipFill>
                <a:blip r:embed="rId3"/>
                <a:stretch>
                  <a:fillRect b="-35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62663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0C0B7C-6CE9-3D30-8551-96066697D3BC}"/>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780D057-7390-7F5D-57AC-98C4B435863F}"/>
                  </a:ext>
                </a:extLst>
              </p:cNvPr>
              <p:cNvSpPr>
                <a:spLocks noGrp="1"/>
              </p:cNvSpPr>
              <p:nvPr>
                <p:ph idx="1"/>
              </p:nvPr>
            </p:nvSpPr>
            <p:spPr>
              <a:xfrm>
                <a:off x="1097280" y="2108202"/>
                <a:ext cx="10058400" cy="3582736"/>
              </a:xfrm>
            </p:spPr>
            <p:txBody>
              <a:bodyPr/>
              <a:lstStyle/>
              <a:p>
                <a:r>
                  <a:rPr kumimoji="1" lang="zh-TW" altLang="en-US" dirty="0">
                    <a:latin typeface="Cambria Math" panose="02040503050406030204" pitchFamily="18" charset="0"/>
                  </a:rPr>
                  <a:t>如果</a:t>
                </a:r>
                <a:r>
                  <a:rPr kumimoji="1" lang="zh-TW" altLang="en-US" dirty="0"/>
                  <a:t>神經元 </a:t>
                </a:r>
                <a14:m>
                  <m:oMath xmlns:m="http://schemas.openxmlformats.org/officeDocument/2006/math">
                    <m:r>
                      <a:rPr kumimoji="1" lang="en-US" altLang="zh-TW" i="1">
                        <a:latin typeface="Cambria Math" panose="02040503050406030204" pitchFamily="18" charset="0"/>
                      </a:rPr>
                      <m:t>𝑞</m:t>
                    </m:r>
                  </m:oMath>
                </a14:m>
                <a:r>
                  <a:rPr kumimoji="1" lang="zh-TW" altLang="en-US" dirty="0"/>
                  <a:t> 是 </a:t>
                </a:r>
                <a:r>
                  <a:rPr kumimoji="1" lang="en-US" altLang="zh-TW" dirty="0"/>
                  <a:t>hidden</a:t>
                </a:r>
                <a:r>
                  <a:rPr kumimoji="1" lang="zh-TW" altLang="en-US" dirty="0"/>
                  <a:t> </a:t>
                </a:r>
                <a:r>
                  <a:rPr kumimoji="1" lang="en-US" altLang="zh-TW" dirty="0"/>
                  <a:t>layer</a:t>
                </a:r>
                <a:r>
                  <a:rPr kumimoji="1" lang="zh-TW" altLang="en-US" dirty="0"/>
                  <a:t> 的神經元，且神經元 </a:t>
                </a:r>
                <a14:m>
                  <m:oMath xmlns:m="http://schemas.openxmlformats.org/officeDocument/2006/math">
                    <m:r>
                      <a:rPr kumimoji="1" lang="en-US" altLang="zh-TW" i="1">
                        <a:latin typeface="Cambria Math" panose="02040503050406030204" pitchFamily="18" charset="0"/>
                      </a:rPr>
                      <m:t>𝑞</m:t>
                    </m:r>
                  </m:oMath>
                </a14:m>
                <a:r>
                  <a:rPr kumimoji="1" lang="zh-TW" altLang="en-US" dirty="0"/>
                  <a:t> 後層有若干個神經元，以 </a:t>
                </a:r>
                <a14:m>
                  <m:oMath xmlns:m="http://schemas.openxmlformats.org/officeDocument/2006/math">
                    <m:r>
                      <a:rPr kumimoji="1" lang="en-US" altLang="zh-TW" b="0" i="1" smtClean="0">
                        <a:latin typeface="Cambria Math" panose="02040503050406030204" pitchFamily="18" charset="0"/>
                      </a:rPr>
                      <m:t>𝑘</m:t>
                    </m:r>
                  </m:oMath>
                </a14:m>
                <a:r>
                  <a:rPr kumimoji="1" lang="zh-TW" altLang="en-US" dirty="0"/>
                  <a:t> 表示，則：</a:t>
                </a:r>
                <a:endParaRPr kumimoji="1" lang="en-US" altLang="zh-TW" dirty="0"/>
              </a:p>
              <a:p>
                <a:pPr marL="0" indent="0">
                  <a:buNone/>
                </a:pPr>
                <a14:m>
                  <m:oMathPara xmlns:m="http://schemas.openxmlformats.org/officeDocument/2006/math">
                    <m:oMathParaPr>
                      <m:jc m:val="left"/>
                    </m:oMathParaPr>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b="0" i="1" smtClean="0">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𝑓𝑜𝑙𝑙𝑜𝑤𝑠</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𝑞</m:t>
                          </m:r>
                          <m:r>
                            <a:rPr kumimoji="1" lang="en-US" altLang="zh-TW" b="0" i="1" smtClean="0">
                              <a:latin typeface="Cambria Math" panose="02040503050406030204" pitchFamily="18" charset="0"/>
                              <a:ea typeface="Cambria Math" panose="02040503050406030204" pitchFamily="18" charset="0"/>
                            </a:rPr>
                            <m:t>)</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𝑛𝑒𝑡</m:t>
                                  </m:r>
                                </m:e>
                                <m:sub>
                                  <m:r>
                                    <a:rPr kumimoji="1" lang="en-US" altLang="zh-TW" b="0" i="1" smtClean="0">
                                      <a:latin typeface="Cambria Math" panose="02040503050406030204" pitchFamily="18" charset="0"/>
                                    </a:rPr>
                                    <m:t>𝑘</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𝑛𝑒𝑡</m:t>
                                  </m:r>
                                </m:e>
                                <m:sub>
                                  <m:r>
                                    <a:rPr kumimoji="1" lang="en-US" altLang="zh-TW" b="0" i="1" smtClean="0">
                                      <a:latin typeface="Cambria Math" panose="02040503050406030204" pitchFamily="18" charset="0"/>
                                    </a:rPr>
                                    <m:t>𝑘</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e>
                      </m:nary>
                    </m:oMath>
                  </m:oMathPara>
                </a14:m>
                <a:endParaRPr kumimoji="1" lang="en-US" altLang="zh-TW" i="1" dirty="0">
                  <a:latin typeface="Cambria Math" panose="02040503050406030204" pitchFamily="18" charset="0"/>
                </a:endParaRPr>
              </a:p>
              <a:p>
                <a:pPr marL="0" indent="0">
                  <a:buNone/>
                </a:pPr>
                <a:endParaRPr kumimoji="1" lang="en-US" altLang="zh-TW"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𝑓𝑜𝑙𝑙𝑜𝑤𝑠</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𝑞</m:t>
                          </m:r>
                          <m:r>
                            <a:rPr kumimoji="1" lang="en-US" altLang="zh-TW" i="1">
                              <a:latin typeface="Cambria Math" panose="02040503050406030204" pitchFamily="18" charset="0"/>
                              <a:ea typeface="Cambria Math" panose="02040503050406030204" pitchFamily="18" charset="0"/>
                            </a:rPr>
                            <m:t>)</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i="1">
                                      <a:latin typeface="Cambria Math" panose="02040503050406030204" pitchFamily="18" charset="0"/>
                                    </a:rPr>
                                    <m:t>𝑞</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b="0" i="1" smtClean="0">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𝑛𝑒𝑡</m:t>
                                  </m:r>
                                </m:e>
                                <m:sub>
                                  <m:r>
                                    <a:rPr kumimoji="1" lang="en-US" altLang="zh-TW" i="1">
                                      <a:latin typeface="Cambria Math" panose="02040503050406030204" pitchFamily="18" charset="0"/>
                                    </a:rPr>
                                    <m:t>𝑞</m:t>
                                  </m:r>
                                </m:sub>
                              </m:sSub>
                            </m:den>
                          </m:f>
                        </m:e>
                      </m:nary>
                    </m:oMath>
                  </m:oMathPara>
                </a14:m>
                <a:endParaRPr kumimoji="1" lang="zh-TW" altLang="en-US" dirty="0"/>
              </a:p>
            </p:txBody>
          </p:sp>
        </mc:Choice>
        <mc:Fallback xmlns="">
          <p:sp>
            <p:nvSpPr>
              <p:cNvPr id="3" name="內容版面配置區 2">
                <a:extLst>
                  <a:ext uri="{FF2B5EF4-FFF2-40B4-BE49-F238E27FC236}">
                    <a16:creationId xmlns:a16="http://schemas.microsoft.com/office/drawing/2014/main" id="{C780D057-7390-7F5D-57AC-98C4B435863F}"/>
                  </a:ext>
                </a:extLst>
              </p:cNvPr>
              <p:cNvSpPr>
                <a:spLocks noGrp="1" noRot="1" noChangeAspect="1" noMove="1" noResize="1" noEditPoints="1" noAdjustHandles="1" noChangeArrowheads="1" noChangeShapeType="1" noTextEdit="1"/>
              </p:cNvSpPr>
              <p:nvPr>
                <p:ph idx="1"/>
              </p:nvPr>
            </p:nvSpPr>
            <p:spPr>
              <a:xfrm>
                <a:off x="1097280" y="2108202"/>
                <a:ext cx="10058400" cy="3582736"/>
              </a:xfrm>
              <a:blipFill>
                <a:blip r:embed="rId2"/>
                <a:stretch>
                  <a:fillRect l="-3279" t="-15194" r="-1513" b="-40636"/>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651672D3-CA00-DF10-9732-AA1BED5E5045}"/>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5549BE4B-5342-84DC-1CFE-899DB5AD0D53}"/>
              </a:ext>
            </a:extLst>
          </p:cNvPr>
          <p:cNvSpPr>
            <a:spLocks noGrp="1"/>
          </p:cNvSpPr>
          <p:nvPr>
            <p:ph type="sldNum" sz="quarter" idx="12"/>
          </p:nvPr>
        </p:nvSpPr>
        <p:spPr/>
        <p:txBody>
          <a:bodyPr/>
          <a:lstStyle/>
          <a:p>
            <a:r>
              <a:rPr lang="en-US" altLang="zh-TW" dirty="0"/>
              <a:t>Deep Learning</a:t>
            </a:r>
          </a:p>
        </p:txBody>
      </p:sp>
      <p:cxnSp>
        <p:nvCxnSpPr>
          <p:cNvPr id="6" name="直線箭頭接點 5">
            <a:extLst>
              <a:ext uri="{FF2B5EF4-FFF2-40B4-BE49-F238E27FC236}">
                <a16:creationId xmlns:a16="http://schemas.microsoft.com/office/drawing/2014/main" id="{44D02914-37AF-02B7-CFB3-7E8AF44B7E7A}"/>
              </a:ext>
            </a:extLst>
          </p:cNvPr>
          <p:cNvCxnSpPr>
            <a:cxnSpLocks/>
          </p:cNvCxnSpPr>
          <p:nvPr/>
        </p:nvCxnSpPr>
        <p:spPr>
          <a:xfrm flipH="1">
            <a:off x="4259179" y="4138863"/>
            <a:ext cx="2286000" cy="210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1ABBA756-18CF-B260-F35C-8C122C2ADF0C}"/>
                  </a:ext>
                </a:extLst>
              </p:cNvPr>
              <p:cNvSpPr txBox="1"/>
              <p:nvPr/>
            </p:nvSpPr>
            <p:spPr>
              <a:xfrm>
                <a:off x="6545179" y="3757348"/>
                <a:ext cx="1997662" cy="7630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TW" i="1" smtClean="0">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r>
                        <a:rPr kumimoji="1" lang="en-US" altLang="zh-TW" b="0" i="1" smtClean="0">
                          <a:latin typeface="Cambria Math" panose="02040503050406030204" pitchFamily="18" charset="0"/>
                        </a:rPr>
                        <m:t>=</m:t>
                      </m:r>
                      <m:nary>
                        <m:naryPr>
                          <m:chr m:val="∑"/>
                          <m:supHide m:val="on"/>
                          <m:ctrlPr>
                            <a:rPr kumimoji="1" lang="en-US" altLang="zh-TW" b="0"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𝑟</m:t>
                          </m:r>
                        </m:sub>
                        <m:sup/>
                        <m:e>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𝑤</m:t>
                              </m:r>
                            </m:e>
                            <m:sub>
                              <m:r>
                                <a:rPr kumimoji="1" lang="en-US" altLang="zh-TW" b="0" i="1" smtClean="0">
                                  <a:latin typeface="Cambria Math" panose="02040503050406030204" pitchFamily="18" charset="0"/>
                                </a:rPr>
                                <m:t>𝑟𝑘</m:t>
                              </m:r>
                            </m:sub>
                          </m:sSub>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b="0" i="1" smtClean="0">
                                  <a:latin typeface="Cambria Math" panose="02040503050406030204" pitchFamily="18" charset="0"/>
                                </a:rPr>
                                <m:t>𝑟</m:t>
                              </m:r>
                            </m:sub>
                          </m:sSub>
                        </m:e>
                      </m:nary>
                    </m:oMath>
                  </m:oMathPara>
                </a14:m>
                <a:endParaRPr kumimoji="1" lang="zh-TW" altLang="en-US" dirty="0"/>
              </a:p>
            </p:txBody>
          </p:sp>
        </mc:Choice>
        <mc:Fallback xmlns="">
          <p:sp>
            <p:nvSpPr>
              <p:cNvPr id="11" name="文字方塊 10">
                <a:extLst>
                  <a:ext uri="{FF2B5EF4-FFF2-40B4-BE49-F238E27FC236}">
                    <a16:creationId xmlns:a16="http://schemas.microsoft.com/office/drawing/2014/main" id="{1ABBA756-18CF-B260-F35C-8C122C2ADF0C}"/>
                  </a:ext>
                </a:extLst>
              </p:cNvPr>
              <p:cNvSpPr txBox="1">
                <a:spLocks noRot="1" noChangeAspect="1" noMove="1" noResize="1" noEditPoints="1" noAdjustHandles="1" noChangeArrowheads="1" noChangeShapeType="1" noTextEdit="1"/>
              </p:cNvSpPr>
              <p:nvPr/>
            </p:nvSpPr>
            <p:spPr>
              <a:xfrm>
                <a:off x="6545179" y="3757348"/>
                <a:ext cx="1997662" cy="763029"/>
              </a:xfrm>
              <a:prstGeom prst="rect">
                <a:avLst/>
              </a:prstGeom>
              <a:blipFill>
                <a:blip r:embed="rId3"/>
                <a:stretch>
                  <a:fillRect t="-119355" b="-16612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63393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40EA48-5796-C24F-990E-C6127C0299A1}"/>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66BB9B3-830D-DFF6-7B5F-AD3163C0649A}"/>
                  </a:ext>
                </a:extLst>
              </p:cNvPr>
              <p:cNvSpPr>
                <a:spLocks noGrp="1"/>
              </p:cNvSpPr>
              <p:nvPr>
                <p:ph idx="1"/>
              </p:nvPr>
            </p:nvSpPr>
            <p:spPr>
              <a:xfrm>
                <a:off x="1097280" y="2108201"/>
                <a:ext cx="10058400" cy="4220410"/>
              </a:xfrm>
            </p:spPr>
            <p:txBody>
              <a:bodyPr>
                <a:normAutofit fontScale="92500"/>
              </a:bodyPr>
              <a:lstStyle/>
              <a:p>
                <a:pPr marL="0" indent="0">
                  <a:buNone/>
                </a:pPr>
                <a14:m>
                  <m:oMathPara xmlns:m="http://schemas.openxmlformats.org/officeDocument/2006/math">
                    <m:oMathParaPr>
                      <m:jc m:val="left"/>
                    </m:oMathParaPr>
                    <m:oMath xmlns:m="http://schemas.openxmlformats.org/officeDocument/2006/math">
                      <m:nary>
                        <m:naryPr>
                          <m:chr m:val="∑"/>
                          <m:supHide m:val="on"/>
                          <m:ctrlPr>
                            <a:rPr kumimoji="1" lang="en-US" altLang="zh-TW" i="1" smtClean="0">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𝑓𝑜𝑙𝑙𝑜𝑤𝑠</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𝑞</m:t>
                          </m:r>
                          <m:r>
                            <a:rPr kumimoji="1" lang="en-US" altLang="zh-TW" i="1">
                              <a:latin typeface="Cambria Math" panose="02040503050406030204" pitchFamily="18" charset="0"/>
                              <a:ea typeface="Cambria Math" panose="02040503050406030204" pitchFamily="18" charset="0"/>
                            </a:rPr>
                            <m:t>)</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e>
                      </m:nary>
                    </m:oMath>
                  </m:oMathPara>
                </a14:m>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𝑓𝑜𝑙𝑙𝑜𝑤𝑠</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𝑞</m:t>
                          </m:r>
                          <m:r>
                            <a:rPr kumimoji="1" lang="en-US" altLang="zh-TW" i="1">
                              <a:latin typeface="Cambria Math" panose="02040503050406030204" pitchFamily="18" charset="0"/>
                              <a:ea typeface="Cambria Math" panose="02040503050406030204" pitchFamily="18" charset="0"/>
                            </a:rPr>
                            <m:t>)</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en>
                          </m:f>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𝑟</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𝑟𝑘</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𝑟</m:t>
                                  </m:r>
                                </m:sub>
                              </m:sSub>
                            </m:e>
                          </m:nary>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b="0" i="1" smtClean="0">
                              <a:latin typeface="Cambria Math" panose="02040503050406030204" pitchFamily="18" charset="0"/>
                            </a:rPr>
                            <m:t>)</m:t>
                          </m:r>
                        </m:e>
                      </m:nary>
                    </m:oMath>
                  </m:oMathPara>
                </a14:m>
                <a:endParaRPr kumimoji="1" lang="en-US" altLang="zh-TW" i="1" dirty="0">
                  <a:latin typeface="Cambria Math" panose="02040503050406030204" pitchFamily="18" charset="0"/>
                </a:endParaRPr>
              </a:p>
              <a:p>
                <a:pPr marL="0" indent="0">
                  <a:buNone/>
                </a:pPr>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𝑓𝑜𝑙𝑙𝑜𝑤𝑠</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𝑞</m:t>
                          </m:r>
                          <m:r>
                            <a:rPr kumimoji="1" lang="en-US" altLang="zh-TW" i="1">
                              <a:latin typeface="Cambria Math" panose="02040503050406030204" pitchFamily="18" charset="0"/>
                              <a:ea typeface="Cambria Math" panose="02040503050406030204" pitchFamily="18" charset="0"/>
                            </a:rPr>
                            <m:t>)</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𝑞</m:t>
                              </m:r>
                              <m:r>
                                <a:rPr kumimoji="1" lang="en-US" altLang="zh-TW" i="1">
                                  <a:latin typeface="Cambria Math" panose="02040503050406030204" pitchFamily="18" charset="0"/>
                                </a:rPr>
                                <m:t>𝑘</m:t>
                              </m:r>
                            </m:sub>
                          </m:sSub>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m:oMathPara>
                </a14:m>
                <a:endParaRPr kumimoji="1"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i="1">
                          <a:latin typeface="Cambria Math" panose="02040503050406030204" pitchFamily="18" charset="0"/>
                        </a:rPr>
                        <m:t>=</m:t>
                      </m:r>
                      <m:r>
                        <a:rPr kumimoji="1" lang="en-US" altLang="zh-TW" b="0" i="1" smtClean="0">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𝑓𝑜𝑙𝑙𝑜𝑤𝑠</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𝑞</m:t>
                          </m:r>
                          <m:r>
                            <a:rPr kumimoji="1" lang="en-US" altLang="zh-TW" i="1">
                              <a:latin typeface="Cambria Math" panose="02040503050406030204" pitchFamily="18" charset="0"/>
                              <a:ea typeface="Cambria Math" panose="02040503050406030204" pitchFamily="18" charset="0"/>
                            </a:rPr>
                            <m:t>)</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𝑞</m:t>
                              </m:r>
                              <m:r>
                                <a:rPr kumimoji="1" lang="en-US" altLang="zh-TW" i="1">
                                  <a:latin typeface="Cambria Math" panose="02040503050406030204" pitchFamily="18" charset="0"/>
                                </a:rPr>
                                <m:t>𝑘</m:t>
                              </m:r>
                            </m:sub>
                          </m:sSub>
                          <m:r>
                            <a:rPr kumimoji="1" lang="en-US" altLang="zh-TW" b="0" i="1" smtClean="0">
                              <a:latin typeface="Cambria Math" panose="02040503050406030204" pitchFamily="18" charset="0"/>
                            </a:rPr>
                            <m:t>)</m:t>
                          </m:r>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m:oMathPara>
                </a14:m>
                <a:endParaRPr kumimoji="1" lang="zh-TW" altLang="en-US" dirty="0"/>
              </a:p>
              <a:p>
                <a:pPr marL="0" indent="0">
                  <a:buNone/>
                </a:pPr>
                <a:endParaRPr kumimoji="1" lang="zh-TW" altLang="en-US" dirty="0"/>
              </a:p>
            </p:txBody>
          </p:sp>
        </mc:Choice>
        <mc:Fallback xmlns="">
          <p:sp>
            <p:nvSpPr>
              <p:cNvPr id="3" name="內容版面配置區 2">
                <a:extLst>
                  <a:ext uri="{FF2B5EF4-FFF2-40B4-BE49-F238E27FC236}">
                    <a16:creationId xmlns:a16="http://schemas.microsoft.com/office/drawing/2014/main" id="{566BB9B3-830D-DFF6-7B5F-AD3163C0649A}"/>
                  </a:ext>
                </a:extLst>
              </p:cNvPr>
              <p:cNvSpPr>
                <a:spLocks noGrp="1" noRot="1" noChangeAspect="1" noMove="1" noResize="1" noEditPoints="1" noAdjustHandles="1" noChangeArrowheads="1" noChangeShapeType="1" noTextEdit="1"/>
              </p:cNvSpPr>
              <p:nvPr>
                <p:ph idx="1"/>
              </p:nvPr>
            </p:nvSpPr>
            <p:spPr>
              <a:xfrm>
                <a:off x="1097280" y="2108201"/>
                <a:ext cx="10058400" cy="4220410"/>
              </a:xfrm>
              <a:blipFill>
                <a:blip r:embed="rId2"/>
                <a:stretch>
                  <a:fillRect l="-5927" t="-27928" b="-3543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74C6437A-B278-2D14-6CB0-E81CBD7C9A6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F485937-64E7-B0A8-D54D-19613628DCA8}"/>
              </a:ext>
            </a:extLst>
          </p:cNvPr>
          <p:cNvSpPr>
            <a:spLocks noGrp="1"/>
          </p:cNvSpPr>
          <p:nvPr>
            <p:ph type="sldNum" sz="quarter" idx="12"/>
          </p:nvPr>
        </p:nvSpPr>
        <p:spPr/>
        <p:txBody>
          <a:bodyPr/>
          <a:lstStyle/>
          <a:p>
            <a:r>
              <a:rPr lang="en-US" altLang="zh-TW" dirty="0"/>
              <a:t>Deep Learning</a:t>
            </a:r>
          </a:p>
        </p:txBody>
      </p:sp>
      <p:cxnSp>
        <p:nvCxnSpPr>
          <p:cNvPr id="6" name="直線箭頭接點 5">
            <a:extLst>
              <a:ext uri="{FF2B5EF4-FFF2-40B4-BE49-F238E27FC236}">
                <a16:creationId xmlns:a16="http://schemas.microsoft.com/office/drawing/2014/main" id="{03EEA398-1235-01C3-4280-FA911E874BE6}"/>
              </a:ext>
            </a:extLst>
          </p:cNvPr>
          <p:cNvCxnSpPr>
            <a:cxnSpLocks/>
          </p:cNvCxnSpPr>
          <p:nvPr/>
        </p:nvCxnSpPr>
        <p:spPr>
          <a:xfrm flipH="1">
            <a:off x="4997114" y="2583778"/>
            <a:ext cx="1395664" cy="634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D5C9F62E-8658-3176-205B-55E2A41FAA25}"/>
                  </a:ext>
                </a:extLst>
              </p:cNvPr>
              <p:cNvSpPr txBox="1"/>
              <p:nvPr/>
            </p:nvSpPr>
            <p:spPr>
              <a:xfrm>
                <a:off x="6313471" y="2315565"/>
                <a:ext cx="2987934" cy="667747"/>
              </a:xfrm>
              <a:prstGeom prst="rect">
                <a:avLst/>
              </a:prstGeom>
              <a:noFill/>
            </p:spPr>
            <p:txBody>
              <a:bodyPr wrap="none" rtlCol="0">
                <a:spAutoFit/>
              </a:bodyPr>
              <a:lstStyle/>
              <a:p>
                <a:r>
                  <a:rPr kumimoji="1" lang="en-US" altLang="zh-TW" dirty="0"/>
                  <a:t>If </a:t>
                </a:r>
                <a14:m>
                  <m:oMath xmlns:m="http://schemas.openxmlformats.org/officeDocument/2006/math">
                    <m:r>
                      <a:rPr kumimoji="1" lang="en-US" altLang="zh-TW" b="0" i="1" smtClean="0">
                        <a:latin typeface="Cambria Math" panose="02040503050406030204" pitchFamily="18" charset="0"/>
                      </a:rPr>
                      <m:t>𝑟</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𝑞</m:t>
                    </m:r>
                    <m:r>
                      <a:rPr kumimoji="1" lang="en-US" altLang="zh-TW" b="0" i="1" smtClean="0">
                        <a:latin typeface="Cambria Math" panose="02040503050406030204" pitchFamily="18" charset="0"/>
                      </a:rPr>
                      <m:t>, </m:t>
                    </m:r>
                  </m:oMath>
                </a14:m>
                <a:r>
                  <a:rPr kumimoji="1" lang="en-US" altLang="zh-TW" dirty="0"/>
                  <a:t>then it becomes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𝑞𝑘</m:t>
                        </m:r>
                      </m:sub>
                    </m:sSub>
                  </m:oMath>
                </a14:m>
                <a:r>
                  <a:rPr kumimoji="1" lang="en-US" altLang="zh-TW" dirty="0"/>
                  <a:t>.</a:t>
                </a:r>
              </a:p>
              <a:p>
                <a:r>
                  <a:rPr kumimoji="1" lang="en-US" altLang="zh-TW" dirty="0"/>
                  <a:t>If </a:t>
                </a:r>
                <a14:m>
                  <m:oMath xmlns:m="http://schemas.openxmlformats.org/officeDocument/2006/math">
                    <m:r>
                      <a:rPr kumimoji="1" lang="en-US" altLang="zh-TW" b="0" i="1" smtClean="0">
                        <a:latin typeface="Cambria Math" panose="02040503050406030204" pitchFamily="18" charset="0"/>
                      </a:rPr>
                      <m:t>𝑟</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𝑞</m:t>
                    </m:r>
                    <m:r>
                      <a:rPr kumimoji="1" lang="en-US" altLang="zh-TW" b="0" i="1" smtClean="0">
                        <a:latin typeface="Cambria Math" panose="02040503050406030204" pitchFamily="18" charset="0"/>
                        <a:ea typeface="Cambria Math" panose="02040503050406030204" pitchFamily="18" charset="0"/>
                      </a:rPr>
                      <m:t>,</m:t>
                    </m:r>
                  </m:oMath>
                </a14:m>
                <a:r>
                  <a:rPr kumimoji="1" lang="en-US" altLang="zh-TW" dirty="0"/>
                  <a:t> then it becomes 0.</a:t>
                </a:r>
                <a:endParaRPr kumimoji="1" lang="zh-TW" altLang="en-US" dirty="0"/>
              </a:p>
            </p:txBody>
          </p:sp>
        </mc:Choice>
        <mc:Fallback xmlns="">
          <p:sp>
            <p:nvSpPr>
              <p:cNvPr id="8" name="文字方塊 7">
                <a:extLst>
                  <a:ext uri="{FF2B5EF4-FFF2-40B4-BE49-F238E27FC236}">
                    <a16:creationId xmlns:a16="http://schemas.microsoft.com/office/drawing/2014/main" id="{D5C9F62E-8658-3176-205B-55E2A41FAA25}"/>
                  </a:ext>
                </a:extLst>
              </p:cNvPr>
              <p:cNvSpPr txBox="1">
                <a:spLocks noRot="1" noChangeAspect="1" noMove="1" noResize="1" noEditPoints="1" noAdjustHandles="1" noChangeArrowheads="1" noChangeShapeType="1" noTextEdit="1"/>
              </p:cNvSpPr>
              <p:nvPr/>
            </p:nvSpPr>
            <p:spPr>
              <a:xfrm>
                <a:off x="6313471" y="2315565"/>
                <a:ext cx="2987934" cy="667747"/>
              </a:xfrm>
              <a:prstGeom prst="rect">
                <a:avLst/>
              </a:prstGeom>
              <a:blipFill>
                <a:blip r:embed="rId3"/>
                <a:stretch>
                  <a:fillRect l="-2119" t="-3774" r="-424" b="-15094"/>
                </a:stretch>
              </a:blipFill>
            </p:spPr>
            <p:txBody>
              <a:bodyPr/>
              <a:lstStyle/>
              <a:p>
                <a:r>
                  <a:rPr lang="zh-TW" altLang="en-US">
                    <a:noFill/>
                  </a:rPr>
                  <a:t> </a:t>
                </a:r>
              </a:p>
            </p:txBody>
          </p:sp>
        </mc:Fallback>
      </mc:AlternateContent>
      <p:cxnSp>
        <p:nvCxnSpPr>
          <p:cNvPr id="10" name="直線箭頭接點 9">
            <a:extLst>
              <a:ext uri="{FF2B5EF4-FFF2-40B4-BE49-F238E27FC236}">
                <a16:creationId xmlns:a16="http://schemas.microsoft.com/office/drawing/2014/main" id="{FD62B3E8-32B8-45C7-A075-B69CCFC89B7D}"/>
              </a:ext>
            </a:extLst>
          </p:cNvPr>
          <p:cNvCxnSpPr>
            <a:cxnSpLocks/>
          </p:cNvCxnSpPr>
          <p:nvPr/>
        </p:nvCxnSpPr>
        <p:spPr>
          <a:xfrm flipH="1" flipV="1">
            <a:off x="5915526" y="3553188"/>
            <a:ext cx="1471863" cy="138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6121AE11-730E-D512-B698-552670892672}"/>
                  </a:ext>
                </a:extLst>
              </p:cNvPr>
              <p:cNvSpPr txBox="1"/>
              <p:nvPr/>
            </p:nvSpPr>
            <p:spPr>
              <a:xfrm>
                <a:off x="7387389" y="3429000"/>
                <a:ext cx="2199577" cy="7033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TW" i="1" smtClean="0">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m:oMathPara>
                </a14:m>
                <a:endParaRPr kumimoji="1" lang="zh-TW" altLang="en-US" dirty="0"/>
              </a:p>
            </p:txBody>
          </p:sp>
        </mc:Choice>
        <mc:Fallback xmlns="">
          <p:sp>
            <p:nvSpPr>
              <p:cNvPr id="14" name="文字方塊 13">
                <a:extLst>
                  <a:ext uri="{FF2B5EF4-FFF2-40B4-BE49-F238E27FC236}">
                    <a16:creationId xmlns:a16="http://schemas.microsoft.com/office/drawing/2014/main" id="{6121AE11-730E-D512-B698-552670892672}"/>
                  </a:ext>
                </a:extLst>
              </p:cNvPr>
              <p:cNvSpPr txBox="1">
                <a:spLocks noRot="1" noChangeAspect="1" noMove="1" noResize="1" noEditPoints="1" noAdjustHandles="1" noChangeArrowheads="1" noChangeShapeType="1" noTextEdit="1"/>
              </p:cNvSpPr>
              <p:nvPr/>
            </p:nvSpPr>
            <p:spPr>
              <a:xfrm>
                <a:off x="7387389" y="3429000"/>
                <a:ext cx="2199577" cy="703334"/>
              </a:xfrm>
              <a:prstGeom prst="rect">
                <a:avLst/>
              </a:prstGeom>
              <a:blipFill>
                <a:blip r:embed="rId4"/>
                <a:stretch>
                  <a:fillRect/>
                </a:stretch>
              </a:blipFill>
            </p:spPr>
            <p:txBody>
              <a:bodyPr/>
              <a:lstStyle/>
              <a:p>
                <a:r>
                  <a:rPr lang="zh-TW" altLang="en-US">
                    <a:noFill/>
                  </a:rPr>
                  <a:t> </a:t>
                </a:r>
              </a:p>
            </p:txBody>
          </p:sp>
        </mc:Fallback>
      </mc:AlternateContent>
      <p:cxnSp>
        <p:nvCxnSpPr>
          <p:cNvPr id="16" name="直線箭頭接點 15">
            <a:extLst>
              <a:ext uri="{FF2B5EF4-FFF2-40B4-BE49-F238E27FC236}">
                <a16:creationId xmlns:a16="http://schemas.microsoft.com/office/drawing/2014/main" id="{F8797491-E014-5F75-F292-69A24AC6B504}"/>
              </a:ext>
            </a:extLst>
          </p:cNvPr>
          <p:cNvCxnSpPr>
            <a:cxnSpLocks/>
          </p:cNvCxnSpPr>
          <p:nvPr/>
        </p:nvCxnSpPr>
        <p:spPr>
          <a:xfrm flipH="1">
            <a:off x="3577390" y="5342021"/>
            <a:ext cx="2943726"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771D588D-1824-5DB8-5E1F-13057C94406A}"/>
                  </a:ext>
                </a:extLst>
              </p:cNvPr>
              <p:cNvSpPr txBox="1"/>
              <p:nvPr/>
            </p:nvSpPr>
            <p:spPr>
              <a:xfrm>
                <a:off x="6521116" y="4615251"/>
                <a:ext cx="5325979" cy="1453539"/>
              </a:xfrm>
              <a:prstGeom prst="rect">
                <a:avLst/>
              </a:prstGeom>
              <a:noFill/>
            </p:spPr>
            <p:txBody>
              <a:bodyPr wrap="square" rtlCol="0">
                <a:spAutoFit/>
              </a:bodyPr>
              <a:lstStyle/>
              <a:p>
                <a:r>
                  <a:rPr kumimoji="1" lang="zh-TW" altLang="en-US" sz="2400" b="1" dirty="0">
                    <a:solidFill>
                      <a:srgbClr val="FF0000"/>
                    </a:solidFill>
                  </a:rPr>
                  <a:t>「反向」傳播原理的重點！在計算</a:t>
                </a:r>
                <a14:m>
                  <m:oMath xmlns:m="http://schemas.openxmlformats.org/officeDocument/2006/math">
                    <m:f>
                      <m:fPr>
                        <m:ctrlPr>
                          <a:rPr kumimoji="1" lang="en-US" altLang="zh-TW" sz="2400" b="1" i="1">
                            <a:solidFill>
                              <a:srgbClr val="FF0000"/>
                            </a:solidFill>
                            <a:latin typeface="Cambria Math" panose="02040503050406030204" pitchFamily="18" charset="0"/>
                          </a:rPr>
                        </m:ctrlPr>
                      </m:fPr>
                      <m:num>
                        <m:r>
                          <a:rPr kumimoji="1" lang="en-US" altLang="zh-TW" sz="2400" b="1" i="1">
                            <a:solidFill>
                              <a:srgbClr val="FF0000"/>
                            </a:solidFill>
                            <a:latin typeface="Cambria Math" panose="02040503050406030204" pitchFamily="18" charset="0"/>
                            <a:ea typeface="Cambria Math" panose="02040503050406030204" pitchFamily="18" charset="0"/>
                          </a:rPr>
                          <m:t>𝝏</m:t>
                        </m:r>
                        <m:sSub>
                          <m:sSubPr>
                            <m:ctrlPr>
                              <a:rPr kumimoji="1" lang="en-US" altLang="zh-TW" sz="2400" b="1" i="1">
                                <a:solidFill>
                                  <a:srgbClr val="FF0000"/>
                                </a:solidFill>
                                <a:latin typeface="Cambria Math" panose="02040503050406030204" pitchFamily="18" charset="0"/>
                              </a:rPr>
                            </m:ctrlPr>
                          </m:sSubPr>
                          <m:e>
                            <m:r>
                              <a:rPr kumimoji="1" lang="en-US" altLang="zh-TW" sz="2400" b="1" i="1">
                                <a:solidFill>
                                  <a:srgbClr val="FF0000"/>
                                </a:solidFill>
                                <a:latin typeface="Cambria Math" panose="02040503050406030204" pitchFamily="18" charset="0"/>
                              </a:rPr>
                              <m:t>𝑬</m:t>
                            </m:r>
                          </m:e>
                          <m:sub>
                            <m:r>
                              <a:rPr kumimoji="1" lang="en-US" altLang="zh-TW" sz="2400" b="1" i="1">
                                <a:solidFill>
                                  <a:srgbClr val="FF0000"/>
                                </a:solidFill>
                                <a:latin typeface="Cambria Math" panose="02040503050406030204" pitchFamily="18" charset="0"/>
                              </a:rPr>
                              <m:t>𝒅</m:t>
                            </m:r>
                          </m:sub>
                        </m:sSub>
                      </m:num>
                      <m:den>
                        <m:r>
                          <a:rPr kumimoji="1" lang="en-US" altLang="zh-TW" sz="2400" b="1" i="1">
                            <a:solidFill>
                              <a:srgbClr val="FF0000"/>
                            </a:solidFill>
                            <a:latin typeface="Cambria Math" panose="02040503050406030204" pitchFamily="18" charset="0"/>
                            <a:ea typeface="Cambria Math" panose="02040503050406030204" pitchFamily="18" charset="0"/>
                          </a:rPr>
                          <m:t>𝝏</m:t>
                        </m:r>
                        <m:sSub>
                          <m:sSubPr>
                            <m:ctrlPr>
                              <a:rPr kumimoji="1" lang="en-US" altLang="zh-TW" sz="2400" b="1" i="1">
                                <a:solidFill>
                                  <a:srgbClr val="FF0000"/>
                                </a:solidFill>
                                <a:latin typeface="Cambria Math" panose="02040503050406030204" pitchFamily="18" charset="0"/>
                              </a:rPr>
                            </m:ctrlPr>
                          </m:sSubPr>
                          <m:e>
                            <m:r>
                              <a:rPr kumimoji="1" lang="en-US" altLang="zh-TW" sz="2400" b="1" i="1">
                                <a:solidFill>
                                  <a:srgbClr val="FF0000"/>
                                </a:solidFill>
                                <a:latin typeface="Cambria Math" panose="02040503050406030204" pitchFamily="18" charset="0"/>
                              </a:rPr>
                              <m:t>𝒏𝒆𝒕</m:t>
                            </m:r>
                          </m:e>
                          <m:sub>
                            <m:r>
                              <a:rPr kumimoji="1" lang="en-US" altLang="zh-TW" sz="2400" b="1" i="1">
                                <a:solidFill>
                                  <a:srgbClr val="FF0000"/>
                                </a:solidFill>
                                <a:latin typeface="Cambria Math" panose="02040503050406030204" pitchFamily="18" charset="0"/>
                              </a:rPr>
                              <m:t>𝒒</m:t>
                            </m:r>
                          </m:sub>
                        </m:sSub>
                      </m:den>
                    </m:f>
                  </m:oMath>
                </a14:m>
                <a:r>
                  <a:rPr kumimoji="1" lang="zh-TW" altLang="en-US" sz="2400" b="1" dirty="0">
                    <a:solidFill>
                      <a:srgbClr val="FF0000"/>
                    </a:solidFill>
                  </a:rPr>
                  <a:t> 時，必須先計算後一層的</a:t>
                </a:r>
                <a14:m>
                  <m:oMath xmlns:m="http://schemas.openxmlformats.org/officeDocument/2006/math">
                    <m:f>
                      <m:fPr>
                        <m:ctrlPr>
                          <a:rPr kumimoji="1" lang="en-US" altLang="zh-TW" sz="2400" b="1" i="1">
                            <a:solidFill>
                              <a:srgbClr val="FF0000"/>
                            </a:solidFill>
                            <a:latin typeface="Cambria Math" panose="02040503050406030204" pitchFamily="18" charset="0"/>
                          </a:rPr>
                        </m:ctrlPr>
                      </m:fPr>
                      <m:num>
                        <m:r>
                          <a:rPr kumimoji="1" lang="en-US" altLang="zh-TW" sz="2400" b="1" i="1">
                            <a:solidFill>
                              <a:srgbClr val="FF0000"/>
                            </a:solidFill>
                            <a:latin typeface="Cambria Math" panose="02040503050406030204" pitchFamily="18" charset="0"/>
                            <a:ea typeface="Cambria Math" panose="02040503050406030204" pitchFamily="18" charset="0"/>
                          </a:rPr>
                          <m:t>𝝏</m:t>
                        </m:r>
                        <m:sSub>
                          <m:sSubPr>
                            <m:ctrlPr>
                              <a:rPr kumimoji="1" lang="en-US" altLang="zh-TW" sz="2400" b="1" i="1">
                                <a:solidFill>
                                  <a:srgbClr val="FF0000"/>
                                </a:solidFill>
                                <a:latin typeface="Cambria Math" panose="02040503050406030204" pitchFamily="18" charset="0"/>
                              </a:rPr>
                            </m:ctrlPr>
                          </m:sSubPr>
                          <m:e>
                            <m:r>
                              <a:rPr kumimoji="1" lang="en-US" altLang="zh-TW" sz="2400" b="1" i="1">
                                <a:solidFill>
                                  <a:srgbClr val="FF0000"/>
                                </a:solidFill>
                                <a:latin typeface="Cambria Math" panose="02040503050406030204" pitchFamily="18" charset="0"/>
                              </a:rPr>
                              <m:t>𝑬</m:t>
                            </m:r>
                          </m:e>
                          <m:sub>
                            <m:r>
                              <a:rPr kumimoji="1" lang="en-US" altLang="zh-TW" sz="2400" b="1" i="1">
                                <a:solidFill>
                                  <a:srgbClr val="FF0000"/>
                                </a:solidFill>
                                <a:latin typeface="Cambria Math" panose="02040503050406030204" pitchFamily="18" charset="0"/>
                              </a:rPr>
                              <m:t>𝒅</m:t>
                            </m:r>
                          </m:sub>
                        </m:sSub>
                      </m:num>
                      <m:den>
                        <m:r>
                          <a:rPr kumimoji="1" lang="en-US" altLang="zh-TW" sz="2400" b="1" i="1">
                            <a:solidFill>
                              <a:srgbClr val="FF0000"/>
                            </a:solidFill>
                            <a:latin typeface="Cambria Math" panose="02040503050406030204" pitchFamily="18" charset="0"/>
                            <a:ea typeface="Cambria Math" panose="02040503050406030204" pitchFamily="18" charset="0"/>
                          </a:rPr>
                          <m:t>𝝏</m:t>
                        </m:r>
                        <m:sSub>
                          <m:sSubPr>
                            <m:ctrlPr>
                              <a:rPr kumimoji="1" lang="en-US" altLang="zh-TW" sz="2400" b="1" i="1">
                                <a:solidFill>
                                  <a:srgbClr val="FF0000"/>
                                </a:solidFill>
                                <a:latin typeface="Cambria Math" panose="02040503050406030204" pitchFamily="18" charset="0"/>
                              </a:rPr>
                            </m:ctrlPr>
                          </m:sSubPr>
                          <m:e>
                            <m:r>
                              <a:rPr kumimoji="1" lang="en-US" altLang="zh-TW" sz="2400" b="1" i="1">
                                <a:solidFill>
                                  <a:srgbClr val="FF0000"/>
                                </a:solidFill>
                                <a:latin typeface="Cambria Math" panose="02040503050406030204" pitchFamily="18" charset="0"/>
                              </a:rPr>
                              <m:t>𝒏𝒆𝒕</m:t>
                            </m:r>
                          </m:e>
                          <m:sub>
                            <m:r>
                              <a:rPr kumimoji="1" lang="en-US" altLang="zh-TW" sz="2400" b="1" i="1">
                                <a:solidFill>
                                  <a:srgbClr val="FF0000"/>
                                </a:solidFill>
                                <a:latin typeface="Cambria Math" panose="02040503050406030204" pitchFamily="18" charset="0"/>
                              </a:rPr>
                              <m:t>𝒌</m:t>
                            </m:r>
                          </m:sub>
                        </m:sSub>
                      </m:den>
                    </m:f>
                  </m:oMath>
                </a14:m>
                <a:r>
                  <a:rPr kumimoji="1" lang="zh-TW" altLang="en-US" sz="2400" b="1" dirty="0">
                    <a:solidFill>
                      <a:srgbClr val="FF0000"/>
                    </a:solidFill>
                  </a:rPr>
                  <a:t>。因此， 反向傳播是由後往前計算的！</a:t>
                </a:r>
              </a:p>
            </p:txBody>
          </p:sp>
        </mc:Choice>
        <mc:Fallback xmlns="">
          <p:sp>
            <p:nvSpPr>
              <p:cNvPr id="18" name="文字方塊 17">
                <a:extLst>
                  <a:ext uri="{FF2B5EF4-FFF2-40B4-BE49-F238E27FC236}">
                    <a16:creationId xmlns:a16="http://schemas.microsoft.com/office/drawing/2014/main" id="{771D588D-1824-5DB8-5E1F-13057C94406A}"/>
                  </a:ext>
                </a:extLst>
              </p:cNvPr>
              <p:cNvSpPr txBox="1">
                <a:spLocks noRot="1" noChangeAspect="1" noMove="1" noResize="1" noEditPoints="1" noAdjustHandles="1" noChangeArrowheads="1" noChangeShapeType="1" noTextEdit="1"/>
              </p:cNvSpPr>
              <p:nvPr/>
            </p:nvSpPr>
            <p:spPr>
              <a:xfrm>
                <a:off x="6521116" y="4615251"/>
                <a:ext cx="5325979" cy="1453539"/>
              </a:xfrm>
              <a:prstGeom prst="rect">
                <a:avLst/>
              </a:prstGeom>
              <a:blipFill>
                <a:blip r:embed="rId5"/>
                <a:stretch>
                  <a:fillRect l="-1905" t="-3448" b="-86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25745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C569AD-3A64-B232-E702-5B5AC3101105}"/>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FF7611E-5D1C-DE8C-F7A0-DE7215A6A686}"/>
                  </a:ext>
                </a:extLst>
              </p:cNvPr>
              <p:cNvSpPr>
                <a:spLocks noGrp="1"/>
              </p:cNvSpPr>
              <p:nvPr>
                <p:ph idx="1"/>
              </p:nvPr>
            </p:nvSpPr>
            <p:spPr>
              <a:xfrm>
                <a:off x="1097280" y="2108201"/>
                <a:ext cx="10058400" cy="3426325"/>
              </a:xfrm>
            </p:spPr>
            <p:txBody>
              <a:bodyPr>
                <a:normAutofit/>
              </a:bodyPr>
              <a:lstStyle/>
              <a:p>
                <a:r>
                  <a:rPr kumimoji="1" lang="zh-TW" altLang="en-US" dirty="0">
                    <a:latin typeface="Cambria Math" panose="02040503050406030204" pitchFamily="18" charset="0"/>
                  </a:rPr>
                  <a:t>最後，將此結果：</a:t>
                </a:r>
                <a:endParaRPr kumimoji="1" lang="en-US" altLang="zh-TW"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𝑓𝑜𝑙𝑙𝑜𝑤𝑠</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𝑞</m:t>
                          </m:r>
                          <m:r>
                            <a:rPr kumimoji="1" lang="en-US" altLang="zh-TW" i="1">
                              <a:latin typeface="Cambria Math" panose="02040503050406030204" pitchFamily="18" charset="0"/>
                              <a:ea typeface="Cambria Math" panose="02040503050406030204" pitchFamily="18" charset="0"/>
                            </a:rPr>
                            <m:t>)</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𝑞𝑘</m:t>
                              </m:r>
                            </m:sub>
                          </m:sSub>
                          <m:r>
                            <a:rPr kumimoji="1" lang="en-US" altLang="zh-TW" i="1">
                              <a:latin typeface="Cambria Math" panose="02040503050406030204" pitchFamily="18" charset="0"/>
                            </a:rPr>
                            <m:t>)</m:t>
                          </m:r>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m:oMathPara>
                </a14:m>
                <a:endParaRPr kumimoji="1" lang="en-US" altLang="zh-TW" dirty="0"/>
              </a:p>
              <a:p>
                <a:r>
                  <a:rPr kumimoji="1" lang="zh-TW" altLang="en-US" dirty="0"/>
                  <a:t>帶回梯度下降演算法，並且設定學習率為 </a:t>
                </a:r>
                <a14:m>
                  <m:oMath xmlns:m="http://schemas.openxmlformats.org/officeDocument/2006/math">
                    <m:r>
                      <a:rPr kumimoji="1" lang="en-US" altLang="zh-TW" i="1">
                        <a:latin typeface="Cambria Math" panose="02040503050406030204" pitchFamily="18" charset="0"/>
                      </a:rPr>
                      <m:t>𝑐</m:t>
                    </m:r>
                    <m:r>
                      <a:rPr kumimoji="1" lang="zh-TW" altLang="en-US" i="1">
                        <a:latin typeface="Cambria Math" panose="02040503050406030204" pitchFamily="18" charset="0"/>
                      </a:rPr>
                      <m:t>，</m:t>
                    </m:r>
                  </m:oMath>
                </a14:m>
                <a:r>
                  <a:rPr kumimoji="1" lang="zh-TW" altLang="en-US" dirty="0"/>
                  <a:t>則：</a:t>
                </a:r>
                <a:endParaRPr kumimoji="1" lang="en-US" altLang="zh-TW" dirty="0"/>
              </a:p>
              <a:p>
                <a:pPr marL="0" indent="0">
                  <a:buNone/>
                </a:pPr>
                <a14:m>
                  <m:oMathPara xmlns:m="http://schemas.openxmlformats.org/officeDocument/2006/math">
                    <m:oMathParaPr>
                      <m:jc m:val="centerGroup"/>
                    </m:oMathParaPr>
                    <m:oMath xmlns:m="http://schemas.openxmlformats.org/officeDocument/2006/math">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i="1">
                          <a:latin typeface="Cambria Math" panose="02040503050406030204" pitchFamily="18" charset="0"/>
                        </a:rPr>
                        <m:t>=</m:t>
                      </m:r>
                      <m:r>
                        <a:rPr kumimoji="1" lang="en-US" altLang="zh-TW" b="0" i="1" smtClean="0">
                          <a:latin typeface="Cambria Math" panose="02040503050406030204" pitchFamily="18" charset="0"/>
                        </a:rPr>
                        <m:t>−</m:t>
                      </m:r>
                      <m:r>
                        <a:rPr kumimoji="1" lang="en-US" altLang="zh-TW" i="1">
                          <a:latin typeface="Cambria Math" panose="02040503050406030204" pitchFamily="18" charset="0"/>
                        </a:rPr>
                        <m:t>𝑐</m:t>
                      </m:r>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𝑓𝑜𝑙𝑙𝑜𝑤𝑠</m:t>
                          </m:r>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𝑞</m:t>
                          </m:r>
                          <m:r>
                            <a:rPr kumimoji="1" lang="en-US" altLang="zh-TW" i="1">
                              <a:latin typeface="Cambria Math" panose="02040503050406030204" pitchFamily="18" charset="0"/>
                              <a:ea typeface="Cambria Math" panose="02040503050406030204" pitchFamily="18" charset="0"/>
                            </a:rPr>
                            <m:t>)</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𝑞𝑘</m:t>
                              </m:r>
                            </m:sub>
                          </m:sSub>
                          <m:r>
                            <a:rPr kumimoji="1" lang="en-US" altLang="zh-TW" i="1">
                              <a:latin typeface="Cambria Math" panose="02040503050406030204" pitchFamily="18" charset="0"/>
                            </a:rPr>
                            <m:t>)</m:t>
                          </m:r>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oMath>
                  </m:oMathPara>
                </a14:m>
                <a:endParaRPr kumimoji="1" lang="en-US" altLang="zh-TW" dirty="0"/>
              </a:p>
              <a:p>
                <a:pPr marL="0" indent="0">
                  <a:buNone/>
                </a:pPr>
                <a:endParaRPr kumimoji="1" lang="en-US" altLang="zh-TW" dirty="0"/>
              </a:p>
              <a:p>
                <a:pPr marL="0" indent="0">
                  <a:buNone/>
                </a:pPr>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CFF7611E-5D1C-DE8C-F7A0-DE7215A6A686}"/>
                  </a:ext>
                </a:extLst>
              </p:cNvPr>
              <p:cNvSpPr>
                <a:spLocks noGrp="1" noRot="1" noChangeAspect="1" noMove="1" noResize="1" noEditPoints="1" noAdjustHandles="1" noChangeArrowheads="1" noChangeShapeType="1" noTextEdit="1"/>
              </p:cNvSpPr>
              <p:nvPr>
                <p:ph idx="1"/>
              </p:nvPr>
            </p:nvSpPr>
            <p:spPr>
              <a:xfrm>
                <a:off x="1097280" y="2108201"/>
                <a:ext cx="10058400" cy="3426325"/>
              </a:xfrm>
              <a:blipFill>
                <a:blip r:embed="rId2"/>
                <a:stretch>
                  <a:fillRect l="-1009" t="-26667" b="-3666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0FE71725-50A6-54B6-746F-8185720B3F6B}"/>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11D93BDD-35E7-0E31-8EEB-4A67558A8ED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879584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18D3FA-3CFC-3CAE-D5E8-BE4F61EA8125}"/>
              </a:ext>
            </a:extLst>
          </p:cNvPr>
          <p:cNvSpPr>
            <a:spLocks noGrp="1"/>
          </p:cNvSpPr>
          <p:nvPr>
            <p:ph type="title"/>
          </p:nvPr>
        </p:nvSpPr>
        <p:spPr/>
        <p:txBody>
          <a:bodyPr/>
          <a:lstStyle/>
          <a:p>
            <a:r>
              <a:rPr lang="zh-TW" altLang="en-US" dirty="0">
                <a:solidFill>
                  <a:schemeClr val="tx1">
                    <a:lumMod val="85000"/>
                    <a:lumOff val="15000"/>
                  </a:schemeClr>
                </a:solidFill>
              </a:rPr>
              <a:t>反向傳播公式證明</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2FAD660-12CF-026E-95E1-1DF52F20BC6D}"/>
                  </a:ext>
                </a:extLst>
              </p:cNvPr>
              <p:cNvSpPr>
                <a:spLocks noGrp="1"/>
              </p:cNvSpPr>
              <p:nvPr>
                <p:ph idx="1"/>
              </p:nvPr>
            </p:nvSpPr>
            <p:spPr>
              <a:xfrm>
                <a:off x="1097280" y="2108201"/>
                <a:ext cx="10058400" cy="4208378"/>
              </a:xfrm>
            </p:spPr>
            <p:txBody>
              <a:bodyPr>
                <a:normAutofit/>
              </a:bodyPr>
              <a:lstStyle/>
              <a:p>
                <a:r>
                  <a:rPr kumimoji="1" lang="zh-TW" altLang="en-US" dirty="0"/>
                  <a:t>方便使用的公式整理（</a:t>
                </a: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 </m:t>
                    </m:r>
                    <m:r>
                      <a:rPr kumimoji="1" lang="en-US" altLang="zh-TW" b="0" i="1" smtClean="0">
                        <a:latin typeface="Cambria Math" panose="02040503050406030204" pitchFamily="18" charset="0"/>
                      </a:rPr>
                      <m:t>≔</m:t>
                    </m:r>
                    <m:r>
                      <a:rPr kumimoji="1" lang="en-US" altLang="zh-TW" b="0" i="0"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smtClean="0">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b="0" i="1" smtClean="0">
                                <a:latin typeface="Cambria Math" panose="02040503050406030204" pitchFamily="18" charset="0"/>
                              </a:rPr>
                              <m:t>𝑞</m:t>
                            </m:r>
                          </m:sub>
                        </m:sSub>
                      </m:den>
                    </m:f>
                    <m:r>
                      <a:rPr kumimoji="1" lang="en-US" altLang="zh-TW" i="1">
                        <a:latin typeface="Cambria Math" panose="02040503050406030204" pitchFamily="18" charset="0"/>
                      </a:rPr>
                      <m:t> </m:t>
                    </m:r>
                  </m:oMath>
                </a14:m>
                <a:r>
                  <a:rPr kumimoji="1" lang="zh-TW" altLang="en-US" dirty="0"/>
                  <a:t>）：</a:t>
                </a:r>
                <a:endParaRPr kumimoji="1" lang="en-US" altLang="zh-TW" dirty="0"/>
              </a:p>
              <a:p>
                <a:pPr>
                  <a:buFont typeface="Wingdings" pitchFamily="2" charset="2"/>
                  <a:buChar char="n"/>
                </a:pPr>
                <a:r>
                  <a:rPr kumimoji="1" lang="zh-TW" altLang="en-US" dirty="0"/>
                  <a:t> </a:t>
                </a:r>
                <a:r>
                  <a:rPr kumimoji="1" lang="en-US" altLang="zh-TW" dirty="0"/>
                  <a:t>If </a:t>
                </a:r>
                <a14:m>
                  <m:oMath xmlns:m="http://schemas.openxmlformats.org/officeDocument/2006/math">
                    <m:r>
                      <a:rPr kumimoji="1" lang="en-US" altLang="zh-TW" b="0" i="1" smtClean="0">
                        <a:latin typeface="Cambria Math" panose="02040503050406030204" pitchFamily="18" charset="0"/>
                      </a:rPr>
                      <m:t>𝑞</m:t>
                    </m:r>
                  </m:oMath>
                </a14:m>
                <a:r>
                  <a:rPr kumimoji="1" lang="en-US" altLang="zh-TW" dirty="0"/>
                  <a:t> is in the output layer, then </a:t>
                </a:r>
                <a:endParaRPr kumimoji="1" lang="en-US" altLang="zh-TW"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smtClean="0">
                              <a:latin typeface="Cambria Math" panose="02040503050406030204" pitchFamily="18" charset="0"/>
                            </a:rPr>
                          </m:ctrlPr>
                        </m:sSubPr>
                        <m:e>
                          <m:r>
                            <a:rPr kumimoji="1" lang="en-US" altLang="zh-TW" i="1" smtClean="0">
                              <a:latin typeface="Cambria Math" panose="02040503050406030204" pitchFamily="18" charset="0"/>
                              <a:ea typeface="Cambria Math" panose="02040503050406030204" pitchFamily="18" charset="0"/>
                            </a:rPr>
                            <m:t>𝛿</m:t>
                          </m:r>
                        </m:e>
                        <m:sub>
                          <m:r>
                            <a:rPr kumimoji="1" lang="en-US" altLang="zh-TW" b="0" i="1" smtClean="0">
                              <a:latin typeface="Cambria Math" panose="02040503050406030204" pitchFamily="18" charset="0"/>
                            </a:rPr>
                            <m:t>𝑞</m:t>
                          </m:r>
                        </m:sub>
                      </m:sSub>
                      <m:r>
                        <a:rPr kumimoji="1" lang="en-US" altLang="zh-TW" b="0" i="1" smtClean="0">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m:oMathPara>
                </a14:m>
                <a:endParaRPr kumimoji="1" lang="en-US" altLang="zh-TW" dirty="0"/>
              </a:p>
              <a:p>
                <a:pPr>
                  <a:buFont typeface="Wingdings" pitchFamily="2" charset="2"/>
                  <a:buChar char="n"/>
                </a:pPr>
                <a:r>
                  <a:rPr kumimoji="1" lang="en-US" altLang="zh-TW" dirty="0"/>
                  <a:t> If </a:t>
                </a:r>
                <a14:m>
                  <m:oMath xmlns:m="http://schemas.openxmlformats.org/officeDocument/2006/math">
                    <m:r>
                      <a:rPr kumimoji="1" lang="en-US" altLang="zh-TW" i="1">
                        <a:latin typeface="Cambria Math" panose="02040503050406030204" pitchFamily="18" charset="0"/>
                      </a:rPr>
                      <m:t>𝑞</m:t>
                    </m:r>
                  </m:oMath>
                </a14:m>
                <a:r>
                  <a:rPr kumimoji="1" lang="en-US" altLang="zh-TW" dirty="0"/>
                  <a:t> is in a hidden layer, then </a:t>
                </a:r>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smtClean="0">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r>
                        <a:rPr kumimoji="1" lang="en-US" altLang="zh-TW" b="0" i="1" smtClean="0">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b="0" i="1" smtClean="0">
                                  <a:latin typeface="Cambria Math" panose="02040503050406030204" pitchFamily="18" charset="0"/>
                                  <a:ea typeface="Cambria Math" panose="02040503050406030204" pitchFamily="18" charset="0"/>
                                </a:rPr>
                                <m:t>𝑘</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𝑞𝑘</m:t>
                              </m:r>
                            </m:sub>
                          </m:sSub>
                          <m:r>
                            <a:rPr kumimoji="1" lang="en-US" altLang="zh-TW" i="1">
                              <a:latin typeface="Cambria Math" panose="02040503050406030204" pitchFamily="18" charset="0"/>
                            </a:rPr>
                            <m:t>)</m:t>
                          </m:r>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m:oMathPara>
                </a14:m>
                <a:endParaRPr kumimoji="1" lang="en-US" altLang="zh-TW" dirty="0"/>
              </a:p>
              <a:p>
                <a:pPr>
                  <a:buFont typeface="Wingdings" pitchFamily="2" charset="2"/>
                  <a:buChar char="n"/>
                </a:pPr>
                <a:r>
                  <a:rPr kumimoji="1" lang="zh-TW" altLang="en-US" dirty="0"/>
                  <a:t> </a:t>
                </a:r>
                <a:r>
                  <a:rPr kumimoji="1" lang="en-US" altLang="zh-TW" dirty="0"/>
                  <a:t>It follows that </a:t>
                </a:r>
              </a:p>
              <a:p>
                <a:pPr marL="0" indent="0">
                  <a:buNone/>
                </a:pPr>
                <a14:m>
                  <m:oMathPara xmlns:m="http://schemas.openxmlformats.org/officeDocument/2006/math">
                    <m:oMathParaPr>
                      <m:jc m:val="centerGroup"/>
                    </m:oMathParaPr>
                    <m:oMath xmlns:m="http://schemas.openxmlformats.org/officeDocument/2006/math">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𝑐</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b="0" i="1" smtClean="0">
                              <a:latin typeface="Cambria Math" panose="02040503050406030204" pitchFamily="18" charset="0"/>
                            </a:rPr>
                            <m:t>𝑝</m:t>
                          </m:r>
                        </m:sub>
                      </m:sSub>
                    </m:oMath>
                  </m:oMathPara>
                </a14:m>
                <a:endParaRPr kumimoji="1" lang="en-US" altLang="zh-TW" dirty="0"/>
              </a:p>
            </p:txBody>
          </p:sp>
        </mc:Choice>
        <mc:Fallback xmlns="">
          <p:sp>
            <p:nvSpPr>
              <p:cNvPr id="3" name="內容版面配置區 2">
                <a:extLst>
                  <a:ext uri="{FF2B5EF4-FFF2-40B4-BE49-F238E27FC236}">
                    <a16:creationId xmlns:a16="http://schemas.microsoft.com/office/drawing/2014/main" id="{52FAD660-12CF-026E-95E1-1DF52F20BC6D}"/>
                  </a:ext>
                </a:extLst>
              </p:cNvPr>
              <p:cNvSpPr>
                <a:spLocks noGrp="1" noRot="1" noChangeAspect="1" noMove="1" noResize="1" noEditPoints="1" noAdjustHandles="1" noChangeArrowheads="1" noChangeShapeType="1" noTextEdit="1"/>
              </p:cNvSpPr>
              <p:nvPr>
                <p:ph idx="1"/>
              </p:nvPr>
            </p:nvSpPr>
            <p:spPr>
              <a:xfrm>
                <a:off x="1097280" y="2108201"/>
                <a:ext cx="10058400" cy="4208378"/>
              </a:xfrm>
              <a:blipFill>
                <a:blip r:embed="rId2"/>
                <a:stretch>
                  <a:fillRect l="-1765" b="-18072"/>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7E647C4-FF77-E820-55DB-78FA981F6B5A}"/>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183DFFF3-904E-ECF7-B033-2A22719F139D}"/>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514212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884601-7791-5E0E-FF10-EAF82748C316}"/>
              </a:ext>
            </a:extLst>
          </p:cNvPr>
          <p:cNvSpPr>
            <a:spLocks noGrp="1"/>
          </p:cNvSpPr>
          <p:nvPr>
            <p:ph type="title"/>
          </p:nvPr>
        </p:nvSpPr>
        <p:spPr/>
        <p:txBody>
          <a:bodyPr/>
          <a:lstStyle/>
          <a:p>
            <a:r>
              <a:rPr lang="zh-TW" altLang="en-US" dirty="0">
                <a:solidFill>
                  <a:schemeClr val="tx1">
                    <a:lumMod val="85000"/>
                    <a:lumOff val="15000"/>
                  </a:schemeClr>
                </a:solidFill>
              </a:rPr>
              <a:t>反向傳播計算</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4B58FA9-4A03-F89B-6A13-A2E53A1E508E}"/>
                  </a:ext>
                </a:extLst>
              </p:cNvPr>
              <p:cNvSpPr>
                <a:spLocks noGrp="1"/>
              </p:cNvSpPr>
              <p:nvPr>
                <p:ph idx="1"/>
              </p:nvPr>
            </p:nvSpPr>
            <p:spPr>
              <a:xfrm>
                <a:off x="1097280" y="2108201"/>
                <a:ext cx="9896302" cy="3763210"/>
              </a:xfrm>
            </p:spPr>
            <p:txBody>
              <a:bodyPr/>
              <a:lstStyle/>
              <a:p>
                <a:r>
                  <a:rPr lang="zh-TW" altLang="en-US" dirty="0"/>
                  <a:t>假設有一人工神經網路之架構為 </a:t>
                </a:r>
                <a:r>
                  <a:rPr lang="en-US" altLang="zh-TW" dirty="0"/>
                  <a:t>2-2-1</a:t>
                </a:r>
                <a:r>
                  <a:rPr lang="zh-TW" altLang="en-US" dirty="0"/>
                  <a:t>，且所有權重（包含 </a:t>
                </a:r>
                <a:r>
                  <a:rPr lang="en-US" altLang="zh-TW" dirty="0"/>
                  <a:t>bias</a:t>
                </a:r>
                <a:r>
                  <a:rPr lang="zh-TW" altLang="en-US" dirty="0"/>
                  <a:t> </a:t>
                </a:r>
                <a:r>
                  <a:rPr lang="en-US" altLang="zh-TW" dirty="0"/>
                  <a:t>term</a:t>
                </a:r>
                <a:r>
                  <a:rPr lang="zh-TW" altLang="en-US" dirty="0"/>
                  <a:t>）初始值均為 </a:t>
                </a:r>
                <a:r>
                  <a:rPr lang="en-US" altLang="zh-TW" dirty="0"/>
                  <a:t>0.5</a:t>
                </a:r>
                <a:r>
                  <a:rPr lang="zh-TW" altLang="en-US" dirty="0"/>
                  <a:t>。學習率為 </a:t>
                </a:r>
                <a:r>
                  <a:rPr lang="en-US" altLang="zh-TW" dirty="0"/>
                  <a:t>1</a:t>
                </a:r>
                <a:r>
                  <a:rPr lang="zh-TW" altLang="en-US" dirty="0"/>
                  <a:t>、</a:t>
                </a:r>
                <a:r>
                  <a:rPr lang="en-US" altLang="zh-TW" dirty="0"/>
                  <a:t>Hidden</a:t>
                </a:r>
                <a:r>
                  <a:rPr lang="zh-TW" altLang="en-US" dirty="0"/>
                  <a:t> </a:t>
                </a:r>
                <a:r>
                  <a:rPr lang="en-US" altLang="zh-TW" dirty="0"/>
                  <a:t>layers</a:t>
                </a:r>
                <a:r>
                  <a:rPr lang="zh-TW" altLang="en-US" dirty="0"/>
                  <a:t> 的神經元使用的非線性激活函數為 </a:t>
                </a:r>
                <a:r>
                  <a:rPr lang="en-US" altLang="zh-TW" dirty="0"/>
                  <a:t>logistic</a:t>
                </a:r>
                <a:r>
                  <a:rPr lang="zh-TW" altLang="en-US" dirty="0"/>
                  <a:t> </a:t>
                </a:r>
                <a:r>
                  <a:rPr lang="en-US" altLang="zh-TW" dirty="0"/>
                  <a:t>function</a:t>
                </a:r>
                <a:r>
                  <a:rPr lang="zh-TW" altLang="en-US" dirty="0"/>
                  <a:t>。訓練數據中的第一筆資料為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=0.9,</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r>
                      <a:rPr lang="en-US" altLang="zh-TW" i="1">
                        <a:latin typeface="Cambria Math" panose="02040503050406030204" pitchFamily="18" charset="0"/>
                      </a:rPr>
                      <m:t>=0.</m:t>
                    </m:r>
                    <m:r>
                      <a:rPr lang="en-US" altLang="zh-TW" b="0" i="1" smtClean="0">
                        <a:latin typeface="Cambria Math" panose="02040503050406030204" pitchFamily="18" charset="0"/>
                      </a:rPr>
                      <m:t>6</m:t>
                    </m:r>
                  </m:oMath>
                </a14:m>
                <a:r>
                  <a:rPr lang="zh-TW" altLang="en-US" dirty="0"/>
                  <a:t>，目標值為 </a:t>
                </a:r>
                <a:r>
                  <a:rPr lang="en-US" altLang="zh-TW" dirty="0"/>
                  <a:t>0</a:t>
                </a:r>
                <a:r>
                  <a:rPr lang="zh-TW" altLang="en-US" dirty="0"/>
                  <a:t>。</a:t>
                </a:r>
                <a:br>
                  <a:rPr lang="zh-TW" altLang="en-US" dirty="0"/>
                </a:br>
                <a:endParaRPr kumimoji="1" lang="zh-TW" altLang="en-US" dirty="0"/>
              </a:p>
            </p:txBody>
          </p:sp>
        </mc:Choice>
        <mc:Fallback xmlns="">
          <p:sp>
            <p:nvSpPr>
              <p:cNvPr id="3" name="內容版面配置區 2">
                <a:extLst>
                  <a:ext uri="{FF2B5EF4-FFF2-40B4-BE49-F238E27FC236}">
                    <a16:creationId xmlns:a16="http://schemas.microsoft.com/office/drawing/2014/main" id="{C4B58FA9-4A03-F89B-6A13-A2E53A1E508E}"/>
                  </a:ext>
                </a:extLst>
              </p:cNvPr>
              <p:cNvSpPr>
                <a:spLocks noGrp="1" noRot="1" noChangeAspect="1" noMove="1" noResize="1" noEditPoints="1" noAdjustHandles="1" noChangeArrowheads="1" noChangeShapeType="1" noTextEdit="1"/>
              </p:cNvSpPr>
              <p:nvPr>
                <p:ph idx="1"/>
              </p:nvPr>
            </p:nvSpPr>
            <p:spPr>
              <a:xfrm>
                <a:off x="1097280" y="2108201"/>
                <a:ext cx="9896302" cy="3763210"/>
              </a:xfrm>
              <a:blipFill>
                <a:blip r:embed="rId2"/>
                <a:stretch>
                  <a:fillRect l="-1026" t="-1347" r="-166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1B786EB6-FF7D-06F7-156D-5115F3D69C0B}"/>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1CC8ED4-03F8-6F85-10F7-61F0EC4DF9CA}"/>
              </a:ext>
            </a:extLst>
          </p:cNvPr>
          <p:cNvSpPr>
            <a:spLocks noGrp="1"/>
          </p:cNvSpPr>
          <p:nvPr>
            <p:ph type="sldNum" sz="quarter" idx="12"/>
          </p:nvPr>
        </p:nvSpPr>
        <p:spPr/>
        <p:txBody>
          <a:bodyPr/>
          <a:lstStyle/>
          <a:p>
            <a:r>
              <a:rPr lang="en-US" altLang="zh-TW" dirty="0"/>
              <a:t>Deep Learning</a:t>
            </a:r>
          </a:p>
        </p:txBody>
      </p:sp>
      <p:pic>
        <p:nvPicPr>
          <p:cNvPr id="43" name="圖形 42">
            <a:extLst>
              <a:ext uri="{FF2B5EF4-FFF2-40B4-BE49-F238E27FC236}">
                <a16:creationId xmlns:a16="http://schemas.microsoft.com/office/drawing/2014/main" id="{1243E093-26F6-51BB-9B9A-7E26E85290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1418" y="3559278"/>
            <a:ext cx="4390123" cy="2419374"/>
          </a:xfrm>
          <a:prstGeom prst="rect">
            <a:avLst/>
          </a:prstGeom>
        </p:spPr>
      </p:pic>
    </p:spTree>
    <p:extLst>
      <p:ext uri="{BB962C8B-B14F-4D97-AF65-F5344CB8AC3E}">
        <p14:creationId xmlns:p14="http://schemas.microsoft.com/office/powerpoint/2010/main" val="3359507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A85A33-68DB-550C-32F0-4F0C63AD7D9D}"/>
              </a:ext>
            </a:extLst>
          </p:cNvPr>
          <p:cNvSpPr>
            <a:spLocks noGrp="1"/>
          </p:cNvSpPr>
          <p:nvPr>
            <p:ph type="title"/>
          </p:nvPr>
        </p:nvSpPr>
        <p:spPr/>
        <p:txBody>
          <a:bodyPr/>
          <a:lstStyle/>
          <a:p>
            <a:r>
              <a:rPr lang="zh-TW" altLang="en-US" dirty="0">
                <a:solidFill>
                  <a:schemeClr val="tx1">
                    <a:lumMod val="85000"/>
                    <a:lumOff val="15000"/>
                  </a:schemeClr>
                </a:solidFill>
              </a:rPr>
              <a:t>反向傳播計算</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8B1EDD1-1F7F-3E18-61FF-B0BA2E451329}"/>
                  </a:ext>
                </a:extLst>
              </p:cNvPr>
              <p:cNvSpPr>
                <a:spLocks noGrp="1"/>
              </p:cNvSpPr>
              <p:nvPr>
                <p:ph idx="1"/>
              </p:nvPr>
            </p:nvSpPr>
            <p:spPr>
              <a:xfrm>
                <a:off x="1097280" y="2108201"/>
                <a:ext cx="10058400" cy="4088062"/>
              </a:xfrm>
            </p:spPr>
            <p:txBody>
              <a:bodyPr>
                <a:normAutofit/>
              </a:bodyPr>
              <a:lstStyle/>
              <a:p>
                <a:r>
                  <a:rPr kumimoji="1" lang="zh-TW" altLang="en-US" dirty="0"/>
                  <a:t>正向傳播：</a:t>
                </a:r>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b="0" i="1" smtClean="0">
                            <a:latin typeface="Cambria Math" panose="02040503050406030204" pitchFamily="18" charset="0"/>
                          </a:rPr>
                          <m:t> </m:t>
                        </m:r>
                        <m:r>
                          <a:rPr kumimoji="1" lang="en-US" altLang="zh-TW" i="1">
                            <a:latin typeface="Cambria Math" panose="02040503050406030204" pitchFamily="18" charset="0"/>
                          </a:rPr>
                          <m:t>𝑛𝑒𝑡</m:t>
                        </m:r>
                      </m:e>
                      <m:sub>
                        <m:r>
                          <a:rPr kumimoji="1" lang="en-US" altLang="zh-TW" b="0" i="1" smtClean="0">
                            <a:latin typeface="Cambria Math" panose="02040503050406030204" pitchFamily="18" charset="0"/>
                          </a:rPr>
                          <m:t>4</m:t>
                        </m:r>
                      </m:sub>
                    </m:sSub>
                    <m:r>
                      <a:rPr kumimoji="1" lang="en-US" altLang="zh-TW" i="1">
                        <a:latin typeface="Cambria Math" panose="02040503050406030204" pitchFamily="18" charset="0"/>
                      </a:rPr>
                      <m:t>=</m:t>
                    </m:r>
                    <m:r>
                      <a:rPr kumimoji="1" lang="en-US" altLang="zh-TW" b="0" i="1" smtClean="0">
                        <a:latin typeface="Cambria Math" panose="02040503050406030204" pitchFamily="18" charset="0"/>
                      </a:rPr>
                      <m:t>0.9</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0.5+0.6</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0.5+1</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0.5=1.25</m:t>
                    </m:r>
                  </m:oMath>
                </a14:m>
                <a:endParaRPr kumimoji="1" lang="en-US" altLang="zh-TW" b="0"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b="0" i="1" smtClean="0">
                            <a:latin typeface="Cambria Math" panose="02040503050406030204" pitchFamily="18" charset="0"/>
                          </a:rPr>
                          <m:t>5</m:t>
                        </m:r>
                      </m:sub>
                    </m:sSub>
                    <m:r>
                      <a:rPr kumimoji="1" lang="en-US" altLang="zh-TW" i="1">
                        <a:latin typeface="Cambria Math" panose="02040503050406030204" pitchFamily="18" charset="0"/>
                      </a:rPr>
                      <m:t>=1.25</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b="0" i="1" smtClean="0">
                            <a:latin typeface="Cambria Math" panose="02040503050406030204" pitchFamily="18" charset="0"/>
                          </a:rPr>
                          <m:t>4</m:t>
                        </m:r>
                      </m:sub>
                    </m:sSub>
                    <m:r>
                      <a:rPr kumimoji="1" lang="en-US" altLang="zh-TW" i="1">
                        <a:latin typeface="Cambria Math" panose="02040503050406030204" pitchFamily="18" charset="0"/>
                      </a:rPr>
                      <m:t>=</m:t>
                    </m:r>
                    <m:f>
                      <m:fPr>
                        <m:ctrlPr>
                          <a:rPr kumimoji="1" lang="en-US" altLang="zh-TW" i="1" smtClean="0">
                            <a:latin typeface="Cambria Math" panose="02040503050406030204" pitchFamily="18" charset="0"/>
                          </a:rPr>
                        </m:ctrlPr>
                      </m:fPr>
                      <m:num>
                        <m:r>
                          <a:rPr kumimoji="1" lang="en-US" altLang="zh-TW" b="0" i="1" smtClean="0">
                            <a:latin typeface="Cambria Math" panose="02040503050406030204" pitchFamily="18" charset="0"/>
                          </a:rPr>
                          <m:t>1</m:t>
                        </m:r>
                      </m:num>
                      <m:den>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1+</m:t>
                            </m:r>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b="0" i="1" smtClean="0">
                                <a:latin typeface="Cambria Math" panose="02040503050406030204" pitchFamily="18" charset="0"/>
                              </a:rPr>
                              <m:t>1.25</m:t>
                            </m:r>
                          </m:sup>
                        </m:sSup>
                      </m:den>
                    </m:f>
                    <m:r>
                      <a:rPr kumimoji="1" lang="en-US" altLang="zh-TW" b="0" i="1" smtClean="0">
                        <a:latin typeface="Cambria Math" panose="02040503050406030204" pitchFamily="18" charset="0"/>
                      </a:rPr>
                      <m:t>=0.777</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b="0" i="1" smtClean="0">
                            <a:latin typeface="Cambria Math" panose="02040503050406030204" pitchFamily="18" charset="0"/>
                          </a:rPr>
                          <m:t> </m:t>
                        </m:r>
                        <m:r>
                          <a:rPr kumimoji="1" lang="en-US" altLang="zh-TW" i="1">
                            <a:latin typeface="Cambria Math" panose="02040503050406030204" pitchFamily="18" charset="0"/>
                          </a:rPr>
                          <m:t>𝑜</m:t>
                        </m:r>
                      </m:e>
                      <m:sub>
                        <m:r>
                          <a:rPr kumimoji="1" lang="en-US" altLang="zh-TW" b="0" i="1" smtClean="0">
                            <a:latin typeface="Cambria Math" panose="02040503050406030204" pitchFamily="18" charset="0"/>
                          </a:rPr>
                          <m:t>5</m:t>
                        </m:r>
                      </m:sub>
                    </m:sSub>
                    <m:r>
                      <a:rPr kumimoji="1" lang="en-US" altLang="zh-TW" i="1">
                        <a:latin typeface="Cambria Math" panose="02040503050406030204" pitchFamily="18" charset="0"/>
                      </a:rPr>
                      <m:t>=0.777</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b="0" i="1" smtClean="0">
                            <a:latin typeface="Cambria Math" panose="02040503050406030204" pitchFamily="18" charset="0"/>
                          </a:rPr>
                          <m:t>7</m:t>
                        </m:r>
                      </m:sub>
                    </m:sSub>
                    <m:r>
                      <a:rPr kumimoji="1" lang="en-US" altLang="zh-TW" i="1">
                        <a:latin typeface="Cambria Math" panose="02040503050406030204" pitchFamily="18" charset="0"/>
                      </a:rPr>
                      <m:t>=</m:t>
                    </m:r>
                    <m:r>
                      <a:rPr kumimoji="1" lang="en-US" altLang="zh-TW" b="0" i="1" smtClean="0">
                        <a:latin typeface="Cambria Math" panose="02040503050406030204" pitchFamily="18" charset="0"/>
                      </a:rPr>
                      <m:t>0.777∗0.5+0.777∗0.5+1∗0.5=1.277</m:t>
                    </m:r>
                  </m:oMath>
                </a14:m>
                <a:endParaRPr kumimoji="1" lang="en-US" altLang="zh-TW" b="0" dirty="0"/>
              </a:p>
              <a:p>
                <a:pPr>
                  <a:buFont typeface="Wingdings" pitchFamily="2" charset="2"/>
                  <a:buChar char="p"/>
                </a:pP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b="0" i="1" smtClean="0">
                            <a:latin typeface="Cambria Math" panose="02040503050406030204" pitchFamily="18" charset="0"/>
                          </a:rPr>
                          <m:t>7</m:t>
                        </m:r>
                      </m:sub>
                    </m:sSub>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1+</m:t>
                            </m:r>
                            <m:r>
                              <a:rPr kumimoji="1" lang="en-US" altLang="zh-TW" i="1">
                                <a:latin typeface="Cambria Math" panose="02040503050406030204" pitchFamily="18" charset="0"/>
                              </a:rPr>
                              <m:t>𝑒</m:t>
                            </m:r>
                          </m:e>
                          <m:sup>
                            <m:r>
                              <a:rPr kumimoji="1" lang="en-US" altLang="zh-TW" i="1">
                                <a:latin typeface="Cambria Math" panose="02040503050406030204" pitchFamily="18" charset="0"/>
                              </a:rPr>
                              <m:t>−1.2</m:t>
                            </m:r>
                            <m:r>
                              <a:rPr kumimoji="1" lang="en-US" altLang="zh-TW" b="0" i="1" smtClean="0">
                                <a:latin typeface="Cambria Math" panose="02040503050406030204" pitchFamily="18" charset="0"/>
                              </a:rPr>
                              <m:t>77</m:t>
                            </m:r>
                          </m:sup>
                        </m:sSup>
                      </m:den>
                    </m:f>
                    <m:r>
                      <a:rPr kumimoji="1" lang="en-US" altLang="zh-TW" i="1">
                        <a:latin typeface="Cambria Math" panose="02040503050406030204" pitchFamily="18" charset="0"/>
                      </a:rPr>
                      <m:t>=0.7</m:t>
                    </m:r>
                    <m:r>
                      <a:rPr kumimoji="1" lang="en-US" altLang="zh-TW" b="0" i="1" smtClean="0">
                        <a:latin typeface="Cambria Math" panose="02040503050406030204" pitchFamily="18" charset="0"/>
                      </a:rPr>
                      <m:t>82</m:t>
                    </m:r>
                  </m:oMath>
                </a14:m>
                <a:endParaRPr kumimoji="1" lang="en-US" altLang="zh-TW" dirty="0"/>
              </a:p>
            </p:txBody>
          </p:sp>
        </mc:Choice>
        <mc:Fallback xmlns="">
          <p:sp>
            <p:nvSpPr>
              <p:cNvPr id="3" name="內容版面配置區 2">
                <a:extLst>
                  <a:ext uri="{FF2B5EF4-FFF2-40B4-BE49-F238E27FC236}">
                    <a16:creationId xmlns:a16="http://schemas.microsoft.com/office/drawing/2014/main" id="{A8B1EDD1-1F7F-3E18-61FF-B0BA2E451329}"/>
                  </a:ext>
                </a:extLst>
              </p:cNvPr>
              <p:cNvSpPr>
                <a:spLocks noGrp="1" noRot="1" noChangeAspect="1" noMove="1" noResize="1" noEditPoints="1" noAdjustHandles="1" noChangeArrowheads="1" noChangeShapeType="1" noTextEdit="1"/>
              </p:cNvSpPr>
              <p:nvPr>
                <p:ph idx="1"/>
              </p:nvPr>
            </p:nvSpPr>
            <p:spPr>
              <a:xfrm>
                <a:off x="1097280" y="2108201"/>
                <a:ext cx="10058400" cy="4088062"/>
              </a:xfrm>
              <a:blipFill>
                <a:blip r:embed="rId2"/>
                <a:stretch>
                  <a:fillRect l="-1765" t="-1242"/>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E79562A6-BF26-D9C0-EE20-FD36C1CB8D3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CAF7AD92-19CB-84D3-88AA-4842A52C1465}"/>
              </a:ext>
            </a:extLst>
          </p:cNvPr>
          <p:cNvSpPr>
            <a:spLocks noGrp="1"/>
          </p:cNvSpPr>
          <p:nvPr>
            <p:ph type="sldNum" sz="quarter" idx="12"/>
          </p:nvPr>
        </p:nvSpPr>
        <p:spPr/>
        <p:txBody>
          <a:bodyPr/>
          <a:lstStyle/>
          <a:p>
            <a:r>
              <a:rPr lang="en-US" altLang="zh-TW" dirty="0"/>
              <a:t>Deep Learning</a:t>
            </a:r>
          </a:p>
        </p:txBody>
      </p:sp>
      <p:pic>
        <p:nvPicPr>
          <p:cNvPr id="7" name="圖形 6">
            <a:extLst>
              <a:ext uri="{FF2B5EF4-FFF2-40B4-BE49-F238E27FC236}">
                <a16:creationId xmlns:a16="http://schemas.microsoft.com/office/drawing/2014/main" id="{7B3C6A2A-990B-CFFE-E04B-CCA4F8874E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27912" y="2230830"/>
            <a:ext cx="3155675" cy="1739076"/>
          </a:xfrm>
          <a:prstGeom prst="rect">
            <a:avLst/>
          </a:prstGeom>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256FFF88-B7D5-46EF-ACC7-06F12CDE95CF}"/>
                  </a:ext>
                </a:extLst>
              </p:cNvPr>
              <p:cNvSpPr txBox="1"/>
              <p:nvPr/>
            </p:nvSpPr>
            <p:spPr>
              <a:xfrm>
                <a:off x="6593305" y="129858"/>
                <a:ext cx="5486401" cy="17180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14:m>
                  <m:oMath xmlns:m="http://schemas.openxmlformats.org/officeDocument/2006/math">
                    <m:sSub>
                      <m:sSubPr>
                        <m:ctrlPr>
                          <a:rPr kumimoji="1" lang="en-US" altLang="zh-TW" i="1" smtClean="0">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𝑟</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𝑟𝑞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𝑟</m:t>
                            </m:r>
                          </m:sub>
                        </m:sSub>
                      </m:e>
                    </m:nary>
                  </m:oMath>
                </a14:m>
                <a:r>
                  <a:rPr kumimoji="1" lang="en-US" altLang="zh-TW" dirty="0"/>
                  <a:t> </a:t>
                </a:r>
              </a:p>
              <a:p>
                <a:r>
                  <a:rPr kumimoji="1" lang="en-US" altLang="zh-TW" dirty="0"/>
                  <a:t>Output Layer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endParaRPr kumimoji="1" lang="en-US" altLang="zh-TW" dirty="0"/>
              </a:p>
              <a:p>
                <a:r>
                  <a:rPr kumimoji="1" lang="en-US" altLang="zh-TW" dirty="0"/>
                  <a:t>Hidden Layer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ea typeface="Cambria Math" panose="02040503050406030204" pitchFamily="18" charset="0"/>
                              </a:rPr>
                              <m:t>𝑘</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𝑞𝑘</m:t>
                            </m:r>
                          </m:sub>
                        </m:sSub>
                        <m:r>
                          <a:rPr kumimoji="1" lang="en-US" altLang="zh-TW" i="1">
                            <a:latin typeface="Cambria Math" panose="02040503050406030204" pitchFamily="18" charset="0"/>
                          </a:rPr>
                          <m:t>)</m:t>
                        </m:r>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endParaRPr kumimoji="1" lang="en-US" altLang="zh-TW" dirty="0"/>
              </a:p>
              <a:p>
                <a:r>
                  <a:rPr kumimoji="1" lang="en-US" altLang="zh-TW" dirty="0"/>
                  <a:t>Logistic Function </a:t>
                </a:r>
                <a14:m>
                  <m:oMath xmlns:m="http://schemas.openxmlformats.org/officeDocument/2006/math">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den>
                    </m:f>
                  </m:oMath>
                </a14:m>
                <a:endParaRPr kumimoji="1" lang="en-US" altLang="zh-TW" dirty="0"/>
              </a:p>
              <a:p>
                <a:r>
                  <a:rPr kumimoji="1" lang="en-US" altLang="zh-TW" dirty="0"/>
                  <a:t>Gradient Descent </a:t>
                </a:r>
                <a14:m>
                  <m:oMath xmlns:m="http://schemas.openxmlformats.org/officeDocument/2006/math">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i="1">
                        <a:latin typeface="Cambria Math" panose="02040503050406030204" pitchFamily="18" charset="0"/>
                      </a:rPr>
                      <m:t>=</m:t>
                    </m:r>
                    <m:r>
                      <a:rPr kumimoji="1" lang="en-US" altLang="zh-TW" i="1">
                        <a:latin typeface="Cambria Math" panose="02040503050406030204" pitchFamily="18" charset="0"/>
                      </a:rPr>
                      <m:t>𝑐</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oMath>
                </a14:m>
                <a:endParaRPr kumimoji="1" lang="en-US" altLang="zh-TW" dirty="0"/>
              </a:p>
            </p:txBody>
          </p:sp>
        </mc:Choice>
        <mc:Fallback xmlns="">
          <p:sp>
            <p:nvSpPr>
              <p:cNvPr id="8" name="文字方塊 7">
                <a:extLst>
                  <a:ext uri="{FF2B5EF4-FFF2-40B4-BE49-F238E27FC236}">
                    <a16:creationId xmlns:a16="http://schemas.microsoft.com/office/drawing/2014/main" id="{256FFF88-B7D5-46EF-ACC7-06F12CDE95CF}"/>
                  </a:ext>
                </a:extLst>
              </p:cNvPr>
              <p:cNvSpPr txBox="1">
                <a:spLocks noRot="1" noChangeAspect="1" noMove="1" noResize="1" noEditPoints="1" noAdjustHandles="1" noChangeArrowheads="1" noChangeShapeType="1" noTextEdit="1"/>
              </p:cNvSpPr>
              <p:nvPr/>
            </p:nvSpPr>
            <p:spPr>
              <a:xfrm>
                <a:off x="6593305" y="129858"/>
                <a:ext cx="5486401" cy="1718099"/>
              </a:xfrm>
              <a:prstGeom prst="rect">
                <a:avLst/>
              </a:prstGeom>
              <a:blipFill>
                <a:blip r:embed="rId5"/>
                <a:stretch>
                  <a:fillRect l="-690" t="-23913" b="-289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18105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47CD5F-7233-DC63-6BD5-E4D96E0BC879}"/>
              </a:ext>
            </a:extLst>
          </p:cNvPr>
          <p:cNvSpPr>
            <a:spLocks noGrp="1"/>
          </p:cNvSpPr>
          <p:nvPr>
            <p:ph type="title"/>
          </p:nvPr>
        </p:nvSpPr>
        <p:spPr/>
        <p:txBody>
          <a:bodyPr/>
          <a:lstStyle/>
          <a:p>
            <a:r>
              <a:rPr lang="zh-TW" altLang="en-US" dirty="0">
                <a:solidFill>
                  <a:schemeClr val="tx1">
                    <a:lumMod val="85000"/>
                    <a:lumOff val="15000"/>
                  </a:schemeClr>
                </a:solidFill>
              </a:rPr>
              <a:t>反向傳播計算</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0DB0A1A-05EF-D620-DDDF-60CEAB200897}"/>
                  </a:ext>
                </a:extLst>
              </p:cNvPr>
              <p:cNvSpPr>
                <a:spLocks noGrp="1"/>
              </p:cNvSpPr>
              <p:nvPr>
                <p:ph idx="1"/>
              </p:nvPr>
            </p:nvSpPr>
            <p:spPr/>
            <p:txBody>
              <a:bodyPr/>
              <a:lstStyle/>
              <a:p>
                <a:r>
                  <a:rPr kumimoji="1" lang="zh-TW" altLang="en-US" dirty="0"/>
                  <a:t>反向傳播：</a:t>
                </a:r>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b="0" i="1" smtClean="0">
                            <a:latin typeface="Cambria Math" panose="02040503050406030204" pitchFamily="18" charset="0"/>
                            <a:ea typeface="Cambria Math" panose="02040503050406030204" pitchFamily="18" charset="0"/>
                          </a:rPr>
                          <m:t>7</m:t>
                        </m:r>
                      </m:sub>
                    </m:sSub>
                    <m:r>
                      <a:rPr kumimoji="1" lang="en-US" altLang="zh-TW" b="0" i="1" smtClean="0">
                        <a:latin typeface="Cambria Math" panose="02040503050406030204" pitchFamily="18" charset="0"/>
                      </a:rPr>
                      <m:t>=</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0−0.782</m:t>
                        </m:r>
                      </m:e>
                    </m:d>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0.782</m:t>
                    </m:r>
                    <m:r>
                      <a:rPr kumimoji="1" lang="zh-TW" altLang="en-US" b="0" i="1" smtClean="0">
                        <a:latin typeface="Cambria Math" panose="02040503050406030204" pitchFamily="18" charset="0"/>
                      </a:rPr>
                      <m:t>∗</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1−0.782</m:t>
                        </m:r>
                      </m:e>
                    </m:d>
                    <m:r>
                      <a:rPr kumimoji="1" lang="en-US" altLang="zh-TW" b="0" i="1" smtClean="0">
                        <a:latin typeface="Cambria Math" panose="02040503050406030204" pitchFamily="18" charset="0"/>
                      </a:rPr>
                      <m:t>=−0.133</m:t>
                    </m:r>
                  </m:oMath>
                </a14:m>
                <a:endParaRPr kumimoji="1" lang="en-US" altLang="zh-TW" b="0"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b="0" i="1" smtClean="0">
                            <a:latin typeface="Cambria Math" panose="02040503050406030204" pitchFamily="18" charset="0"/>
                            <a:ea typeface="Cambria Math" panose="02040503050406030204" pitchFamily="18" charset="0"/>
                          </a:rPr>
                          <m:t>4</m:t>
                        </m:r>
                      </m:sub>
                    </m:sSub>
                    <m:r>
                      <a:rPr kumimoji="1" lang="en-US" altLang="zh-TW" b="0" i="1" smtClean="0">
                        <a:latin typeface="Cambria Math" panose="02040503050406030204" pitchFamily="18" charset="0"/>
                        <a:ea typeface="Cambria Math" panose="02040503050406030204" pitchFamily="18" charset="0"/>
                      </a:rPr>
                      <m:t>=</m:t>
                    </m:r>
                    <m:d>
                      <m:dPr>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−0.133</m:t>
                        </m:r>
                        <m:r>
                          <a:rPr kumimoji="1" lang="zh-TW" altLang="en-US"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0.5</m:t>
                        </m:r>
                      </m:e>
                    </m:d>
                    <m:r>
                      <a:rPr kumimoji="1" lang="zh-TW" altLang="en-US"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0.777</m:t>
                    </m:r>
                    <m:r>
                      <a:rPr kumimoji="1" lang="zh-TW" altLang="en-US" b="0" i="1" smtClean="0">
                        <a:latin typeface="Cambria Math" panose="02040503050406030204" pitchFamily="18" charset="0"/>
                        <a:ea typeface="Cambria Math" panose="02040503050406030204" pitchFamily="18" charset="0"/>
                      </a:rPr>
                      <m:t>∗</m:t>
                    </m:r>
                    <m:d>
                      <m:dPr>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1−0.777</m:t>
                        </m:r>
                      </m:e>
                    </m:d>
                    <m:r>
                      <a:rPr kumimoji="1" lang="en-US" altLang="zh-TW" b="0" i="1" smtClean="0">
                        <a:latin typeface="Cambria Math" panose="02040503050406030204" pitchFamily="18" charset="0"/>
                        <a:ea typeface="Cambria Math" panose="02040503050406030204" pitchFamily="18" charset="0"/>
                      </a:rPr>
                      <m:t>=−0.0115</m:t>
                    </m:r>
                  </m:oMath>
                </a14:m>
                <a:endParaRPr kumimoji="1" lang="en-US" altLang="zh-TW" b="0" dirty="0">
                  <a:ea typeface="Cambria Math" panose="02040503050406030204" pitchFamily="18" charset="0"/>
                </a:endParaRPr>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b="0" i="1" smtClean="0">
                            <a:latin typeface="Cambria Math" panose="02040503050406030204" pitchFamily="18" charset="0"/>
                          </a:rPr>
                          <m:t> </m:t>
                        </m:r>
                        <m:r>
                          <a:rPr kumimoji="1" lang="en-US" altLang="zh-TW" i="1">
                            <a:latin typeface="Cambria Math" panose="02040503050406030204" pitchFamily="18" charset="0"/>
                            <a:ea typeface="Cambria Math" panose="02040503050406030204" pitchFamily="18" charset="0"/>
                          </a:rPr>
                          <m:t>𝛿</m:t>
                        </m:r>
                      </m:e>
                      <m:sub>
                        <m:r>
                          <a:rPr kumimoji="1" lang="en-US" altLang="zh-TW" b="0" i="1" smtClean="0">
                            <a:latin typeface="Cambria Math" panose="02040503050406030204" pitchFamily="18" charset="0"/>
                            <a:ea typeface="Cambria Math" panose="02040503050406030204" pitchFamily="18" charset="0"/>
                          </a:rPr>
                          <m:t>5</m:t>
                        </m:r>
                      </m:sub>
                    </m:sSub>
                    <m:r>
                      <a:rPr kumimoji="1" lang="en-US" altLang="zh-TW" i="1">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−0.0115</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𝑤</m:t>
                        </m:r>
                      </m:e>
                      <m:sub>
                        <m:r>
                          <a:rPr kumimoji="1" lang="en-US" altLang="zh-TW" b="0" i="1" smtClean="0">
                            <a:latin typeface="Cambria Math" panose="02040503050406030204" pitchFamily="18" charset="0"/>
                            <a:ea typeface="Cambria Math" panose="02040503050406030204" pitchFamily="18" charset="0"/>
                          </a:rPr>
                          <m:t>47</m:t>
                        </m:r>
                      </m:sub>
                    </m:sSub>
                    <m:r>
                      <a:rPr kumimoji="1" lang="en-US" altLang="zh-TW" b="0" i="1" smtClean="0">
                        <a:latin typeface="Cambria Math" panose="02040503050406030204" pitchFamily="18" charset="0"/>
                        <a:ea typeface="Cambria Math" panose="02040503050406030204" pitchFamily="18" charset="0"/>
                      </a:rPr>
                      <m:t>=0.5+</m:t>
                    </m:r>
                    <m:d>
                      <m:dPr>
                        <m:ctrlPr>
                          <a:rPr kumimoji="1" lang="en-US" altLang="zh-TW" b="0" i="1" smtClean="0">
                            <a:latin typeface="Cambria Math" panose="02040503050406030204" pitchFamily="18" charset="0"/>
                            <a:ea typeface="Cambria Math" panose="02040503050406030204" pitchFamily="18" charset="0"/>
                          </a:rPr>
                        </m:ctrlPr>
                      </m:dPr>
                      <m:e>
                        <m:r>
                          <a:rPr kumimoji="1" lang="en-US" altLang="zh-TW" b="0" i="1" smtClean="0">
                            <a:latin typeface="Cambria Math" panose="02040503050406030204" pitchFamily="18" charset="0"/>
                            <a:ea typeface="Cambria Math" panose="02040503050406030204" pitchFamily="18" charset="0"/>
                          </a:rPr>
                          <m:t>1</m:t>
                        </m:r>
                        <m:r>
                          <a:rPr kumimoji="1" lang="zh-TW" altLang="en-US" b="0"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rPr>
                          <m:t>−0.133</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0.777</m:t>
                        </m:r>
                      </m:e>
                    </m:d>
                    <m:r>
                      <a:rPr kumimoji="1" lang="en-US" altLang="zh-TW" b="0" i="1" smtClean="0">
                        <a:latin typeface="Cambria Math" panose="02040503050406030204" pitchFamily="18" charset="0"/>
                      </a:rPr>
                      <m:t>=0.3964</m:t>
                    </m:r>
                  </m:oMath>
                </a14:m>
                <a:endParaRPr kumimoji="1" lang="en-US" altLang="zh-TW" b="0"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5</m:t>
                        </m:r>
                        <m:r>
                          <a:rPr kumimoji="1" lang="en-US" altLang="zh-TW" i="1">
                            <a:latin typeface="Cambria Math" panose="02040503050406030204" pitchFamily="18" charset="0"/>
                            <a:ea typeface="Cambria Math" panose="02040503050406030204" pitchFamily="18" charset="0"/>
                          </a:rPr>
                          <m:t>7</m:t>
                        </m:r>
                      </m:sub>
                    </m:sSub>
                    <m:r>
                      <a:rPr kumimoji="1" lang="en-US" altLang="zh-TW" i="1">
                        <a:latin typeface="Cambria Math" panose="02040503050406030204" pitchFamily="18" charset="0"/>
                      </a:rPr>
                      <m:t>=0.3964</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6</m:t>
                        </m:r>
                        <m:r>
                          <a:rPr kumimoji="1" lang="en-US" altLang="zh-TW" i="1">
                            <a:latin typeface="Cambria Math" panose="02040503050406030204" pitchFamily="18" charset="0"/>
                            <a:ea typeface="Cambria Math" panose="02040503050406030204" pitchFamily="18" charset="0"/>
                          </a:rPr>
                          <m:t>7</m:t>
                        </m:r>
                      </m:sub>
                    </m:sSub>
                    <m:r>
                      <a:rPr kumimoji="1" lang="en-US" altLang="zh-TW" i="1">
                        <a:latin typeface="Cambria Math" panose="02040503050406030204" pitchFamily="18" charset="0"/>
                      </a:rPr>
                      <m:t>=0.</m:t>
                    </m:r>
                    <m:r>
                      <a:rPr kumimoji="1" lang="en-US" altLang="zh-TW" i="1" smtClean="0">
                        <a:latin typeface="Cambria Math" panose="02040503050406030204" pitchFamily="18" charset="0"/>
                      </a:rPr>
                      <m:t> </m:t>
                    </m:r>
                    <m:r>
                      <a:rPr kumimoji="1" lang="en-US" altLang="zh-TW" b="0" i="1" smtClean="0">
                        <a:latin typeface="Cambria Math" panose="02040503050406030204" pitchFamily="18" charset="0"/>
                      </a:rPr>
                      <m:t>5+</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m:t>
                        </m:r>
                        <m:r>
                          <a:rPr kumimoji="1" lang="zh-TW" altLang="en-US" b="0" i="1" smtClean="0">
                            <a:latin typeface="Cambria Math" panose="02040503050406030204" pitchFamily="18" charset="0"/>
                          </a:rPr>
                          <m:t>∗</m:t>
                        </m:r>
                        <m:r>
                          <a:rPr kumimoji="1" lang="en-US" altLang="zh-TW" i="1">
                            <a:latin typeface="Cambria Math" panose="02040503050406030204" pitchFamily="18" charset="0"/>
                          </a:rPr>
                          <m:t>−0.133</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1</m:t>
                        </m:r>
                      </m:e>
                    </m:d>
                    <m:r>
                      <a:rPr kumimoji="1" lang="en-US" altLang="zh-TW" b="0" i="1" smtClean="0">
                        <a:latin typeface="Cambria Math" panose="02040503050406030204" pitchFamily="18" charset="0"/>
                      </a:rPr>
                      <m:t>=0.3667</m:t>
                    </m:r>
                  </m:oMath>
                </a14:m>
                <a:endParaRPr kumimoji="1" lang="en-US" altLang="zh-TW" dirty="0"/>
              </a:p>
            </p:txBody>
          </p:sp>
        </mc:Choice>
        <mc:Fallback xmlns="">
          <p:sp>
            <p:nvSpPr>
              <p:cNvPr id="3" name="內容版面配置區 2">
                <a:extLst>
                  <a:ext uri="{FF2B5EF4-FFF2-40B4-BE49-F238E27FC236}">
                    <a16:creationId xmlns:a16="http://schemas.microsoft.com/office/drawing/2014/main" id="{B0DB0A1A-05EF-D620-DDDF-60CEAB200897}"/>
                  </a:ext>
                </a:extLst>
              </p:cNvPr>
              <p:cNvSpPr>
                <a:spLocks noGrp="1" noRot="1" noChangeAspect="1" noMove="1" noResize="1" noEditPoints="1" noAdjustHandles="1" noChangeArrowheads="1" noChangeShapeType="1" noTextEdit="1"/>
              </p:cNvSpPr>
              <p:nvPr>
                <p:ph idx="1"/>
              </p:nvPr>
            </p:nvSpPr>
            <p:spPr>
              <a:blipFill>
                <a:blip r:embed="rId2"/>
                <a:stretch>
                  <a:fillRect l="-1765" t="-1347" b="-2020"/>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4CA39A68-C09F-8741-9171-D1706339E2A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C869FDC-1CA3-FC66-D922-7F1FA103B928}"/>
              </a:ext>
            </a:extLst>
          </p:cNvPr>
          <p:cNvSpPr>
            <a:spLocks noGrp="1"/>
          </p:cNvSpPr>
          <p:nvPr>
            <p:ph type="sldNum" sz="quarter" idx="12"/>
          </p:nvPr>
        </p:nvSpPr>
        <p:spPr/>
        <p:txBody>
          <a:bodyPr/>
          <a:lstStyle/>
          <a:p>
            <a:r>
              <a:rPr lang="en-US" altLang="zh-TW" dirty="0"/>
              <a:t>Deep Learning</a:t>
            </a: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1F2B1F86-4D10-14CF-D315-C09A863509C9}"/>
                  </a:ext>
                </a:extLst>
              </p:cNvPr>
              <p:cNvSpPr txBox="1"/>
              <p:nvPr/>
            </p:nvSpPr>
            <p:spPr>
              <a:xfrm>
                <a:off x="6593305" y="129858"/>
                <a:ext cx="5486401" cy="17180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14:m>
                  <m:oMath xmlns:m="http://schemas.openxmlformats.org/officeDocument/2006/math">
                    <m:sSub>
                      <m:sSubPr>
                        <m:ctrlPr>
                          <a:rPr kumimoji="1" lang="en-US" altLang="zh-TW" i="1" smtClean="0">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𝑟</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𝑟𝑞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𝑟</m:t>
                            </m:r>
                          </m:sub>
                        </m:sSub>
                      </m:e>
                    </m:nary>
                  </m:oMath>
                </a14:m>
                <a:r>
                  <a:rPr kumimoji="1" lang="en-US" altLang="zh-TW" dirty="0"/>
                  <a:t> </a:t>
                </a:r>
              </a:p>
              <a:p>
                <a:r>
                  <a:rPr kumimoji="1" lang="en-US" altLang="zh-TW" dirty="0"/>
                  <a:t>Output Layer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endParaRPr kumimoji="1" lang="en-US" altLang="zh-TW" dirty="0"/>
              </a:p>
              <a:p>
                <a:r>
                  <a:rPr kumimoji="1" lang="en-US" altLang="zh-TW" dirty="0"/>
                  <a:t>Hidden Layer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ea typeface="Cambria Math" panose="02040503050406030204" pitchFamily="18" charset="0"/>
                              </a:rPr>
                              <m:t>𝑘</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𝑞𝑘</m:t>
                            </m:r>
                          </m:sub>
                        </m:sSub>
                        <m:r>
                          <a:rPr kumimoji="1" lang="en-US" altLang="zh-TW" i="1">
                            <a:latin typeface="Cambria Math" panose="02040503050406030204" pitchFamily="18" charset="0"/>
                          </a:rPr>
                          <m:t>)</m:t>
                        </m:r>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endParaRPr kumimoji="1" lang="en-US" altLang="zh-TW" dirty="0"/>
              </a:p>
              <a:p>
                <a:r>
                  <a:rPr kumimoji="1" lang="en-US" altLang="zh-TW" dirty="0"/>
                  <a:t>Logistic Function </a:t>
                </a:r>
                <a14:m>
                  <m:oMath xmlns:m="http://schemas.openxmlformats.org/officeDocument/2006/math">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den>
                    </m:f>
                  </m:oMath>
                </a14:m>
                <a:endParaRPr kumimoji="1" lang="en-US" altLang="zh-TW" dirty="0"/>
              </a:p>
              <a:p>
                <a:r>
                  <a:rPr kumimoji="1" lang="en-US" altLang="zh-TW" dirty="0"/>
                  <a:t>Gradient Descent </a:t>
                </a:r>
                <a14:m>
                  <m:oMath xmlns:m="http://schemas.openxmlformats.org/officeDocument/2006/math">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i="1">
                        <a:latin typeface="Cambria Math" panose="02040503050406030204" pitchFamily="18" charset="0"/>
                      </a:rPr>
                      <m:t>=</m:t>
                    </m:r>
                    <m:r>
                      <a:rPr kumimoji="1" lang="en-US" altLang="zh-TW" i="1">
                        <a:latin typeface="Cambria Math" panose="02040503050406030204" pitchFamily="18" charset="0"/>
                      </a:rPr>
                      <m:t>𝑐</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oMath>
                </a14:m>
                <a:endParaRPr kumimoji="1" lang="en-US" altLang="zh-TW" dirty="0"/>
              </a:p>
            </p:txBody>
          </p:sp>
        </mc:Choice>
        <mc:Fallback xmlns="">
          <p:sp>
            <p:nvSpPr>
              <p:cNvPr id="6" name="文字方塊 5">
                <a:extLst>
                  <a:ext uri="{FF2B5EF4-FFF2-40B4-BE49-F238E27FC236}">
                    <a16:creationId xmlns:a16="http://schemas.microsoft.com/office/drawing/2014/main" id="{1F2B1F86-4D10-14CF-D315-C09A863509C9}"/>
                  </a:ext>
                </a:extLst>
              </p:cNvPr>
              <p:cNvSpPr txBox="1">
                <a:spLocks noRot="1" noChangeAspect="1" noMove="1" noResize="1" noEditPoints="1" noAdjustHandles="1" noChangeArrowheads="1" noChangeShapeType="1" noTextEdit="1"/>
              </p:cNvSpPr>
              <p:nvPr/>
            </p:nvSpPr>
            <p:spPr>
              <a:xfrm>
                <a:off x="6593305" y="129858"/>
                <a:ext cx="5486401" cy="1718099"/>
              </a:xfrm>
              <a:prstGeom prst="rect">
                <a:avLst/>
              </a:prstGeom>
              <a:blipFill>
                <a:blip r:embed="rId3"/>
                <a:stretch>
                  <a:fillRect l="-690" t="-23913" b="-2899"/>
                </a:stretch>
              </a:blipFill>
            </p:spPr>
            <p:txBody>
              <a:bodyPr/>
              <a:lstStyle/>
              <a:p>
                <a:r>
                  <a:rPr lang="zh-TW" altLang="en-US">
                    <a:noFill/>
                  </a:rPr>
                  <a:t> </a:t>
                </a:r>
              </a:p>
            </p:txBody>
          </p:sp>
        </mc:Fallback>
      </mc:AlternateContent>
      <p:pic>
        <p:nvPicPr>
          <p:cNvPr id="7" name="圖形 6">
            <a:extLst>
              <a:ext uri="{FF2B5EF4-FFF2-40B4-BE49-F238E27FC236}">
                <a16:creationId xmlns:a16="http://schemas.microsoft.com/office/drawing/2014/main" id="{98E34FCA-9951-40A9-3524-6EEFAD7064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7912" y="2230830"/>
            <a:ext cx="3155675" cy="1739076"/>
          </a:xfrm>
          <a:prstGeom prst="rect">
            <a:avLst/>
          </a:prstGeom>
        </p:spPr>
      </p:pic>
    </p:spTree>
    <p:extLst>
      <p:ext uri="{BB962C8B-B14F-4D97-AF65-F5344CB8AC3E}">
        <p14:creationId xmlns:p14="http://schemas.microsoft.com/office/powerpoint/2010/main" val="512869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CAD8E-BB33-755D-C0C2-B3DBAE51383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9F46848-6BA5-1E69-0C20-11BFEB32DA6C}"/>
              </a:ext>
            </a:extLst>
          </p:cNvPr>
          <p:cNvSpPr>
            <a:spLocks noGrp="1"/>
          </p:cNvSpPr>
          <p:nvPr>
            <p:ph type="title"/>
          </p:nvPr>
        </p:nvSpPr>
        <p:spPr/>
        <p:txBody>
          <a:bodyPr/>
          <a:lstStyle/>
          <a:p>
            <a:r>
              <a:rPr lang="zh-TW" altLang="en-US" dirty="0">
                <a:solidFill>
                  <a:schemeClr val="tx1">
                    <a:lumMod val="85000"/>
                    <a:lumOff val="15000"/>
                  </a:schemeClr>
                </a:solidFill>
              </a:rPr>
              <a:t>反向傳播計算</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53B6492-7B62-FD60-E6BB-44A9B9562A15}"/>
                  </a:ext>
                </a:extLst>
              </p:cNvPr>
              <p:cNvSpPr>
                <a:spLocks noGrp="1"/>
              </p:cNvSpPr>
              <p:nvPr>
                <p:ph idx="1"/>
              </p:nvPr>
            </p:nvSpPr>
            <p:spPr>
              <a:xfrm>
                <a:off x="1097280" y="2108201"/>
                <a:ext cx="10058400" cy="4228040"/>
              </a:xfrm>
            </p:spPr>
            <p:txBody>
              <a:bodyPr>
                <a:normAutofit/>
              </a:bodyPr>
              <a:lstStyle/>
              <a:p>
                <a:r>
                  <a:rPr kumimoji="1" lang="zh-TW" altLang="en-US" dirty="0"/>
                  <a:t>反向傳播：</a:t>
                </a:r>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14</m:t>
                        </m:r>
                      </m:sub>
                    </m:sSub>
                    <m:r>
                      <a:rPr kumimoji="1" lang="en-US" altLang="zh-TW" i="1">
                        <a:latin typeface="Cambria Math" panose="02040503050406030204" pitchFamily="18" charset="0"/>
                      </a:rPr>
                      <m:t>=0. 5+</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zh-TW" altLang="en-US"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−0.0115</m:t>
                        </m:r>
                        <m:r>
                          <a:rPr kumimoji="1" lang="zh-TW" altLang="en-US" i="1">
                            <a:latin typeface="Cambria Math" panose="02040503050406030204" pitchFamily="18" charset="0"/>
                          </a:rPr>
                          <m:t>∗</m:t>
                        </m:r>
                        <m:r>
                          <a:rPr kumimoji="1" lang="en-US" altLang="zh-TW" b="0" i="1" smtClean="0">
                            <a:latin typeface="Cambria Math" panose="02040503050406030204" pitchFamily="18" charset="0"/>
                          </a:rPr>
                          <m:t>0.9</m:t>
                        </m:r>
                      </m:e>
                    </m:d>
                    <m:r>
                      <a:rPr kumimoji="1" lang="en-US" altLang="zh-TW" i="1">
                        <a:latin typeface="Cambria Math" panose="02040503050406030204" pitchFamily="18" charset="0"/>
                      </a:rPr>
                      <m:t>=</m:t>
                    </m:r>
                    <m:r>
                      <a:rPr kumimoji="1" lang="en-US" altLang="zh-TW" b="0" i="1" smtClean="0">
                        <a:latin typeface="Cambria Math" panose="02040503050406030204" pitchFamily="18" charset="0"/>
                      </a:rPr>
                      <m:t>0.4896</m:t>
                    </m:r>
                  </m:oMath>
                </a14:m>
                <a:endParaRPr kumimoji="1" lang="en-US" altLang="zh-TW" b="0"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b="0" i="1" smtClean="0">
                            <a:latin typeface="Cambria Math" panose="02040503050406030204" pitchFamily="18" charset="0"/>
                          </a:rPr>
                          <m:t> </m:t>
                        </m:r>
                        <m:r>
                          <a:rPr kumimoji="1" lang="en-US" altLang="zh-TW" i="1">
                            <a:latin typeface="Cambria Math" panose="02040503050406030204" pitchFamily="18" charset="0"/>
                          </a:rPr>
                          <m:t>𝑤</m:t>
                        </m:r>
                      </m:e>
                      <m:sub>
                        <m:r>
                          <a:rPr kumimoji="1" lang="en-US" altLang="zh-TW" i="1">
                            <a:latin typeface="Cambria Math" panose="02040503050406030204" pitchFamily="18" charset="0"/>
                          </a:rPr>
                          <m:t>1</m:t>
                        </m:r>
                        <m:r>
                          <a:rPr kumimoji="1" lang="en-US" altLang="zh-TW" b="0" i="1" smtClean="0">
                            <a:latin typeface="Cambria Math" panose="02040503050406030204" pitchFamily="18" charset="0"/>
                          </a:rPr>
                          <m:t>5</m:t>
                        </m:r>
                      </m:sub>
                    </m:sSub>
                    <m:r>
                      <a:rPr kumimoji="1" lang="en-US" altLang="zh-TW" i="1">
                        <a:latin typeface="Cambria Math" panose="02040503050406030204" pitchFamily="18" charset="0"/>
                      </a:rPr>
                      <m:t>=0.4896</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24</m:t>
                        </m:r>
                      </m:sub>
                    </m:sSub>
                    <m:r>
                      <a:rPr kumimoji="1" lang="en-US" altLang="zh-TW" i="1">
                        <a:latin typeface="Cambria Math" panose="02040503050406030204" pitchFamily="18" charset="0"/>
                      </a:rPr>
                      <m:t>=</m:t>
                    </m:r>
                    <m:r>
                      <a:rPr kumimoji="1" lang="en-US" altLang="zh-TW" b="0" i="1" smtClean="0">
                        <a:latin typeface="Cambria Math" panose="02040503050406030204" pitchFamily="18" charset="0"/>
                      </a:rPr>
                      <m:t>0.5+</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m:t>
                        </m:r>
                        <m:r>
                          <a:rPr kumimoji="1" lang="zh-TW" altLang="en-US"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−0.0115</m:t>
                        </m:r>
                        <m:r>
                          <a:rPr kumimoji="1" lang="zh-TW" altLang="en-US" i="1">
                            <a:latin typeface="Cambria Math" panose="02040503050406030204" pitchFamily="18" charset="0"/>
                          </a:rPr>
                          <m:t>∗</m:t>
                        </m:r>
                        <m:r>
                          <a:rPr kumimoji="1" lang="en-US" altLang="zh-TW" i="1">
                            <a:latin typeface="Cambria Math" panose="02040503050406030204" pitchFamily="18" charset="0"/>
                          </a:rPr>
                          <m:t>0.</m:t>
                        </m:r>
                        <m:r>
                          <a:rPr kumimoji="1" lang="en-US" altLang="zh-TW" b="0" i="1" smtClean="0">
                            <a:latin typeface="Cambria Math" panose="02040503050406030204" pitchFamily="18" charset="0"/>
                          </a:rPr>
                          <m:t>6</m:t>
                        </m:r>
                      </m:e>
                    </m:d>
                    <m:r>
                      <a:rPr kumimoji="1" lang="en-US" altLang="zh-TW" b="0" i="1" smtClean="0">
                        <a:latin typeface="Cambria Math" panose="02040503050406030204" pitchFamily="18" charset="0"/>
                      </a:rPr>
                      <m:t>=0.4931</m:t>
                    </m:r>
                  </m:oMath>
                </a14:m>
                <a:endParaRPr kumimoji="1" lang="en-US" altLang="zh-TW" b="0"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2</m:t>
                        </m:r>
                        <m:r>
                          <a:rPr kumimoji="1" lang="en-US" altLang="zh-TW" i="1">
                            <a:latin typeface="Cambria Math" panose="02040503050406030204" pitchFamily="18" charset="0"/>
                          </a:rPr>
                          <m:t>5</m:t>
                        </m:r>
                      </m:sub>
                    </m:sSub>
                    <m:r>
                      <a:rPr kumimoji="1" lang="en-US" altLang="zh-TW" i="1">
                        <a:latin typeface="Cambria Math" panose="02040503050406030204" pitchFamily="18" charset="0"/>
                      </a:rPr>
                      <m:t>=0.4931</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3</m:t>
                        </m:r>
                        <m:r>
                          <a:rPr kumimoji="1" lang="en-US" altLang="zh-TW" i="1">
                            <a:latin typeface="Cambria Math" panose="02040503050406030204" pitchFamily="18" charset="0"/>
                          </a:rPr>
                          <m:t>4</m:t>
                        </m:r>
                      </m:sub>
                    </m:sSub>
                    <m:r>
                      <a:rPr kumimoji="1" lang="en-US" altLang="zh-TW" b="0" i="1" smtClean="0">
                        <a:latin typeface="Cambria Math" panose="02040503050406030204" pitchFamily="18" charset="0"/>
                      </a:rPr>
                      <m:t>=</m:t>
                    </m:r>
                  </m:oMath>
                </a14:m>
                <a:r>
                  <a:rPr kumimoji="1" lang="en-US" altLang="zh-TW" dirty="0"/>
                  <a:t> </a:t>
                </a:r>
                <a14:m>
                  <m:oMath xmlns:m="http://schemas.openxmlformats.org/officeDocument/2006/math">
                    <m:r>
                      <a:rPr kumimoji="1" lang="en-US" altLang="zh-TW" i="1">
                        <a:latin typeface="Cambria Math" panose="02040503050406030204" pitchFamily="18" charset="0"/>
                      </a:rPr>
                      <m:t>0.5+</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zh-TW" altLang="en-US"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−0.0115</m:t>
                        </m:r>
                        <m:r>
                          <a:rPr kumimoji="1" lang="zh-TW" altLang="en-US" i="1">
                            <a:latin typeface="Cambria Math" panose="02040503050406030204" pitchFamily="18" charset="0"/>
                          </a:rPr>
                          <m:t>∗</m:t>
                        </m:r>
                        <m:r>
                          <a:rPr kumimoji="1" lang="en-US" altLang="zh-TW" b="0" i="1" smtClean="0">
                            <a:latin typeface="Cambria Math" panose="02040503050406030204" pitchFamily="18" charset="0"/>
                          </a:rPr>
                          <m:t>1</m:t>
                        </m:r>
                      </m:e>
                    </m:d>
                    <m:r>
                      <a:rPr kumimoji="1" lang="en-US" altLang="zh-TW" i="1">
                        <a:latin typeface="Cambria Math" panose="02040503050406030204" pitchFamily="18" charset="0"/>
                      </a:rPr>
                      <m:t>=</m:t>
                    </m:r>
                    <m:r>
                      <a:rPr kumimoji="1" lang="en-US" altLang="zh-TW" b="0" i="1" smtClean="0">
                        <a:latin typeface="Cambria Math" panose="02040503050406030204" pitchFamily="18" charset="0"/>
                      </a:rPr>
                      <m:t>0.4885</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𝑤</m:t>
                        </m:r>
                      </m:e>
                      <m:sub>
                        <m:r>
                          <a:rPr kumimoji="1" lang="en-US" altLang="zh-TW" i="1">
                            <a:latin typeface="Cambria Math" panose="02040503050406030204" pitchFamily="18" charset="0"/>
                          </a:rPr>
                          <m:t>3</m:t>
                        </m:r>
                        <m:r>
                          <a:rPr kumimoji="1" lang="en-US" altLang="zh-TW" b="0" i="1" smtClean="0">
                            <a:latin typeface="Cambria Math" panose="02040503050406030204" pitchFamily="18" charset="0"/>
                          </a:rPr>
                          <m:t>5</m:t>
                        </m:r>
                      </m:sub>
                    </m:sSub>
                    <m:r>
                      <a:rPr kumimoji="1" lang="en-US" altLang="zh-TW" i="1">
                        <a:latin typeface="Cambria Math" panose="02040503050406030204" pitchFamily="18" charset="0"/>
                      </a:rPr>
                      <m:t>=</m:t>
                    </m:r>
                  </m:oMath>
                </a14:m>
                <a:r>
                  <a:rPr kumimoji="1" lang="en-US" altLang="zh-TW" dirty="0"/>
                  <a:t> </a:t>
                </a:r>
                <a14:m>
                  <m:oMath xmlns:m="http://schemas.openxmlformats.org/officeDocument/2006/math">
                    <m:r>
                      <a:rPr kumimoji="1" lang="en-US" altLang="zh-TW" i="1">
                        <a:latin typeface="Cambria Math" panose="02040503050406030204" pitchFamily="18" charset="0"/>
                      </a:rPr>
                      <m:t>0.4885</m:t>
                    </m:r>
                  </m:oMath>
                </a14:m>
                <a:endParaRPr kumimoji="1" lang="en-US" altLang="zh-TW" dirty="0"/>
              </a:p>
            </p:txBody>
          </p:sp>
        </mc:Choice>
        <mc:Fallback xmlns="">
          <p:sp>
            <p:nvSpPr>
              <p:cNvPr id="3" name="內容版面配置區 2">
                <a:extLst>
                  <a:ext uri="{FF2B5EF4-FFF2-40B4-BE49-F238E27FC236}">
                    <a16:creationId xmlns:a16="http://schemas.microsoft.com/office/drawing/2014/main" id="{A53B6492-7B62-FD60-E6BB-44A9B9562A15}"/>
                  </a:ext>
                </a:extLst>
              </p:cNvPr>
              <p:cNvSpPr>
                <a:spLocks noGrp="1" noRot="1" noChangeAspect="1" noMove="1" noResize="1" noEditPoints="1" noAdjustHandles="1" noChangeArrowheads="1" noChangeShapeType="1" noTextEdit="1"/>
              </p:cNvSpPr>
              <p:nvPr>
                <p:ph idx="1"/>
              </p:nvPr>
            </p:nvSpPr>
            <p:spPr>
              <a:xfrm>
                <a:off x="1097280" y="2108201"/>
                <a:ext cx="10058400" cy="4228040"/>
              </a:xfrm>
              <a:blipFill>
                <a:blip r:embed="rId2"/>
                <a:stretch>
                  <a:fillRect l="-1765" t="-1201"/>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1FE9D85A-22C5-AF73-EC59-9BD101027A3C}"/>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A19B8CD-FF5B-2628-288D-31BA6B90F338}"/>
              </a:ext>
            </a:extLst>
          </p:cNvPr>
          <p:cNvSpPr>
            <a:spLocks noGrp="1"/>
          </p:cNvSpPr>
          <p:nvPr>
            <p:ph type="sldNum" sz="quarter" idx="12"/>
          </p:nvPr>
        </p:nvSpPr>
        <p:spPr/>
        <p:txBody>
          <a:bodyPr/>
          <a:lstStyle/>
          <a:p>
            <a:r>
              <a:rPr lang="en-US" altLang="zh-TW" dirty="0"/>
              <a:t>Deep Learning</a:t>
            </a: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3CCE10F8-AE06-9E6F-0803-DEE63C5C83C8}"/>
                  </a:ext>
                </a:extLst>
              </p:cNvPr>
              <p:cNvSpPr txBox="1"/>
              <p:nvPr/>
            </p:nvSpPr>
            <p:spPr>
              <a:xfrm>
                <a:off x="6593305" y="129858"/>
                <a:ext cx="5486401" cy="17180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14:m>
                  <m:oMath xmlns:m="http://schemas.openxmlformats.org/officeDocument/2006/math">
                    <m:sSub>
                      <m:sSubPr>
                        <m:ctrlPr>
                          <a:rPr kumimoji="1" lang="en-US" altLang="zh-TW" i="1" smtClean="0">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𝑟</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𝑟𝑞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𝑟</m:t>
                            </m:r>
                          </m:sub>
                        </m:sSub>
                      </m:e>
                    </m:nary>
                  </m:oMath>
                </a14:m>
                <a:r>
                  <a:rPr kumimoji="1" lang="en-US" altLang="zh-TW" dirty="0"/>
                  <a:t> </a:t>
                </a:r>
              </a:p>
              <a:p>
                <a:r>
                  <a:rPr kumimoji="1" lang="en-US" altLang="zh-TW" dirty="0"/>
                  <a:t>Output Layer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endParaRPr kumimoji="1" lang="en-US" altLang="zh-TW" dirty="0"/>
              </a:p>
              <a:p>
                <a:r>
                  <a:rPr kumimoji="1" lang="en-US" altLang="zh-TW" dirty="0"/>
                  <a:t>Hidden Layer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sub>
                      <m:sup/>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ea typeface="Cambria Math" panose="02040503050406030204" pitchFamily="18" charset="0"/>
                              </a:rPr>
                              <m:t>𝑘</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𝑞𝑘</m:t>
                            </m:r>
                          </m:sub>
                        </m:sSub>
                        <m:r>
                          <a:rPr kumimoji="1" lang="en-US" altLang="zh-TW" i="1">
                            <a:latin typeface="Cambria Math" panose="02040503050406030204" pitchFamily="18" charset="0"/>
                          </a:rPr>
                          <m:t>)</m:t>
                        </m:r>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endParaRPr kumimoji="1" lang="en-US" altLang="zh-TW" dirty="0"/>
              </a:p>
              <a:p>
                <a:r>
                  <a:rPr kumimoji="1" lang="en-US" altLang="zh-TW" dirty="0"/>
                  <a:t>Logistic Function </a:t>
                </a:r>
                <a14:m>
                  <m:oMath xmlns:m="http://schemas.openxmlformats.org/officeDocument/2006/math">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𝑥</m:t>
                        </m:r>
                      </m:e>
                    </m:d>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1+</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𝑒</m:t>
                            </m:r>
                          </m:e>
                          <m:sup>
                            <m:r>
                              <a:rPr kumimoji="1" lang="en-US" altLang="zh-TW" i="1">
                                <a:latin typeface="Cambria Math" panose="02040503050406030204" pitchFamily="18" charset="0"/>
                              </a:rPr>
                              <m:t>−</m:t>
                            </m:r>
                            <m:r>
                              <a:rPr kumimoji="1" lang="en-US" altLang="zh-TW" i="1">
                                <a:latin typeface="Cambria Math" panose="02040503050406030204" pitchFamily="18" charset="0"/>
                              </a:rPr>
                              <m:t>𝑥</m:t>
                            </m:r>
                          </m:sup>
                        </m:sSup>
                      </m:den>
                    </m:f>
                  </m:oMath>
                </a14:m>
                <a:endParaRPr kumimoji="1" lang="en-US" altLang="zh-TW" dirty="0"/>
              </a:p>
              <a:p>
                <a:r>
                  <a:rPr kumimoji="1" lang="en-US" altLang="zh-TW" dirty="0"/>
                  <a:t>Gradient Descent </a:t>
                </a:r>
                <a14:m>
                  <m:oMath xmlns:m="http://schemas.openxmlformats.org/officeDocument/2006/math">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i="1">
                        <a:latin typeface="Cambria Math" panose="02040503050406030204" pitchFamily="18" charset="0"/>
                      </a:rPr>
                      <m:t>=</m:t>
                    </m:r>
                    <m:r>
                      <a:rPr kumimoji="1" lang="en-US" altLang="zh-TW" i="1">
                        <a:latin typeface="Cambria Math" panose="02040503050406030204" pitchFamily="18" charset="0"/>
                      </a:rPr>
                      <m:t>𝑐</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rPr>
                          <m:t>𝑞</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oMath>
                </a14:m>
                <a:endParaRPr kumimoji="1" lang="en-US" altLang="zh-TW" dirty="0"/>
              </a:p>
            </p:txBody>
          </p:sp>
        </mc:Choice>
        <mc:Fallback xmlns="">
          <p:sp>
            <p:nvSpPr>
              <p:cNvPr id="6" name="文字方塊 5">
                <a:extLst>
                  <a:ext uri="{FF2B5EF4-FFF2-40B4-BE49-F238E27FC236}">
                    <a16:creationId xmlns:a16="http://schemas.microsoft.com/office/drawing/2014/main" id="{3CCE10F8-AE06-9E6F-0803-DEE63C5C83C8}"/>
                  </a:ext>
                </a:extLst>
              </p:cNvPr>
              <p:cNvSpPr txBox="1">
                <a:spLocks noRot="1" noChangeAspect="1" noMove="1" noResize="1" noEditPoints="1" noAdjustHandles="1" noChangeArrowheads="1" noChangeShapeType="1" noTextEdit="1"/>
              </p:cNvSpPr>
              <p:nvPr/>
            </p:nvSpPr>
            <p:spPr>
              <a:xfrm>
                <a:off x="6593305" y="129858"/>
                <a:ext cx="5486401" cy="1718099"/>
              </a:xfrm>
              <a:prstGeom prst="rect">
                <a:avLst/>
              </a:prstGeom>
              <a:blipFill>
                <a:blip r:embed="rId3"/>
                <a:stretch>
                  <a:fillRect l="-690" t="-23913" b="-2899"/>
                </a:stretch>
              </a:blipFill>
            </p:spPr>
            <p:txBody>
              <a:bodyPr/>
              <a:lstStyle/>
              <a:p>
                <a:r>
                  <a:rPr lang="zh-TW" altLang="en-US">
                    <a:noFill/>
                  </a:rPr>
                  <a:t> </a:t>
                </a:r>
              </a:p>
            </p:txBody>
          </p:sp>
        </mc:Fallback>
      </mc:AlternateContent>
      <p:pic>
        <p:nvPicPr>
          <p:cNvPr id="7" name="圖形 6">
            <a:extLst>
              <a:ext uri="{FF2B5EF4-FFF2-40B4-BE49-F238E27FC236}">
                <a16:creationId xmlns:a16="http://schemas.microsoft.com/office/drawing/2014/main" id="{247F1078-8B3C-6048-CA2C-AF75519F69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7912" y="2230830"/>
            <a:ext cx="3155675" cy="1739076"/>
          </a:xfrm>
          <a:prstGeom prst="rect">
            <a:avLst/>
          </a:prstGeom>
        </p:spPr>
      </p:pic>
    </p:spTree>
    <p:extLst>
      <p:ext uri="{BB962C8B-B14F-4D97-AF65-F5344CB8AC3E}">
        <p14:creationId xmlns:p14="http://schemas.microsoft.com/office/powerpoint/2010/main" val="3319350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28424E-9C84-DE16-5A69-700C60A73BBC}"/>
              </a:ext>
            </a:extLst>
          </p:cNvPr>
          <p:cNvSpPr>
            <a:spLocks noGrp="1"/>
          </p:cNvSpPr>
          <p:nvPr>
            <p:ph type="title"/>
          </p:nvPr>
        </p:nvSpPr>
        <p:spPr/>
        <p:txBody>
          <a:bodyPr/>
          <a:lstStyle/>
          <a:p>
            <a:r>
              <a:rPr kumimoji="1" lang="zh-TW" altLang="en-US" dirty="0"/>
              <a:t>練習題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35C4911-1A96-4DBF-6BE3-9F12EEB8A491}"/>
                  </a:ext>
                </a:extLst>
              </p:cNvPr>
              <p:cNvSpPr>
                <a:spLocks noGrp="1"/>
              </p:cNvSpPr>
              <p:nvPr>
                <p:ph idx="1"/>
              </p:nvPr>
            </p:nvSpPr>
            <p:spPr/>
            <p:txBody>
              <a:bodyPr>
                <a:normAutofit/>
              </a:bodyPr>
              <a:lstStyle/>
              <a:p>
                <a:r>
                  <a:rPr kumimoji="1" lang="zh-TW" altLang="en-US" dirty="0"/>
                  <a:t>假定第二筆訓練數據為</a:t>
                </a:r>
                <a:r>
                  <a:rPr lang="zh-TW" altLang="en-US" dirty="0"/>
                  <a:t>為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b="0" i="1" smtClean="0">
                        <a:latin typeface="Cambria Math" panose="02040503050406030204" pitchFamily="18" charset="0"/>
                      </a:rPr>
                      <m:t>−1</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r>
                      <a:rPr lang="en-US" altLang="zh-TW" i="1">
                        <a:latin typeface="Cambria Math" panose="02040503050406030204" pitchFamily="18" charset="0"/>
                      </a:rPr>
                      <m:t>=0.</m:t>
                    </m:r>
                    <m:r>
                      <a:rPr lang="en-US" altLang="zh-TW" b="0" i="1" smtClean="0">
                        <a:latin typeface="Cambria Math" panose="02040503050406030204" pitchFamily="18" charset="0"/>
                      </a:rPr>
                      <m:t>4</m:t>
                    </m:r>
                  </m:oMath>
                </a14:m>
                <a:r>
                  <a:rPr lang="zh-TW" altLang="en-US" dirty="0"/>
                  <a:t>，目標值為 </a:t>
                </a:r>
                <a14:m>
                  <m:oMath xmlns:m="http://schemas.openxmlformats.org/officeDocument/2006/math">
                    <m:r>
                      <a:rPr lang="en-US" altLang="zh-TW" b="0" i="1" smtClean="0">
                        <a:latin typeface="Cambria Math" panose="02040503050406030204" pitchFamily="18" charset="0"/>
                      </a:rPr>
                      <m:t>0.2</m:t>
                    </m:r>
                  </m:oMath>
                </a14:m>
                <a:r>
                  <a:rPr lang="zh-TW" altLang="en-US" dirty="0"/>
                  <a:t>。沿用第一次訓練更新後的權重，並且完成第二次的訓練。</a:t>
                </a:r>
                <a:endParaRPr lang="en-US" altLang="zh-TW" dirty="0"/>
              </a:p>
              <a:p>
                <a:endParaRPr lang="en-US" altLang="zh-TW" dirty="0"/>
              </a:p>
              <a:p>
                <a:r>
                  <a:rPr lang="zh-TW" altLang="en-US" dirty="0"/>
                  <a:t>答案：</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14</m:t>
                        </m:r>
                      </m:sub>
                    </m:sSub>
                    <m:r>
                      <a:rPr kumimoji="1" lang="en-US" altLang="zh-TW" i="1">
                        <a:latin typeface="Cambria Math" panose="02040503050406030204" pitchFamily="18" charset="0"/>
                      </a:rPr>
                      <m:t>=0.4999,</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15</m:t>
                        </m:r>
                      </m:sub>
                    </m:sSub>
                    <m:r>
                      <a:rPr kumimoji="1" lang="en-US" altLang="zh-TW" i="1">
                        <a:latin typeface="Cambria Math" panose="02040503050406030204" pitchFamily="18" charset="0"/>
                      </a:rPr>
                      <m:t>=0.4999,</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24</m:t>
                        </m:r>
                      </m:sub>
                    </m:sSub>
                    <m:r>
                      <a:rPr kumimoji="1" lang="en-US" altLang="zh-TW" i="1">
                        <a:latin typeface="Cambria Math" panose="02040503050406030204" pitchFamily="18" charset="0"/>
                      </a:rPr>
                      <m:t>=0.4890,</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25</m:t>
                        </m:r>
                      </m:sub>
                    </m:sSub>
                    <m:r>
                      <a:rPr kumimoji="1" lang="en-US" altLang="zh-TW" i="1">
                        <a:latin typeface="Cambria Math" panose="02040503050406030204" pitchFamily="18" charset="0"/>
                      </a:rPr>
                      <m:t>=0.4890,</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34</m:t>
                        </m:r>
                      </m:sub>
                    </m:sSub>
                    <m:r>
                      <a:rPr kumimoji="1" lang="en-US" altLang="zh-TW" i="1">
                        <a:latin typeface="Cambria Math" panose="02040503050406030204" pitchFamily="18" charset="0"/>
                      </a:rPr>
                      <m:t>=0.4782,</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35</m:t>
                        </m:r>
                      </m:sub>
                    </m:sSub>
                    <m:r>
                      <a:rPr kumimoji="1" lang="en-US" altLang="zh-TW" i="1">
                        <a:latin typeface="Cambria Math" panose="02040503050406030204" pitchFamily="18" charset="0"/>
                      </a:rPr>
                      <m:t>=0.4782,</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47</m:t>
                        </m:r>
                      </m:sub>
                    </m:sSub>
                    <m:r>
                      <a:rPr kumimoji="1" lang="en-US" altLang="zh-TW" i="1">
                        <a:latin typeface="Cambria Math" panose="02040503050406030204" pitchFamily="18" charset="0"/>
                      </a:rPr>
                      <m:t>=0.3388,</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57</m:t>
                        </m:r>
                      </m:sub>
                    </m:sSub>
                    <m:r>
                      <a:rPr kumimoji="1" lang="en-US" altLang="zh-TW" i="1">
                        <a:latin typeface="Cambria Math" panose="02040503050406030204" pitchFamily="18" charset="0"/>
                      </a:rPr>
                      <m:t>=0.3388,</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67</m:t>
                        </m:r>
                      </m:sub>
                    </m:sSub>
                    <m:r>
                      <a:rPr kumimoji="1" lang="en-US" altLang="zh-TW" i="1">
                        <a:latin typeface="Cambria Math" panose="02040503050406030204" pitchFamily="18" charset="0"/>
                      </a:rPr>
                      <m:t>=0.2619</m:t>
                    </m:r>
                  </m:oMath>
                </a14:m>
                <a:endParaRPr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E35C4911-1A96-4DBF-6BE3-9F12EEB8A491}"/>
                  </a:ext>
                </a:extLst>
              </p:cNvPr>
              <p:cNvSpPr>
                <a:spLocks noGrp="1" noRot="1" noChangeAspect="1" noMove="1" noResize="1" noEditPoints="1" noAdjustHandles="1" noChangeArrowheads="1" noChangeShapeType="1" noTextEdit="1"/>
              </p:cNvSpPr>
              <p:nvPr>
                <p:ph idx="1"/>
              </p:nvPr>
            </p:nvSpPr>
            <p:spPr>
              <a:blipFill>
                <a:blip r:embed="rId2"/>
                <a:stretch>
                  <a:fillRect l="-1892" t="-1347" r="-75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0FDDA564-50AD-F040-E1F1-65307CC401AD}"/>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A637B52B-4587-F2F5-1D3F-28F6500BFF4A}"/>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01922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D10AF6-7230-5848-4F9F-84C679524A50}"/>
              </a:ext>
            </a:extLst>
          </p:cNvPr>
          <p:cNvSpPr>
            <a:spLocks noGrp="1"/>
          </p:cNvSpPr>
          <p:nvPr>
            <p:ph type="title"/>
          </p:nvPr>
        </p:nvSpPr>
        <p:spPr/>
        <p:txBody>
          <a:bodyPr/>
          <a:lstStyle/>
          <a:p>
            <a:r>
              <a:rPr kumimoji="1" lang="zh-TW" altLang="en-US" dirty="0"/>
              <a:t>練習題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FB8B7B0-8DAC-1450-71A9-54D3A72D6FEC}"/>
                  </a:ext>
                </a:extLst>
              </p:cNvPr>
              <p:cNvSpPr>
                <a:spLocks noGrp="1"/>
              </p:cNvSpPr>
              <p:nvPr>
                <p:ph idx="1"/>
              </p:nvPr>
            </p:nvSpPr>
            <p:spPr>
              <a:xfrm>
                <a:off x="1097280" y="2108201"/>
                <a:ext cx="10058400" cy="4112125"/>
              </a:xfrm>
            </p:spPr>
            <p:txBody>
              <a:bodyPr>
                <a:normAutofit/>
              </a:bodyPr>
              <a:lstStyle/>
              <a:p>
                <a:r>
                  <a:rPr kumimoji="1" lang="zh-TW" altLang="en-US" dirty="0"/>
                  <a:t>正向傳播：</a:t>
                </a:r>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4</m:t>
                        </m:r>
                      </m:sub>
                    </m:sSub>
                    <m:r>
                      <a:rPr kumimoji="1" lang="en-US" altLang="zh-TW" i="1">
                        <a:latin typeface="Cambria Math" panose="02040503050406030204" pitchFamily="18" charset="0"/>
                      </a:rPr>
                      <m:t>=</m:t>
                    </m:r>
                    <m:r>
                      <a:rPr kumimoji="1" lang="en-US" altLang="zh-TW" b="0" i="1" smtClean="0">
                        <a:latin typeface="Cambria Math" panose="02040503050406030204" pitchFamily="18" charset="0"/>
                      </a:rPr>
                      <m:t>−1∗0.4896+0.4</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0.4931+1</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0.4885=0.196</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5</m:t>
                        </m:r>
                      </m:sub>
                    </m:sSub>
                    <m:r>
                      <a:rPr kumimoji="1" lang="en-US" altLang="zh-TW" i="1">
                        <a:latin typeface="Cambria Math" panose="02040503050406030204" pitchFamily="18" charset="0"/>
                      </a:rPr>
                      <m:t>=</m:t>
                    </m:r>
                    <m:r>
                      <a:rPr kumimoji="1" lang="en-US" altLang="zh-TW" b="0" i="1" smtClean="0">
                        <a:latin typeface="Cambria Math" panose="02040503050406030204" pitchFamily="18" charset="0"/>
                      </a:rPr>
                      <m:t>0.196</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4</m:t>
                        </m:r>
                      </m:sub>
                    </m:sSub>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sSup>
                          <m:sSupPr>
                            <m:ctrlPr>
                              <a:rPr kumimoji="1" lang="en-US" altLang="zh-TW" i="1" smtClean="0">
                                <a:latin typeface="Cambria Math" panose="02040503050406030204" pitchFamily="18" charset="0"/>
                              </a:rPr>
                            </m:ctrlPr>
                          </m:sSupPr>
                          <m:e>
                            <m:r>
                              <a:rPr kumimoji="1" lang="en-US" altLang="zh-TW" i="1">
                                <a:latin typeface="Cambria Math" panose="02040503050406030204" pitchFamily="18" charset="0"/>
                              </a:rPr>
                              <m:t>1+</m:t>
                            </m:r>
                            <m:r>
                              <a:rPr kumimoji="1" lang="en-US" altLang="zh-TW" i="1">
                                <a:latin typeface="Cambria Math" panose="02040503050406030204" pitchFamily="18" charset="0"/>
                              </a:rPr>
                              <m:t>𝑒</m:t>
                            </m:r>
                          </m:e>
                          <m:sup>
                            <m:r>
                              <a:rPr kumimoji="1" lang="en-US" altLang="zh-TW" b="0" i="1" smtClean="0">
                                <a:latin typeface="Cambria Math" panose="02040503050406030204" pitchFamily="18" charset="0"/>
                              </a:rPr>
                              <m:t>0.196</m:t>
                            </m:r>
                          </m:sup>
                        </m:sSup>
                      </m:den>
                    </m:f>
                    <m:r>
                      <a:rPr kumimoji="1" lang="en-US" altLang="zh-TW" i="1">
                        <a:latin typeface="Cambria Math" panose="02040503050406030204" pitchFamily="18" charset="0"/>
                      </a:rPr>
                      <m:t>=</m:t>
                    </m:r>
                    <m:r>
                      <a:rPr kumimoji="1" lang="en-US" altLang="zh-TW" b="0" i="1" smtClean="0">
                        <a:latin typeface="Cambria Math" panose="02040503050406030204" pitchFamily="18" charset="0"/>
                      </a:rPr>
                      <m:t>0.549</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𝑜</m:t>
                        </m:r>
                      </m:e>
                      <m:sub>
                        <m:r>
                          <a:rPr kumimoji="1" lang="en-US" altLang="zh-TW" i="1">
                            <a:latin typeface="Cambria Math" panose="02040503050406030204" pitchFamily="18" charset="0"/>
                          </a:rPr>
                          <m:t>5</m:t>
                        </m:r>
                      </m:sub>
                    </m:sSub>
                    <m:r>
                      <a:rPr kumimoji="1" lang="en-US" altLang="zh-TW" i="1">
                        <a:latin typeface="Cambria Math" panose="02040503050406030204" pitchFamily="18" charset="0"/>
                      </a:rPr>
                      <m:t>=0.549</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7</m:t>
                        </m:r>
                      </m:sub>
                    </m:sSub>
                    <m:r>
                      <a:rPr kumimoji="1" lang="en-US" altLang="zh-TW" i="1">
                        <a:latin typeface="Cambria Math" panose="02040503050406030204" pitchFamily="18" charset="0"/>
                      </a:rPr>
                      <m:t>=0.549∗</m:t>
                    </m:r>
                    <m:r>
                      <a:rPr kumimoji="1" lang="en-US" altLang="zh-TW" i="1" smtClean="0">
                        <a:latin typeface="Cambria Math" panose="02040503050406030204" pitchFamily="18" charset="0"/>
                      </a:rPr>
                      <m:t>0</m:t>
                    </m:r>
                    <m:r>
                      <a:rPr kumimoji="1" lang="en-US" altLang="zh-TW" b="0" i="1" smtClean="0">
                        <a:latin typeface="Cambria Math" panose="02040503050406030204" pitchFamily="18" charset="0"/>
                      </a:rPr>
                      <m:t>.3964</m:t>
                    </m:r>
                    <m:r>
                      <a:rPr kumimoji="1" lang="en-US" altLang="zh-TW" i="1">
                        <a:latin typeface="Cambria Math" panose="02040503050406030204" pitchFamily="18" charset="0"/>
                      </a:rPr>
                      <m:t>+0.</m:t>
                    </m:r>
                    <m:r>
                      <a:rPr kumimoji="1" lang="en-US" altLang="zh-TW" b="0" i="1" smtClean="0">
                        <a:latin typeface="Cambria Math" panose="02040503050406030204" pitchFamily="18" charset="0"/>
                      </a:rPr>
                      <m:t>549</m:t>
                    </m:r>
                    <m:r>
                      <a:rPr kumimoji="1" lang="en-US" altLang="zh-TW" i="1">
                        <a:latin typeface="Cambria Math" panose="02040503050406030204" pitchFamily="18" charset="0"/>
                      </a:rPr>
                      <m:t>∗0.</m:t>
                    </m:r>
                    <m:r>
                      <a:rPr kumimoji="1" lang="en-US" altLang="zh-TW" b="0" i="1" smtClean="0">
                        <a:latin typeface="Cambria Math" panose="02040503050406030204" pitchFamily="18" charset="0"/>
                      </a:rPr>
                      <m:t>3964</m:t>
                    </m:r>
                    <m:r>
                      <a:rPr kumimoji="1" lang="en-US" altLang="zh-TW" i="1">
                        <a:latin typeface="Cambria Math" panose="02040503050406030204" pitchFamily="18" charset="0"/>
                      </a:rPr>
                      <m:t>+1∗0.</m:t>
                    </m:r>
                    <m:r>
                      <a:rPr kumimoji="1" lang="en-US" altLang="zh-TW" b="0" i="1" smtClean="0">
                        <a:latin typeface="Cambria Math" panose="02040503050406030204" pitchFamily="18" charset="0"/>
                      </a:rPr>
                      <m:t>3667</m:t>
                    </m:r>
                    <m:r>
                      <a:rPr kumimoji="1" lang="en-US" altLang="zh-TW" i="1">
                        <a:latin typeface="Cambria Math" panose="02040503050406030204" pitchFamily="18" charset="0"/>
                      </a:rPr>
                      <m:t>=</m:t>
                    </m:r>
                    <m:r>
                      <a:rPr kumimoji="1" lang="en-US" altLang="zh-TW" b="0" i="1" smtClean="0">
                        <a:latin typeface="Cambria Math" panose="02040503050406030204" pitchFamily="18" charset="0"/>
                      </a:rPr>
                      <m:t>0.802</m:t>
                    </m:r>
                  </m:oMath>
                </a14:m>
                <a:endParaRPr kumimoji="1" lang="en-US" altLang="zh-TW" dirty="0"/>
              </a:p>
              <a:p>
                <a:pPr>
                  <a:buFont typeface="Wingdings" pitchFamily="2" charset="2"/>
                  <a:buChar char="p"/>
                </a:pP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7</m:t>
                        </m:r>
                      </m:sub>
                    </m:sSub>
                    <m:r>
                      <a:rPr kumimoji="1" lang="en-US" altLang="zh-TW" i="1">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1+</m:t>
                            </m:r>
                            <m:r>
                              <a:rPr kumimoji="1" lang="en-US" altLang="zh-TW" i="1">
                                <a:latin typeface="Cambria Math" panose="02040503050406030204" pitchFamily="18" charset="0"/>
                              </a:rPr>
                              <m:t>𝑒</m:t>
                            </m:r>
                          </m:e>
                          <m:sup>
                            <m:r>
                              <a:rPr kumimoji="1" lang="en-US" altLang="zh-TW" b="0" i="1" smtClean="0">
                                <a:latin typeface="Cambria Math" panose="02040503050406030204" pitchFamily="18" charset="0"/>
                              </a:rPr>
                              <m:t>−0.802</m:t>
                            </m:r>
                          </m:sup>
                        </m:sSup>
                      </m:den>
                    </m:f>
                    <m:r>
                      <a:rPr kumimoji="1" lang="en-US" altLang="zh-TW" i="1">
                        <a:latin typeface="Cambria Math" panose="02040503050406030204" pitchFamily="18" charset="0"/>
                      </a:rPr>
                      <m:t>=</m:t>
                    </m:r>
                    <m:r>
                      <a:rPr kumimoji="1" lang="en-US" altLang="zh-TW" b="0" i="1" smtClean="0">
                        <a:latin typeface="Cambria Math" panose="02040503050406030204" pitchFamily="18" charset="0"/>
                      </a:rPr>
                      <m:t>0.690</m:t>
                    </m:r>
                  </m:oMath>
                </a14:m>
                <a:endParaRPr kumimoji="1" lang="en-US" altLang="zh-TW" dirty="0"/>
              </a:p>
            </p:txBody>
          </p:sp>
        </mc:Choice>
        <mc:Fallback xmlns="">
          <p:sp>
            <p:nvSpPr>
              <p:cNvPr id="3" name="內容版面配置區 2">
                <a:extLst>
                  <a:ext uri="{FF2B5EF4-FFF2-40B4-BE49-F238E27FC236}">
                    <a16:creationId xmlns:a16="http://schemas.microsoft.com/office/drawing/2014/main" id="{6FB8B7B0-8DAC-1450-71A9-54D3A72D6FEC}"/>
                  </a:ext>
                </a:extLst>
              </p:cNvPr>
              <p:cNvSpPr>
                <a:spLocks noGrp="1" noRot="1" noChangeAspect="1" noMove="1" noResize="1" noEditPoints="1" noAdjustHandles="1" noChangeArrowheads="1" noChangeShapeType="1" noTextEdit="1"/>
              </p:cNvSpPr>
              <p:nvPr>
                <p:ph idx="1"/>
              </p:nvPr>
            </p:nvSpPr>
            <p:spPr>
              <a:xfrm>
                <a:off x="1097280" y="2108201"/>
                <a:ext cx="10058400" cy="4112125"/>
              </a:xfrm>
              <a:blipFill>
                <a:blip r:embed="rId2"/>
                <a:stretch>
                  <a:fillRect l="-1765" t="-123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BA8A93EA-747A-B238-46B3-C65C647EA9C6}"/>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4BB051C5-FC0A-F546-A5D4-250181EB8BCD}"/>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086897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D5340E-D46D-B841-E0B2-9B29F31853E4}"/>
              </a:ext>
            </a:extLst>
          </p:cNvPr>
          <p:cNvSpPr>
            <a:spLocks noGrp="1"/>
          </p:cNvSpPr>
          <p:nvPr>
            <p:ph type="title"/>
          </p:nvPr>
        </p:nvSpPr>
        <p:spPr/>
        <p:txBody>
          <a:bodyPr/>
          <a:lstStyle/>
          <a:p>
            <a:r>
              <a:rPr kumimoji="1" lang="zh-TW" altLang="en-US" dirty="0"/>
              <a:t>練習題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AD6D071-0BEF-FADA-BB51-66352AA3E576}"/>
                  </a:ext>
                </a:extLst>
              </p:cNvPr>
              <p:cNvSpPr>
                <a:spLocks noGrp="1"/>
              </p:cNvSpPr>
              <p:nvPr>
                <p:ph idx="1"/>
              </p:nvPr>
            </p:nvSpPr>
            <p:spPr/>
            <p:txBody>
              <a:bodyPr/>
              <a:lstStyle/>
              <a:p>
                <a:r>
                  <a:rPr kumimoji="1" lang="zh-TW" altLang="en-US" dirty="0"/>
                  <a:t>反向傳播：</a:t>
                </a:r>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ea typeface="Cambria Math" panose="02040503050406030204" pitchFamily="18" charset="0"/>
                          </a:rPr>
                          <m:t>7</m:t>
                        </m:r>
                      </m:sub>
                    </m:sSub>
                    <m:r>
                      <a:rPr kumimoji="1" lang="en-US" altLang="zh-TW" i="1">
                        <a:latin typeface="Cambria Math" panose="02040503050406030204" pitchFamily="18" charset="0"/>
                      </a:rPr>
                      <m:t>=</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0.2−0.690</m:t>
                        </m:r>
                      </m:e>
                    </m:d>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0.690</m:t>
                    </m:r>
                    <m:r>
                      <a:rPr kumimoji="1" lang="zh-TW" altLang="en-US" b="0" i="1" smtClean="0">
                        <a:latin typeface="Cambria Math" panose="02040503050406030204" pitchFamily="18" charset="0"/>
                      </a:rPr>
                      <m:t>∗</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1−0.690</m:t>
                        </m:r>
                      </m:e>
                    </m:d>
                    <m:r>
                      <a:rPr kumimoji="1" lang="en-US" altLang="zh-TW" b="0" i="1" smtClean="0">
                        <a:latin typeface="Cambria Math" panose="02040503050406030204" pitchFamily="18" charset="0"/>
                      </a:rPr>
                      <m:t>=−0.105</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ea typeface="Cambria Math" panose="02040503050406030204" pitchFamily="18" charset="0"/>
                          </a:rPr>
                          <m:t>4</m:t>
                        </m:r>
                      </m:sub>
                    </m:sSub>
                    <m:r>
                      <a:rPr kumimoji="1" lang="en-US" altLang="zh-TW" i="1">
                        <a:latin typeface="Cambria Math" panose="02040503050406030204" pitchFamily="18" charset="0"/>
                        <a:ea typeface="Cambria Math" panose="02040503050406030204" pitchFamily="18" charset="0"/>
                      </a:rPr>
                      <m:t>=</m:t>
                    </m:r>
                    <m:d>
                      <m:dPr>
                        <m:ctrlPr>
                          <a:rPr kumimoji="1" lang="en-US" altLang="zh-TW" i="1">
                            <a:latin typeface="Cambria Math" panose="02040503050406030204" pitchFamily="18" charset="0"/>
                            <a:ea typeface="Cambria Math" panose="02040503050406030204" pitchFamily="18" charset="0"/>
                          </a:rPr>
                        </m:ctrlPr>
                      </m:dPr>
                      <m:e>
                        <m:r>
                          <a:rPr kumimoji="1" lang="en-US" altLang="zh-TW" i="1">
                            <a:latin typeface="Cambria Math" panose="02040503050406030204" pitchFamily="18" charset="0"/>
                          </a:rPr>
                          <m:t>−0.105</m:t>
                        </m:r>
                        <m:r>
                          <a:rPr kumimoji="1" lang="zh-TW" altLang="en-US"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0.</m:t>
                        </m:r>
                        <m:r>
                          <a:rPr kumimoji="1" lang="en-US" altLang="zh-TW" b="0" i="1" smtClean="0">
                            <a:latin typeface="Cambria Math" panose="02040503050406030204" pitchFamily="18" charset="0"/>
                            <a:ea typeface="Cambria Math" panose="02040503050406030204" pitchFamily="18" charset="0"/>
                          </a:rPr>
                          <m:t>3964</m:t>
                        </m:r>
                      </m:e>
                    </m:d>
                    <m:r>
                      <a:rPr kumimoji="1" lang="zh-TW" altLang="en-US" i="1">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0.549</m:t>
                    </m:r>
                    <m:r>
                      <a:rPr kumimoji="1" lang="zh-TW" altLang="en-US" i="1">
                        <a:latin typeface="Cambria Math" panose="02040503050406030204" pitchFamily="18" charset="0"/>
                        <a:ea typeface="Cambria Math" panose="02040503050406030204" pitchFamily="18" charset="0"/>
                      </a:rPr>
                      <m:t>∗</m:t>
                    </m:r>
                    <m:d>
                      <m:dPr>
                        <m:ctrlPr>
                          <a:rPr kumimoji="1" lang="en-US" altLang="zh-TW" i="1">
                            <a:latin typeface="Cambria Math" panose="02040503050406030204" pitchFamily="18" charset="0"/>
                            <a:ea typeface="Cambria Math" panose="02040503050406030204" pitchFamily="18" charset="0"/>
                          </a:rPr>
                        </m:ctrlPr>
                      </m:dPr>
                      <m:e>
                        <m:r>
                          <a:rPr kumimoji="1" lang="en-US" altLang="zh-TW" i="1">
                            <a:latin typeface="Cambria Math" panose="02040503050406030204" pitchFamily="18" charset="0"/>
                            <a:ea typeface="Cambria Math" panose="02040503050406030204" pitchFamily="18" charset="0"/>
                          </a:rPr>
                          <m:t>1−0.549</m:t>
                        </m:r>
                      </m:e>
                    </m:d>
                    <m:r>
                      <a:rPr kumimoji="1" lang="en-US" altLang="zh-TW" i="1">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0.0103</m:t>
                    </m:r>
                  </m:oMath>
                </a14:m>
                <a:endParaRPr kumimoji="1" lang="en-US" altLang="zh-TW" dirty="0">
                  <a:ea typeface="Cambria Math" panose="02040503050406030204" pitchFamily="18" charset="0"/>
                </a:endParaRPr>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ea typeface="Cambria Math" panose="02040503050406030204" pitchFamily="18" charset="0"/>
                          </a:rPr>
                          <m:t>𝛿</m:t>
                        </m:r>
                      </m:e>
                      <m:sub>
                        <m:r>
                          <a:rPr kumimoji="1" lang="en-US" altLang="zh-TW" i="1">
                            <a:latin typeface="Cambria Math" panose="02040503050406030204" pitchFamily="18" charset="0"/>
                            <a:ea typeface="Cambria Math" panose="02040503050406030204" pitchFamily="18" charset="0"/>
                          </a:rPr>
                          <m:t>5</m:t>
                        </m:r>
                      </m:sub>
                    </m:sSub>
                    <m:r>
                      <a:rPr kumimoji="1" lang="en-US" altLang="zh-TW" i="1">
                        <a:latin typeface="Cambria Math" panose="02040503050406030204" pitchFamily="18" charset="0"/>
                        <a:ea typeface="Cambria Math" panose="02040503050406030204" pitchFamily="18" charset="0"/>
                      </a:rPr>
                      <m:t>=−0.0103</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ea typeface="Cambria Math" panose="02040503050406030204" pitchFamily="18" charset="0"/>
                          </a:rPr>
                          <m:t>47</m:t>
                        </m:r>
                      </m:sub>
                    </m:sSub>
                    <m:r>
                      <a:rPr kumimoji="1" lang="en-US" altLang="zh-TW" i="1">
                        <a:latin typeface="Cambria Math" panose="02040503050406030204" pitchFamily="18" charset="0"/>
                        <a:ea typeface="Cambria Math" panose="02040503050406030204" pitchFamily="18" charset="0"/>
                      </a:rPr>
                      <m:t>=0.3964+</m:t>
                    </m:r>
                    <m:d>
                      <m:dPr>
                        <m:ctrlPr>
                          <a:rPr kumimoji="1" lang="en-US" altLang="zh-TW" i="1">
                            <a:latin typeface="Cambria Math" panose="02040503050406030204" pitchFamily="18" charset="0"/>
                            <a:ea typeface="Cambria Math" panose="02040503050406030204" pitchFamily="18" charset="0"/>
                          </a:rPr>
                        </m:ctrlPr>
                      </m:dPr>
                      <m:e>
                        <m:r>
                          <a:rPr kumimoji="1" lang="en-US" altLang="zh-TW" i="1">
                            <a:latin typeface="Cambria Math" panose="02040503050406030204" pitchFamily="18" charset="0"/>
                            <a:ea typeface="Cambria Math" panose="02040503050406030204" pitchFamily="18" charset="0"/>
                          </a:rPr>
                          <m:t>1</m:t>
                        </m:r>
                        <m:r>
                          <a:rPr kumimoji="1" lang="zh-TW" altLang="en-US"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rPr>
                          <m:t>−0.105</m:t>
                        </m:r>
                        <m:r>
                          <a:rPr kumimoji="1" lang="zh-TW" altLang="en-US" i="1">
                            <a:latin typeface="Cambria Math" panose="02040503050406030204" pitchFamily="18" charset="0"/>
                          </a:rPr>
                          <m:t>∗</m:t>
                        </m:r>
                        <m:r>
                          <a:rPr kumimoji="1" lang="en-US" altLang="zh-TW" b="0" i="1" smtClean="0">
                            <a:latin typeface="Cambria Math" panose="02040503050406030204" pitchFamily="18" charset="0"/>
                          </a:rPr>
                          <m:t>0.549</m:t>
                        </m:r>
                      </m:e>
                    </m:d>
                    <m:r>
                      <a:rPr kumimoji="1" lang="en-US" altLang="zh-TW" i="1">
                        <a:latin typeface="Cambria Math" panose="02040503050406030204" pitchFamily="18" charset="0"/>
                      </a:rPr>
                      <m:t>=</m:t>
                    </m:r>
                    <m:r>
                      <a:rPr kumimoji="1" lang="en-US" altLang="zh-TW" b="0" i="1" smtClean="0">
                        <a:latin typeface="Cambria Math" panose="02040503050406030204" pitchFamily="18" charset="0"/>
                      </a:rPr>
                      <m:t>0.3388</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5</m:t>
                        </m:r>
                        <m:r>
                          <a:rPr kumimoji="1" lang="en-US" altLang="zh-TW" i="1">
                            <a:latin typeface="Cambria Math" panose="02040503050406030204" pitchFamily="18" charset="0"/>
                            <a:ea typeface="Cambria Math" panose="02040503050406030204" pitchFamily="18" charset="0"/>
                          </a:rPr>
                          <m:t>7</m:t>
                        </m:r>
                      </m:sub>
                    </m:sSub>
                    <m:r>
                      <a:rPr kumimoji="1" lang="en-US" altLang="zh-TW" i="1">
                        <a:latin typeface="Cambria Math" panose="02040503050406030204" pitchFamily="18" charset="0"/>
                      </a:rPr>
                      <m:t>=0.3388</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6</m:t>
                        </m:r>
                        <m:r>
                          <a:rPr kumimoji="1" lang="en-US" altLang="zh-TW" i="1">
                            <a:latin typeface="Cambria Math" panose="02040503050406030204" pitchFamily="18" charset="0"/>
                            <a:ea typeface="Cambria Math" panose="02040503050406030204" pitchFamily="18" charset="0"/>
                          </a:rPr>
                          <m:t>7</m:t>
                        </m:r>
                      </m:sub>
                    </m:sSub>
                    <m:r>
                      <a:rPr kumimoji="1" lang="en-US" altLang="zh-TW" i="1">
                        <a:latin typeface="Cambria Math" panose="02040503050406030204" pitchFamily="18" charset="0"/>
                      </a:rPr>
                      <m:t>=0.3667</m:t>
                    </m:r>
                    <m:r>
                      <a:rPr kumimoji="1" lang="en-US" altLang="zh-TW" b="0" i="1" smtClean="0">
                        <a:latin typeface="Cambria Math" panose="02040503050406030204" pitchFamily="18" charset="0"/>
                      </a:rPr>
                      <m:t>+</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−0.105</m:t>
                        </m:r>
                        <m:r>
                          <a:rPr kumimoji="1" lang="zh-TW" altLang="en-US" b="0" i="1" smtClean="0">
                            <a:latin typeface="Cambria Math" panose="02040503050406030204" pitchFamily="18" charset="0"/>
                          </a:rPr>
                          <m:t>∗</m:t>
                        </m:r>
                        <m:r>
                          <a:rPr kumimoji="1" lang="en-US" altLang="zh-TW" b="0" i="1" smtClean="0">
                            <a:latin typeface="Cambria Math" panose="02040503050406030204" pitchFamily="18" charset="0"/>
                          </a:rPr>
                          <m:t>1</m:t>
                        </m:r>
                      </m:e>
                    </m:d>
                    <m:r>
                      <a:rPr kumimoji="1" lang="en-US" altLang="zh-TW" b="0" i="1" smtClean="0">
                        <a:latin typeface="Cambria Math" panose="02040503050406030204" pitchFamily="18" charset="0"/>
                      </a:rPr>
                      <m:t>=0.2619</m:t>
                    </m:r>
                  </m:oMath>
                </a14:m>
                <a:endParaRPr kumimoji="1" lang="en-US" altLang="zh-TW" dirty="0"/>
              </a:p>
            </p:txBody>
          </p:sp>
        </mc:Choice>
        <mc:Fallback xmlns="">
          <p:sp>
            <p:nvSpPr>
              <p:cNvPr id="3" name="內容版面配置區 2">
                <a:extLst>
                  <a:ext uri="{FF2B5EF4-FFF2-40B4-BE49-F238E27FC236}">
                    <a16:creationId xmlns:a16="http://schemas.microsoft.com/office/drawing/2014/main" id="{7AD6D071-0BEF-FADA-BB51-66352AA3E576}"/>
                  </a:ext>
                </a:extLst>
              </p:cNvPr>
              <p:cNvSpPr>
                <a:spLocks noGrp="1" noRot="1" noChangeAspect="1" noMove="1" noResize="1" noEditPoints="1" noAdjustHandles="1" noChangeArrowheads="1" noChangeShapeType="1" noTextEdit="1"/>
              </p:cNvSpPr>
              <p:nvPr>
                <p:ph idx="1"/>
              </p:nvPr>
            </p:nvSpPr>
            <p:spPr>
              <a:blipFill>
                <a:blip r:embed="rId2"/>
                <a:stretch>
                  <a:fillRect l="-1765" t="-1347" b="-2020"/>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532D6981-ABE3-2375-6A54-F48B0F376F3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BDA16AB-9D5B-98A1-6BFC-2B5FAB06242B}"/>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30041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505767-EA03-4723-A245-336DBD8668C9}"/>
              </a:ext>
            </a:extLst>
          </p:cNvPr>
          <p:cNvSpPr>
            <a:spLocks noGrp="1"/>
          </p:cNvSpPr>
          <p:nvPr>
            <p:ph type="title"/>
          </p:nvPr>
        </p:nvSpPr>
        <p:spPr/>
        <p:txBody>
          <a:bodyPr/>
          <a:lstStyle/>
          <a:p>
            <a:r>
              <a:rPr kumimoji="1" lang="zh-TW" altLang="en-US" dirty="0"/>
              <a:t>練習題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75F189B-6E47-6039-6516-9861BFDF5465}"/>
                  </a:ext>
                </a:extLst>
              </p:cNvPr>
              <p:cNvSpPr>
                <a:spLocks noGrp="1"/>
              </p:cNvSpPr>
              <p:nvPr>
                <p:ph idx="1"/>
              </p:nvPr>
            </p:nvSpPr>
            <p:spPr/>
            <p:txBody>
              <a:bodyPr/>
              <a:lstStyle/>
              <a:p>
                <a:r>
                  <a:rPr kumimoji="1" lang="zh-TW" altLang="en-US" dirty="0"/>
                  <a:t>反向傳播：</a:t>
                </a:r>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14</m:t>
                        </m:r>
                      </m:sub>
                    </m:sSub>
                    <m:r>
                      <a:rPr kumimoji="1" lang="en-US" altLang="zh-TW" i="1">
                        <a:latin typeface="Cambria Math" panose="02040503050406030204" pitchFamily="18" charset="0"/>
                      </a:rPr>
                      <m:t>=0.4896+</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zh-TW" altLang="en-US"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−0.0103</m:t>
                        </m:r>
                        <m:r>
                          <a:rPr kumimoji="1" lang="zh-TW" altLang="en-US" i="1">
                            <a:latin typeface="Cambria Math" panose="02040503050406030204" pitchFamily="18" charset="0"/>
                          </a:rPr>
                          <m:t>∗</m:t>
                        </m:r>
                        <m:r>
                          <a:rPr kumimoji="1" lang="en-US" altLang="zh-TW" b="0" i="1" smtClean="0">
                            <a:latin typeface="Cambria Math" panose="02040503050406030204" pitchFamily="18" charset="0"/>
                          </a:rPr>
                          <m:t>−1</m:t>
                        </m:r>
                      </m:e>
                    </m:d>
                    <m:r>
                      <a:rPr kumimoji="1" lang="en-US" altLang="zh-TW" i="1">
                        <a:latin typeface="Cambria Math" panose="02040503050406030204" pitchFamily="18" charset="0"/>
                      </a:rPr>
                      <m:t>=</m:t>
                    </m:r>
                    <m:r>
                      <a:rPr kumimoji="1" lang="en-US" altLang="zh-TW" b="0" i="1" smtClean="0">
                        <a:latin typeface="Cambria Math" panose="02040503050406030204" pitchFamily="18" charset="0"/>
                      </a:rPr>
                      <m:t>0.4999</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𝑤</m:t>
                        </m:r>
                      </m:e>
                      <m:sub>
                        <m:r>
                          <a:rPr kumimoji="1" lang="en-US" altLang="zh-TW" i="1">
                            <a:latin typeface="Cambria Math" panose="02040503050406030204" pitchFamily="18" charset="0"/>
                          </a:rPr>
                          <m:t>15</m:t>
                        </m:r>
                      </m:sub>
                    </m:sSub>
                    <m:r>
                      <a:rPr kumimoji="1" lang="en-US" altLang="zh-TW" i="1">
                        <a:latin typeface="Cambria Math" panose="02040503050406030204" pitchFamily="18" charset="0"/>
                      </a:rPr>
                      <m:t>=0.4999</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𝑤</m:t>
                        </m:r>
                      </m:e>
                      <m:sub>
                        <m:r>
                          <a:rPr kumimoji="1" lang="en-US" altLang="zh-TW" i="1">
                            <a:latin typeface="Cambria Math" panose="02040503050406030204" pitchFamily="18" charset="0"/>
                          </a:rPr>
                          <m:t>24</m:t>
                        </m:r>
                      </m:sub>
                    </m:sSub>
                    <m:r>
                      <a:rPr kumimoji="1" lang="en-US" altLang="zh-TW" i="1">
                        <a:latin typeface="Cambria Math" panose="02040503050406030204" pitchFamily="18" charset="0"/>
                      </a:rPr>
                      <m:t>=0.</m:t>
                    </m:r>
                    <m:r>
                      <a:rPr kumimoji="1" lang="en-US" altLang="zh-TW" b="0" i="1" smtClean="0">
                        <a:latin typeface="Cambria Math" panose="02040503050406030204" pitchFamily="18" charset="0"/>
                      </a:rPr>
                      <m:t>4931</m:t>
                    </m:r>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zh-TW" altLang="en-US"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−0.0103</m:t>
                        </m:r>
                        <m:r>
                          <a:rPr kumimoji="1" lang="zh-TW" altLang="en-US" i="1">
                            <a:latin typeface="Cambria Math" panose="02040503050406030204" pitchFamily="18" charset="0"/>
                          </a:rPr>
                          <m:t>∗</m:t>
                        </m:r>
                        <m:r>
                          <a:rPr kumimoji="1" lang="en-US" altLang="zh-TW" i="1">
                            <a:latin typeface="Cambria Math" panose="02040503050406030204" pitchFamily="18" charset="0"/>
                          </a:rPr>
                          <m:t>0.</m:t>
                        </m:r>
                        <m:r>
                          <a:rPr kumimoji="1" lang="en-US" altLang="zh-TW" b="0" i="1" smtClean="0">
                            <a:latin typeface="Cambria Math" panose="02040503050406030204" pitchFamily="18" charset="0"/>
                          </a:rPr>
                          <m:t>4</m:t>
                        </m:r>
                      </m:e>
                    </m:d>
                    <m:r>
                      <a:rPr kumimoji="1" lang="en-US" altLang="zh-TW" i="1">
                        <a:latin typeface="Cambria Math" panose="02040503050406030204" pitchFamily="18" charset="0"/>
                      </a:rPr>
                      <m:t>=</m:t>
                    </m:r>
                    <m:r>
                      <a:rPr kumimoji="1" lang="en-US" altLang="zh-TW" b="0" i="1" smtClean="0">
                        <a:latin typeface="Cambria Math" panose="02040503050406030204" pitchFamily="18" charset="0"/>
                      </a:rPr>
                      <m:t>0.4890</m:t>
                    </m:r>
                  </m:oMath>
                </a14:m>
                <a:endParaRPr kumimoji="1" lang="en-US" altLang="zh-TW" dirty="0"/>
              </a:p>
              <a:p>
                <a:pPr>
                  <a:buFont typeface="Wingdings" pitchFamily="2" charset="2"/>
                  <a:buChar char="p"/>
                </a:pPr>
                <a:r>
                  <a:rPr kumimoji="1" lang="zh-TW" altLang="en-US"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25</m:t>
                        </m:r>
                      </m:sub>
                    </m:sSub>
                    <m:r>
                      <a:rPr kumimoji="1" lang="en-US" altLang="zh-TW" i="1">
                        <a:latin typeface="Cambria Math" panose="02040503050406030204" pitchFamily="18" charset="0"/>
                      </a:rPr>
                      <m:t>=0.4890</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𝑤</m:t>
                        </m:r>
                      </m:e>
                      <m:sub>
                        <m:r>
                          <a:rPr kumimoji="1" lang="en-US" altLang="zh-TW" i="1">
                            <a:latin typeface="Cambria Math" panose="02040503050406030204" pitchFamily="18" charset="0"/>
                          </a:rPr>
                          <m:t>34</m:t>
                        </m:r>
                      </m:sub>
                    </m:sSub>
                    <m:r>
                      <a:rPr kumimoji="1" lang="en-US" altLang="zh-TW" i="1">
                        <a:latin typeface="Cambria Math" panose="02040503050406030204" pitchFamily="18" charset="0"/>
                      </a:rPr>
                      <m:t>=</m:t>
                    </m:r>
                  </m:oMath>
                </a14:m>
                <a:r>
                  <a:rPr kumimoji="1" lang="en-US" altLang="zh-TW" dirty="0"/>
                  <a:t> </a:t>
                </a:r>
                <a14:m>
                  <m:oMath xmlns:m="http://schemas.openxmlformats.org/officeDocument/2006/math">
                    <m:r>
                      <a:rPr kumimoji="1" lang="en-US" altLang="zh-TW" i="1">
                        <a:latin typeface="Cambria Math" panose="02040503050406030204" pitchFamily="18" charset="0"/>
                      </a:rPr>
                      <m:t>0.</m:t>
                    </m:r>
                    <m:r>
                      <a:rPr kumimoji="1" lang="en-US" altLang="zh-TW" b="0" i="1" smtClean="0">
                        <a:latin typeface="Cambria Math" panose="02040503050406030204" pitchFamily="18" charset="0"/>
                      </a:rPr>
                      <m:t>4885</m:t>
                    </m:r>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r>
                          <a:rPr kumimoji="1" lang="zh-TW" altLang="en-US"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−0.0103</m:t>
                        </m:r>
                        <m:r>
                          <a:rPr kumimoji="1" lang="zh-TW" altLang="en-US" i="1">
                            <a:latin typeface="Cambria Math" panose="02040503050406030204" pitchFamily="18" charset="0"/>
                          </a:rPr>
                          <m:t>∗</m:t>
                        </m:r>
                        <m:r>
                          <a:rPr kumimoji="1" lang="en-US" altLang="zh-TW" i="1">
                            <a:latin typeface="Cambria Math" panose="02040503050406030204" pitchFamily="18" charset="0"/>
                          </a:rPr>
                          <m:t>1</m:t>
                        </m:r>
                      </m:e>
                    </m:d>
                    <m:r>
                      <a:rPr kumimoji="1" lang="en-US" altLang="zh-TW" i="1">
                        <a:latin typeface="Cambria Math" panose="02040503050406030204" pitchFamily="18" charset="0"/>
                      </a:rPr>
                      <m:t>=</m:t>
                    </m:r>
                    <m:r>
                      <a:rPr kumimoji="1" lang="en-US" altLang="zh-TW" b="0" i="1" smtClean="0">
                        <a:latin typeface="Cambria Math" panose="02040503050406030204" pitchFamily="18" charset="0"/>
                      </a:rPr>
                      <m:t>0.4782</m:t>
                    </m:r>
                  </m:oMath>
                </a14:m>
                <a:endParaRPr kumimoji="1" lang="en-US" altLang="zh-TW" dirty="0"/>
              </a:p>
              <a:p>
                <a:pPr>
                  <a:buFont typeface="Wingdings" pitchFamily="2" charset="2"/>
                  <a:buChar char="p"/>
                </a:pPr>
                <a14:m>
                  <m:oMath xmlns:m="http://schemas.openxmlformats.org/officeDocument/2006/math">
                    <m:sSub>
                      <m:sSubPr>
                        <m:ctrlPr>
                          <a:rPr kumimoji="1" lang="en-US" altLang="zh-TW" i="1">
                            <a:latin typeface="Cambria Math" panose="02040503050406030204" pitchFamily="18" charset="0"/>
                          </a:rPr>
                        </m:ctrlPr>
                      </m:sSubPr>
                      <m:e>
                        <m:r>
                          <a:rPr kumimoji="1" lang="zh-TW" altLang="en-US" i="1">
                            <a:latin typeface="Cambria Math" panose="02040503050406030204" pitchFamily="18" charset="0"/>
                          </a:rPr>
                          <m:t> </m:t>
                        </m:r>
                        <m:r>
                          <a:rPr kumimoji="1" lang="en-US" altLang="zh-TW" i="1">
                            <a:latin typeface="Cambria Math" panose="02040503050406030204" pitchFamily="18" charset="0"/>
                          </a:rPr>
                          <m:t>𝑤</m:t>
                        </m:r>
                      </m:e>
                      <m:sub>
                        <m:r>
                          <a:rPr kumimoji="1" lang="en-US" altLang="zh-TW" i="1">
                            <a:latin typeface="Cambria Math" panose="02040503050406030204" pitchFamily="18" charset="0"/>
                          </a:rPr>
                          <m:t>35</m:t>
                        </m:r>
                      </m:sub>
                    </m:sSub>
                    <m:r>
                      <a:rPr kumimoji="1" lang="en-US" altLang="zh-TW" i="1">
                        <a:latin typeface="Cambria Math" panose="02040503050406030204" pitchFamily="18" charset="0"/>
                      </a:rPr>
                      <m:t>=0.4782</m:t>
                    </m:r>
                  </m:oMath>
                </a14:m>
                <a:endParaRPr kumimoji="1" lang="en-US" altLang="zh-TW" dirty="0"/>
              </a:p>
            </p:txBody>
          </p:sp>
        </mc:Choice>
        <mc:Fallback xmlns="">
          <p:sp>
            <p:nvSpPr>
              <p:cNvPr id="3" name="內容版面配置區 2">
                <a:extLst>
                  <a:ext uri="{FF2B5EF4-FFF2-40B4-BE49-F238E27FC236}">
                    <a16:creationId xmlns:a16="http://schemas.microsoft.com/office/drawing/2014/main" id="{675F189B-6E47-6039-6516-9861BFDF5465}"/>
                  </a:ext>
                </a:extLst>
              </p:cNvPr>
              <p:cNvSpPr>
                <a:spLocks noGrp="1" noRot="1" noChangeAspect="1" noMove="1" noResize="1" noEditPoints="1" noAdjustHandles="1" noChangeArrowheads="1" noChangeShapeType="1" noTextEdit="1"/>
              </p:cNvSpPr>
              <p:nvPr>
                <p:ph idx="1"/>
              </p:nvPr>
            </p:nvSpPr>
            <p:spPr>
              <a:blipFill>
                <a:blip r:embed="rId2"/>
                <a:stretch>
                  <a:fillRect l="-1765" t="-1347" b="-2020"/>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66AC078D-64EE-9B53-3FC2-B69D8138AEFA}"/>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AAE40CF2-5C10-0AE1-2A85-EF114F872D6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583037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1975FE-4F5C-8847-5D3F-B8850B3C6C01}"/>
              </a:ext>
            </a:extLst>
          </p:cNvPr>
          <p:cNvSpPr>
            <a:spLocks noGrp="1"/>
          </p:cNvSpPr>
          <p:nvPr>
            <p:ph type="title"/>
          </p:nvPr>
        </p:nvSpPr>
        <p:spPr/>
        <p:txBody>
          <a:bodyPr/>
          <a:lstStyle/>
          <a:p>
            <a:r>
              <a:rPr lang="zh-TW" altLang="en-US" dirty="0">
                <a:solidFill>
                  <a:schemeClr val="tx1">
                    <a:lumMod val="85000"/>
                    <a:lumOff val="15000"/>
                  </a:schemeClr>
                </a:solidFill>
              </a:rPr>
              <a:t>反向傳播的四大公式</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2F24CD3-FD9A-0276-B432-166572181798}"/>
                  </a:ext>
                </a:extLst>
              </p:cNvPr>
              <p:cNvSpPr>
                <a:spLocks noGrp="1"/>
              </p:cNvSpPr>
              <p:nvPr>
                <p:ph idx="1"/>
              </p:nvPr>
            </p:nvSpPr>
            <p:spPr>
              <a:xfrm>
                <a:off x="1097280" y="2108201"/>
                <a:ext cx="10058400" cy="4133797"/>
              </a:xfrm>
            </p:spPr>
            <p:txBody>
              <a:bodyPr>
                <a:normAutofit/>
              </a:bodyPr>
              <a:lstStyle/>
              <a:p>
                <a:r>
                  <a:rPr kumimoji="1" lang="zh-TW" altLang="en-US" dirty="0"/>
                  <a:t>在實際運算中，神經網路是以矩陣與向量的形式進行計算的。將權重、輸入與輸出表示為矩陣與向量後，一整層神經元的計算可以被視為一次矩陣乘法與非線性函數的組合。這種表示能讓大量運算能夠同時進行、提高運算效率，以符合現代硬體的運算架構。</a:t>
                </a:r>
                <a:endParaRPr kumimoji="1" lang="en-US" altLang="zh-TW" dirty="0"/>
              </a:p>
              <a:p>
                <a:r>
                  <a:rPr kumimoji="1" lang="zh-TW" altLang="en-US" dirty="0"/>
                  <a:t>例如，從 </a:t>
                </a:r>
                <a:r>
                  <a:rPr kumimoji="1" lang="en-US" altLang="zh-TW" dirty="0"/>
                  <a:t>input</a:t>
                </a:r>
                <a:r>
                  <a:rPr kumimoji="1" lang="zh-TW" altLang="en-US" dirty="0"/>
                  <a:t> </a:t>
                </a:r>
                <a:r>
                  <a:rPr kumimoji="1" lang="en-US" altLang="zh-TW" dirty="0"/>
                  <a:t>layer</a:t>
                </a:r>
                <a:r>
                  <a:rPr kumimoji="1" lang="zh-TW" altLang="en-US" dirty="0"/>
                  <a:t> 到第一個 </a:t>
                </a:r>
                <a:r>
                  <a:rPr kumimoji="1" lang="en-US" altLang="zh-TW" dirty="0"/>
                  <a:t>hidden</a:t>
                </a:r>
                <a:r>
                  <a:rPr kumimoji="1" lang="zh-TW" altLang="en-US" dirty="0"/>
                  <a:t> </a:t>
                </a:r>
                <a:r>
                  <a:rPr kumimoji="1" lang="en-US" altLang="zh-TW" dirty="0"/>
                  <a:t>layer</a:t>
                </a:r>
                <a:r>
                  <a:rPr kumimoji="1" lang="zh-TW" altLang="en-US" dirty="0"/>
                  <a:t> 的計算可以寫成：</a:t>
                </a:r>
                <a:endParaRPr kumimoji="1" lang="en-US" altLang="zh-TW" dirty="0"/>
              </a:p>
              <a:p>
                <a:pPr marL="457200" indent="-457200">
                  <a:buFont typeface="+mj-lt"/>
                  <a:buAutoNum type="arabicPeriod"/>
                </a:pPr>
                <a14:m>
                  <m:oMath xmlns:m="http://schemas.openxmlformats.org/officeDocument/2006/math">
                    <m:d>
                      <m:dPr>
                        <m:begChr m:val="["/>
                        <m:endChr m:val="]"/>
                        <m:ctrlPr>
                          <a:rPr kumimoji="1" lang="en-US" altLang="zh-TW" i="1" smtClean="0">
                            <a:latin typeface="Cambria Math" panose="02040503050406030204" pitchFamily="18" charset="0"/>
                          </a:rPr>
                        </m:ctrlPr>
                      </m:dPr>
                      <m:e>
                        <m:m>
                          <m:mPr>
                            <m:mcs>
                              <m:mc>
                                <m:mcPr>
                                  <m:count m:val="2"/>
                                  <m:mcJc m:val="center"/>
                                </m:mcPr>
                              </m:mc>
                            </m:mcs>
                            <m:ctrlPr>
                              <a:rPr kumimoji="1" lang="en-US" altLang="zh-TW" i="1" smtClean="0">
                                <a:latin typeface="Cambria Math" panose="02040503050406030204" pitchFamily="18" charset="0"/>
                              </a:rPr>
                            </m:ctrlPr>
                          </m:mPr>
                          <m:mr>
                            <m:e>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𝑤</m:t>
                                  </m:r>
                                </m:e>
                                <m:sub>
                                  <m:r>
                                    <a:rPr kumimoji="1" lang="en-US" altLang="zh-TW" b="0" i="1" smtClean="0">
                                      <a:latin typeface="Cambria Math" panose="02040503050406030204" pitchFamily="18" charset="0"/>
                                    </a:rPr>
                                    <m:t>14</m:t>
                                  </m:r>
                                </m:sub>
                              </m:sSub>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2</m:t>
                                  </m:r>
                                  <m:r>
                                    <a:rPr kumimoji="1" lang="en-US" altLang="zh-TW" i="1">
                                      <a:latin typeface="Cambria Math" panose="02040503050406030204" pitchFamily="18" charset="0"/>
                                    </a:rPr>
                                    <m:t>4</m:t>
                                  </m:r>
                                </m:sub>
                              </m:sSub>
                            </m:e>
                          </m:mr>
                          <m:m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1</m:t>
                                  </m:r>
                                  <m:r>
                                    <a:rPr kumimoji="1" lang="en-US" altLang="zh-TW" b="0" i="1" smtClean="0">
                                      <a:latin typeface="Cambria Math" panose="02040503050406030204" pitchFamily="18" charset="0"/>
                                    </a:rPr>
                                    <m:t>5</m:t>
                                  </m:r>
                                </m:sub>
                              </m:sSub>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25</m:t>
                                  </m:r>
                                </m:sub>
                              </m:sSub>
                            </m:e>
                          </m:mr>
                        </m:m>
                      </m:e>
                    </m:d>
                    <m:d>
                      <m:dPr>
                        <m:begChr m:val="["/>
                        <m:endChr m:val="]"/>
                        <m:ctrlPr>
                          <a:rPr kumimoji="1" lang="en-US" altLang="zh-TW" i="1" smtClean="0">
                            <a:latin typeface="Cambria Math" panose="02040503050406030204" pitchFamily="18" charset="0"/>
                          </a:rPr>
                        </m:ctrlPr>
                      </m:dPr>
                      <m:e>
                        <m:eqArr>
                          <m:eqArrPr>
                            <m:ctrlPr>
                              <a:rPr kumimoji="1" lang="en-US" altLang="zh-TW" i="1" smtClean="0">
                                <a:latin typeface="Cambria Math" panose="02040503050406030204" pitchFamily="18" charset="0"/>
                              </a:rPr>
                            </m:ctrlPr>
                          </m:eqArrPr>
                          <m:e>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𝑥</m:t>
                                </m:r>
                              </m:e>
                              <m:sub>
                                <m:r>
                                  <a:rPr kumimoji="1" lang="en-US" altLang="zh-TW" i="1">
                                    <a:latin typeface="Cambria Math" panose="02040503050406030204" pitchFamily="18" charset="0"/>
                                  </a:rPr>
                                  <m:t>1</m:t>
                                </m:r>
                              </m:sub>
                            </m:sSub>
                          </m:e>
                          <m:e>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𝑥</m:t>
                                </m:r>
                              </m:e>
                              <m:sub>
                                <m:r>
                                  <a:rPr kumimoji="1" lang="en-US" altLang="zh-TW" b="0" i="1" smtClean="0">
                                    <a:latin typeface="Cambria Math" panose="02040503050406030204" pitchFamily="18" charset="0"/>
                                  </a:rPr>
                                  <m:t>2</m:t>
                                </m:r>
                              </m:sub>
                            </m:sSub>
                          </m:e>
                        </m:eqArr>
                      </m:e>
                    </m:d>
                    <m:r>
                      <a:rPr kumimoji="1" lang="en-US" altLang="zh-TW" b="0" i="1" smtClean="0">
                        <a:latin typeface="Cambria Math" panose="02040503050406030204" pitchFamily="18" charset="0"/>
                      </a:rPr>
                      <m:t>+</m:t>
                    </m:r>
                    <m:d>
                      <m:dPr>
                        <m:begChr m:val="["/>
                        <m:endChr m:val="]"/>
                        <m:ctrlPr>
                          <a:rPr kumimoji="1" lang="en-US" altLang="zh-TW" i="1">
                            <a:latin typeface="Cambria Math" panose="02040503050406030204" pitchFamily="18" charset="0"/>
                          </a:rPr>
                        </m:ctrlPr>
                      </m:dPr>
                      <m:e>
                        <m:eqArr>
                          <m:eqArrPr>
                            <m:ctrlPr>
                              <a:rPr kumimoji="1" lang="en-US" altLang="zh-TW" i="1">
                                <a:latin typeface="Cambria Math" panose="02040503050406030204" pitchFamily="18" charset="0"/>
                              </a:rPr>
                            </m:ctrlPr>
                          </m:eqArr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3</m:t>
                                </m:r>
                                <m:r>
                                  <a:rPr kumimoji="1" lang="en-US" altLang="zh-TW" i="1">
                                    <a:latin typeface="Cambria Math" panose="02040503050406030204" pitchFamily="18" charset="0"/>
                                  </a:rPr>
                                  <m:t>4</m:t>
                                </m:r>
                              </m:sub>
                            </m:sSub>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b="0" i="1" smtClean="0">
                                    <a:latin typeface="Cambria Math" panose="02040503050406030204" pitchFamily="18" charset="0"/>
                                  </a:rPr>
                                  <m:t>35</m:t>
                                </m:r>
                              </m:sub>
                            </m:sSub>
                          </m:e>
                        </m:eqArr>
                      </m:e>
                    </m:d>
                    <m:r>
                      <a:rPr kumimoji="1" lang="en-US" altLang="zh-TW" b="0" i="1" smtClean="0">
                        <a:latin typeface="Cambria Math" panose="02040503050406030204" pitchFamily="18" charset="0"/>
                      </a:rPr>
                      <m:t>=</m:t>
                    </m:r>
                    <m:d>
                      <m:dPr>
                        <m:begChr m:val="["/>
                        <m:endChr m:val="]"/>
                        <m:ctrlPr>
                          <a:rPr kumimoji="1" lang="en-US" altLang="zh-TW" i="1">
                            <a:latin typeface="Cambria Math" panose="02040503050406030204" pitchFamily="18" charset="0"/>
                          </a:rPr>
                        </m:ctrlPr>
                      </m:dPr>
                      <m:e>
                        <m:eqArr>
                          <m:eqArrPr>
                            <m:ctrlPr>
                              <a:rPr kumimoji="1" lang="en-US" altLang="zh-TW" i="1">
                                <a:latin typeface="Cambria Math" panose="02040503050406030204" pitchFamily="18" charset="0"/>
                              </a:rPr>
                            </m:ctrlPr>
                          </m:eqArrPr>
                          <m:e>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𝑛𝑒𝑡</m:t>
                                </m:r>
                              </m:e>
                              <m:sub>
                                <m:r>
                                  <a:rPr kumimoji="1" lang="en-US" altLang="zh-TW" i="1">
                                    <a:latin typeface="Cambria Math" panose="02040503050406030204" pitchFamily="18" charset="0"/>
                                  </a:rPr>
                                  <m:t>4</m:t>
                                </m:r>
                              </m:sub>
                            </m:sSub>
                          </m:e>
                          <m:e>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𝑛𝑒𝑡</m:t>
                                </m:r>
                              </m:e>
                              <m:sub>
                                <m:r>
                                  <a:rPr kumimoji="1" lang="en-US" altLang="zh-TW" i="1">
                                    <a:latin typeface="Cambria Math" panose="02040503050406030204" pitchFamily="18" charset="0"/>
                                  </a:rPr>
                                  <m:t>5</m:t>
                                </m:r>
                              </m:sub>
                            </m:sSub>
                          </m:e>
                        </m:eqArr>
                      </m:e>
                    </m:d>
                  </m:oMath>
                </a14:m>
                <a:endParaRPr kumimoji="1" lang="en-US" altLang="zh-TW" dirty="0"/>
              </a:p>
              <a:p>
                <a:pPr marL="457200" indent="-457200">
                  <a:buFont typeface="+mj-lt"/>
                  <a:buAutoNum type="arabicPeriod"/>
                </a:pPr>
                <a14:m>
                  <m:oMath xmlns:m="http://schemas.openxmlformats.org/officeDocument/2006/math">
                    <m:d>
                      <m:dPr>
                        <m:begChr m:val="["/>
                        <m:endChr m:val="]"/>
                        <m:ctrlPr>
                          <a:rPr kumimoji="1" lang="en-US" altLang="zh-TW" i="1">
                            <a:latin typeface="Cambria Math" panose="02040503050406030204" pitchFamily="18" charset="0"/>
                          </a:rPr>
                        </m:ctrlPr>
                      </m:dPr>
                      <m:e>
                        <m:eqArr>
                          <m:eqArrPr>
                            <m:ctrlPr>
                              <a:rPr kumimoji="1" lang="en-US" altLang="zh-TW" i="1">
                                <a:latin typeface="Cambria Math" panose="02040503050406030204" pitchFamily="18" charset="0"/>
                              </a:rPr>
                            </m:ctrlPr>
                          </m:eqArrPr>
                          <m:e>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i="1">
                                    <a:latin typeface="Cambria Math" panose="02040503050406030204" pitchFamily="18" charset="0"/>
                                  </a:rPr>
                                  <m:t>4</m:t>
                                </m:r>
                              </m:sub>
                            </m:sSub>
                          </m:e>
                          <m:e>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𝑜</m:t>
                                </m:r>
                              </m:e>
                              <m:sub>
                                <m:r>
                                  <a:rPr kumimoji="1" lang="en-US" altLang="zh-TW" i="1">
                                    <a:latin typeface="Cambria Math" panose="02040503050406030204" pitchFamily="18" charset="0"/>
                                  </a:rPr>
                                  <m:t>5</m:t>
                                </m:r>
                              </m:sub>
                            </m:sSub>
                          </m:e>
                        </m:eqArr>
                      </m:e>
                    </m:d>
                    <m:r>
                      <a:rPr kumimoji="1" lang="en-US" altLang="zh-TW" b="0" i="1" smtClean="0">
                        <a:latin typeface="Cambria Math" panose="02040503050406030204" pitchFamily="18" charset="0"/>
                      </a:rPr>
                      <m:t>=</m:t>
                    </m:r>
                    <m:r>
                      <a:rPr kumimoji="1" lang="zh-TW" altLang="en-US" i="1">
                        <a:latin typeface="Cambria Math" panose="02040503050406030204" pitchFamily="18" charset="0"/>
                      </a:rPr>
                      <m:t>𝜎</m:t>
                    </m:r>
                    <m:r>
                      <a:rPr kumimoji="1" lang="en-US" altLang="zh-TW" b="0" i="1" smtClean="0">
                        <a:latin typeface="Cambria Math" panose="02040503050406030204" pitchFamily="18" charset="0"/>
                      </a:rPr>
                      <m:t>(</m:t>
                    </m:r>
                    <m:d>
                      <m:dPr>
                        <m:begChr m:val="["/>
                        <m:endChr m:val="]"/>
                        <m:ctrlPr>
                          <a:rPr kumimoji="1" lang="en-US" altLang="zh-TW" i="1">
                            <a:latin typeface="Cambria Math" panose="02040503050406030204" pitchFamily="18" charset="0"/>
                          </a:rPr>
                        </m:ctrlPr>
                      </m:dPr>
                      <m:e>
                        <m:eqArr>
                          <m:eqArrPr>
                            <m:ctrlPr>
                              <a:rPr kumimoji="1" lang="en-US" altLang="zh-TW" i="1">
                                <a:latin typeface="Cambria Math" panose="02040503050406030204" pitchFamily="18" charset="0"/>
                              </a:rPr>
                            </m:ctrlPr>
                          </m:eqArr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4</m:t>
                                </m:r>
                              </m:sub>
                            </m:sSub>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5</m:t>
                                </m:r>
                              </m:sub>
                            </m:sSub>
                          </m:e>
                        </m:eqArr>
                      </m:e>
                    </m:d>
                    <m:r>
                      <a:rPr kumimoji="1" lang="en-US" altLang="zh-TW" b="0" i="1" smtClean="0">
                        <a:latin typeface="Cambria Math" panose="02040503050406030204" pitchFamily="18" charset="0"/>
                      </a:rPr>
                      <m:t>)</m:t>
                    </m:r>
                  </m:oMath>
                </a14:m>
                <a:endParaRPr kumimoji="1" lang="en-US" altLang="zh-TW" dirty="0"/>
              </a:p>
            </p:txBody>
          </p:sp>
        </mc:Choice>
        <mc:Fallback xmlns="">
          <p:sp>
            <p:nvSpPr>
              <p:cNvPr id="3" name="內容版面配置區 2">
                <a:extLst>
                  <a:ext uri="{FF2B5EF4-FFF2-40B4-BE49-F238E27FC236}">
                    <a16:creationId xmlns:a16="http://schemas.microsoft.com/office/drawing/2014/main" id="{F2F24CD3-FD9A-0276-B432-166572181798}"/>
                  </a:ext>
                </a:extLst>
              </p:cNvPr>
              <p:cNvSpPr>
                <a:spLocks noGrp="1" noRot="1" noChangeAspect="1" noMove="1" noResize="1" noEditPoints="1" noAdjustHandles="1" noChangeArrowheads="1" noChangeShapeType="1" noTextEdit="1"/>
              </p:cNvSpPr>
              <p:nvPr>
                <p:ph idx="1"/>
              </p:nvPr>
            </p:nvSpPr>
            <p:spPr>
              <a:xfrm>
                <a:off x="1097280" y="2108201"/>
                <a:ext cx="10058400" cy="4133797"/>
              </a:xfrm>
              <a:blipFill>
                <a:blip r:embed="rId2"/>
                <a:stretch>
                  <a:fillRect l="-1513" t="-122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FAB911B8-7B93-2358-B1A0-94D78E5372B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2DC32988-75B4-E9E1-6390-F2F41FF9EDB3}"/>
              </a:ext>
            </a:extLst>
          </p:cNvPr>
          <p:cNvSpPr>
            <a:spLocks noGrp="1"/>
          </p:cNvSpPr>
          <p:nvPr>
            <p:ph type="sldNum" sz="quarter" idx="12"/>
          </p:nvPr>
        </p:nvSpPr>
        <p:spPr/>
        <p:txBody>
          <a:bodyPr/>
          <a:lstStyle/>
          <a:p>
            <a:r>
              <a:rPr lang="en-US" altLang="zh-TW" dirty="0"/>
              <a:t>Deep Learning</a:t>
            </a:r>
          </a:p>
        </p:txBody>
      </p:sp>
      <p:pic>
        <p:nvPicPr>
          <p:cNvPr id="8" name="圖形 7">
            <a:extLst>
              <a:ext uri="{FF2B5EF4-FFF2-40B4-BE49-F238E27FC236}">
                <a16:creationId xmlns:a16="http://schemas.microsoft.com/office/drawing/2014/main" id="{F3D4207F-F8FB-D200-DD45-B026E55B3E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70889" y="4381560"/>
            <a:ext cx="3375895" cy="1860438"/>
          </a:xfrm>
          <a:prstGeom prst="rect">
            <a:avLst/>
          </a:prstGeom>
        </p:spPr>
      </p:pic>
    </p:spTree>
    <p:extLst>
      <p:ext uri="{BB962C8B-B14F-4D97-AF65-F5344CB8AC3E}">
        <p14:creationId xmlns:p14="http://schemas.microsoft.com/office/powerpoint/2010/main" val="1748525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DF3BE3-90F0-83E1-6CA0-2811E66997D2}"/>
              </a:ext>
            </a:extLst>
          </p:cNvPr>
          <p:cNvSpPr>
            <a:spLocks noGrp="1"/>
          </p:cNvSpPr>
          <p:nvPr>
            <p:ph type="title"/>
          </p:nvPr>
        </p:nvSpPr>
        <p:spPr/>
        <p:txBody>
          <a:bodyPr/>
          <a:lstStyle/>
          <a:p>
            <a:r>
              <a:rPr lang="zh-TW" altLang="en-US" dirty="0">
                <a:solidFill>
                  <a:schemeClr val="tx1">
                    <a:lumMod val="85000"/>
                    <a:lumOff val="15000"/>
                  </a:schemeClr>
                </a:solidFill>
              </a:rPr>
              <a:t>反向傳播的四大公式</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523AB34-2488-4215-A8AE-4F2A7E20A780}"/>
                  </a:ext>
                </a:extLst>
              </p:cNvPr>
              <p:cNvSpPr>
                <a:spLocks noGrp="1"/>
              </p:cNvSpPr>
              <p:nvPr>
                <p:ph idx="1"/>
              </p:nvPr>
            </p:nvSpPr>
            <p:spPr>
              <a:xfrm>
                <a:off x="1097280" y="2108201"/>
                <a:ext cx="10058400" cy="4220410"/>
              </a:xfrm>
            </p:spPr>
            <p:txBody>
              <a:bodyPr>
                <a:normAutofit/>
              </a:bodyPr>
              <a:lstStyle/>
              <a:p>
                <a:r>
                  <a:rPr kumimoji="1" lang="zh-TW" altLang="en-US" dirty="0"/>
                  <a:t>因此，正向傳播可以寫為：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p>
                        <m:sSupPr>
                          <m:ctrlPr>
                            <a:rPr kumimoji="1" lang="en-US" altLang="zh-TW" i="1" smtClean="0">
                              <a:latin typeface="Cambria Math" panose="02040503050406030204" pitchFamily="18" charset="0"/>
                            </a:rPr>
                          </m:ctrlPr>
                        </m:sSupPr>
                        <m:e>
                          <m:r>
                            <a:rPr kumimoji="1" lang="en-US" altLang="zh-TW" b="0" i="1" smtClean="0">
                              <a:latin typeface="Cambria Math" panose="02040503050406030204" pitchFamily="18" charset="0"/>
                            </a:rPr>
                            <m:t>𝑧</m:t>
                          </m:r>
                        </m:e>
                        <m:sup>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𝑙</m:t>
                          </m:r>
                          <m:r>
                            <a:rPr kumimoji="1" lang="en-US" altLang="zh-TW" b="0" i="1" smtClean="0">
                              <a:latin typeface="Cambria Math" panose="02040503050406030204" pitchFamily="18" charset="0"/>
                            </a:rPr>
                            <m:t>)</m:t>
                          </m:r>
                        </m:sup>
                      </m:sSup>
                      <m:r>
                        <a:rPr kumimoji="1" lang="en-US" altLang="zh-TW" b="0" i="1" smtClean="0">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𝑊</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𝑎</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b="0" i="1" smtClean="0">
                              <a:latin typeface="Cambria Math" panose="02040503050406030204" pitchFamily="18" charset="0"/>
                            </a:rPr>
                            <m:t>−1</m:t>
                          </m:r>
                          <m:r>
                            <a:rPr kumimoji="1" lang="en-US" altLang="zh-TW" i="1">
                              <a:latin typeface="Cambria Math" panose="02040503050406030204" pitchFamily="18" charset="0"/>
                            </a:rPr>
                            <m:t>)</m:t>
                          </m:r>
                        </m:sup>
                      </m:sSup>
                      <m:r>
                        <a:rPr kumimoji="1" lang="en-US" altLang="zh-TW" b="0" i="1" smtClean="0">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𝑏</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oMath>
                  </m:oMathPara>
                </a14:m>
                <a:endParaRPr kumimoji="1" lang="en-US" altLang="zh-TW" dirty="0"/>
              </a:p>
              <a:p>
                <a:pPr marL="0" indent="0">
                  <a:buNone/>
                </a:pPr>
                <a14:m>
                  <m:oMathPara xmlns:m="http://schemas.openxmlformats.org/officeDocument/2006/math">
                    <m:oMathParaPr>
                      <m:jc m:val="centerGroup"/>
                    </m:oMathParaPr>
                    <m:oMath xmlns:m="http://schemas.openxmlformats.org/officeDocument/2006/math">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𝑎</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r>
                        <a:rPr kumimoji="1" lang="en-US" altLang="zh-TW" b="0" i="1" smtClean="0">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𝑓</m:t>
                          </m:r>
                        </m:e>
                        <m: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𝑙</m:t>
                              </m:r>
                            </m:e>
                          </m:d>
                        </m:sup>
                      </m:sSup>
                      <m:r>
                        <a:rPr kumimoji="1" lang="en-US" altLang="zh-TW" b="0" i="1" smtClean="0">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𝑧</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r>
                        <a:rPr kumimoji="1" lang="en-US" altLang="zh-TW" b="0" i="1" smtClean="0">
                          <a:latin typeface="Cambria Math" panose="02040503050406030204" pitchFamily="18" charset="0"/>
                        </a:rPr>
                        <m:t>)</m:t>
                      </m:r>
                    </m:oMath>
                  </m:oMathPara>
                </a14:m>
                <a:endParaRPr kumimoji="1" lang="en-US" altLang="zh-TW" dirty="0"/>
              </a:p>
              <a:p>
                <a:pPr>
                  <a:buFont typeface="Wingdings" pitchFamily="2" charset="2"/>
                  <a:buChar char="n"/>
                </a:pPr>
                <a:r>
                  <a:rPr kumimoji="1" lang="zh-TW" altLang="en-US" dirty="0"/>
                  <a:t> </a:t>
                </a:r>
                <a14:m>
                  <m:oMath xmlns:m="http://schemas.openxmlformats.org/officeDocument/2006/math">
                    <m:r>
                      <a:rPr kumimoji="1" lang="en-US" altLang="zh-TW" b="0" i="1" smtClean="0">
                        <a:latin typeface="Cambria Math" panose="02040503050406030204" pitchFamily="18" charset="0"/>
                      </a:rPr>
                      <m:t>𝑙</m:t>
                    </m:r>
                  </m:oMath>
                </a14:m>
                <a:r>
                  <a:rPr kumimoji="1" lang="zh-TW" altLang="en-US" dirty="0"/>
                  <a:t> 代表第 </a:t>
                </a:r>
                <a14:m>
                  <m:oMath xmlns:m="http://schemas.openxmlformats.org/officeDocument/2006/math">
                    <m:r>
                      <a:rPr kumimoji="1" lang="en-US" altLang="zh-TW" i="1">
                        <a:latin typeface="Cambria Math" panose="02040503050406030204" pitchFamily="18" charset="0"/>
                      </a:rPr>
                      <m:t>𝑙</m:t>
                    </m:r>
                  </m:oMath>
                </a14:m>
                <a:r>
                  <a:rPr kumimoji="1" lang="zh-TW" altLang="en-US" dirty="0"/>
                  <a:t> 層</a:t>
                </a:r>
                <a:endParaRPr kumimoji="1" lang="en-US" altLang="zh-TW" dirty="0"/>
              </a:p>
              <a:p>
                <a:pPr>
                  <a:buFont typeface="Wingdings" pitchFamily="2" charset="2"/>
                  <a:buChar char="n"/>
                </a:pPr>
                <a:r>
                  <a:rPr kumimoji="1" lang="zh-TW" altLang="en-US" dirty="0"/>
                  <a:t>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𝑊</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oMath>
                </a14:m>
                <a:r>
                  <a:rPr kumimoji="1" lang="zh-TW" altLang="en-US" dirty="0"/>
                  <a:t> 代表權重矩陣</a:t>
                </a:r>
                <a:endParaRPr kumimoji="1" lang="en-US" altLang="zh-TW" dirty="0"/>
              </a:p>
              <a:p>
                <a:pPr>
                  <a:buFont typeface="Wingdings" pitchFamily="2" charset="2"/>
                  <a:buChar char="n"/>
                </a:pPr>
                <a14:m>
                  <m:oMath xmlns:m="http://schemas.openxmlformats.org/officeDocument/2006/math">
                    <m:r>
                      <a:rPr kumimoji="1" lang="zh-TW" altLang="en-US" b="0" i="1" smtClean="0">
                        <a:latin typeface="Cambria Math" panose="02040503050406030204" pitchFamily="18" charset="0"/>
                      </a:rPr>
                      <m:t> </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𝑏</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oMath>
                </a14:m>
                <a:r>
                  <a:rPr kumimoji="1" lang="zh-TW" altLang="en-US" dirty="0"/>
                  <a:t> 代表 </a:t>
                </a:r>
                <a:r>
                  <a:rPr kumimoji="1" lang="en-US" altLang="zh-TW" dirty="0"/>
                  <a:t>bias</a:t>
                </a:r>
                <a:r>
                  <a:rPr kumimoji="1" lang="zh-TW" altLang="en-US" dirty="0"/>
                  <a:t> </a:t>
                </a:r>
                <a:r>
                  <a:rPr kumimoji="1" lang="en-US" altLang="zh-TW" dirty="0"/>
                  <a:t>term</a:t>
                </a:r>
              </a:p>
              <a:p>
                <a:pPr>
                  <a:buFont typeface="Wingdings" pitchFamily="2" charset="2"/>
                  <a:buChar char="n"/>
                </a:pPr>
                <a:r>
                  <a:rPr kumimoji="1" lang="zh-TW" altLang="en-US" dirty="0"/>
                  <a:t>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𝑓</m:t>
                        </m:r>
                      </m:e>
                      <m: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𝑙</m:t>
                            </m:r>
                          </m:e>
                        </m:d>
                      </m:sup>
                    </m:sSup>
                  </m:oMath>
                </a14:m>
                <a:r>
                  <a:rPr kumimoji="1" lang="zh-TW" altLang="en-US" dirty="0"/>
                  <a:t> 代表第 </a:t>
                </a:r>
                <a14:m>
                  <m:oMath xmlns:m="http://schemas.openxmlformats.org/officeDocument/2006/math">
                    <m:r>
                      <a:rPr kumimoji="1" lang="en-US" altLang="zh-TW" i="1">
                        <a:latin typeface="Cambria Math" panose="02040503050406030204" pitchFamily="18" charset="0"/>
                      </a:rPr>
                      <m:t>𝑙</m:t>
                    </m:r>
                  </m:oMath>
                </a14:m>
                <a:r>
                  <a:rPr kumimoji="1" lang="zh-TW" altLang="en-US" dirty="0"/>
                  <a:t> 層所使用的激活函數</a:t>
                </a:r>
                <a:endParaRPr kumimoji="1" lang="en-US" altLang="zh-TW" dirty="0"/>
              </a:p>
              <a:p>
                <a:pPr>
                  <a:buFont typeface="Wingdings" pitchFamily="2" charset="2"/>
                  <a:buChar char="n"/>
                </a:pPr>
                <a:r>
                  <a:rPr kumimoji="1" lang="zh-TW" altLang="en-US" dirty="0"/>
                  <a:t>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𝑎</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m:t>
                        </m:r>
                      </m:sup>
                    </m:sSup>
                  </m:oMath>
                </a14:m>
                <a:r>
                  <a:rPr kumimoji="1" lang="zh-TW" altLang="en-US" dirty="0"/>
                  <a:t> 代表第 </a:t>
                </a:r>
                <a14:m>
                  <m:oMath xmlns:m="http://schemas.openxmlformats.org/officeDocument/2006/math">
                    <m:r>
                      <a:rPr kumimoji="1" lang="en-US" altLang="zh-TW" i="1">
                        <a:latin typeface="Cambria Math" panose="02040503050406030204" pitchFamily="18" charset="0"/>
                      </a:rPr>
                      <m:t>𝑙</m:t>
                    </m:r>
                  </m:oMath>
                </a14:m>
                <a:r>
                  <a:rPr kumimoji="1" lang="zh-TW" altLang="en-US" dirty="0"/>
                  <a:t> 層之神經元的輸出值</a:t>
                </a:r>
                <a:endParaRPr kumimoji="1" lang="en-US" altLang="zh-TW" dirty="0"/>
              </a:p>
            </p:txBody>
          </p:sp>
        </mc:Choice>
        <mc:Fallback xmlns="">
          <p:sp>
            <p:nvSpPr>
              <p:cNvPr id="3" name="內容版面配置區 2">
                <a:extLst>
                  <a:ext uri="{FF2B5EF4-FFF2-40B4-BE49-F238E27FC236}">
                    <a16:creationId xmlns:a16="http://schemas.microsoft.com/office/drawing/2014/main" id="{C523AB34-2488-4215-A8AE-4F2A7E20A780}"/>
                  </a:ext>
                </a:extLst>
              </p:cNvPr>
              <p:cNvSpPr>
                <a:spLocks noGrp="1" noRot="1" noChangeAspect="1" noMove="1" noResize="1" noEditPoints="1" noAdjustHandles="1" noChangeArrowheads="1" noChangeShapeType="1" noTextEdit="1"/>
              </p:cNvSpPr>
              <p:nvPr>
                <p:ph idx="1"/>
              </p:nvPr>
            </p:nvSpPr>
            <p:spPr>
              <a:xfrm>
                <a:off x="1097280" y="2108201"/>
                <a:ext cx="10058400" cy="4220410"/>
              </a:xfrm>
              <a:blipFill>
                <a:blip r:embed="rId2"/>
                <a:stretch>
                  <a:fillRect l="-1765" t="-1201"/>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F36F1EB3-366E-721A-BD08-48C9654EDF2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80B7F9A-25B5-2ACD-C04F-DFCE3ECE521D}"/>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379577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006A70-CD61-7217-DD9F-8D51E69CC91C}"/>
              </a:ext>
            </a:extLst>
          </p:cNvPr>
          <p:cNvSpPr>
            <a:spLocks noGrp="1"/>
          </p:cNvSpPr>
          <p:nvPr>
            <p:ph type="title"/>
          </p:nvPr>
        </p:nvSpPr>
        <p:spPr/>
        <p:txBody>
          <a:bodyPr/>
          <a:lstStyle/>
          <a:p>
            <a:r>
              <a:rPr lang="zh-TW" altLang="en-US" dirty="0">
                <a:solidFill>
                  <a:schemeClr val="tx1">
                    <a:lumMod val="85000"/>
                    <a:lumOff val="15000"/>
                  </a:schemeClr>
                </a:solidFill>
              </a:rPr>
              <a:t>反向傳播的四大公式</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90AC51B-5D2E-AB7B-472D-71A43BD7681E}"/>
                  </a:ext>
                </a:extLst>
              </p:cNvPr>
              <p:cNvSpPr>
                <a:spLocks noGrp="1"/>
              </p:cNvSpPr>
              <p:nvPr>
                <p:ph idx="1"/>
              </p:nvPr>
            </p:nvSpPr>
            <p:spPr>
              <a:xfrm>
                <a:off x="1097280" y="2168359"/>
                <a:ext cx="6196263" cy="3760891"/>
              </a:xfrm>
            </p:spPr>
            <p:txBody>
              <a:bodyPr/>
              <a:lstStyle/>
              <a:p>
                <a:r>
                  <a:rPr kumimoji="1" lang="zh-TW" altLang="en-US" dirty="0"/>
                  <a:t>反向傳播的公式可以寫為：</a:t>
                </a:r>
                <a:endParaRPr kumimoji="1" lang="en-US" altLang="zh-TW" dirty="0"/>
              </a:p>
              <a:p>
                <a:pPr marL="0" indent="0">
                  <a:buNone/>
                </a:pPr>
                <a14:m>
                  <m:oMathPara xmlns:m="http://schemas.openxmlformats.org/officeDocument/2006/math">
                    <m:oMathParaPr>
                      <m:jc m:val="left"/>
                    </m:oMathParaPr>
                    <m:oMath xmlns:m="http://schemas.openxmlformats.org/officeDocument/2006/math">
                      <m:sSup>
                        <m:sSupPr>
                          <m:ctrlPr>
                            <a:rPr kumimoji="1" lang="en-US" altLang="zh-TW" sz="2800" i="1" smtClean="0">
                              <a:latin typeface="Cambria Math" panose="02040503050406030204" pitchFamily="18" charset="0"/>
                            </a:rPr>
                          </m:ctrlPr>
                        </m:sSupPr>
                        <m:e>
                          <m:r>
                            <a:rPr kumimoji="1" lang="en-US" altLang="zh-TW" sz="2800" i="1" smtClean="0">
                              <a:latin typeface="Cambria Math" panose="02040503050406030204" pitchFamily="18" charset="0"/>
                              <a:ea typeface="Cambria Math" panose="02040503050406030204" pitchFamily="18" charset="0"/>
                            </a:rPr>
                            <m:t>𝛿</m:t>
                          </m:r>
                        </m:e>
                        <m:sup>
                          <m:r>
                            <a:rPr kumimoji="1" lang="en-US" altLang="zh-TW" sz="2800" b="0" i="1" smtClean="0">
                              <a:latin typeface="Cambria Math" panose="02040503050406030204" pitchFamily="18" charset="0"/>
                            </a:rPr>
                            <m:t>(</m:t>
                          </m:r>
                          <m:r>
                            <a:rPr kumimoji="1" lang="en-US" altLang="zh-TW" sz="2800" b="0" i="1" smtClean="0">
                              <a:latin typeface="Cambria Math" panose="02040503050406030204" pitchFamily="18" charset="0"/>
                            </a:rPr>
                            <m:t>𝐿</m:t>
                          </m:r>
                          <m:r>
                            <a:rPr kumimoji="1" lang="en-US" altLang="zh-TW" sz="2800" b="0" i="1" smtClean="0">
                              <a:latin typeface="Cambria Math" panose="02040503050406030204" pitchFamily="18" charset="0"/>
                            </a:rPr>
                            <m:t>)</m:t>
                          </m:r>
                        </m:sup>
                      </m:sSup>
                      <m:r>
                        <a:rPr kumimoji="1" lang="en-US" altLang="zh-TW" sz="2800" i="1">
                          <a:latin typeface="Cambria Math" panose="02040503050406030204" pitchFamily="18" charset="0"/>
                        </a:rPr>
                        <m:t>=</m:t>
                      </m:r>
                      <m:f>
                        <m:fPr>
                          <m:ctrlPr>
                            <a:rPr kumimoji="1" lang="en-US" altLang="zh-TW" sz="2800" i="1">
                              <a:latin typeface="Cambria Math" panose="02040503050406030204" pitchFamily="18" charset="0"/>
                            </a:rPr>
                          </m:ctrlPr>
                        </m:fPr>
                        <m:num>
                          <m:r>
                            <a:rPr kumimoji="1" lang="en-US" altLang="zh-TW" sz="2800" i="1">
                              <a:latin typeface="Cambria Math" panose="02040503050406030204" pitchFamily="18" charset="0"/>
                              <a:ea typeface="Cambria Math" panose="02040503050406030204" pitchFamily="18" charset="0"/>
                            </a:rPr>
                            <m:t>𝜕</m:t>
                          </m:r>
                          <m:r>
                            <a:rPr kumimoji="1" lang="en-US" altLang="zh-TW" sz="2800" b="0" i="1" smtClean="0">
                              <a:latin typeface="Cambria Math" panose="02040503050406030204" pitchFamily="18" charset="0"/>
                              <a:ea typeface="Cambria Math" panose="02040503050406030204" pitchFamily="18" charset="0"/>
                            </a:rPr>
                            <m:t>𝐿</m:t>
                          </m:r>
                        </m:num>
                        <m:den>
                          <m:r>
                            <a:rPr kumimoji="1" lang="en-US" altLang="zh-TW" sz="2800" i="1">
                              <a:latin typeface="Cambria Math" panose="02040503050406030204" pitchFamily="18" charset="0"/>
                              <a:ea typeface="Cambria Math" panose="02040503050406030204" pitchFamily="18" charset="0"/>
                            </a:rPr>
                            <m:t>𝜕</m:t>
                          </m:r>
                          <m:sSup>
                            <m:sSupPr>
                              <m:ctrlPr>
                                <a:rPr kumimoji="1" lang="en-US" altLang="zh-TW" sz="2800" i="1">
                                  <a:latin typeface="Cambria Math" panose="02040503050406030204" pitchFamily="18" charset="0"/>
                                </a:rPr>
                              </m:ctrlPr>
                            </m:sSupPr>
                            <m:e>
                              <m:r>
                                <a:rPr kumimoji="1" lang="en-US" altLang="zh-TW" sz="2800" b="0" i="1" smtClean="0">
                                  <a:latin typeface="Cambria Math" panose="02040503050406030204" pitchFamily="18" charset="0"/>
                                </a:rPr>
                                <m:t>𝑎</m:t>
                              </m:r>
                            </m:e>
                            <m:sup>
                              <m:r>
                                <a:rPr kumimoji="1" lang="en-US" altLang="zh-TW" sz="2800" i="1">
                                  <a:latin typeface="Cambria Math" panose="02040503050406030204" pitchFamily="18" charset="0"/>
                                </a:rPr>
                                <m:t>(</m:t>
                              </m:r>
                              <m:r>
                                <a:rPr kumimoji="1" lang="en-US" altLang="zh-TW" sz="2800" i="1">
                                  <a:latin typeface="Cambria Math" panose="02040503050406030204" pitchFamily="18" charset="0"/>
                                </a:rPr>
                                <m:t>𝐿</m:t>
                              </m:r>
                              <m:r>
                                <a:rPr kumimoji="1" lang="en-US" altLang="zh-TW" sz="2800" i="1">
                                  <a:latin typeface="Cambria Math" panose="02040503050406030204" pitchFamily="18" charset="0"/>
                                </a:rPr>
                                <m:t>)</m:t>
                              </m:r>
                            </m:sup>
                          </m:sSup>
                        </m:den>
                      </m:f>
                      <m:r>
                        <a:rPr kumimoji="1" lang="en-US" altLang="zh-TW" sz="2800" i="1" smtClean="0">
                          <a:latin typeface="Cambria Math" panose="02040503050406030204" pitchFamily="18" charset="0"/>
                          <a:ea typeface="Cambria Math" panose="02040503050406030204" pitchFamily="18" charset="0"/>
                        </a:rPr>
                        <m:t>⨀</m:t>
                      </m:r>
                      <m:sSup>
                        <m:sSupPr>
                          <m:ctrlPr>
                            <a:rPr kumimoji="1" lang="en-US" altLang="zh-TW" sz="2800" i="1">
                              <a:latin typeface="Cambria Math" panose="02040503050406030204" pitchFamily="18" charset="0"/>
                            </a:rPr>
                          </m:ctrlPr>
                        </m:sSupPr>
                        <m:e>
                          <m:sSup>
                            <m:sSupPr>
                              <m:ctrlPr>
                                <a:rPr kumimoji="1" lang="en-US" altLang="zh-TW" sz="2800" b="0" i="1" smtClean="0">
                                  <a:latin typeface="Cambria Math" panose="02040503050406030204" pitchFamily="18" charset="0"/>
                                </a:rPr>
                              </m:ctrlPr>
                            </m:sSupPr>
                            <m:e>
                              <m:r>
                                <a:rPr kumimoji="1" lang="en-US" altLang="zh-TW" sz="2800" i="1">
                                  <a:latin typeface="Cambria Math" panose="02040503050406030204" pitchFamily="18" charset="0"/>
                                </a:rPr>
                                <m:t>𝑓</m:t>
                              </m:r>
                            </m:e>
                            <m:sup>
                              <m:r>
                                <a:rPr kumimoji="1" lang="en-US" altLang="zh-TW" sz="2800" b="0" i="1" smtClean="0">
                                  <a:latin typeface="Cambria Math" panose="02040503050406030204" pitchFamily="18" charset="0"/>
                                </a:rPr>
                                <m:t>′</m:t>
                              </m:r>
                            </m:sup>
                          </m:sSup>
                        </m:e>
                        <m:sup>
                          <m:d>
                            <m:dPr>
                              <m:ctrlPr>
                                <a:rPr kumimoji="1" lang="en-US" altLang="zh-TW" sz="2800" i="1">
                                  <a:latin typeface="Cambria Math" panose="02040503050406030204" pitchFamily="18" charset="0"/>
                                </a:rPr>
                              </m:ctrlPr>
                            </m:dPr>
                            <m:e>
                              <m:r>
                                <a:rPr kumimoji="1" lang="en-US" altLang="zh-TW" sz="2800" b="0" i="1" smtClean="0">
                                  <a:latin typeface="Cambria Math" panose="02040503050406030204" pitchFamily="18" charset="0"/>
                                </a:rPr>
                                <m:t>𝐿</m:t>
                              </m:r>
                            </m:e>
                          </m:d>
                        </m:sup>
                      </m:sSup>
                      <m:r>
                        <a:rPr kumimoji="1" lang="en-US" altLang="zh-TW" sz="2800" b="0" i="1" smtClean="0">
                          <a:latin typeface="Cambria Math" panose="02040503050406030204" pitchFamily="18" charset="0"/>
                        </a:rPr>
                        <m:t>(</m:t>
                      </m:r>
                      <m:sSup>
                        <m:sSupPr>
                          <m:ctrlPr>
                            <a:rPr kumimoji="1" lang="en-US" altLang="zh-TW" sz="2800" i="1">
                              <a:latin typeface="Cambria Math" panose="02040503050406030204" pitchFamily="18" charset="0"/>
                            </a:rPr>
                          </m:ctrlPr>
                        </m:sSupPr>
                        <m:e>
                          <m:r>
                            <a:rPr kumimoji="1" lang="en-US" altLang="zh-TW" sz="2800" i="1">
                              <a:latin typeface="Cambria Math" panose="02040503050406030204" pitchFamily="18" charset="0"/>
                            </a:rPr>
                            <m:t>𝑧</m:t>
                          </m:r>
                        </m:e>
                        <m:sup>
                          <m:r>
                            <a:rPr kumimoji="1" lang="en-US" altLang="zh-TW" sz="2800" i="1">
                              <a:latin typeface="Cambria Math" panose="02040503050406030204" pitchFamily="18" charset="0"/>
                            </a:rPr>
                            <m:t>(</m:t>
                          </m:r>
                          <m:r>
                            <a:rPr kumimoji="1" lang="en-US" altLang="zh-TW" sz="2800" b="0" i="1" smtClean="0">
                              <a:latin typeface="Cambria Math" panose="02040503050406030204" pitchFamily="18" charset="0"/>
                            </a:rPr>
                            <m:t>𝐿</m:t>
                          </m:r>
                          <m:r>
                            <a:rPr kumimoji="1" lang="en-US" altLang="zh-TW" sz="2800" i="1">
                              <a:latin typeface="Cambria Math" panose="02040503050406030204" pitchFamily="18" charset="0"/>
                            </a:rPr>
                            <m:t>)</m:t>
                          </m:r>
                        </m:sup>
                      </m:sSup>
                      <m:r>
                        <a:rPr kumimoji="1" lang="en-US" altLang="zh-TW" sz="2800" b="0" i="1" smtClean="0">
                          <a:latin typeface="Cambria Math" panose="02040503050406030204" pitchFamily="18" charset="0"/>
                        </a:rPr>
                        <m:t>)</m:t>
                      </m:r>
                    </m:oMath>
                  </m:oMathPara>
                </a14:m>
                <a:endParaRPr kumimoji="1" lang="en-US" altLang="zh-TW" sz="2800" dirty="0"/>
              </a:p>
              <a:p>
                <a:pPr marL="0" indent="0">
                  <a:buNone/>
                </a:pPr>
                <a14:m>
                  <m:oMathPara xmlns:m="http://schemas.openxmlformats.org/officeDocument/2006/math">
                    <m:oMathParaPr>
                      <m:jc m:val="left"/>
                    </m:oMathParaPr>
                    <m:oMath xmlns:m="http://schemas.openxmlformats.org/officeDocument/2006/math">
                      <m:sSup>
                        <m:sSupPr>
                          <m:ctrlPr>
                            <a:rPr kumimoji="1" lang="en-US" altLang="zh-TW" sz="2800" i="1">
                              <a:latin typeface="Cambria Math" panose="02040503050406030204" pitchFamily="18" charset="0"/>
                            </a:rPr>
                          </m:ctrlPr>
                        </m:sSupPr>
                        <m:e>
                          <m:r>
                            <a:rPr kumimoji="1" lang="en-US" altLang="zh-TW" sz="2800" i="1">
                              <a:latin typeface="Cambria Math" panose="02040503050406030204" pitchFamily="18" charset="0"/>
                              <a:ea typeface="Cambria Math" panose="02040503050406030204" pitchFamily="18" charset="0"/>
                            </a:rPr>
                            <m:t>𝛿</m:t>
                          </m:r>
                        </m:e>
                        <m:sup>
                          <m:r>
                            <a:rPr kumimoji="1" lang="en-US" altLang="zh-TW" sz="2800" i="1">
                              <a:latin typeface="Cambria Math" panose="02040503050406030204" pitchFamily="18" charset="0"/>
                            </a:rPr>
                            <m:t>(</m:t>
                          </m:r>
                          <m:r>
                            <a:rPr kumimoji="1" lang="en-US" altLang="zh-TW" sz="2800" b="0" i="1" smtClean="0">
                              <a:latin typeface="Cambria Math" panose="02040503050406030204" pitchFamily="18" charset="0"/>
                            </a:rPr>
                            <m:t>𝑙</m:t>
                          </m:r>
                          <m:r>
                            <a:rPr kumimoji="1" lang="en-US" altLang="zh-TW" sz="2800" i="1">
                              <a:latin typeface="Cambria Math" panose="02040503050406030204" pitchFamily="18" charset="0"/>
                            </a:rPr>
                            <m:t>)</m:t>
                          </m:r>
                        </m:sup>
                      </m:sSup>
                      <m:r>
                        <a:rPr kumimoji="1" lang="en-US" altLang="zh-TW" sz="2800" b="0" i="1" smtClean="0">
                          <a:latin typeface="Cambria Math" panose="02040503050406030204" pitchFamily="18" charset="0"/>
                        </a:rPr>
                        <m:t>=</m:t>
                      </m:r>
                      <m:sSup>
                        <m:sSupPr>
                          <m:ctrlPr>
                            <a:rPr kumimoji="1" lang="en-US" altLang="zh-TW" sz="2800" b="0" i="1" smtClean="0">
                              <a:latin typeface="Cambria Math" panose="02040503050406030204" pitchFamily="18" charset="0"/>
                            </a:rPr>
                          </m:ctrlPr>
                        </m:sSupPr>
                        <m:e>
                          <m:sSup>
                            <m:sSupPr>
                              <m:ctrlPr>
                                <a:rPr kumimoji="1" lang="en-US" altLang="zh-TW" sz="2800" i="1">
                                  <a:latin typeface="Cambria Math" panose="02040503050406030204" pitchFamily="18" charset="0"/>
                                </a:rPr>
                              </m:ctrlPr>
                            </m:sSupPr>
                            <m:e>
                              <m:r>
                                <a:rPr kumimoji="1" lang="en-US" altLang="zh-TW" sz="2800" i="1">
                                  <a:latin typeface="Cambria Math" panose="02040503050406030204" pitchFamily="18" charset="0"/>
                                </a:rPr>
                                <m:t>𝑊</m:t>
                              </m:r>
                            </m:e>
                            <m:sup>
                              <m:r>
                                <a:rPr kumimoji="1" lang="en-US" altLang="zh-TW" sz="2800" i="1">
                                  <a:latin typeface="Cambria Math" panose="02040503050406030204" pitchFamily="18" charset="0"/>
                                </a:rPr>
                                <m:t>(</m:t>
                              </m:r>
                              <m:r>
                                <a:rPr kumimoji="1" lang="en-US" altLang="zh-TW" sz="2800" i="1">
                                  <a:latin typeface="Cambria Math" panose="02040503050406030204" pitchFamily="18" charset="0"/>
                                </a:rPr>
                                <m:t>𝑙</m:t>
                              </m:r>
                              <m:r>
                                <a:rPr kumimoji="1" lang="en-US" altLang="zh-TW" sz="2800" i="1">
                                  <a:latin typeface="Cambria Math" panose="02040503050406030204" pitchFamily="18" charset="0"/>
                                </a:rPr>
                                <m:t>+1)</m:t>
                              </m:r>
                            </m:sup>
                          </m:sSup>
                        </m:e>
                        <m:sup>
                          <m:r>
                            <a:rPr kumimoji="1" lang="en-US" altLang="zh-TW" sz="2800" b="0" i="1" smtClean="0">
                              <a:latin typeface="Cambria Math" panose="02040503050406030204" pitchFamily="18" charset="0"/>
                            </a:rPr>
                            <m:t>𝑇</m:t>
                          </m:r>
                        </m:sup>
                      </m:sSup>
                      <m:sSup>
                        <m:sSupPr>
                          <m:ctrlPr>
                            <a:rPr kumimoji="1" lang="en-US" altLang="zh-TW" sz="2800" i="1">
                              <a:latin typeface="Cambria Math" panose="02040503050406030204" pitchFamily="18" charset="0"/>
                            </a:rPr>
                          </m:ctrlPr>
                        </m:sSupPr>
                        <m:e>
                          <m:r>
                            <a:rPr kumimoji="1" lang="en-US" altLang="zh-TW" sz="2800" i="1">
                              <a:latin typeface="Cambria Math" panose="02040503050406030204" pitchFamily="18" charset="0"/>
                              <a:ea typeface="Cambria Math" panose="02040503050406030204" pitchFamily="18" charset="0"/>
                            </a:rPr>
                            <m:t>𝛿</m:t>
                          </m:r>
                        </m:e>
                        <m:sup>
                          <m:r>
                            <a:rPr kumimoji="1" lang="en-US" altLang="zh-TW" sz="2800" i="1">
                              <a:latin typeface="Cambria Math" panose="02040503050406030204" pitchFamily="18" charset="0"/>
                            </a:rPr>
                            <m:t>(</m:t>
                          </m:r>
                          <m:r>
                            <a:rPr kumimoji="1" lang="en-US" altLang="zh-TW" sz="2800" b="0" i="1" smtClean="0">
                              <a:latin typeface="Cambria Math" panose="02040503050406030204" pitchFamily="18" charset="0"/>
                            </a:rPr>
                            <m:t>𝑙</m:t>
                          </m:r>
                          <m:r>
                            <a:rPr kumimoji="1" lang="en-US" altLang="zh-TW" sz="2800" b="0" i="1" smtClean="0">
                              <a:latin typeface="Cambria Math" panose="02040503050406030204" pitchFamily="18" charset="0"/>
                            </a:rPr>
                            <m:t>+1)</m:t>
                          </m:r>
                        </m:sup>
                      </m:sSup>
                      <m:r>
                        <a:rPr kumimoji="1" lang="en-US" altLang="zh-TW" sz="2800" i="1">
                          <a:latin typeface="Cambria Math" panose="02040503050406030204" pitchFamily="18" charset="0"/>
                          <a:ea typeface="Cambria Math" panose="02040503050406030204" pitchFamily="18" charset="0"/>
                        </a:rPr>
                        <m:t>⨀</m:t>
                      </m:r>
                      <m:sSup>
                        <m:sSupPr>
                          <m:ctrlPr>
                            <a:rPr kumimoji="1" lang="en-US" altLang="zh-TW" sz="2800" i="1">
                              <a:latin typeface="Cambria Math" panose="02040503050406030204" pitchFamily="18" charset="0"/>
                            </a:rPr>
                          </m:ctrlPr>
                        </m:sSupPr>
                        <m:e>
                          <m:sSup>
                            <m:sSupPr>
                              <m:ctrlPr>
                                <a:rPr kumimoji="1" lang="en-US" altLang="zh-TW" sz="2800" i="1">
                                  <a:latin typeface="Cambria Math" panose="02040503050406030204" pitchFamily="18" charset="0"/>
                                </a:rPr>
                              </m:ctrlPr>
                            </m:sSupPr>
                            <m:e>
                              <m:r>
                                <a:rPr kumimoji="1" lang="en-US" altLang="zh-TW" sz="2800" i="1">
                                  <a:latin typeface="Cambria Math" panose="02040503050406030204" pitchFamily="18" charset="0"/>
                                </a:rPr>
                                <m:t>𝑓</m:t>
                              </m:r>
                            </m:e>
                            <m:sup>
                              <m:r>
                                <a:rPr kumimoji="1" lang="en-US" altLang="zh-TW" sz="2800" i="1">
                                  <a:latin typeface="Cambria Math" panose="02040503050406030204" pitchFamily="18" charset="0"/>
                                </a:rPr>
                                <m:t>′</m:t>
                              </m:r>
                            </m:sup>
                          </m:sSup>
                        </m:e>
                        <m:sup>
                          <m:d>
                            <m:dPr>
                              <m:ctrlPr>
                                <a:rPr kumimoji="1" lang="en-US" altLang="zh-TW" sz="2800" i="1">
                                  <a:latin typeface="Cambria Math" panose="02040503050406030204" pitchFamily="18" charset="0"/>
                                </a:rPr>
                              </m:ctrlPr>
                            </m:dPr>
                            <m:e>
                              <m:r>
                                <a:rPr kumimoji="1" lang="en-US" altLang="zh-TW" sz="2800" b="0" i="1" smtClean="0">
                                  <a:latin typeface="Cambria Math" panose="02040503050406030204" pitchFamily="18" charset="0"/>
                                </a:rPr>
                                <m:t>𝑙</m:t>
                              </m:r>
                            </m:e>
                          </m:d>
                        </m:sup>
                      </m:sSup>
                      <m:d>
                        <m:dPr>
                          <m:ctrlPr>
                            <a:rPr kumimoji="1" lang="en-US" altLang="zh-TW" sz="2800" i="1">
                              <a:latin typeface="Cambria Math" panose="02040503050406030204" pitchFamily="18" charset="0"/>
                            </a:rPr>
                          </m:ctrlPr>
                        </m:dPr>
                        <m:e>
                          <m:sSup>
                            <m:sSupPr>
                              <m:ctrlPr>
                                <a:rPr kumimoji="1" lang="en-US" altLang="zh-TW" sz="2800" i="1">
                                  <a:latin typeface="Cambria Math" panose="02040503050406030204" pitchFamily="18" charset="0"/>
                                </a:rPr>
                              </m:ctrlPr>
                            </m:sSupPr>
                            <m:e>
                              <m:r>
                                <a:rPr kumimoji="1" lang="en-US" altLang="zh-TW" sz="2800" i="1">
                                  <a:latin typeface="Cambria Math" panose="02040503050406030204" pitchFamily="18" charset="0"/>
                                </a:rPr>
                                <m:t>𝑧</m:t>
                              </m:r>
                            </m:e>
                            <m:sup>
                              <m:d>
                                <m:dPr>
                                  <m:ctrlPr>
                                    <a:rPr kumimoji="1" lang="en-US" altLang="zh-TW" sz="2800" b="0" i="1">
                                      <a:latin typeface="Cambria Math" panose="02040503050406030204" pitchFamily="18" charset="0"/>
                                    </a:rPr>
                                  </m:ctrlPr>
                                </m:dPr>
                                <m:e>
                                  <m:r>
                                    <a:rPr kumimoji="1" lang="en-US" altLang="zh-TW" sz="2800" b="0" i="1" smtClean="0">
                                      <a:latin typeface="Cambria Math" panose="02040503050406030204" pitchFamily="18" charset="0"/>
                                    </a:rPr>
                                    <m:t>𝑙</m:t>
                                  </m:r>
                                </m:e>
                              </m:d>
                            </m:sup>
                          </m:sSup>
                        </m:e>
                      </m:d>
                    </m:oMath>
                  </m:oMathPara>
                </a14:m>
                <a:endParaRPr kumimoji="1" lang="en-US" altLang="zh-TW" sz="2800" dirty="0"/>
              </a:p>
              <a:p>
                <a:pPr marL="0" indent="0">
                  <a:buNone/>
                </a:pPr>
                <a14:m>
                  <m:oMathPara xmlns:m="http://schemas.openxmlformats.org/officeDocument/2006/math">
                    <m:oMathParaPr>
                      <m:jc m:val="left"/>
                    </m:oMathParaPr>
                    <m:oMath xmlns:m="http://schemas.openxmlformats.org/officeDocument/2006/math">
                      <m:f>
                        <m:fPr>
                          <m:ctrlPr>
                            <a:rPr kumimoji="1" lang="en-US" altLang="zh-TW" sz="2800" i="1">
                              <a:latin typeface="Cambria Math" panose="02040503050406030204" pitchFamily="18" charset="0"/>
                            </a:rPr>
                          </m:ctrlPr>
                        </m:fPr>
                        <m:num>
                          <m:r>
                            <a:rPr kumimoji="1" lang="en-US" altLang="zh-TW" sz="2800" i="1">
                              <a:latin typeface="Cambria Math" panose="02040503050406030204" pitchFamily="18" charset="0"/>
                              <a:ea typeface="Cambria Math" panose="02040503050406030204" pitchFamily="18" charset="0"/>
                            </a:rPr>
                            <m:t>𝜕</m:t>
                          </m:r>
                          <m:r>
                            <a:rPr kumimoji="1" lang="en-US" altLang="zh-TW" sz="2800" b="0" i="1" smtClean="0">
                              <a:latin typeface="Cambria Math" panose="02040503050406030204" pitchFamily="18" charset="0"/>
                              <a:ea typeface="Cambria Math" panose="02040503050406030204" pitchFamily="18" charset="0"/>
                            </a:rPr>
                            <m:t>𝐿</m:t>
                          </m:r>
                        </m:num>
                        <m:den>
                          <m:r>
                            <a:rPr kumimoji="1" lang="en-US" altLang="zh-TW" sz="2800" i="1">
                              <a:latin typeface="Cambria Math" panose="02040503050406030204" pitchFamily="18" charset="0"/>
                              <a:ea typeface="Cambria Math" panose="02040503050406030204" pitchFamily="18" charset="0"/>
                            </a:rPr>
                            <m:t>𝜕</m:t>
                          </m:r>
                          <m:sSup>
                            <m:sSupPr>
                              <m:ctrlPr>
                                <a:rPr kumimoji="1" lang="en-US" altLang="zh-TW" sz="2800" i="1">
                                  <a:latin typeface="Cambria Math" panose="02040503050406030204" pitchFamily="18" charset="0"/>
                                </a:rPr>
                              </m:ctrlPr>
                            </m:sSupPr>
                            <m:e>
                              <m:r>
                                <a:rPr kumimoji="1" lang="en-US" altLang="zh-TW" sz="2800" b="0" i="1" smtClean="0">
                                  <a:latin typeface="Cambria Math" panose="02040503050406030204" pitchFamily="18" charset="0"/>
                                </a:rPr>
                                <m:t>𝑊</m:t>
                              </m:r>
                            </m:e>
                            <m:sup>
                              <m:r>
                                <a:rPr kumimoji="1" lang="en-US" altLang="zh-TW" sz="2800" i="1">
                                  <a:latin typeface="Cambria Math" panose="02040503050406030204" pitchFamily="18" charset="0"/>
                                </a:rPr>
                                <m:t>(</m:t>
                              </m:r>
                              <m:r>
                                <a:rPr kumimoji="1" lang="en-US" altLang="zh-TW" sz="2800" i="1">
                                  <a:latin typeface="Cambria Math" panose="02040503050406030204" pitchFamily="18" charset="0"/>
                                </a:rPr>
                                <m:t>𝑙</m:t>
                              </m:r>
                              <m:r>
                                <a:rPr kumimoji="1" lang="en-US" altLang="zh-TW" sz="2800" i="1">
                                  <a:latin typeface="Cambria Math" panose="02040503050406030204" pitchFamily="18" charset="0"/>
                                </a:rPr>
                                <m:t>)</m:t>
                              </m:r>
                            </m:sup>
                          </m:sSup>
                        </m:den>
                      </m:f>
                      <m:r>
                        <a:rPr kumimoji="1" lang="en-US" altLang="zh-TW" sz="2800" b="0" i="1" smtClean="0">
                          <a:latin typeface="Cambria Math" panose="02040503050406030204" pitchFamily="18" charset="0"/>
                        </a:rPr>
                        <m:t>=</m:t>
                      </m:r>
                      <m:sSup>
                        <m:sSupPr>
                          <m:ctrlPr>
                            <a:rPr kumimoji="1" lang="en-US" altLang="zh-TW" sz="2800" i="1">
                              <a:latin typeface="Cambria Math" panose="02040503050406030204" pitchFamily="18" charset="0"/>
                            </a:rPr>
                          </m:ctrlPr>
                        </m:sSupPr>
                        <m:e>
                          <m:r>
                            <a:rPr kumimoji="1" lang="en-US" altLang="zh-TW" sz="2800" i="1">
                              <a:latin typeface="Cambria Math" panose="02040503050406030204" pitchFamily="18" charset="0"/>
                              <a:ea typeface="Cambria Math" panose="02040503050406030204" pitchFamily="18" charset="0"/>
                            </a:rPr>
                            <m:t>𝛿</m:t>
                          </m:r>
                        </m:e>
                        <m:sup>
                          <m:r>
                            <a:rPr kumimoji="1" lang="en-US" altLang="zh-TW" sz="2800" i="1">
                              <a:latin typeface="Cambria Math" panose="02040503050406030204" pitchFamily="18" charset="0"/>
                            </a:rPr>
                            <m:t>(</m:t>
                          </m:r>
                          <m:r>
                            <a:rPr kumimoji="1" lang="en-US" altLang="zh-TW" sz="2800" i="1">
                              <a:latin typeface="Cambria Math" panose="02040503050406030204" pitchFamily="18" charset="0"/>
                            </a:rPr>
                            <m:t>𝑙</m:t>
                          </m:r>
                          <m:r>
                            <a:rPr kumimoji="1" lang="en-US" altLang="zh-TW" sz="2800" i="1">
                              <a:latin typeface="Cambria Math" panose="02040503050406030204" pitchFamily="18" charset="0"/>
                            </a:rPr>
                            <m:t>)</m:t>
                          </m:r>
                        </m:sup>
                      </m:sSup>
                      <m:sSup>
                        <m:sSupPr>
                          <m:ctrlPr>
                            <a:rPr kumimoji="1" lang="en-US" altLang="zh-TW" sz="2800" i="1">
                              <a:latin typeface="Cambria Math" panose="02040503050406030204" pitchFamily="18" charset="0"/>
                            </a:rPr>
                          </m:ctrlPr>
                        </m:sSupPr>
                        <m:e>
                          <m:sSup>
                            <m:sSupPr>
                              <m:ctrlPr>
                                <a:rPr kumimoji="1" lang="en-US" altLang="zh-TW" sz="2800" i="1">
                                  <a:latin typeface="Cambria Math" panose="02040503050406030204" pitchFamily="18" charset="0"/>
                                </a:rPr>
                              </m:ctrlPr>
                            </m:sSupPr>
                            <m:e>
                              <m:r>
                                <a:rPr kumimoji="1" lang="en-US" altLang="zh-TW" sz="2800" b="0" i="1" smtClean="0">
                                  <a:latin typeface="Cambria Math" panose="02040503050406030204" pitchFamily="18" charset="0"/>
                                </a:rPr>
                                <m:t>𝑎</m:t>
                              </m:r>
                            </m:e>
                            <m:sup>
                              <m:r>
                                <a:rPr kumimoji="1" lang="en-US" altLang="zh-TW" sz="2800" i="1">
                                  <a:latin typeface="Cambria Math" panose="02040503050406030204" pitchFamily="18" charset="0"/>
                                </a:rPr>
                                <m:t>(</m:t>
                              </m:r>
                              <m:r>
                                <a:rPr kumimoji="1" lang="en-US" altLang="zh-TW" sz="2800" i="1">
                                  <a:latin typeface="Cambria Math" panose="02040503050406030204" pitchFamily="18" charset="0"/>
                                </a:rPr>
                                <m:t>𝑙</m:t>
                              </m:r>
                              <m:r>
                                <a:rPr kumimoji="1" lang="en-US" altLang="zh-TW" sz="2800" b="0" i="1" smtClean="0">
                                  <a:latin typeface="Cambria Math" panose="02040503050406030204" pitchFamily="18" charset="0"/>
                                </a:rPr>
                                <m:t>−1</m:t>
                              </m:r>
                              <m:r>
                                <a:rPr kumimoji="1" lang="en-US" altLang="zh-TW" sz="2800" i="1">
                                  <a:latin typeface="Cambria Math" panose="02040503050406030204" pitchFamily="18" charset="0"/>
                                </a:rPr>
                                <m:t>)</m:t>
                              </m:r>
                            </m:sup>
                          </m:sSup>
                        </m:e>
                        <m:sup>
                          <m:r>
                            <a:rPr kumimoji="1" lang="en-US" altLang="zh-TW" sz="2800" i="1">
                              <a:latin typeface="Cambria Math" panose="02040503050406030204" pitchFamily="18" charset="0"/>
                            </a:rPr>
                            <m:t>𝑇</m:t>
                          </m:r>
                        </m:sup>
                      </m:sSup>
                    </m:oMath>
                  </m:oMathPara>
                </a14:m>
                <a:endParaRPr kumimoji="1" lang="en-US" altLang="zh-TW" sz="2800" dirty="0"/>
              </a:p>
              <a:p>
                <a:pPr marL="0" indent="0">
                  <a:buNone/>
                </a:pPr>
                <a14:m>
                  <m:oMathPara xmlns:m="http://schemas.openxmlformats.org/officeDocument/2006/math">
                    <m:oMathParaPr>
                      <m:jc m:val="left"/>
                    </m:oMathParaPr>
                    <m:oMath xmlns:m="http://schemas.openxmlformats.org/officeDocument/2006/math">
                      <m:f>
                        <m:fPr>
                          <m:ctrlPr>
                            <a:rPr kumimoji="1" lang="en-US" altLang="zh-TW" sz="2800" i="1">
                              <a:latin typeface="Cambria Math" panose="02040503050406030204" pitchFamily="18" charset="0"/>
                            </a:rPr>
                          </m:ctrlPr>
                        </m:fPr>
                        <m:num>
                          <m:r>
                            <a:rPr kumimoji="1" lang="en-US" altLang="zh-TW" sz="2800" i="1">
                              <a:latin typeface="Cambria Math" panose="02040503050406030204" pitchFamily="18" charset="0"/>
                              <a:ea typeface="Cambria Math" panose="02040503050406030204" pitchFamily="18" charset="0"/>
                            </a:rPr>
                            <m:t>𝜕</m:t>
                          </m:r>
                          <m:r>
                            <a:rPr kumimoji="1" lang="en-US" altLang="zh-TW" sz="2800" i="1">
                              <a:latin typeface="Cambria Math" panose="02040503050406030204" pitchFamily="18" charset="0"/>
                              <a:ea typeface="Cambria Math" panose="02040503050406030204" pitchFamily="18" charset="0"/>
                            </a:rPr>
                            <m:t>𝐿</m:t>
                          </m:r>
                        </m:num>
                        <m:den>
                          <m:r>
                            <a:rPr kumimoji="1" lang="en-US" altLang="zh-TW" sz="2800" i="1">
                              <a:latin typeface="Cambria Math" panose="02040503050406030204" pitchFamily="18" charset="0"/>
                              <a:ea typeface="Cambria Math" panose="02040503050406030204" pitchFamily="18" charset="0"/>
                            </a:rPr>
                            <m:t>𝜕</m:t>
                          </m:r>
                          <m:sSup>
                            <m:sSupPr>
                              <m:ctrlPr>
                                <a:rPr kumimoji="1" lang="en-US" altLang="zh-TW" sz="2800" i="1" smtClean="0">
                                  <a:latin typeface="Cambria Math" panose="02040503050406030204" pitchFamily="18" charset="0"/>
                                </a:rPr>
                              </m:ctrlPr>
                            </m:sSupPr>
                            <m:e>
                              <m:r>
                                <a:rPr kumimoji="1" lang="en-US" altLang="zh-TW" sz="2800" b="0" i="1" smtClean="0">
                                  <a:latin typeface="Cambria Math" panose="02040503050406030204" pitchFamily="18" charset="0"/>
                                </a:rPr>
                                <m:t>𝑏</m:t>
                              </m:r>
                            </m:e>
                            <m:sup>
                              <m:r>
                                <a:rPr kumimoji="1" lang="en-US" altLang="zh-TW" sz="2800" i="1">
                                  <a:latin typeface="Cambria Math" panose="02040503050406030204" pitchFamily="18" charset="0"/>
                                </a:rPr>
                                <m:t>(</m:t>
                              </m:r>
                              <m:r>
                                <a:rPr kumimoji="1" lang="en-US" altLang="zh-TW" sz="2800" i="1">
                                  <a:latin typeface="Cambria Math" panose="02040503050406030204" pitchFamily="18" charset="0"/>
                                </a:rPr>
                                <m:t>𝑙</m:t>
                              </m:r>
                              <m:r>
                                <a:rPr kumimoji="1" lang="en-US" altLang="zh-TW" sz="2800" i="1">
                                  <a:latin typeface="Cambria Math" panose="02040503050406030204" pitchFamily="18" charset="0"/>
                                </a:rPr>
                                <m:t>)</m:t>
                              </m:r>
                            </m:sup>
                          </m:sSup>
                        </m:den>
                      </m:f>
                      <m:r>
                        <a:rPr kumimoji="1" lang="en-US" altLang="zh-TW" sz="2800" i="1">
                          <a:latin typeface="Cambria Math" panose="02040503050406030204" pitchFamily="18" charset="0"/>
                        </a:rPr>
                        <m:t>=</m:t>
                      </m:r>
                      <m:sSup>
                        <m:sSupPr>
                          <m:ctrlPr>
                            <a:rPr kumimoji="1" lang="en-US" altLang="zh-TW" sz="2800" i="1">
                              <a:latin typeface="Cambria Math" panose="02040503050406030204" pitchFamily="18" charset="0"/>
                            </a:rPr>
                          </m:ctrlPr>
                        </m:sSupPr>
                        <m:e>
                          <m:r>
                            <a:rPr kumimoji="1" lang="en-US" altLang="zh-TW" sz="2800" i="1">
                              <a:latin typeface="Cambria Math" panose="02040503050406030204" pitchFamily="18" charset="0"/>
                              <a:ea typeface="Cambria Math" panose="02040503050406030204" pitchFamily="18" charset="0"/>
                            </a:rPr>
                            <m:t>𝛿</m:t>
                          </m:r>
                        </m:e>
                        <m:sup>
                          <m:r>
                            <a:rPr kumimoji="1" lang="en-US" altLang="zh-TW" sz="2800" i="1">
                              <a:latin typeface="Cambria Math" panose="02040503050406030204" pitchFamily="18" charset="0"/>
                            </a:rPr>
                            <m:t>(</m:t>
                          </m:r>
                          <m:r>
                            <a:rPr kumimoji="1" lang="en-US" altLang="zh-TW" sz="2800" i="1">
                              <a:latin typeface="Cambria Math" panose="02040503050406030204" pitchFamily="18" charset="0"/>
                            </a:rPr>
                            <m:t>𝑙</m:t>
                          </m:r>
                          <m:r>
                            <a:rPr kumimoji="1" lang="en-US" altLang="zh-TW" sz="2800" i="1">
                              <a:latin typeface="Cambria Math" panose="02040503050406030204" pitchFamily="18" charset="0"/>
                            </a:rPr>
                            <m:t>)</m:t>
                          </m:r>
                        </m:sup>
                      </m:sSup>
                    </m:oMath>
                  </m:oMathPara>
                </a14:m>
                <a:endParaRPr kumimoji="1" lang="en-US" altLang="zh-TW" dirty="0"/>
              </a:p>
              <a:p>
                <a:pPr marL="0" indent="0">
                  <a:buNone/>
                </a:pPr>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F90AC51B-5D2E-AB7B-472D-71A43BD7681E}"/>
                  </a:ext>
                </a:extLst>
              </p:cNvPr>
              <p:cNvSpPr>
                <a:spLocks noGrp="1" noRot="1" noChangeAspect="1" noMove="1" noResize="1" noEditPoints="1" noAdjustHandles="1" noChangeArrowheads="1" noChangeShapeType="1" noTextEdit="1"/>
              </p:cNvSpPr>
              <p:nvPr>
                <p:ph idx="1"/>
              </p:nvPr>
            </p:nvSpPr>
            <p:spPr>
              <a:xfrm>
                <a:off x="1097280" y="2168359"/>
                <a:ext cx="6196263" cy="3760891"/>
              </a:xfrm>
              <a:blipFill>
                <a:blip r:embed="rId2"/>
                <a:stretch>
                  <a:fillRect l="-2045" t="-100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CA08E029-6D87-CDD7-A59C-90BFE8C9F29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1F6FFFE1-6F0C-B1B6-F910-84AA489901F9}"/>
              </a:ext>
            </a:extLst>
          </p:cNvPr>
          <p:cNvSpPr>
            <a:spLocks noGrp="1"/>
          </p:cNvSpPr>
          <p:nvPr>
            <p:ph type="sldNum" sz="quarter" idx="12"/>
          </p:nvPr>
        </p:nvSpPr>
        <p:spPr/>
        <p:txBody>
          <a:bodyPr/>
          <a:lstStyle/>
          <a:p>
            <a:r>
              <a:rPr lang="en-US" altLang="zh-TW" dirty="0"/>
              <a:t>Deep Learning</a:t>
            </a: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1E2E59FB-DDCB-4115-8ED1-2F9E2E701186}"/>
                  </a:ext>
                </a:extLst>
              </p:cNvPr>
              <p:cNvSpPr txBox="1"/>
              <p:nvPr/>
            </p:nvSpPr>
            <p:spPr>
              <a:xfrm>
                <a:off x="7800809" y="256330"/>
                <a:ext cx="3850106" cy="149868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14:m>
                  <m:oMath xmlns:m="http://schemas.openxmlformats.org/officeDocument/2006/math">
                    <m:f>
                      <m:fPr>
                        <m:ctrlPr>
                          <a:rPr kumimoji="1" lang="en-US" altLang="zh-TW" i="1" smtClean="0">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𝑝𝑞</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oMath>
                </a14:m>
                <a:r>
                  <a:rPr kumimoji="1" lang="en-US" altLang="zh-TW" b="0" i="1" dirty="0">
                    <a:latin typeface="Cambria Math" panose="02040503050406030204" pitchFamily="18" charset="0"/>
                  </a:rPr>
                  <a:t> </a:t>
                </a:r>
              </a:p>
              <a:p>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i="1">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r>
                  <a:rPr kumimoji="1" lang="en-US" altLang="zh-TW" dirty="0"/>
                  <a:t> </a:t>
                </a:r>
              </a:p>
              <a:p>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𝑞</m:t>
                            </m:r>
                          </m:sub>
                        </m:sSub>
                      </m:den>
                    </m:f>
                    <m:r>
                      <a:rPr kumimoji="1" lang="en-US" altLang="zh-TW" i="1">
                        <a:latin typeface="Cambria Math" panose="02040503050406030204" pitchFamily="18" charset="0"/>
                      </a:rPr>
                      <m:t>=(</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𝑞𝑘</m:t>
                            </m:r>
                          </m:sub>
                        </m:sSub>
                        <m:r>
                          <a:rPr kumimoji="1" lang="en-US" altLang="zh-TW" i="1">
                            <a:latin typeface="Cambria Math" panose="02040503050406030204" pitchFamily="18" charset="0"/>
                          </a:rPr>
                          <m:t>)</m:t>
                        </m:r>
                      </m:e>
                    </m:nary>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oMath>
                </a14:m>
                <a:r>
                  <a:rPr kumimoji="1" lang="en-US" altLang="zh-TW" dirty="0"/>
                  <a:t> </a:t>
                </a:r>
              </a:p>
            </p:txBody>
          </p:sp>
        </mc:Choice>
        <mc:Fallback xmlns="">
          <p:sp>
            <p:nvSpPr>
              <p:cNvPr id="6" name="文字方塊 5">
                <a:extLst>
                  <a:ext uri="{FF2B5EF4-FFF2-40B4-BE49-F238E27FC236}">
                    <a16:creationId xmlns:a16="http://schemas.microsoft.com/office/drawing/2014/main" id="{1E2E59FB-DDCB-4115-8ED1-2F9E2E701186}"/>
                  </a:ext>
                </a:extLst>
              </p:cNvPr>
              <p:cNvSpPr txBox="1">
                <a:spLocks noRot="1" noChangeAspect="1" noMove="1" noResize="1" noEditPoints="1" noAdjustHandles="1" noChangeArrowheads="1" noChangeShapeType="1" noTextEdit="1"/>
              </p:cNvSpPr>
              <p:nvPr/>
            </p:nvSpPr>
            <p:spPr>
              <a:xfrm>
                <a:off x="7800809" y="256330"/>
                <a:ext cx="3850106" cy="1498680"/>
              </a:xfrm>
              <a:prstGeom prst="rect">
                <a:avLst/>
              </a:prstGeom>
              <a:blipFill>
                <a:blip r:embed="rId3"/>
                <a:stretch>
                  <a:fillRect b="-32231"/>
                </a:stretch>
              </a:blipFill>
            </p:spPr>
            <p:txBody>
              <a:bodyPr/>
              <a:lstStyle/>
              <a:p>
                <a:r>
                  <a:rPr lang="zh-TW" altLang="en-US">
                    <a:noFill/>
                  </a:rPr>
                  <a:t> </a:t>
                </a:r>
              </a:p>
            </p:txBody>
          </p:sp>
        </mc:Fallback>
      </mc:AlternateContent>
      <p:cxnSp>
        <p:nvCxnSpPr>
          <p:cNvPr id="10" name="直線箭頭接點 9">
            <a:extLst>
              <a:ext uri="{FF2B5EF4-FFF2-40B4-BE49-F238E27FC236}">
                <a16:creationId xmlns:a16="http://schemas.microsoft.com/office/drawing/2014/main" id="{CC581880-E9D8-23B7-8F0C-48CEE454E748}"/>
              </a:ext>
            </a:extLst>
          </p:cNvPr>
          <p:cNvCxnSpPr>
            <a:cxnSpLocks/>
          </p:cNvCxnSpPr>
          <p:nvPr/>
        </p:nvCxnSpPr>
        <p:spPr>
          <a:xfrm flipH="1">
            <a:off x="4598469" y="2394284"/>
            <a:ext cx="770021"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1110CDC9-940E-3D08-2D6C-C49634D3C408}"/>
                  </a:ext>
                </a:extLst>
              </p:cNvPr>
              <p:cNvSpPr txBox="1"/>
              <p:nvPr/>
            </p:nvSpPr>
            <p:spPr>
              <a:xfrm>
                <a:off x="5368490" y="2273969"/>
                <a:ext cx="6282425" cy="776559"/>
              </a:xfrm>
              <a:prstGeom prst="rect">
                <a:avLst/>
              </a:prstGeom>
              <a:noFill/>
            </p:spPr>
            <p:txBody>
              <a:bodyPr wrap="none" rtlCol="0">
                <a:spAutoFit/>
              </a:bodyPr>
              <a:lstStyle/>
              <a:p>
                <a14:m>
                  <m:oMath xmlns:m="http://schemas.openxmlformats.org/officeDocument/2006/math">
                    <m:r>
                      <a:rPr kumimoji="1" lang="en-US" altLang="zh-TW" b="0" i="1" smtClean="0">
                        <a:latin typeface="Cambria Math" panose="02040503050406030204" pitchFamily="18" charset="0"/>
                      </a:rPr>
                      <m:t>𝐿</m:t>
                    </m:r>
                  </m:oMath>
                </a14:m>
                <a:r>
                  <a:rPr kumimoji="1" lang="en-US" altLang="zh-TW" dirty="0"/>
                  <a:t> </a:t>
                </a:r>
                <a:r>
                  <a:rPr kumimoji="1" lang="zh-TW" altLang="en-US" dirty="0"/>
                  <a:t>代表 </a:t>
                </a:r>
                <a:r>
                  <a:rPr kumimoji="1" lang="en-US" altLang="zh-TW" dirty="0"/>
                  <a:t>output</a:t>
                </a:r>
                <a:r>
                  <a:rPr kumimoji="1" lang="zh-TW" altLang="en-US" dirty="0"/>
                  <a:t> </a:t>
                </a:r>
                <a:r>
                  <a:rPr kumimoji="1" lang="en-US" altLang="zh-TW" dirty="0"/>
                  <a:t>layer,</a:t>
                </a:r>
                <a:r>
                  <a:rPr kumimoji="1" lang="zh-TW" altLang="en-US" dirty="0"/>
                  <a:t> </a:t>
                </a:r>
                <a14:m>
                  <m:oMath xmlns:m="http://schemas.openxmlformats.org/officeDocument/2006/math">
                    <m:r>
                      <a:rPr kumimoji="1" lang="en-US" altLang="zh-TW" i="1">
                        <a:latin typeface="Cambria Math" panose="02040503050406030204" pitchFamily="18" charset="0"/>
                        <a:ea typeface="Cambria Math" panose="02040503050406030204" pitchFamily="18" charset="0"/>
                      </a:rPr>
                      <m:t>⨀</m:t>
                    </m:r>
                  </m:oMath>
                </a14:m>
                <a:r>
                  <a:rPr kumimoji="1" lang="zh-TW" altLang="en-US" dirty="0"/>
                  <a:t> 代表 </a:t>
                </a:r>
                <a:r>
                  <a:rPr kumimoji="1" lang="en-US" altLang="zh-TW" dirty="0"/>
                  <a:t>element</a:t>
                </a:r>
                <a:r>
                  <a:rPr kumimoji="1" lang="zh-TW" altLang="en-US" dirty="0"/>
                  <a:t> </a:t>
                </a:r>
                <a:r>
                  <a:rPr kumimoji="1" lang="en-US" altLang="zh-TW" dirty="0"/>
                  <a:t>wise</a:t>
                </a:r>
                <a:r>
                  <a:rPr kumimoji="1" lang="zh-TW" altLang="en-US" dirty="0"/>
                  <a:t> </a:t>
                </a:r>
                <a:r>
                  <a:rPr kumimoji="1" lang="en-US" altLang="zh-TW" dirty="0"/>
                  <a:t>multiplication</a:t>
                </a:r>
                <a:r>
                  <a:rPr kumimoji="1" lang="zh-TW" altLang="en-US" dirty="0"/>
                  <a:t>。</a:t>
                </a:r>
                <a:endParaRPr kumimoji="1" lang="en-US" altLang="zh-TW" dirty="0"/>
              </a:p>
              <a:p>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𝑎</m:t>
                            </m:r>
                          </m:e>
                          <m:sup>
                            <m:r>
                              <a:rPr kumimoji="1" lang="en-US" altLang="zh-TW" i="1">
                                <a:latin typeface="Cambria Math" panose="02040503050406030204" pitchFamily="18" charset="0"/>
                              </a:rPr>
                              <m:t>(</m:t>
                            </m:r>
                            <m:r>
                              <a:rPr kumimoji="1" lang="en-US" altLang="zh-TW" i="1">
                                <a:latin typeface="Cambria Math" panose="02040503050406030204" pitchFamily="18" charset="0"/>
                              </a:rPr>
                              <m:t>𝐿</m:t>
                            </m:r>
                            <m:r>
                              <a:rPr kumimoji="1" lang="en-US" altLang="zh-TW" i="1">
                                <a:latin typeface="Cambria Math" panose="02040503050406030204" pitchFamily="18" charset="0"/>
                              </a:rPr>
                              <m:t>)</m:t>
                            </m:r>
                          </m:sup>
                        </m:sSup>
                      </m:den>
                    </m:f>
                  </m:oMath>
                </a14:m>
                <a:r>
                  <a:rPr kumimoji="1" lang="zh-TW" altLang="en-US" dirty="0"/>
                  <a:t> 對應到</a:t>
                </a:r>
                <a14:m>
                  <m:oMath xmlns:m="http://schemas.openxmlformats.org/officeDocument/2006/math">
                    <m:r>
                      <a:rPr kumimoji="1" lang="en-US" altLang="zh-TW" b="0" i="0" smtClean="0">
                        <a:latin typeface="Cambria Math" panose="02040503050406030204" pitchFamily="18" charset="0"/>
                      </a:rPr>
                      <m:t>−</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𝑡</m:t>
                            </m:r>
                          </m:e>
                          <m:sub>
                            <m:r>
                              <a:rPr kumimoji="1" lang="en-US" altLang="zh-TW" i="1">
                                <a:latin typeface="Cambria Math" panose="02040503050406030204" pitchFamily="18" charset="0"/>
                              </a:rPr>
                              <m:t>𝑞</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r>
                      <a:rPr kumimoji="1" lang="zh-TW" altLang="en-US" i="1">
                        <a:latin typeface="Cambria Math" panose="02040503050406030204" pitchFamily="18" charset="0"/>
                      </a:rPr>
                      <m:t>，</m:t>
                    </m:r>
                  </m:oMath>
                </a14:m>
                <a:r>
                  <a:rPr kumimoji="1" lang="zh-TW" altLang="en-US" dirty="0"/>
                  <a:t>而 </a:t>
                </a:r>
                <a14:m>
                  <m:oMath xmlns:m="http://schemas.openxmlformats.org/officeDocument/2006/math">
                    <m:sSup>
                      <m:sSupPr>
                        <m:ctrlPr>
                          <a:rPr kumimoji="1" lang="en-US" altLang="zh-TW" i="1">
                            <a:latin typeface="Cambria Math" panose="02040503050406030204" pitchFamily="18" charset="0"/>
                          </a:rPr>
                        </m:ctrlPr>
                      </m:sSup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𝑓</m:t>
                            </m:r>
                          </m:e>
                          <m:sup>
                            <m:r>
                              <a:rPr kumimoji="1" lang="en-US" altLang="zh-TW" i="1">
                                <a:latin typeface="Cambria Math" panose="02040503050406030204" pitchFamily="18" charset="0"/>
                              </a:rPr>
                              <m:t>′</m:t>
                            </m:r>
                          </m:sup>
                        </m:sSup>
                      </m:e>
                      <m: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𝐿</m:t>
                            </m:r>
                          </m:e>
                        </m:d>
                      </m:sup>
                    </m:sSup>
                    <m:d>
                      <m:dPr>
                        <m:ctrlPr>
                          <a:rPr kumimoji="1" lang="en-US" altLang="zh-TW" i="1">
                            <a:latin typeface="Cambria Math" panose="02040503050406030204" pitchFamily="18" charset="0"/>
                          </a:rPr>
                        </m:ctrlPr>
                      </m:d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𝑧</m:t>
                            </m:r>
                          </m:e>
                          <m:sup>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𝐿</m:t>
                                </m:r>
                              </m:e>
                            </m:d>
                          </m:sup>
                        </m:sSup>
                      </m:e>
                    </m:d>
                  </m:oMath>
                </a14:m>
                <a:r>
                  <a:rPr kumimoji="1" lang="zh-TW" altLang="en-US" dirty="0"/>
                  <a:t> 則對應到</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𝑞</m:t>
                            </m:r>
                          </m:sub>
                        </m:sSub>
                      </m:e>
                    </m:d>
                    <m:r>
                      <a:rPr kumimoji="1" lang="zh-TW" altLang="en-US" i="1">
                        <a:latin typeface="Cambria Math" panose="02040503050406030204" pitchFamily="18" charset="0"/>
                      </a:rPr>
                      <m:t>。</m:t>
                    </m:r>
                  </m:oMath>
                </a14:m>
                <a:endParaRPr kumimoji="1" lang="zh-TW" altLang="en-US" dirty="0"/>
              </a:p>
            </p:txBody>
          </p:sp>
        </mc:Choice>
        <mc:Fallback xmlns="">
          <p:sp>
            <p:nvSpPr>
              <p:cNvPr id="13" name="文字方塊 12">
                <a:extLst>
                  <a:ext uri="{FF2B5EF4-FFF2-40B4-BE49-F238E27FC236}">
                    <a16:creationId xmlns:a16="http://schemas.microsoft.com/office/drawing/2014/main" id="{1110CDC9-940E-3D08-2D6C-C49634D3C408}"/>
                  </a:ext>
                </a:extLst>
              </p:cNvPr>
              <p:cNvSpPr txBox="1">
                <a:spLocks noRot="1" noChangeAspect="1" noMove="1" noResize="1" noEditPoints="1" noAdjustHandles="1" noChangeArrowheads="1" noChangeShapeType="1" noTextEdit="1"/>
              </p:cNvSpPr>
              <p:nvPr/>
            </p:nvSpPr>
            <p:spPr>
              <a:xfrm>
                <a:off x="5368490" y="2273969"/>
                <a:ext cx="6282425" cy="776559"/>
              </a:xfrm>
              <a:prstGeom prst="rect">
                <a:avLst/>
              </a:prstGeom>
              <a:blipFill>
                <a:blip r:embed="rId4"/>
                <a:stretch>
                  <a:fillRect t="-3226" b="-1613"/>
                </a:stretch>
              </a:blipFill>
            </p:spPr>
            <p:txBody>
              <a:bodyPr/>
              <a:lstStyle/>
              <a:p>
                <a:r>
                  <a:rPr lang="zh-TW" altLang="en-US">
                    <a:noFill/>
                  </a:rPr>
                  <a:t> </a:t>
                </a:r>
              </a:p>
            </p:txBody>
          </p:sp>
        </mc:Fallback>
      </mc:AlternateContent>
      <p:cxnSp>
        <p:nvCxnSpPr>
          <p:cNvPr id="16" name="直線箭頭接點 15">
            <a:extLst>
              <a:ext uri="{FF2B5EF4-FFF2-40B4-BE49-F238E27FC236}">
                <a16:creationId xmlns:a16="http://schemas.microsoft.com/office/drawing/2014/main" id="{82C528CA-07CC-4444-8948-04EB9A972180}"/>
              </a:ext>
            </a:extLst>
          </p:cNvPr>
          <p:cNvCxnSpPr>
            <a:cxnSpLocks/>
          </p:cNvCxnSpPr>
          <p:nvPr/>
        </p:nvCxnSpPr>
        <p:spPr>
          <a:xfrm flipH="1" flipV="1">
            <a:off x="3980848" y="3946358"/>
            <a:ext cx="2290011" cy="348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4C85493A-A310-A96A-678D-56E7EECA5737}"/>
                  </a:ext>
                </a:extLst>
              </p:cNvPr>
              <p:cNvSpPr txBox="1"/>
              <p:nvPr/>
            </p:nvSpPr>
            <p:spPr>
              <a:xfrm>
                <a:off x="6259077" y="4000678"/>
                <a:ext cx="3592778" cy="811697"/>
              </a:xfrm>
              <a:prstGeom prst="rect">
                <a:avLst/>
              </a:prstGeom>
              <a:noFill/>
            </p:spPr>
            <p:txBody>
              <a:bodyPr wrap="none" rtlCol="0">
                <a:spAutoFit/>
              </a:bodyPr>
              <a:lstStyle/>
              <a:p>
                <a14:m>
                  <m:oMath xmlns:m="http://schemas.openxmlformats.org/officeDocument/2006/math">
                    <m:r>
                      <a:rPr kumimoji="1" lang="en-US" altLang="zh-TW" b="0" i="1" smtClean="0">
                        <a:latin typeface="Cambria Math" panose="02040503050406030204" pitchFamily="18" charset="0"/>
                      </a:rPr>
                      <m:t>𝑙</m:t>
                    </m:r>
                  </m:oMath>
                </a14:m>
                <a:r>
                  <a:rPr kumimoji="1" lang="zh-TW" altLang="en-US" i="1" dirty="0">
                    <a:latin typeface="Cambria Math" panose="02040503050406030204" pitchFamily="18" charset="0"/>
                  </a:rPr>
                  <a:t> </a:t>
                </a:r>
                <a:r>
                  <a:rPr kumimoji="1" lang="zh-TW" altLang="en-US" dirty="0">
                    <a:latin typeface="Cambria Math" panose="02040503050406030204" pitchFamily="18" charset="0"/>
                  </a:rPr>
                  <a:t>代表 </a:t>
                </a:r>
                <a:r>
                  <a:rPr kumimoji="1" lang="en-US" altLang="zh-TW" dirty="0">
                    <a:latin typeface="Cambria Math" panose="02040503050406030204" pitchFamily="18" charset="0"/>
                  </a:rPr>
                  <a:t>hidden</a:t>
                </a:r>
                <a:r>
                  <a:rPr kumimoji="1" lang="zh-TW" altLang="en-US" dirty="0">
                    <a:latin typeface="Cambria Math" panose="02040503050406030204" pitchFamily="18" charset="0"/>
                  </a:rPr>
                  <a:t> </a:t>
                </a:r>
                <a:r>
                  <a:rPr kumimoji="1" lang="en-US" altLang="zh-TW" dirty="0">
                    <a:latin typeface="Cambria Math" panose="02040503050406030204" pitchFamily="18" charset="0"/>
                  </a:rPr>
                  <a:t>layer</a:t>
                </a:r>
                <a:r>
                  <a:rPr kumimoji="1" lang="zh-TW" altLang="en-US" dirty="0">
                    <a:latin typeface="Cambria Math" panose="02040503050406030204" pitchFamily="18" charset="0"/>
                  </a:rPr>
                  <a:t>。</a:t>
                </a:r>
                <a:endParaRPr kumimoji="1" lang="en-US" altLang="zh-TW" i="1" dirty="0">
                  <a:latin typeface="Cambria Math" panose="02040503050406030204" pitchFamily="18" charset="0"/>
                </a:endParaRPr>
              </a:p>
              <a:p>
                <a14:m>
                  <m:oMath xmlns:m="http://schemas.openxmlformats.org/officeDocument/2006/math">
                    <m:sSup>
                      <m:sSupPr>
                        <m:ctrlPr>
                          <a:rPr kumimoji="1" lang="en-US" altLang="zh-TW" i="1">
                            <a:latin typeface="Cambria Math" panose="02040503050406030204" pitchFamily="18" charset="0"/>
                          </a:rPr>
                        </m:ctrlPr>
                      </m:sSup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𝑊</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+1)</m:t>
                            </m:r>
                          </m:sup>
                        </m:sSup>
                      </m:e>
                      <m:sup>
                        <m:r>
                          <a:rPr kumimoji="1" lang="en-US" altLang="zh-TW" i="1">
                            <a:latin typeface="Cambria Math" panose="02040503050406030204" pitchFamily="18" charset="0"/>
                          </a:rPr>
                          <m:t>𝑇</m:t>
                        </m:r>
                      </m:sup>
                    </m:sSup>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𝛿</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+1)</m:t>
                        </m:r>
                      </m:sup>
                    </m:sSup>
                  </m:oMath>
                </a14:m>
                <a:r>
                  <a:rPr kumimoji="1" lang="zh-TW" altLang="en-US" dirty="0"/>
                  <a:t>對應到</a:t>
                </a:r>
                <a14:m>
                  <m:oMath xmlns:m="http://schemas.openxmlformats.org/officeDocument/2006/math">
                    <m:r>
                      <a:rPr kumimoji="1" lang="zh-TW" altLang="en-US" i="1" dirty="0" smtClean="0">
                        <a:latin typeface="Cambria Math" panose="02040503050406030204" pitchFamily="18" charset="0"/>
                      </a:rPr>
                      <m:t> </m:t>
                    </m:r>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𝑘</m:t>
                        </m:r>
                      </m:sub>
                      <m:sup/>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𝐸</m:t>
                                </m:r>
                              </m:e>
                              <m:sub>
                                <m:r>
                                  <a:rPr kumimoji="1" lang="en-US" altLang="zh-TW" i="1">
                                    <a:latin typeface="Cambria Math" panose="02040503050406030204" pitchFamily="18" charset="0"/>
                                  </a:rPr>
                                  <m:t>𝑑</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𝑛𝑒𝑡</m:t>
                                </m:r>
                              </m:e>
                              <m:sub>
                                <m:r>
                                  <a:rPr kumimoji="1" lang="en-US" altLang="zh-TW" i="1">
                                    <a:latin typeface="Cambria Math" panose="02040503050406030204" pitchFamily="18" charset="0"/>
                                  </a:rPr>
                                  <m:t>𝑘</m:t>
                                </m:r>
                              </m:sub>
                            </m:sSub>
                          </m:den>
                        </m:f>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𝑞𝑘</m:t>
                            </m:r>
                          </m:sub>
                        </m:sSub>
                      </m:e>
                    </m:nary>
                  </m:oMath>
                </a14:m>
                <a:endParaRPr kumimoji="1" lang="zh-TW" altLang="en-US" dirty="0"/>
              </a:p>
            </p:txBody>
          </p:sp>
        </mc:Choice>
        <mc:Fallback xmlns="">
          <p:sp>
            <p:nvSpPr>
              <p:cNvPr id="20" name="文字方塊 19">
                <a:extLst>
                  <a:ext uri="{FF2B5EF4-FFF2-40B4-BE49-F238E27FC236}">
                    <a16:creationId xmlns:a16="http://schemas.microsoft.com/office/drawing/2014/main" id="{4C85493A-A310-A96A-678D-56E7EECA5737}"/>
                  </a:ext>
                </a:extLst>
              </p:cNvPr>
              <p:cNvSpPr txBox="1">
                <a:spLocks noRot="1" noChangeAspect="1" noMove="1" noResize="1" noEditPoints="1" noAdjustHandles="1" noChangeArrowheads="1" noChangeShapeType="1" noTextEdit="1"/>
              </p:cNvSpPr>
              <p:nvPr/>
            </p:nvSpPr>
            <p:spPr>
              <a:xfrm>
                <a:off x="6259077" y="4000678"/>
                <a:ext cx="3592778" cy="811697"/>
              </a:xfrm>
              <a:prstGeom prst="rect">
                <a:avLst/>
              </a:prstGeom>
              <a:blipFill>
                <a:blip r:embed="rId5"/>
                <a:stretch>
                  <a:fillRect t="-9231" b="-64615"/>
                </a:stretch>
              </a:blipFill>
            </p:spPr>
            <p:txBody>
              <a:bodyPr/>
              <a:lstStyle/>
              <a:p>
                <a:r>
                  <a:rPr lang="zh-TW" altLang="en-US">
                    <a:noFill/>
                  </a:rPr>
                  <a:t> </a:t>
                </a:r>
              </a:p>
            </p:txBody>
          </p:sp>
        </mc:Fallback>
      </mc:AlternateContent>
      <p:cxnSp>
        <p:nvCxnSpPr>
          <p:cNvPr id="21" name="直線箭頭接點 20">
            <a:extLst>
              <a:ext uri="{FF2B5EF4-FFF2-40B4-BE49-F238E27FC236}">
                <a16:creationId xmlns:a16="http://schemas.microsoft.com/office/drawing/2014/main" id="{144D1398-EFF4-686A-0607-A4E95E45BE0E}"/>
              </a:ext>
            </a:extLst>
          </p:cNvPr>
          <p:cNvCxnSpPr>
            <a:cxnSpLocks/>
          </p:cNvCxnSpPr>
          <p:nvPr/>
        </p:nvCxnSpPr>
        <p:spPr>
          <a:xfrm flipH="1" flipV="1">
            <a:off x="3700765" y="4588888"/>
            <a:ext cx="3726928" cy="602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9D91EC6-791C-4CCF-6D5C-1F70284C4EE9}"/>
                  </a:ext>
                </a:extLst>
              </p:cNvPr>
              <p:cNvSpPr txBox="1"/>
              <p:nvPr/>
            </p:nvSpPr>
            <p:spPr>
              <a:xfrm>
                <a:off x="7427693" y="4973288"/>
                <a:ext cx="1912383" cy="435632"/>
              </a:xfrm>
              <a:prstGeom prst="rect">
                <a:avLst/>
              </a:prstGeom>
              <a:noFill/>
            </p:spPr>
            <p:txBody>
              <a:bodyPr wrap="none" rtlCol="0">
                <a:spAutoFit/>
              </a:bodyPr>
              <a:lstStyle/>
              <a:p>
                <a14:m>
                  <m:oMath xmlns:m="http://schemas.openxmlformats.org/officeDocument/2006/math">
                    <m:sSup>
                      <m:sSupPr>
                        <m:ctrlPr>
                          <a:rPr kumimoji="1" lang="en-US" altLang="zh-TW" i="1">
                            <a:latin typeface="Cambria Math" panose="02040503050406030204" pitchFamily="18" charset="0"/>
                          </a:rPr>
                        </m:ctrlPr>
                      </m:sSup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𝑎</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−1)</m:t>
                            </m:r>
                          </m:sup>
                        </m:sSup>
                      </m:e>
                      <m:sup>
                        <m:r>
                          <a:rPr kumimoji="1" lang="en-US" altLang="zh-TW" i="1">
                            <a:latin typeface="Cambria Math" panose="02040503050406030204" pitchFamily="18" charset="0"/>
                          </a:rPr>
                          <m:t>𝑇</m:t>
                        </m:r>
                      </m:sup>
                    </m:sSup>
                  </m:oMath>
                </a14:m>
                <a:r>
                  <a:rPr kumimoji="1" lang="zh-TW" altLang="en-US" dirty="0"/>
                  <a:t> 對應到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𝑜</m:t>
                        </m:r>
                      </m:e>
                      <m:sub>
                        <m:r>
                          <a:rPr kumimoji="1" lang="en-US" altLang="zh-TW" i="1">
                            <a:latin typeface="Cambria Math" panose="02040503050406030204" pitchFamily="18" charset="0"/>
                          </a:rPr>
                          <m:t>𝑝</m:t>
                        </m:r>
                      </m:sub>
                    </m:sSub>
                  </m:oMath>
                </a14:m>
                <a:endParaRPr kumimoji="1" lang="zh-TW" altLang="en-US" dirty="0"/>
              </a:p>
            </p:txBody>
          </p:sp>
        </mc:Choice>
        <mc:Fallback xmlns="">
          <p:sp>
            <p:nvSpPr>
              <p:cNvPr id="23" name="文字方塊 22">
                <a:extLst>
                  <a:ext uri="{FF2B5EF4-FFF2-40B4-BE49-F238E27FC236}">
                    <a16:creationId xmlns:a16="http://schemas.microsoft.com/office/drawing/2014/main" id="{E9D91EC6-791C-4CCF-6D5C-1F70284C4EE9}"/>
                  </a:ext>
                </a:extLst>
              </p:cNvPr>
              <p:cNvSpPr txBox="1">
                <a:spLocks noRot="1" noChangeAspect="1" noMove="1" noResize="1" noEditPoints="1" noAdjustHandles="1" noChangeArrowheads="1" noChangeShapeType="1" noTextEdit="1"/>
              </p:cNvSpPr>
              <p:nvPr/>
            </p:nvSpPr>
            <p:spPr>
              <a:xfrm>
                <a:off x="7427693" y="4973288"/>
                <a:ext cx="1912383" cy="435632"/>
              </a:xfrm>
              <a:prstGeom prst="rect">
                <a:avLst/>
              </a:prstGeom>
              <a:blipFill>
                <a:blip r:embed="rId6"/>
                <a:stretch>
                  <a:fillRect b="-17143"/>
                </a:stretch>
              </a:blipFill>
            </p:spPr>
            <p:txBody>
              <a:bodyPr/>
              <a:lstStyle/>
              <a:p>
                <a:r>
                  <a:rPr lang="zh-TW" altLang="en-US">
                    <a:noFill/>
                  </a:rPr>
                  <a:t> </a:t>
                </a:r>
              </a:p>
            </p:txBody>
          </p:sp>
        </mc:Fallback>
      </mc:AlternateContent>
      <p:cxnSp>
        <p:nvCxnSpPr>
          <p:cNvPr id="24" name="直線箭頭接點 23">
            <a:extLst>
              <a:ext uri="{FF2B5EF4-FFF2-40B4-BE49-F238E27FC236}">
                <a16:creationId xmlns:a16="http://schemas.microsoft.com/office/drawing/2014/main" id="{7F41E81B-8CE9-421B-B125-0F8DC9241B3E}"/>
              </a:ext>
            </a:extLst>
          </p:cNvPr>
          <p:cNvCxnSpPr>
            <a:cxnSpLocks/>
          </p:cNvCxnSpPr>
          <p:nvPr/>
        </p:nvCxnSpPr>
        <p:spPr>
          <a:xfrm flipH="1" flipV="1">
            <a:off x="2543931" y="5473841"/>
            <a:ext cx="382149" cy="45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1E848EB9-76D7-5053-49EF-2749198C15DD}"/>
                  </a:ext>
                </a:extLst>
              </p:cNvPr>
              <p:cNvSpPr txBox="1"/>
              <p:nvPr/>
            </p:nvSpPr>
            <p:spPr>
              <a:xfrm>
                <a:off x="2926080" y="5587460"/>
                <a:ext cx="2923673" cy="712631"/>
              </a:xfrm>
              <a:prstGeom prst="rect">
                <a:avLst/>
              </a:prstGeom>
              <a:noFill/>
            </p:spPr>
            <p:txBody>
              <a:bodyPr wrap="square" rtlCol="0">
                <a:spAutoFit/>
              </a:bodyPr>
              <a:lstStyle/>
              <a:p>
                <a:r>
                  <a:rPr kumimoji="1" lang="zh-TW" altLang="en-US" dirty="0"/>
                  <a:t>因為 </a:t>
                </a:r>
                <a:r>
                  <a:rPr kumimoji="1" lang="en-US" altLang="zh-TW" dirty="0"/>
                  <a:t>bias</a:t>
                </a:r>
                <a:r>
                  <a:rPr kumimoji="1" lang="zh-TW" altLang="en-US" dirty="0"/>
                  <a:t> </a:t>
                </a:r>
                <a:r>
                  <a:rPr kumimoji="1" lang="en-US" altLang="zh-TW" dirty="0"/>
                  <a:t>term</a:t>
                </a:r>
                <a:r>
                  <a:rPr kumimoji="1" lang="zh-TW" altLang="en-US" dirty="0"/>
                  <a:t> 的 </a:t>
                </a:r>
                <a14:m>
                  <m:oMath xmlns:m="http://schemas.openxmlformats.org/officeDocument/2006/math">
                    <m:sSup>
                      <m:sSupPr>
                        <m:ctrlPr>
                          <a:rPr kumimoji="1" lang="en-US" altLang="zh-TW" i="1">
                            <a:latin typeface="Cambria Math" panose="02040503050406030204" pitchFamily="18" charset="0"/>
                          </a:rPr>
                        </m:ctrlPr>
                      </m:sSup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𝑎</m:t>
                            </m:r>
                          </m:e>
                          <m:sup>
                            <m:r>
                              <a:rPr kumimoji="1" lang="en-US" altLang="zh-TW" i="1">
                                <a:latin typeface="Cambria Math" panose="02040503050406030204" pitchFamily="18" charset="0"/>
                              </a:rPr>
                              <m:t>(</m:t>
                            </m:r>
                            <m:r>
                              <a:rPr kumimoji="1" lang="en-US" altLang="zh-TW" i="1">
                                <a:latin typeface="Cambria Math" panose="02040503050406030204" pitchFamily="18" charset="0"/>
                              </a:rPr>
                              <m:t>𝑙</m:t>
                            </m:r>
                            <m:r>
                              <a:rPr kumimoji="1" lang="en-US" altLang="zh-TW" i="1">
                                <a:latin typeface="Cambria Math" panose="02040503050406030204" pitchFamily="18" charset="0"/>
                              </a:rPr>
                              <m:t>−1)</m:t>
                            </m:r>
                          </m:sup>
                        </m:sSup>
                      </m:e>
                      <m:sup>
                        <m:r>
                          <a:rPr kumimoji="1" lang="en-US" altLang="zh-TW" i="1">
                            <a:latin typeface="Cambria Math" panose="02040503050406030204" pitchFamily="18" charset="0"/>
                          </a:rPr>
                          <m:t>𝑇</m:t>
                        </m:r>
                      </m:sup>
                    </m:sSup>
                  </m:oMath>
                </a14:m>
                <a:r>
                  <a:rPr kumimoji="1" lang="zh-TW" altLang="en-US" dirty="0"/>
                  <a:t> 全部值都是 </a:t>
                </a:r>
                <a:r>
                  <a:rPr kumimoji="1" lang="en-US" altLang="zh-TW" dirty="0"/>
                  <a:t>1</a:t>
                </a:r>
                <a:r>
                  <a:rPr kumimoji="1" lang="zh-TW" altLang="en-US" dirty="0"/>
                  <a:t>，所以可省略。</a:t>
                </a:r>
              </a:p>
            </p:txBody>
          </p:sp>
        </mc:Choice>
        <mc:Fallback xmlns="">
          <p:sp>
            <p:nvSpPr>
              <p:cNvPr id="27" name="文字方塊 26">
                <a:extLst>
                  <a:ext uri="{FF2B5EF4-FFF2-40B4-BE49-F238E27FC236}">
                    <a16:creationId xmlns:a16="http://schemas.microsoft.com/office/drawing/2014/main" id="{1E848EB9-76D7-5053-49EF-2749198C15DD}"/>
                  </a:ext>
                </a:extLst>
              </p:cNvPr>
              <p:cNvSpPr txBox="1">
                <a:spLocks noRot="1" noChangeAspect="1" noMove="1" noResize="1" noEditPoints="1" noAdjustHandles="1" noChangeArrowheads="1" noChangeShapeType="1" noTextEdit="1"/>
              </p:cNvSpPr>
              <p:nvPr/>
            </p:nvSpPr>
            <p:spPr>
              <a:xfrm>
                <a:off x="2926080" y="5587460"/>
                <a:ext cx="2923673" cy="712631"/>
              </a:xfrm>
              <a:prstGeom prst="rect">
                <a:avLst/>
              </a:prstGeom>
              <a:blipFill>
                <a:blip r:embed="rId7"/>
                <a:stretch>
                  <a:fillRect l="-1732" b="-125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97997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A8872B-36B3-DF1C-3284-9384B82A1DF7}"/>
              </a:ext>
            </a:extLst>
          </p:cNvPr>
          <p:cNvSpPr>
            <a:spLocks noGrp="1"/>
          </p:cNvSpPr>
          <p:nvPr>
            <p:ph type="title"/>
          </p:nvPr>
        </p:nvSpPr>
        <p:spPr/>
        <p:txBody>
          <a:bodyPr/>
          <a:lstStyle/>
          <a:p>
            <a:r>
              <a:rPr kumimoji="1" lang="zh-TW" altLang="en-US" dirty="0"/>
              <a:t>程式碼範例</a:t>
            </a:r>
          </a:p>
        </p:txBody>
      </p:sp>
      <p:sp>
        <p:nvSpPr>
          <p:cNvPr id="3" name="內容版面配置區 2">
            <a:extLst>
              <a:ext uri="{FF2B5EF4-FFF2-40B4-BE49-F238E27FC236}">
                <a16:creationId xmlns:a16="http://schemas.microsoft.com/office/drawing/2014/main" id="{1FCF6F59-B6DC-508B-6F47-1B04A4E127C6}"/>
              </a:ext>
            </a:extLst>
          </p:cNvPr>
          <p:cNvSpPr>
            <a:spLocks noGrp="1"/>
          </p:cNvSpPr>
          <p:nvPr>
            <p:ph idx="1"/>
          </p:nvPr>
        </p:nvSpPr>
        <p:spPr/>
        <p:txBody>
          <a:bodyPr/>
          <a:lstStyle/>
          <a:p>
            <a:r>
              <a:rPr kumimoji="1" lang="zh-TW" altLang="en-US" dirty="0"/>
              <a:t>*</a:t>
            </a:r>
            <a:r>
              <a:rPr kumimoji="1" lang="en-US" altLang="zh-TW" dirty="0"/>
              <a:t>.</a:t>
            </a:r>
            <a:r>
              <a:rPr kumimoji="1" lang="zh-TW" altLang="en-US" dirty="0"/>
              <a:t> </a:t>
            </a:r>
            <a:r>
              <a:rPr kumimoji="1" lang="en-US" altLang="zh-TW" dirty="0"/>
              <a:t>Lab_2_Gradient_Descent.ipynb</a:t>
            </a:r>
            <a:endParaRPr kumimoji="1" lang="zh-TW" altLang="en-US" dirty="0"/>
          </a:p>
        </p:txBody>
      </p:sp>
      <p:sp>
        <p:nvSpPr>
          <p:cNvPr id="4" name="日期版面配置區 3">
            <a:extLst>
              <a:ext uri="{FF2B5EF4-FFF2-40B4-BE49-F238E27FC236}">
                <a16:creationId xmlns:a16="http://schemas.microsoft.com/office/drawing/2014/main" id="{01C31CA2-BD27-670F-1FD3-3094707AC5E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F1940B8-2D2C-E28E-298D-1DB7674953B9}"/>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851962168"/>
      </p:ext>
    </p:extLst>
  </p:cSld>
  <p:clrMapOvr>
    <a:masterClrMapping/>
  </p:clrMapOvr>
</p:sld>
</file>

<file path=ppt/theme/theme1.xml><?xml version="1.0" encoding="utf-8"?>
<a:theme xmlns:a="http://schemas.openxmlformats.org/drawingml/2006/main" name="RetrospectVTI">
  <a:themeElements>
    <a:clrScheme name="自訂 2">
      <a:dk1>
        <a:srgbClr val="000000"/>
      </a:dk1>
      <a:lt1>
        <a:srgbClr val="FFFFFF"/>
      </a:lt1>
      <a:dk2>
        <a:srgbClr val="1C2031"/>
      </a:dk2>
      <a:lt2>
        <a:srgbClr val="F2F3F0"/>
      </a:lt2>
      <a:accent1>
        <a:srgbClr val="15C554"/>
      </a:accent1>
      <a:accent2>
        <a:srgbClr val="3732DA"/>
      </a:accent2>
      <a:accent3>
        <a:srgbClr val="2973E7"/>
      </a:accent3>
      <a:accent4>
        <a:srgbClr val="17B0D5"/>
      </a:accent4>
      <a:accent5>
        <a:srgbClr val="22C29E"/>
      </a:accent5>
      <a:accent6>
        <a:srgbClr val="16C655"/>
      </a:accent6>
      <a:hlink>
        <a:srgbClr val="339A95"/>
      </a:hlink>
      <a:folHlink>
        <a:srgbClr val="7F7F7F"/>
      </a:folHlink>
    </a:clrScheme>
    <a:fontScheme name="自訂 6">
      <a:majorFont>
        <a:latin typeface="Times New Roman"/>
        <a:ea typeface="Taipei Sans TC Beta"/>
        <a:cs typeface=""/>
      </a:majorFont>
      <a:minorFont>
        <a:latin typeface="Times New Roman"/>
        <a:ea typeface="Taipei Sans TC Beta"/>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19161</TotalTime>
  <Words>2910</Words>
  <Application>Microsoft Macintosh PowerPoint</Application>
  <PresentationFormat>寬螢幕</PresentationFormat>
  <Paragraphs>526</Paragraphs>
  <Slides>35</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35</vt:i4>
      </vt:variant>
    </vt:vector>
  </HeadingPairs>
  <TitlesOfParts>
    <vt:vector size="42" baseType="lpstr">
      <vt:lpstr>PMingLiU</vt:lpstr>
      <vt:lpstr>Aptos</vt:lpstr>
      <vt:lpstr>Calibri</vt:lpstr>
      <vt:lpstr>Cambria Math</vt:lpstr>
      <vt:lpstr>Times New Roman</vt:lpstr>
      <vt:lpstr>Wingdings</vt:lpstr>
      <vt:lpstr>RetrospectVTI</vt:lpstr>
      <vt:lpstr>反向傳播演算法</vt:lpstr>
      <vt:lpstr>反向傳播演算法</vt:lpstr>
      <vt:lpstr>反向傳播演算法</vt:lpstr>
      <vt:lpstr>梯度下降演算法</vt:lpstr>
      <vt:lpstr>PowerPoint 簡報</vt:lpstr>
      <vt:lpstr>梯度下降演算法</vt:lpstr>
      <vt:lpstr>PowerPoint 簡報</vt:lpstr>
      <vt:lpstr>梯度下降演算法</vt:lpstr>
      <vt:lpstr>梯度下降演算法</vt:lpstr>
      <vt:lpstr>梯度下降演算法的問題</vt:lpstr>
      <vt:lpstr>反向傳播公式證明</vt:lpstr>
      <vt:lpstr>反向傳播公式證明</vt:lpstr>
      <vt:lpstr>反向傳播公式證明</vt:lpstr>
      <vt:lpstr>反向傳播公式證明</vt:lpstr>
      <vt:lpstr>反向傳播公式證明</vt:lpstr>
      <vt:lpstr>反向傳播公式證明</vt:lpstr>
      <vt:lpstr>反向傳播公式證明</vt:lpstr>
      <vt:lpstr>反向傳播公式證明</vt:lpstr>
      <vt:lpstr>反向傳播公式證明</vt:lpstr>
      <vt:lpstr>反向傳播公式證明</vt:lpstr>
      <vt:lpstr>反向傳播公式證明</vt:lpstr>
      <vt:lpstr>反向傳播公式證明</vt:lpstr>
      <vt:lpstr>反向傳播公式證明</vt:lpstr>
      <vt:lpstr>反向傳播計算</vt:lpstr>
      <vt:lpstr>反向傳播計算</vt:lpstr>
      <vt:lpstr>反向傳播計算</vt:lpstr>
      <vt:lpstr>反向傳播計算</vt:lpstr>
      <vt:lpstr>練習題</vt:lpstr>
      <vt:lpstr>練習題</vt:lpstr>
      <vt:lpstr>練習題</vt:lpstr>
      <vt:lpstr>練習題</vt:lpstr>
      <vt:lpstr>反向傳播的四大公式</vt:lpstr>
      <vt:lpstr>反向傳播的四大公式</vt:lpstr>
      <vt:lpstr>反向傳播的四大公式</vt:lpstr>
      <vt:lpstr>程式碼範例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Algorithm Design</dc:title>
  <dc:creator>Yu-Hsien Jen</dc:creator>
  <cp:lastModifiedBy>宇賢 任</cp:lastModifiedBy>
  <cp:revision>2767</cp:revision>
  <dcterms:created xsi:type="dcterms:W3CDTF">2021-02-23T11:38:50Z</dcterms:created>
  <dcterms:modified xsi:type="dcterms:W3CDTF">2026-04-21T03:28:31Z</dcterms:modified>
</cp:coreProperties>
</file>