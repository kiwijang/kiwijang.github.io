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65"/>
  </p:notesMasterIdLst>
  <p:sldIdLst>
    <p:sldId id="256" r:id="rId2"/>
    <p:sldId id="257" r:id="rId3"/>
    <p:sldId id="280" r:id="rId4"/>
    <p:sldId id="260" r:id="rId5"/>
    <p:sldId id="266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7" r:id="rId19"/>
    <p:sldId id="276" r:id="rId20"/>
    <p:sldId id="275" r:id="rId21"/>
    <p:sldId id="279" r:id="rId22"/>
    <p:sldId id="281" r:id="rId23"/>
    <p:sldId id="283" r:id="rId24"/>
    <p:sldId id="284" r:id="rId25"/>
    <p:sldId id="285" r:id="rId26"/>
    <p:sldId id="286" r:id="rId27"/>
    <p:sldId id="287" r:id="rId28"/>
    <p:sldId id="293" r:id="rId29"/>
    <p:sldId id="288" r:id="rId30"/>
    <p:sldId id="290" r:id="rId31"/>
    <p:sldId id="289" r:id="rId32"/>
    <p:sldId id="294" r:id="rId33"/>
    <p:sldId id="291" r:id="rId34"/>
    <p:sldId id="292" r:id="rId35"/>
    <p:sldId id="295" r:id="rId36"/>
    <p:sldId id="297" r:id="rId37"/>
    <p:sldId id="296" r:id="rId38"/>
    <p:sldId id="298" r:id="rId39"/>
    <p:sldId id="300" r:id="rId40"/>
    <p:sldId id="299" r:id="rId41"/>
    <p:sldId id="303" r:id="rId42"/>
    <p:sldId id="305" r:id="rId43"/>
    <p:sldId id="307" r:id="rId44"/>
    <p:sldId id="308" r:id="rId45"/>
    <p:sldId id="309" r:id="rId46"/>
    <p:sldId id="310" r:id="rId47"/>
    <p:sldId id="311" r:id="rId48"/>
    <p:sldId id="312" r:id="rId49"/>
    <p:sldId id="326" r:id="rId50"/>
    <p:sldId id="314" r:id="rId51"/>
    <p:sldId id="315" r:id="rId52"/>
    <p:sldId id="302" r:id="rId53"/>
    <p:sldId id="259" r:id="rId54"/>
    <p:sldId id="321" r:id="rId55"/>
    <p:sldId id="325" r:id="rId56"/>
    <p:sldId id="317" r:id="rId57"/>
    <p:sldId id="318" r:id="rId58"/>
    <p:sldId id="319" r:id="rId59"/>
    <p:sldId id="320" r:id="rId60"/>
    <p:sldId id="322" r:id="rId61"/>
    <p:sldId id="323" r:id="rId62"/>
    <p:sldId id="324" r:id="rId63"/>
    <p:sldId id="301" r:id="rId6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淺色樣式 3 - 輔色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34" autoAdjust="0"/>
    <p:restoredTop sz="95807"/>
  </p:normalViewPr>
  <p:slideViewPr>
    <p:cSldViewPr snapToGrid="0">
      <p:cViewPr varScale="1">
        <p:scale>
          <a:sx n="87" d="100"/>
          <a:sy n="87" d="100"/>
        </p:scale>
        <p:origin x="232" y="7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21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D5E851-B301-8440-A31A-2666B5099906}" type="datetimeFigureOut">
              <a:rPr kumimoji="1" lang="zh-TW" altLang="en-US" smtClean="0"/>
              <a:t>2026/4/21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7913E7-7146-234E-81D5-B698B33CD06E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5726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C3795BDB-1CA7-B881-D67A-FEC0E1955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960360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0696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0928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85084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14238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81294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0706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altLang="zh-TW"/>
              <a:t>Wilson Ren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Deep Learning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4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3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bait509-ubc.github.io/BAIT509/lectures/lecture5.html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nlp.stanford.edu/pubs/glove.pdf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en.wikipedia.org/wiki/Google_Neural_Machine_Translation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poloclub.github.io/transformer-explainer/" TargetMode="Externa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305.03195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00020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103.00020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2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7" name="Rectangle 126">
            <a:extLst>
              <a:ext uri="{FF2B5EF4-FFF2-40B4-BE49-F238E27FC236}">
                <a16:creationId xmlns:a16="http://schemas.microsoft.com/office/drawing/2014/main" id="{33428ACC-71EC-4171-9527-10983BA6B4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5B19F76-33F3-4DB4-91A0-510A8FE2A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41110" y="639098"/>
            <a:ext cx="3401961" cy="34947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altLang="zh-TW" sz="5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Intro to NLP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5262B4D-3674-44E6-AC6B-FAEDB090D6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1110" y="4455621"/>
            <a:ext cx="3417990" cy="1238616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altLang="zh-TW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Chapter 6</a:t>
            </a:r>
          </a:p>
        </p:txBody>
      </p:sp>
      <p:pic>
        <p:nvPicPr>
          <p:cNvPr id="6" name="圖形 5">
            <a:extLst>
              <a:ext uri="{FF2B5EF4-FFF2-40B4-BE49-F238E27FC236}">
                <a16:creationId xmlns:a16="http://schemas.microsoft.com/office/drawing/2014/main" id="{6DE90D22-CA04-606A-EA4A-CA31A5F6355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3999" y="863087"/>
            <a:ext cx="6912217" cy="4608144"/>
          </a:xfrm>
          <a:prstGeom prst="rect">
            <a:avLst/>
          </a:prstGeom>
        </p:spPr>
      </p:pic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BA22713B-ABB6-4391-97F9-0449A2B9B6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209305" y="4294754"/>
            <a:ext cx="32004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>
            <a:extLst>
              <a:ext uri="{FF2B5EF4-FFF2-40B4-BE49-F238E27FC236}">
                <a16:creationId xmlns:a16="http://schemas.microsoft.com/office/drawing/2014/main" id="{8D4480B4-953D-41FA-9052-09AB3A026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投影片編號版面配置區 4">
            <a:extLst>
              <a:ext uri="{FF2B5EF4-FFF2-40B4-BE49-F238E27FC236}">
                <a16:creationId xmlns:a16="http://schemas.microsoft.com/office/drawing/2014/main" id="{9918F90A-E918-55A6-FF90-3163BE91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5020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D5B89B-3C48-C13B-6101-FD72A3EEB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自然語言處理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A3E7DA-E8D6-1930-B6AB-7B32C5FAD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（</a:t>
            </a:r>
            <a:r>
              <a:rPr kumimoji="1" lang="en-US" altLang="zh-TW" dirty="0"/>
              <a:t>Natural</a:t>
            </a:r>
            <a:r>
              <a:rPr kumimoji="1" lang="zh-TW" altLang="en-US" dirty="0"/>
              <a:t> </a:t>
            </a:r>
            <a:r>
              <a:rPr kumimoji="1" lang="en-US" altLang="zh-TW" dirty="0"/>
              <a:t>Language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Processing,</a:t>
            </a:r>
            <a:r>
              <a:rPr kumimoji="1" lang="zh-TW" altLang="en-US" dirty="0"/>
              <a:t> 自然語言處理）是人工智慧和語言學領域的交叉學科，研究電腦處理、理解與生成人類語言的技術。此領域探討如何處理及運用自然語言；自然語言處理包括多方面和步驟，基本有認知、理解、生成等部分。</a:t>
            </a:r>
            <a:endParaRPr kumimoji="1" lang="en-US" altLang="zh-TW" dirty="0"/>
          </a:p>
          <a:p>
            <a:r>
              <a:rPr kumimoji="1" lang="zh-TW" altLang="en-US" dirty="0"/>
              <a:t>需要注意的是，本章節僅作為自然語言處理的入門介紹。目前更先進（</a:t>
            </a:r>
            <a:r>
              <a:rPr kumimoji="1" lang="en-US" altLang="zh-TW" dirty="0"/>
              <a:t>state-of-the-art</a:t>
            </a:r>
            <a:r>
              <a:rPr kumimoji="1" lang="zh-TW" altLang="en-US" dirty="0"/>
              <a:t>）技術與方法主要使用的 </a:t>
            </a:r>
            <a:r>
              <a:rPr kumimoji="1" lang="en-US" altLang="zh-TW" dirty="0"/>
              <a:t>Transformer</a:t>
            </a:r>
            <a:r>
              <a:rPr kumimoji="1" lang="zh-TW" altLang="en-US" dirty="0"/>
              <a:t>，將於其他課程中另行深入探討，以避免篇幅過於龐大。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D5EB29-12DE-0E93-5E9D-D124321E9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678C639-C544-06FA-E23A-C18511D5C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8524863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A4C309-9998-9E49-A731-3573947FD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自然語言處理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A86278-F39D-FB3B-E976-4C05C09EC1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雖然本章節所介紹的技術與演算法多屬於「過去」的方法，且在現今已被更新的技術所取代，但它們仍經常出現在許多論文與既有的程式碼中，因此有必要加以介紹。</a:t>
            </a:r>
            <a:endParaRPr kumimoji="1" lang="en-US" altLang="zh-TW" dirty="0"/>
          </a:p>
          <a:p>
            <a:r>
              <a:rPr kumimoji="1" lang="zh-TW" altLang="en-US" dirty="0"/>
              <a:t>不過，由於這些方法已非當前的最先進技術，本課程將以「概念性理解」為主。至於更深入的演算法細節與各項延伸內容，建議有興趣的同學閱讀相關論文進一步探究！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EDF4D2-B587-E680-4520-7AF2C95B8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1F194C-66BC-E58F-B4D1-F6B58ADFE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5493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64097-F89E-166A-B2B2-92EDC82F6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的特性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1E6A1F-9753-68BC-0F78-9689057B9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72680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自然語言處理之所以困難，在於人類語言本身具有高度的</a:t>
            </a:r>
            <a:r>
              <a:rPr kumimoji="1" lang="zh-TW" altLang="en-US" b="1" dirty="0"/>
              <a:t>複雜性與模糊性</a:t>
            </a:r>
            <a:r>
              <a:rPr kumimoji="1" lang="zh-TW" altLang="en-US" dirty="0"/>
              <a:t>。同一句話在不同語境下可能有截然不同的意思，詞語也常帶有多重含義，甚至包含隱喻、諷刺或文化背景等深層訊息。</a:t>
            </a:r>
            <a:endParaRPr kumimoji="1" lang="en-US" altLang="zh-TW" dirty="0"/>
          </a:p>
          <a:p>
            <a:r>
              <a:rPr kumimoji="1" lang="zh-TW" altLang="en-US" dirty="0"/>
              <a:t>此外，語言結構、語法在不同語言之間差異甚大，口語與書面語之間也存在落差，使得電腦難以用單一規則全面處理。再加上語言會隨時間演變、新詞不斷出現，這些因素都使得自然語言處理成為一個極具挑戰性的研究領域。</a:t>
            </a:r>
            <a:endParaRPr kumimoji="1" lang="en-US" altLang="zh-TW" dirty="0"/>
          </a:p>
          <a:p>
            <a:r>
              <a:rPr kumimoji="1" lang="zh-TW" altLang="en-US" dirty="0"/>
              <a:t>目前電腦處理語言的主要方式，是先將文字轉換為數值向量表示，再對這些向量進行分析，或輸入深度學習模型中進行訓練與推論。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BBF996-6D6D-0F1F-AF84-5D420784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4814F69-8E57-A72A-0F08-0C37893B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791752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48E19A-D0E0-DE95-4087-640F7743D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的特性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BA57687-13AE-9165-5832-A23A5883F8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文字轉換為數值向量表示的方法：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Bag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Words,</a:t>
            </a:r>
            <a:r>
              <a:rPr kumimoji="1" lang="zh-TW" altLang="en-US" dirty="0"/>
              <a:t> </a:t>
            </a:r>
            <a:r>
              <a:rPr kumimoji="1" lang="en-US" altLang="zh-TW" dirty="0"/>
              <a:t>TF-IDF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Word2Vec,</a:t>
            </a:r>
            <a:r>
              <a:rPr kumimoji="1" lang="zh-TW" altLang="en-US" dirty="0"/>
              <a:t> </a:t>
            </a:r>
            <a:r>
              <a:rPr kumimoji="1" lang="en-US" altLang="zh-TW" dirty="0"/>
              <a:t>Glove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Embedding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DEBA0A-88E8-7A1A-160F-90D80F8FEF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5B9491A-A481-FF6A-3049-C8519FC82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53774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3DAB33D-7AF9-3FDD-F272-646F6EED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kumimoji="1" lang="en-US" altLang="zh-TW" sz="4000" dirty="0">
                <a:solidFill>
                  <a:srgbClr val="FFFFFF"/>
                </a:solidFill>
              </a:rPr>
              <a:t>Bag</a:t>
            </a:r>
            <a:r>
              <a:rPr kumimoji="1" lang="zh-TW" altLang="en-US" sz="4000" dirty="0">
                <a:solidFill>
                  <a:srgbClr val="FFFFFF"/>
                </a:solidFill>
              </a:rPr>
              <a:t> </a:t>
            </a:r>
            <a:r>
              <a:rPr kumimoji="1" lang="en-US" altLang="zh-TW" sz="4000" dirty="0">
                <a:solidFill>
                  <a:srgbClr val="FFFFFF"/>
                </a:solidFill>
              </a:rPr>
              <a:t>of</a:t>
            </a:r>
            <a:r>
              <a:rPr kumimoji="1" lang="zh-TW" altLang="en-US" sz="4000" dirty="0">
                <a:solidFill>
                  <a:srgbClr val="FFFFFF"/>
                </a:solidFill>
              </a:rPr>
              <a:t> </a:t>
            </a:r>
            <a:r>
              <a:rPr kumimoji="1" lang="en-US" altLang="zh-TW" sz="4000" dirty="0">
                <a:solidFill>
                  <a:srgbClr val="FFFFFF"/>
                </a:solidFill>
              </a:rPr>
              <a:t>Words</a:t>
            </a:r>
            <a:endParaRPr kumimoji="1" lang="zh-TW" altLang="en-US" sz="4000" dirty="0">
              <a:solidFill>
                <a:srgbClr val="FFFFFF"/>
              </a:solidFill>
            </a:endParaRP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968C624-CEC6-87E6-53CA-9AC41FC8F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068" y="2799654"/>
            <a:ext cx="3334146" cy="3189665"/>
          </a:xfrm>
        </p:spPr>
        <p:txBody>
          <a:bodyPr>
            <a:normAutofit lnSpcReduction="10000"/>
          </a:bodyPr>
          <a:lstStyle/>
          <a:p>
            <a:r>
              <a:rPr kumimoji="1" lang="en-US" altLang="zh-TW" dirty="0">
                <a:solidFill>
                  <a:srgbClr val="FFFFFF"/>
                </a:solidFill>
              </a:rPr>
              <a:t>Bag of Words</a:t>
            </a:r>
            <a:r>
              <a:rPr kumimoji="1" lang="zh-TW" altLang="en-US" dirty="0">
                <a:solidFill>
                  <a:srgbClr val="FFFFFF"/>
                </a:solidFill>
              </a:rPr>
              <a:t>（詞袋模型</a:t>
            </a:r>
            <a:r>
              <a:rPr kumimoji="1" lang="en-US" altLang="zh-TW" dirty="0">
                <a:solidFill>
                  <a:srgbClr val="FFFFFF"/>
                </a:solidFill>
              </a:rPr>
              <a:t>,</a:t>
            </a:r>
            <a:r>
              <a:rPr kumimoji="1" lang="zh-TW" altLang="en-US" dirty="0">
                <a:solidFill>
                  <a:srgbClr val="FFFFFF"/>
                </a:solidFill>
              </a:rPr>
              <a:t> </a:t>
            </a:r>
            <a:r>
              <a:rPr kumimoji="1" lang="en-US" altLang="zh-TW" dirty="0">
                <a:solidFill>
                  <a:srgbClr val="FFFFFF"/>
                </a:solidFill>
              </a:rPr>
              <a:t>BOW</a:t>
            </a:r>
            <a:r>
              <a:rPr kumimoji="1" lang="zh-TW" altLang="en-US" dirty="0">
                <a:solidFill>
                  <a:srgbClr val="FFFFFF"/>
                </a:solidFill>
              </a:rPr>
              <a:t>）是一種將文字轉換為數值表示的基本方法。</a:t>
            </a:r>
            <a:endParaRPr kumimoji="1" lang="en-US" altLang="zh-TW" dirty="0">
              <a:solidFill>
                <a:srgbClr val="FFFFFF"/>
              </a:solidFill>
            </a:endParaRPr>
          </a:p>
          <a:p>
            <a:r>
              <a:rPr kumimoji="1" lang="zh-TW" altLang="en-US" dirty="0">
                <a:solidFill>
                  <a:srgbClr val="FFFFFF"/>
                </a:solidFill>
              </a:rPr>
              <a:t>它的做法很簡單，就是將文字的順序性完全忽略，將所有單字裝成「一袋」。</a:t>
            </a:r>
            <a:endParaRPr kumimoji="1" lang="en-US" altLang="zh-TW" dirty="0">
              <a:solidFill>
                <a:srgbClr val="FFFFFF"/>
              </a:solidFill>
            </a:endParaRPr>
          </a:p>
        </p:txBody>
      </p:sp>
      <p:pic>
        <p:nvPicPr>
          <p:cNvPr id="1026" name="Picture 2" descr="404 image">
            <a:extLst>
              <a:ext uri="{FF2B5EF4-FFF2-40B4-BE49-F238E27FC236}">
                <a16:creationId xmlns:a16="http://schemas.microsoft.com/office/drawing/2014/main" id="{D4EBEEE6-7175-681E-AB9C-CF8EA6DA15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42017" y="1627509"/>
            <a:ext cx="6798082" cy="360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67C2CFB-AC98-C619-92BD-E4A8904C9D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752" y="6446838"/>
            <a:ext cx="3005462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altLang="zh-TW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9302C8-C040-1419-A719-4189B235B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Learning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09482DB-1765-E7E2-FEB7-338B9EA530CB}"/>
              </a:ext>
            </a:extLst>
          </p:cNvPr>
          <p:cNvSpPr txBox="1"/>
          <p:nvPr/>
        </p:nvSpPr>
        <p:spPr>
          <a:xfrm>
            <a:off x="6096000" y="5619987"/>
            <a:ext cx="6064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>
                <a:hlinkClick r:id="rId3"/>
              </a:rPr>
              <a:t>https://bait509-ubc.github.io/BAIT509/lectures/lecture5.html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5744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6D6C2A-24AF-B970-4B02-4B6698FEFE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5400" dirty="0">
                <a:solidFill>
                  <a:schemeClr val="tx1"/>
                </a:solidFill>
              </a:rPr>
              <a:t>Bag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of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Words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D44048B-B0DC-1D1E-8F39-46E30342C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做法其實很簡單：先蒐集所有需要轉換成向量的文本，統計其中出現過的所有單字，並為每個單字建立對應的向量位置。接著，就可以將每一段文字轉換成對應的向量表示。</a:t>
            </a:r>
            <a:endParaRPr kumimoji="1" lang="en-US" altLang="zh-TW" dirty="0"/>
          </a:p>
          <a:p>
            <a:r>
              <a:rPr kumimoji="1" lang="zh-TW" altLang="en-US" dirty="0"/>
              <a:t>例如，我們有兩段文字需要轉成向量：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John likes to watch movies. Mary likes movies too.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John also likes to watch baseball games.</a:t>
            </a:r>
          </a:p>
          <a:p>
            <a:pPr marL="0" indent="0">
              <a:buNone/>
            </a:pPr>
            <a:r>
              <a:rPr kumimoji="1" lang="zh-TW" altLang="en-US" dirty="0"/>
              <a:t>基於以上兩段文字，我們可以建構出此清單：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14F0DC-9E30-9186-8C4D-1DB02F3D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3B6FF0-B0C7-B779-DF48-CED6E169F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5336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5409D6-5D91-1963-624A-26E149B7A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Bag</a:t>
            </a:r>
            <a:r>
              <a:rPr kumimoji="1" lang="zh-TW" altLang="en-US" sz="4800" dirty="0">
                <a:solidFill>
                  <a:schemeClr val="tx1"/>
                </a:solidFill>
              </a:rPr>
              <a:t> </a:t>
            </a:r>
            <a:r>
              <a:rPr kumimoji="1" lang="en-US" altLang="zh-TW" sz="4800" dirty="0">
                <a:solidFill>
                  <a:schemeClr val="tx1"/>
                </a:solidFill>
              </a:rPr>
              <a:t>of</a:t>
            </a:r>
            <a:r>
              <a:rPr kumimoji="1" lang="zh-TW" altLang="en-US" sz="4800" dirty="0">
                <a:solidFill>
                  <a:schemeClr val="tx1"/>
                </a:solidFill>
              </a:rPr>
              <a:t> </a:t>
            </a:r>
            <a:r>
              <a:rPr kumimoji="1" lang="en-US" altLang="zh-TW" sz="4800" dirty="0">
                <a:solidFill>
                  <a:schemeClr val="tx1"/>
                </a:solidFill>
              </a:rPr>
              <a:t>Words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63E52F-6E98-CCA4-C1B3-D342ED90E3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734" y="2108201"/>
            <a:ext cx="11100122" cy="4176852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["John","likes","to","watch","movies","also",”baseball","games","Mary","too"]</a:t>
            </a:r>
          </a:p>
          <a:p>
            <a:r>
              <a:rPr lang="zh-TW" altLang="en-US" dirty="0"/>
              <a:t>此處共有 </a:t>
            </a:r>
            <a:r>
              <a:rPr lang="en-US" altLang="zh-TW" dirty="0"/>
              <a:t>10</a:t>
            </a:r>
            <a:r>
              <a:rPr lang="zh-TW" altLang="en-US" dirty="0"/>
              <a:t> 個不同的詞，所以每段文字可以被轉換成一個 </a:t>
            </a:r>
            <a:r>
              <a:rPr lang="en-US" altLang="zh-TW" dirty="0"/>
              <a:t>10</a:t>
            </a:r>
            <a:r>
              <a:rPr lang="zh-TW" altLang="en-US" dirty="0"/>
              <a:t> 維的向量。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en-US" altLang="zh-TW" dirty="0"/>
              <a:t>[1, 2, 1, 1, 2, 0, 0, 0, 1, 1]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[1, 1, 1, 1, 0, 1, 1, 1, 0, 0]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等等，</a:t>
            </a:r>
            <a:r>
              <a:rPr kumimoji="1" lang="en-US" altLang="zh-TW" sz="1800" dirty="0"/>
              <a:t>Bag of Words </a:t>
            </a:r>
            <a:r>
              <a:rPr kumimoji="1" lang="zh-TW" altLang="en-US" sz="1800" dirty="0"/>
              <a:t>有明顯的缺點。人類語言是有順序的，完全忽略順序怎麼可以呢？我們都知道「不，我喜歡你」和「我不喜歡你」的意思完全不同，但在 </a:t>
            </a:r>
            <a:r>
              <a:rPr kumimoji="1" lang="en-US" altLang="zh-TW" sz="1800" dirty="0"/>
              <a:t>Bag of Words </a:t>
            </a:r>
            <a:r>
              <a:rPr kumimoji="1" lang="zh-TW" altLang="en-US" sz="1800" dirty="0"/>
              <a:t>裡，它們會被轉成一模一樣的向量。這當然是一個缺點，看起來也確實很致命。不過事實上，在許多現實任務中，</a:t>
            </a:r>
            <a:r>
              <a:rPr kumimoji="1" lang="en-US" altLang="zh-TW" sz="1800" dirty="0"/>
              <a:t>Bag of Words </a:t>
            </a:r>
            <a:r>
              <a:rPr kumimoji="1" lang="zh-TW" altLang="en-US" sz="1800" dirty="0"/>
              <a:t>即使有這個重大缺陷，仍然能表現得很好，例如垃圾郵件分類。</a:t>
            </a:r>
            <a:endParaRPr kumimoji="1" lang="en-US" altLang="zh-TW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61C1166-DD8F-526A-FD18-F86552EA2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693B5A3-7B02-8CD1-0C00-0096FB50F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392651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0C33-C621-90A4-4FE7-5439AA4CB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5400" dirty="0">
                <a:solidFill>
                  <a:schemeClr val="tx1"/>
                </a:solidFill>
              </a:rPr>
              <a:t>Bag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of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Words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EAA842-6B94-6D74-651B-096E570304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zh-TW" altLang="en-US" sz="1800" dirty="0"/>
                  <a:t>*</a:t>
                </a:r>
                <a:r>
                  <a:rPr kumimoji="1" lang="en-US" altLang="zh-TW" sz="1800" dirty="0"/>
                  <a:t>.</a:t>
                </a:r>
                <a:r>
                  <a:rPr kumimoji="1" lang="zh-TW" altLang="en-US" sz="1800" dirty="0"/>
                  <a:t> 對於已經學過機器學習的同學，可以注意到 </a:t>
                </a:r>
                <a:r>
                  <a:rPr kumimoji="1" lang="en-US" altLang="zh-TW" sz="1800" dirty="0"/>
                  <a:t>Naive Bayes Classifier</a:t>
                </a:r>
                <a:r>
                  <a:rPr kumimoji="1" lang="zh-TW" altLang="en-US" sz="1800" dirty="0"/>
                  <a:t> 其實使用了 </a:t>
                </a:r>
                <a:r>
                  <a:rPr kumimoji="1" lang="en-US" altLang="zh-TW" sz="1800" dirty="0"/>
                  <a:t>Bag of Words </a:t>
                </a:r>
                <a:r>
                  <a:rPr kumimoji="1" lang="zh-TW" altLang="en-US" sz="1800" dirty="0"/>
                  <a:t>模型，因為它只根據詞的出現與否或出現次數來計算機率：</a:t>
                </a:r>
                <a:endParaRPr kumimoji="1" lang="en-US" altLang="zh-TW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𝑎𝑟𝑔</m:t>
                          </m:r>
                          <m:limLow>
                            <m:limLowPr>
                              <m:ctrlP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TW" sz="18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lim>
                          </m:limLow>
                        </m:fName>
                        <m:e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nary>
                        <m:naryPr>
                          <m:chr m:val="∏"/>
                          <m:ctrlP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kumimoji="1" lang="en-US" altLang="zh-TW" sz="1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kumimoji="1" lang="en-US" altLang="zh-TW" sz="1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kumimoji="1" lang="en-US" altLang="zh-TW" sz="18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TW" sz="1800" dirty="0"/>
              </a:p>
              <a:p>
                <a:r>
                  <a:rPr kumimoji="1" lang="zh-TW" altLang="en-US" sz="1800" dirty="0"/>
                  <a:t>而不考慮詞與詞之間的順序與關聯性。</a:t>
                </a:r>
                <a:endParaRPr kumimoji="1" lang="en-US" altLang="zh-TW" sz="1800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9EAA842-6B94-6D74-651B-096E570304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04" t="-7744" r="-151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6AD0E2-98C2-1754-2C4F-6BCC7D149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A2EDB5-BED1-234B-5026-22001ACE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747564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333C63-84B2-A0EF-D8BB-77CCE01E4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4800" dirty="0">
                <a:solidFill>
                  <a:schemeClr val="tx1"/>
                </a:solidFill>
              </a:rPr>
              <a:t>Bag</a:t>
            </a:r>
            <a:r>
              <a:rPr kumimoji="1" lang="zh-TW" altLang="en-US" sz="4800" dirty="0">
                <a:solidFill>
                  <a:schemeClr val="tx1"/>
                </a:solidFill>
              </a:rPr>
              <a:t> </a:t>
            </a:r>
            <a:r>
              <a:rPr kumimoji="1" lang="en-US" altLang="zh-TW" sz="4800" dirty="0">
                <a:solidFill>
                  <a:schemeClr val="tx1"/>
                </a:solidFill>
              </a:rPr>
              <a:t>of</a:t>
            </a:r>
            <a:r>
              <a:rPr kumimoji="1" lang="zh-TW" altLang="en-US" sz="4800" dirty="0">
                <a:solidFill>
                  <a:schemeClr val="tx1"/>
                </a:solidFill>
              </a:rPr>
              <a:t> </a:t>
            </a:r>
            <a:r>
              <a:rPr kumimoji="1" lang="en-US" altLang="zh-TW" sz="4800" dirty="0">
                <a:solidFill>
                  <a:schemeClr val="tx1"/>
                </a:solidFill>
              </a:rPr>
              <a:t>Words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70509A-740A-3311-9EA5-F1B78D9A48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67" y="2108201"/>
            <a:ext cx="11644131" cy="4084255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另外，在進行數值向量轉換之前，</a:t>
            </a:r>
            <a:r>
              <a:rPr kumimoji="1" lang="en-US" altLang="zh-TW" dirty="0">
                <a:solidFill>
                  <a:schemeClr val="tx1"/>
                </a:solidFill>
              </a:rPr>
              <a:t>Bag</a:t>
            </a:r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r>
              <a:rPr kumimoji="1" lang="en-US" altLang="zh-TW" dirty="0">
                <a:solidFill>
                  <a:schemeClr val="tx1"/>
                </a:solidFill>
              </a:rPr>
              <a:t>of</a:t>
            </a:r>
            <a:r>
              <a:rPr kumimoji="1" lang="zh-TW" altLang="en-US" dirty="0">
                <a:solidFill>
                  <a:schemeClr val="tx1"/>
                </a:solidFill>
              </a:rPr>
              <a:t> </a:t>
            </a:r>
            <a:r>
              <a:rPr kumimoji="1" lang="en-US" altLang="zh-TW" dirty="0">
                <a:solidFill>
                  <a:schemeClr val="tx1"/>
                </a:solidFill>
              </a:rPr>
              <a:t>Words</a:t>
            </a:r>
            <a:r>
              <a:rPr kumimoji="1" lang="zh-TW" altLang="en-US" dirty="0">
                <a:solidFill>
                  <a:schemeClr val="tx1"/>
                </a:solidFill>
              </a:rPr>
              <a:t> 通常會先執行以下步驟：</a:t>
            </a:r>
            <a:endParaRPr kumimoji="1" lang="en-US" altLang="zh-TW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Tokenization</a:t>
            </a:r>
            <a:r>
              <a:rPr kumimoji="1" lang="zh-TW" altLang="en-US" dirty="0"/>
              <a:t>（斷詞／分詞）：先將原始文本切分成較小單位（如單字）。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Preprocessing</a:t>
            </a:r>
            <a:r>
              <a:rPr kumimoji="1" lang="zh-TW" altLang="en-US" dirty="0"/>
              <a:t>（預處理）：對分詞後的結果進行清理與標準化。常見的有：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轉小寫（</a:t>
            </a:r>
            <a:r>
              <a:rPr kumimoji="1" lang="en-US" altLang="zh-TW" dirty="0"/>
              <a:t>lowercasing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去除標點符號、數字或特殊符號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詞幹提取（</a:t>
            </a:r>
            <a:r>
              <a:rPr kumimoji="1" lang="en-US" altLang="zh-TW" dirty="0"/>
              <a:t>stemming</a:t>
            </a:r>
            <a:r>
              <a:rPr kumimoji="1" lang="zh-TW" altLang="en-US" dirty="0"/>
              <a:t>）或詞形還原（</a:t>
            </a:r>
            <a:r>
              <a:rPr kumimoji="1" lang="en-US" altLang="zh-TW" dirty="0"/>
              <a:t>lemmatization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932688" lvl="2" indent="-457200">
              <a:buFont typeface="Wingdings" pitchFamily="2" charset="2"/>
              <a:buChar char="l"/>
            </a:pPr>
            <a:r>
              <a:rPr kumimoji="1" lang="en-US" altLang="zh-TW" dirty="0"/>
              <a:t>Stemming</a:t>
            </a:r>
            <a:r>
              <a:rPr kumimoji="1" lang="zh-TW" altLang="en-US" dirty="0"/>
              <a:t> 是指透過簡單的規則，把詞語削減到詞幹（</a:t>
            </a:r>
            <a:r>
              <a:rPr kumimoji="1" lang="en-US" altLang="zh-TW" dirty="0"/>
              <a:t>stem</a:t>
            </a:r>
            <a:r>
              <a:rPr kumimoji="1" lang="zh-TW" altLang="en-US" dirty="0"/>
              <a:t>），通常不一定是真正的詞形。例如：</a:t>
            </a:r>
            <a:r>
              <a:rPr kumimoji="1" lang="en-US" altLang="zh-TW" dirty="0"/>
              <a:t>amusing</a:t>
            </a:r>
            <a:r>
              <a:rPr kumimoji="1" lang="zh-TW" altLang="en-US" dirty="0"/>
              <a:t> 可以去除 </a:t>
            </a:r>
            <a:r>
              <a:rPr kumimoji="1" lang="en-US" altLang="zh-TW" dirty="0" err="1"/>
              <a:t>ing</a:t>
            </a:r>
            <a:r>
              <a:rPr kumimoji="1" lang="zh-TW" altLang="en-US" dirty="0"/>
              <a:t>，讓它變為 </a:t>
            </a:r>
            <a:r>
              <a:rPr kumimoji="1" lang="en-US" altLang="zh-TW" dirty="0" err="1"/>
              <a:t>amus</a:t>
            </a:r>
            <a:r>
              <a:rPr kumimoji="1" lang="zh-TW" altLang="en-US" dirty="0"/>
              <a:t>。優點是速度，但缺點是可能造成過度簡化或生成一個非字典詞。</a:t>
            </a:r>
            <a:endParaRPr kumimoji="1" lang="en-US" altLang="zh-TW" dirty="0"/>
          </a:p>
          <a:p>
            <a:pPr marL="932688" lvl="2" indent="-457200">
              <a:buFont typeface="Wingdings" pitchFamily="2" charset="2"/>
              <a:buChar char="l"/>
            </a:pPr>
            <a:r>
              <a:rPr kumimoji="1" lang="en-US" altLang="zh-TW" dirty="0"/>
              <a:t>Lemmatization</a:t>
            </a:r>
            <a:r>
              <a:rPr kumimoji="1" lang="zh-TW" altLang="en-US" dirty="0"/>
              <a:t> 是指利用詞典與語法資訊，把詞還原成正確的基本形式（</a:t>
            </a:r>
            <a:r>
              <a:rPr kumimoji="1" lang="en-US" altLang="zh-TW" dirty="0"/>
              <a:t>lemma</a:t>
            </a:r>
            <a:r>
              <a:rPr kumimoji="1" lang="zh-TW" altLang="en-US" dirty="0"/>
              <a:t>）。例如：</a:t>
            </a:r>
            <a:r>
              <a:rPr kumimoji="1" lang="en-US" altLang="zh-TW" dirty="0"/>
              <a:t>amusing</a:t>
            </a:r>
            <a:r>
              <a:rPr kumimoji="1" lang="zh-TW" altLang="en-US" dirty="0"/>
              <a:t> 可以變回 </a:t>
            </a:r>
            <a:r>
              <a:rPr kumimoji="1" lang="en-US" altLang="zh-TW" dirty="0"/>
              <a:t>amuse</a:t>
            </a:r>
            <a:r>
              <a:rPr kumimoji="1" lang="zh-TW" altLang="en-US" dirty="0"/>
              <a:t>。優點是還原精確、保留語意，但缺點：需要詞典參照，計算量較大。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E1BC30-E6A7-7939-B65C-C9C7AE80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69A81FD-AEB1-9A61-3DE1-ED6A0BF85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12225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FCA900-9376-86B7-4E73-1E60C01F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sz="5400" dirty="0">
                <a:solidFill>
                  <a:schemeClr val="tx1"/>
                </a:solidFill>
              </a:rPr>
              <a:t>Bag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of</a:t>
            </a:r>
            <a:r>
              <a:rPr kumimoji="1" lang="zh-TW" altLang="en-US" sz="5400" dirty="0">
                <a:solidFill>
                  <a:schemeClr val="tx1"/>
                </a:solidFill>
              </a:rPr>
              <a:t> </a:t>
            </a:r>
            <a:r>
              <a:rPr kumimoji="1" lang="en-US" altLang="zh-TW" sz="5400" dirty="0">
                <a:solidFill>
                  <a:schemeClr val="tx1"/>
                </a:solidFill>
              </a:rPr>
              <a:t>Words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187137-9ABA-87ED-6699-82AE27E8D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kumimoji="1" lang="en-US" altLang="zh-TW" dirty="0"/>
              <a:t>Stop Word Removal</a:t>
            </a:r>
            <a:r>
              <a:rPr kumimoji="1" lang="zh-TW" altLang="en-US" dirty="0"/>
              <a:t>（停用詞移除）：在完成基本清理後，移除常見但資訊量較低的詞（如「的」、「是」、「</a:t>
            </a:r>
            <a:r>
              <a:rPr kumimoji="1" lang="en-US" altLang="zh-TW" dirty="0"/>
              <a:t>and</a:t>
            </a:r>
            <a:r>
              <a:rPr kumimoji="1" lang="zh-TW" altLang="en-US" dirty="0"/>
              <a:t>」、「</a:t>
            </a:r>
            <a:r>
              <a:rPr kumimoji="1" lang="en-US" altLang="zh-TW" dirty="0"/>
              <a:t>the</a:t>
            </a:r>
            <a:r>
              <a:rPr kumimoji="1" lang="zh-TW" altLang="en-US" dirty="0"/>
              <a:t>」等）。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以上步驟都完成後，才會統計字詞出現的次數然後生成向量。</a:t>
            </a:r>
            <a:br>
              <a:rPr kumimoji="1" lang="en-US" altLang="zh-TW" dirty="0"/>
            </a:br>
            <a:br>
              <a:rPr kumimoji="1" lang="en-US" altLang="zh-TW" dirty="0"/>
            </a:br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Chapter_6_Embedding.ipynb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CC7513-A4FB-19DC-A872-15C0D391C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A76366-97F7-1D5F-FADE-58C7BE840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95661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2989BF-2B1C-F42E-D18F-8EB6B9C6B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C42DCF-8AA3-A93C-AD60-28E17CDA7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對於單一文本而言，某個詞彙出現的次數越多，通常表示該詞彙對該文本越重要。然而，如果某個詞彙幾乎在所有文本中都出現，則說明該詞彙的重要性其實並不高。基於這樣的觀點，研究人員提出了使用 </a:t>
            </a:r>
            <a:r>
              <a:rPr kumimoji="1" lang="en-US" altLang="zh-TW" dirty="0"/>
              <a:t>TF-IDF </a:t>
            </a:r>
            <a:r>
              <a:rPr kumimoji="1" lang="zh-TW" altLang="en-US" dirty="0"/>
              <a:t>方法來取代（或改進） </a:t>
            </a:r>
            <a:r>
              <a:rPr kumimoji="1" lang="en-US" altLang="zh-TW" dirty="0" err="1"/>
              <a:t>CountVectorizer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TF-IDF</a:t>
            </a:r>
            <a:r>
              <a:rPr kumimoji="1" lang="zh-TW" altLang="en-US" dirty="0"/>
              <a:t> 計算過程包含了以下兩者：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該詞彙在單一文本中的頻率（詞頻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TF,</a:t>
            </a:r>
            <a:r>
              <a:rPr kumimoji="1" lang="zh-TW" altLang="en-US" dirty="0"/>
              <a:t> </a:t>
            </a:r>
            <a:r>
              <a:rPr kumimoji="1" lang="en-US" altLang="zh-TW" dirty="0"/>
              <a:t>Term</a:t>
            </a:r>
            <a:r>
              <a:rPr kumimoji="1" lang="zh-TW" altLang="en-US" dirty="0"/>
              <a:t> </a:t>
            </a:r>
            <a:r>
              <a:rPr kumimoji="1" lang="en-US" altLang="zh-TW" dirty="0"/>
              <a:t>Frequency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該詞彙在整個文件集合中的稀有性（逆文件頻率</a:t>
            </a:r>
            <a:r>
              <a:rPr kumimoji="1" lang="en-US" altLang="zh-TW" dirty="0"/>
              <a:t>,</a:t>
            </a:r>
            <a:r>
              <a:rPr kumimoji="1" lang="zh-TW" altLang="en-US" dirty="0"/>
              <a:t> </a:t>
            </a:r>
            <a:r>
              <a:rPr kumimoji="1" lang="en-US" altLang="zh-TW" dirty="0"/>
              <a:t>IDF,</a:t>
            </a:r>
            <a:r>
              <a:rPr kumimoji="1" lang="zh-TW" altLang="en-US" dirty="0"/>
              <a:t> </a:t>
            </a:r>
            <a:r>
              <a:rPr kumimoji="1" lang="en-US" altLang="zh-TW" dirty="0"/>
              <a:t>Inverse</a:t>
            </a:r>
            <a:r>
              <a:rPr kumimoji="1" lang="zh-TW" altLang="en-US" dirty="0"/>
              <a:t> </a:t>
            </a:r>
            <a:r>
              <a:rPr kumimoji="1" lang="en-US" altLang="zh-TW" dirty="0"/>
              <a:t>Document</a:t>
            </a:r>
            <a:r>
              <a:rPr kumimoji="1" lang="zh-TW" altLang="en-US" dirty="0"/>
              <a:t> </a:t>
            </a:r>
            <a:r>
              <a:rPr kumimoji="1" lang="en-US" altLang="zh-TW" dirty="0"/>
              <a:t>Frequency</a:t>
            </a:r>
            <a:r>
              <a:rPr kumimoji="1" lang="zh-TW" altLang="en-US" dirty="0"/>
              <a:t>）。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3AE54-FE67-252F-85A2-048B4574F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0B7865-7C31-677A-A560-A6DF58BFD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65205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BDAAC-F7B2-B878-AF55-1E35F97AC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5704AF-C84A-A5ED-FE3D-88C36B522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B9F63C-4451-3578-94B8-DC68F6D8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8E8CB90-2C41-87B0-33C2-C627BA8908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12515" y="1967696"/>
                <a:ext cx="11794603" cy="4375231"/>
              </a:xfrm>
            </p:spPr>
            <p:txBody>
              <a:bodyPr>
                <a:normAutofit lnSpcReduction="10000"/>
              </a:bodyPr>
              <a:lstStyle/>
              <a:p>
                <a:pPr>
                  <a:buFont typeface="Wingdings" pitchFamily="2" charset="2"/>
                  <a:buChar char="l"/>
                </a:pPr>
                <a:r>
                  <a:rPr kumimoji="1" lang="en-US" altLang="zh-TW" dirty="0"/>
                  <a:t>TF</a:t>
                </a:r>
                <a:r>
                  <a:rPr kumimoji="1" lang="zh-TW" altLang="en-US" dirty="0"/>
                  <a:t>：表示詞語 </a:t>
                </a:r>
                <a:r>
                  <a:rPr kumimoji="1" lang="en-US" altLang="zh-TW" dirty="0"/>
                  <a:t>t</a:t>
                </a:r>
                <a:r>
                  <a:rPr kumimoji="1" lang="zh-TW" altLang="en-US" dirty="0"/>
                  <a:t> 在文本 </a:t>
                </a:r>
                <a:r>
                  <a:rPr kumimoji="1" lang="en-US" altLang="zh-TW" dirty="0"/>
                  <a:t>d</a:t>
                </a:r>
                <a:r>
                  <a:rPr kumimoji="1" lang="zh-TW" altLang="en-US" dirty="0"/>
                  <a:t> 中的出現頻率，計算公式為：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𝑡𝑓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在</m:t>
                        </m:r>
                        <m:r>
                          <a:rPr kumimoji="1"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中</m:t>
                        </m:r>
                        <m:r>
                          <a:rPr kumimoji="1" lang="zh-TW" altLang="en-US" i="1" smtClean="0">
                            <a:latin typeface="Cambria Math" panose="02040503050406030204" pitchFamily="18" charset="0"/>
                          </a:rPr>
                          <m:t>出現的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次數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kumimoji="1" lang="zh-TW" alt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中</m:t>
                        </m:r>
                        <m:r>
                          <a:rPr kumimoji="1" lang="zh-TW" altLang="en-US" i="1" smtClean="0">
                            <a:latin typeface="Cambria Math" panose="02040503050406030204" pitchFamily="18" charset="0"/>
                          </a:rPr>
                          <m:t>詞語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的</m:t>
                        </m:r>
                        <m:r>
                          <a:rPr kumimoji="1" lang="zh-TW" altLang="en-US" i="1" smtClean="0">
                            <a:latin typeface="Cambria Math" panose="02040503050406030204" pitchFamily="18" charset="0"/>
                          </a:rPr>
                          <m:t>總數</m:t>
                        </m:r>
                      </m:den>
                    </m:f>
                  </m:oMath>
                </a14:m>
                <a:endParaRPr kumimoji="1" lang="en-US" altLang="zh-TW" dirty="0"/>
              </a:p>
              <a:p>
                <a:pPr>
                  <a:buFont typeface="Wingdings" pitchFamily="2" charset="2"/>
                  <a:buChar char="l"/>
                </a:pP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IDF</a:t>
                </a:r>
                <a:r>
                  <a:rPr kumimoji="1" lang="zh-TW" altLang="en-US" dirty="0"/>
                  <a:t>：詞語在整個文件集合中出現頻率的反指標，計算公式為：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𝑖𝑑𝑓</m:t>
                    </m:r>
                    <m:d>
                      <m:d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kumimoji="1" lang="en-US" altLang="zh-TW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⁡(</m:t>
                    </m:r>
                    <m:f>
                      <m:f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𝑑𝑓</m:t>
                        </m:r>
                        <m:d>
                          <m:d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sz="2000" dirty="0"/>
                  <a:t>其中：</a:t>
                </a:r>
                <a:endParaRPr kumimoji="1" lang="en-US" altLang="zh-TW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𝑑𝑓</m:t>
                    </m:r>
                    <m:r>
                      <a:rPr kumimoji="1" lang="en-US" altLang="zh-TW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kumimoji="1" lang="en-US" altLang="zh-TW" sz="2000" i="1" dirty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sz="20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kumimoji="1" lang="zh-TW" altLang="en-US" sz="20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sz="2000" dirty="0"/>
                  <a:t>代表 </a:t>
                </a:r>
                <a:r>
                  <a:rPr kumimoji="1" lang="en-US" altLang="zh-TW" sz="2000" dirty="0"/>
                  <a:t>document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frequency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of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t</a:t>
                </a:r>
                <a:r>
                  <a:rPr kumimoji="1" lang="zh-TW" altLang="en-US" sz="2000" dirty="0"/>
                  <a:t>，也就是共有多少文件中包含詞彙 </a:t>
                </a:r>
                <a:r>
                  <a:rPr kumimoji="1" lang="en-US" altLang="zh-TW" sz="2000" dirty="0"/>
                  <a:t>t</a:t>
                </a:r>
                <a:r>
                  <a:rPr kumimoji="1" lang="zh-TW" altLang="en-US" sz="2000" dirty="0"/>
                  <a:t>。</a:t>
                </a:r>
                <a:endParaRPr kumimoji="1" lang="en-US" altLang="zh-TW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zh-TW" altLang="en-US" sz="2000" dirty="0"/>
                  <a:t> 代表所有文本的數量。</a:t>
                </a:r>
                <a:endParaRPr kumimoji="1" lang="en-US" altLang="zh-TW" sz="2000" dirty="0"/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kumimoji="1" lang="en-US" altLang="zh-TW" sz="2000" i="1" dirty="0" smtClean="0">
                        <a:latin typeface="Cambria Math" panose="02040503050406030204" pitchFamily="18" charset="0"/>
                      </a:rPr>
                      <m:t>𝑖𝑑𝑓</m:t>
                    </m:r>
                  </m:oMath>
                </a14:m>
                <a:r>
                  <a:rPr kumimoji="1" lang="zh-TW" altLang="en-US" sz="2000" dirty="0"/>
                  <a:t> 的分母加上 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 是為了避免 </a:t>
                </a:r>
                <a:r>
                  <a:rPr kumimoji="1" lang="en-US" altLang="zh-TW" sz="2000" dirty="0"/>
                  <a:t>log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1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=</a:t>
                </a:r>
                <a:r>
                  <a:rPr kumimoji="1" lang="zh-TW" altLang="en-US" sz="2000" dirty="0"/>
                  <a:t> </a:t>
                </a:r>
                <a:r>
                  <a:rPr kumimoji="1" lang="en-US" altLang="zh-TW" sz="2000" dirty="0"/>
                  <a:t>0</a:t>
                </a:r>
                <a:r>
                  <a:rPr kumimoji="1" lang="zh-TW" altLang="en-US" sz="2000" dirty="0"/>
                  <a:t> 的情況。</a:t>
                </a:r>
                <a:endParaRPr kumimoji="1" lang="en-US" altLang="zh-TW" sz="20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en-US" altLang="zh-TW" sz="2000" dirty="0"/>
                  <a:t>IDF</a:t>
                </a:r>
                <a:r>
                  <a:rPr kumimoji="1" lang="zh-TW" altLang="en-US" sz="2000" dirty="0"/>
                  <a:t> 取 </a:t>
                </a:r>
                <a:r>
                  <a:rPr kumimoji="1" lang="en-US" altLang="zh-TW" sz="2000" dirty="0"/>
                  <a:t>log</a:t>
                </a:r>
                <a:r>
                  <a:rPr kumimoji="1" lang="zh-TW" altLang="en-US" sz="2000" dirty="0"/>
                  <a:t> 是因為讓計算出的值不要太大。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zh-TW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kumimoji="1" lang="en-US" altLang="zh-TW" sz="20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=3,</m:t>
                    </m:r>
                    <m:func>
                      <m:funcPr>
                        <m:ctrlPr>
                          <a:rPr kumimoji="1"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den>
                        </m:f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2,</m:t>
                    </m:r>
                    <m:func>
                      <m:funcPr>
                        <m:ctrlPr>
                          <a:rPr kumimoji="1"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100</m:t>
                            </m:r>
                          </m:den>
                        </m:f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1,</m:t>
                    </m:r>
                    <m:r>
                      <a:rPr kumimoji="1" lang="zh-TW" alt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func>
                      <m:funcPr>
                        <m:ctrlPr>
                          <a:rPr kumimoji="1" lang="en-US" altLang="zh-TW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kumimoji="1" lang="en-US" altLang="zh-TW" sz="200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</m:fName>
                      <m:e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1000</m:t>
                            </m:r>
                          </m:num>
                          <m:den>
                            <m:r>
                              <a:rPr kumimoji="1" lang="en-US" altLang="zh-TW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kumimoji="1" lang="en-US" altLang="zh-TW" sz="2000" b="0" i="1" smtClean="0">
                                <a:latin typeface="Cambria Math" panose="02040503050406030204" pitchFamily="18" charset="0"/>
                              </a:rPr>
                              <m:t>000</m:t>
                            </m:r>
                          </m:den>
                        </m:f>
                        <m:r>
                          <a:rPr kumimoji="1" lang="en-US" altLang="zh-TW" sz="200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kumimoji="1" lang="en-US" altLang="zh-TW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kumimoji="1" lang="en-US" altLang="zh-TW" sz="2000" dirty="0"/>
              </a:p>
            </p:txBody>
          </p:sp>
        </mc:Choice>
        <mc:Fallback xmlns="">
          <p:sp>
            <p:nvSpPr>
              <p:cNvPr id="6" name="內容版面配置區 2">
                <a:extLst>
                  <a:ext uri="{FF2B5EF4-FFF2-40B4-BE49-F238E27FC236}">
                    <a16:creationId xmlns:a16="http://schemas.microsoft.com/office/drawing/2014/main" id="{A8E8CB90-2C41-87B0-33C2-C627BA8908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12515" y="1967696"/>
                <a:ext cx="11794603" cy="4375231"/>
              </a:xfrm>
              <a:blipFill>
                <a:blip r:embed="rId2"/>
                <a:stretch>
                  <a:fillRect l="-1398" t="-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112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587B2B-A336-8F2B-DDFE-CEA64767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TF-IDF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CF52AAF-C848-1F2C-34BE-45DDA81445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zh-TW" dirty="0"/>
                  <a:t>TF-IDF</a:t>
                </a:r>
                <a:r>
                  <a:rPr kumimoji="1" lang="zh-TW" altLang="en-US" dirty="0"/>
                  <a:t> 就是公式就是對於每個詞彙、文檔的組合，去計算：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𝑇𝐹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𝐼𝐷𝐹</m:t>
                      </m:r>
                      <m:d>
                        <m:dPr>
                          <m:ctrlP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TW" alt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𝑡𝑓</m:t>
                      </m:r>
                      <m:d>
                        <m:dPr>
                          <m:ctrlP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TW" altLang="en-US" i="1" dirty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TW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𝑖𝑑𝑓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kumimoji="1" lang="en-US" altLang="zh-TW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kumimoji="1" lang="zh-TW" altLang="en-US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dirty="0"/>
                  <a:t>許多情況下，透過 </a:t>
                </a:r>
                <a:r>
                  <a:rPr kumimoji="1" lang="en-US" altLang="zh-TW" dirty="0"/>
                  <a:t>TF-IDF</a:t>
                </a:r>
                <a:r>
                  <a:rPr kumimoji="1" lang="zh-TW" altLang="en-US" dirty="0"/>
                  <a:t> 製作的矩陣，用在訓練上的效果會比使用 </a:t>
                </a:r>
                <a:r>
                  <a:rPr kumimoji="1" lang="en-US" altLang="zh-TW" dirty="0" err="1"/>
                  <a:t>CountVectorizer</a:t>
                </a:r>
                <a:r>
                  <a:rPr kumimoji="1" lang="zh-TW" altLang="en-US" dirty="0"/>
                  <a:t> 的更好。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8CF52AAF-C848-1F2C-34BE-45DDA81445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92" t="-13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5B79B2-E665-5DBB-6C28-79227C4B4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C898F5B-CD24-D827-45FF-7F857BF7E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7361653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96F3BF-5927-10AB-1F5B-D9E0D663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C07BB4C-93DE-E009-F910-0183BECF9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Bag of Words</a:t>
            </a:r>
            <a:r>
              <a:rPr kumimoji="1" lang="zh-TW" altLang="en-US" dirty="0"/>
              <a:t> 和 </a:t>
            </a:r>
            <a:r>
              <a:rPr kumimoji="1" lang="en-US" altLang="zh-TW" dirty="0"/>
              <a:t>TF-IDF </a:t>
            </a:r>
            <a:r>
              <a:rPr kumimoji="1" lang="zh-TW" altLang="en-US" dirty="0"/>
              <a:t>都只是根據詞彙在文本中出現的次數來表示文字，完全忽略了詞彙的「語意」。這兩種做法完全無法捕捉詞與詞之間的關聯，例如同義詞或經常出現在相似語境的詞。</a:t>
            </a:r>
            <a:endParaRPr kumimoji="1" lang="en-US" altLang="zh-TW" dirty="0"/>
          </a:p>
          <a:p>
            <a:r>
              <a:rPr kumimoji="1" lang="zh-TW" altLang="en-US" dirty="0"/>
              <a:t>為了解決這個問題，</a:t>
            </a:r>
            <a:r>
              <a:rPr kumimoji="1" lang="en-US" altLang="zh-TW" dirty="0"/>
              <a:t>Google</a:t>
            </a:r>
            <a:r>
              <a:rPr kumimoji="1" lang="zh-TW" altLang="en-US" dirty="0"/>
              <a:t> 研發團隊的 </a:t>
            </a:r>
            <a:r>
              <a:rPr kumimoji="1" lang="en-US" altLang="zh-TW" dirty="0"/>
              <a:t>Tomas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Mikolov</a:t>
            </a:r>
            <a:r>
              <a:rPr kumimoji="1" lang="zh-TW" altLang="en-US" dirty="0"/>
              <a:t> 等人於 </a:t>
            </a:r>
            <a:r>
              <a:rPr kumimoji="1" lang="en-US" altLang="zh-TW" dirty="0"/>
              <a:t>2013</a:t>
            </a:r>
            <a:r>
              <a:rPr kumimoji="1" lang="zh-TW" altLang="en-US" dirty="0"/>
              <a:t> 年提出了 </a:t>
            </a:r>
            <a:r>
              <a:rPr kumimoji="1" lang="en-US" altLang="zh-TW" dirty="0"/>
              <a:t>Word2Vec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Word2Vec </a:t>
            </a:r>
            <a:r>
              <a:rPr kumimoji="1" lang="zh-TW" altLang="en-US" dirty="0"/>
              <a:t>是一種基於神經網路的 </a:t>
            </a:r>
            <a:r>
              <a:rPr kumimoji="1" lang="en-US" altLang="zh-TW" dirty="0"/>
              <a:t>Word</a:t>
            </a:r>
            <a:r>
              <a:rPr kumimoji="1" lang="zh-TW" altLang="en-US" dirty="0"/>
              <a:t> </a:t>
            </a:r>
            <a:r>
              <a:rPr kumimoji="1" lang="en-US" altLang="zh-TW" dirty="0"/>
              <a:t>Embedding</a:t>
            </a:r>
            <a:r>
              <a:rPr kumimoji="1" lang="zh-TW" altLang="en-US" dirty="0"/>
              <a:t> 模型，能將每個詞轉換成密集向量（</a:t>
            </a:r>
            <a:r>
              <a:rPr kumimoji="1" lang="en-US" altLang="zh-TW" dirty="0"/>
              <a:t>dense vector</a:t>
            </a:r>
            <a:r>
              <a:rPr kumimoji="1" lang="zh-TW" altLang="en-US" dirty="0"/>
              <a:t>）。在向量空間中，語義相近的詞會靠得很近。例如，「國王」和「王后」、「狗」和「小狗」的向量會互相接近。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302030-44D7-C5AD-9809-FE4AE7F21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517723-BFBD-7870-CB61-D2481E81A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56572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9690B5-D5FB-8AE7-CA59-8E10B2838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D468FD-C17E-61EC-F84F-FB3B13507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Word2Vec </a:t>
            </a:r>
            <a:r>
              <a:rPr kumimoji="1" lang="zh-TW" altLang="en-US" dirty="0"/>
              <a:t>的好處有：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dirty="0"/>
              <a:t>將文字映射到具有語義的向量空間</a:t>
            </a:r>
            <a:endParaRPr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作為預訓練模型使用在轉移學習的當中。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我們可以先用大量語料訓練好大量的向量。再把這些向量應用到其他自然語言處理任務上，如文本分類、情感分析或命名實體識別。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這樣可以節省重新訓練的時間，也提高模型效能。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F58C5B-3C23-5191-5E26-D05ADD510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F6A88DC-78CB-EF41-62F3-797271964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0003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F593B6-AE88-871E-1706-FC47BA94F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B1DC9D9-EA9F-FA61-67CF-37880EFEF3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95829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Word2Vec </a:t>
            </a:r>
            <a:r>
              <a:rPr kumimoji="1" lang="zh-TW" altLang="en-US" dirty="0"/>
              <a:t>兩種訓練方式：</a:t>
            </a:r>
            <a:r>
              <a:rPr kumimoji="1" lang="en-US" altLang="zh-TW" dirty="0"/>
              <a:t>CBOW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Skip-gram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CBOW</a:t>
            </a:r>
            <a:r>
              <a:rPr kumimoji="1" lang="zh-TW" altLang="en-US" dirty="0"/>
              <a:t>（</a:t>
            </a:r>
            <a:r>
              <a:rPr kumimoji="1" lang="en-US" altLang="zh-TW" dirty="0"/>
              <a:t>Continuous Bag of Words</a:t>
            </a:r>
            <a:r>
              <a:rPr kumimoji="1" lang="zh-TW" altLang="en-US" dirty="0"/>
              <a:t>，連續詞袋模型）：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核心概念：用上下文的詞彙（周圍的詞）來預測目標詞（中心詞）。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例如在「我 喜歡 吃 蘋果」當中，目標詞是「吃」。上下文是「我」、「喜歡」、「蘋果」。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模型訓練數據的輸入是上下文詞的 </a:t>
            </a:r>
            <a:r>
              <a:rPr kumimoji="1" lang="en-US" altLang="zh-TW" dirty="0"/>
              <a:t>one-hot</a:t>
            </a:r>
            <a:r>
              <a:rPr kumimoji="1" lang="zh-TW" altLang="en-US" dirty="0"/>
              <a:t> </a:t>
            </a:r>
            <a:r>
              <a:rPr kumimoji="1" lang="en-US" altLang="zh-TW" dirty="0"/>
              <a:t>vectors</a:t>
            </a:r>
            <a:r>
              <a:rPr kumimoji="1" lang="zh-TW" altLang="en-US" dirty="0"/>
              <a:t>。輸出是預測中心詞「吃」的 </a:t>
            </a:r>
            <a:r>
              <a:rPr kumimoji="1" lang="en-US" altLang="zh-TW" dirty="0"/>
              <a:t>one</a:t>
            </a:r>
            <a:r>
              <a:rPr kumimoji="1" lang="zh-TW" altLang="en-US" dirty="0"/>
              <a:t> </a:t>
            </a:r>
            <a:r>
              <a:rPr kumimoji="1" lang="en-US" altLang="zh-TW" dirty="0"/>
              <a:t>hot</a:t>
            </a:r>
            <a:r>
              <a:rPr kumimoji="1" lang="zh-TW" altLang="en-US" dirty="0"/>
              <a:t> </a:t>
            </a:r>
            <a:r>
              <a:rPr kumimoji="1" lang="en-US" altLang="zh-TW" dirty="0"/>
              <a:t>vector</a:t>
            </a:r>
            <a:r>
              <a:rPr kumimoji="1" lang="zh-TW" altLang="en-US" dirty="0"/>
              <a:t>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C9DB84-4EF4-1857-471B-3D276D93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2E5B54-7494-06CA-60E1-588A5A568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5453068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949546-DD23-B882-B3C6-12C3D19AA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F2ED8B-D6A5-D5BB-BE0D-09DEA81CB6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Skip-gram</a:t>
            </a:r>
            <a:r>
              <a:rPr kumimoji="1" lang="zh-TW" altLang="en-US" dirty="0"/>
              <a:t>（跳字模型）：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核心概念：用中心詞（目標詞）來預測周遭的詞彙。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例如在「我 喜歡 吃 蘋果」當中，目標詞是「吃」。上下文是「我」、「喜歡」、「蘋果」。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模型訓練數據的輸入是目標詞「吃」的 </a:t>
            </a:r>
            <a:r>
              <a:rPr kumimoji="1" lang="en-US" altLang="zh-TW" dirty="0"/>
              <a:t>one-hot</a:t>
            </a:r>
            <a:r>
              <a:rPr kumimoji="1" lang="zh-TW" altLang="en-US" dirty="0"/>
              <a:t> </a:t>
            </a:r>
            <a:r>
              <a:rPr kumimoji="1" lang="en-US" altLang="zh-TW" dirty="0"/>
              <a:t>vector</a:t>
            </a:r>
            <a:r>
              <a:rPr kumimoji="1" lang="zh-TW" altLang="en-US" dirty="0"/>
              <a:t>。輸出是周遭詞彙的 </a:t>
            </a:r>
            <a:r>
              <a:rPr kumimoji="1" lang="en-US" altLang="zh-TW" dirty="0"/>
              <a:t>one-hot</a:t>
            </a:r>
            <a:r>
              <a:rPr kumimoji="1" lang="zh-TW" altLang="en-US" dirty="0"/>
              <a:t> </a:t>
            </a:r>
            <a:r>
              <a:rPr kumimoji="1" lang="en-US" altLang="zh-TW" dirty="0"/>
              <a:t>vectors</a:t>
            </a:r>
            <a:r>
              <a:rPr kumimoji="1" lang="zh-TW" altLang="en-US" dirty="0"/>
              <a:t>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579A09-860C-7890-C28A-98ED7453C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3DC8FB-6AB7-77E5-6F8A-6F5A35BB6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515867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D7ACCCC-EF04-8A29-5A92-00182B818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D96BE-A12B-3121-2A88-7FCB49CBB0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從 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到 </a:t>
                </a:r>
                <a:r>
                  <a:rPr kumimoji="1" lang="en-US" altLang="zh-TW" dirty="0"/>
                  <a:t>projection</a:t>
                </a:r>
                <a:r>
                  <a:rPr kumimoji="1" lang="zh-TW" altLang="en-US" dirty="0"/>
                  <a:t> 的權重是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zh-TW" altLang="en-US" dirty="0"/>
                  <a:t>、</a:t>
                </a:r>
                <a:r>
                  <a:rPr kumimoji="1" lang="en-US" altLang="zh-TW" dirty="0"/>
                  <a:t>projection</a:t>
                </a:r>
                <a:r>
                  <a:rPr kumimoji="1" lang="zh-TW" altLang="en-US" dirty="0"/>
                  <a:t> 到 </a:t>
                </a:r>
                <a:r>
                  <a:rPr kumimoji="1" lang="en-US" altLang="zh-TW" dirty="0"/>
                  <a:t>output</a:t>
                </a:r>
                <a:r>
                  <a:rPr kumimoji="1" lang="zh-TW" altLang="en-US" dirty="0"/>
                  <a:t> 的權重是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kumimoji="1" lang="zh-TW" altLang="en-US" dirty="0"/>
                  <a:t>。要獲取某個詞的向量，只要把對應詞的 </a:t>
                </a:r>
                <a:r>
                  <a:rPr kumimoji="1" lang="en-US" altLang="zh-TW" dirty="0"/>
                  <a:t>one-hot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vector </a:t>
                </a:r>
                <a:r>
                  <a:rPr kumimoji="1" lang="zh-TW" altLang="en-US" dirty="0"/>
                  <a:t>向量乘上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zh-TW" altLang="en-US" dirty="0"/>
                  <a:t> 即可。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以 </a:t>
                </a:r>
                <a:r>
                  <a:rPr kumimoji="1" lang="en-US" altLang="zh-TW" dirty="0"/>
                  <a:t>CBOW</a:t>
                </a:r>
                <a:r>
                  <a:rPr kumimoji="1" lang="zh-TW" altLang="en-US" dirty="0"/>
                  <a:t> 為例，若訓練數據中有「我 喜歡 吃 蘋果」和「我 喜歡 吃 葡萄」，則在訓練過程中，「我」、「喜歡」、「蘋果」與「我」、「喜歡」、「葡萄」分別經過權重矩陣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轉換為 </a:t>
                </a:r>
                <a:r>
                  <a:rPr kumimoji="1" lang="en-US" altLang="zh-TW" dirty="0"/>
                  <a:t>embedding </a:t>
                </a:r>
                <a:r>
                  <a:rPr kumimoji="1" lang="zh-TW" altLang="en-US" dirty="0"/>
                  <a:t>後，會各自取平均算出兩個 </a:t>
                </a:r>
                <a:r>
                  <a:rPr kumimoji="1" lang="en-US" altLang="zh-TW" dirty="0"/>
                  <a:t>context </a:t>
                </a:r>
                <a:r>
                  <a:rPr kumimoji="1" lang="zh-TW" altLang="en-US" dirty="0"/>
                  <a:t>向量。由於這兩個 </a:t>
                </a:r>
                <a:r>
                  <a:rPr kumimoji="1" lang="en-US" altLang="zh-TW" dirty="0"/>
                  <a:t>context </a:t>
                </a:r>
                <a:r>
                  <a:rPr kumimoji="1" lang="zh-TW" altLang="en-US" dirty="0"/>
                  <a:t>向量都需要透過 </a:t>
                </a:r>
                <a14:m>
                  <m:oMath xmlns:m="http://schemas.openxmlformats.org/officeDocument/2006/math"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𝑊</m:t>
                    </m:r>
                    <m:r>
                      <a:rPr kumimoji="1" lang="en-US" altLang="zh-TW" i="1" dirty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kumimoji="1" lang="zh-TW" altLang="en-US" dirty="0"/>
                  <a:t> 預測出同一個詞「吃」，模型會傾向讓這兩個平均向量彼此接近。因為兩組 </a:t>
                </a:r>
                <a:r>
                  <a:rPr kumimoji="1" lang="en-US" altLang="zh-TW" dirty="0"/>
                  <a:t>context </a:t>
                </a:r>
                <a:r>
                  <a:rPr kumimoji="1" lang="zh-TW" altLang="en-US" dirty="0"/>
                  <a:t>的差異只在「蘋果」與「葡萄」，因此訓練結果會使這兩個詞的 </a:t>
                </a:r>
                <a:r>
                  <a:rPr kumimoji="1" lang="en-US" altLang="zh-TW" dirty="0"/>
                  <a:t>embedding </a:t>
                </a:r>
                <a:r>
                  <a:rPr kumimoji="1" lang="zh-TW" altLang="en-US" dirty="0"/>
                  <a:t>在向量空間中變得接近。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2FBD96BE-A12B-3121-2A88-7FCB49CBB0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9" t="-1347" r="-13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36D547-3EB1-C59A-88AD-A49EF3C1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08B0CF-7351-1872-9C65-711E3E62F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9138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FDDF19-1916-2488-3568-E44EA1D117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Word2Vec</a:t>
            </a:r>
            <a:endParaRPr kumimoji="1" lang="zh-TW" altLang="en-US" dirty="0"/>
          </a:p>
        </p:txBody>
      </p:sp>
      <p:pic>
        <p:nvPicPr>
          <p:cNvPr id="7" name="內容版面配置區 6" descr="一張含有 文字, 圖表, 行, 字型 的圖片&#10;&#10;AI 產生的內容可能不正確。">
            <a:extLst>
              <a:ext uri="{FF2B5EF4-FFF2-40B4-BE49-F238E27FC236}">
                <a16:creationId xmlns:a16="http://schemas.microsoft.com/office/drawing/2014/main" id="{9CBEF4F9-0C44-E113-BD94-6CA325987B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408" y="2211705"/>
            <a:ext cx="5560547" cy="3760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ADC667-6A45-EC1E-70B6-4E0F32249F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BDBCB2B-3584-92D0-5CC8-1AB3D5BAC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9D97935-F73D-AB15-8BF7-A84BC1A00EA8}"/>
              </a:ext>
            </a:extLst>
          </p:cNvPr>
          <p:cNvSpPr txBox="1"/>
          <p:nvPr/>
        </p:nvSpPr>
        <p:spPr>
          <a:xfrm>
            <a:off x="8647957" y="5972493"/>
            <a:ext cx="3294556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https://</a:t>
            </a:r>
            <a:r>
              <a:rPr kumimoji="1" lang="en-US" altLang="zh-TW" dirty="0" err="1"/>
              <a:t>arxiv.org</a:t>
            </a:r>
            <a:r>
              <a:rPr kumimoji="1" lang="en-US" altLang="zh-TW" dirty="0"/>
              <a:t>/abs/1301.3781</a:t>
            </a:r>
            <a:endParaRPr kumimoji="1" lang="zh-TW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9FB31C82-83DC-7BC7-BF95-E8ED8F3BDB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638407"/>
              </p:ext>
            </p:extLst>
          </p:nvPr>
        </p:nvGraphicFramePr>
        <p:xfrm>
          <a:off x="6213047" y="2084308"/>
          <a:ext cx="5729466" cy="363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9822">
                  <a:extLst>
                    <a:ext uri="{9D8B030D-6E8A-4147-A177-3AD203B41FA5}">
                      <a16:colId xmlns:a16="http://schemas.microsoft.com/office/drawing/2014/main" val="3854520297"/>
                    </a:ext>
                  </a:extLst>
                </a:gridCol>
                <a:gridCol w="1909822">
                  <a:extLst>
                    <a:ext uri="{9D8B030D-6E8A-4147-A177-3AD203B41FA5}">
                      <a16:colId xmlns:a16="http://schemas.microsoft.com/office/drawing/2014/main" val="3123398231"/>
                    </a:ext>
                  </a:extLst>
                </a:gridCol>
                <a:gridCol w="1909822">
                  <a:extLst>
                    <a:ext uri="{9D8B030D-6E8A-4147-A177-3AD203B41FA5}">
                      <a16:colId xmlns:a16="http://schemas.microsoft.com/office/drawing/2014/main" val="3193128688"/>
                    </a:ext>
                  </a:extLst>
                </a:gridCol>
              </a:tblGrid>
              <a:tr h="410606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特性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CBOW</a:t>
                      </a:r>
                      <a:endParaRPr lang="zh-TW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/>
                        <a:t>Skip-gram</a:t>
                      </a:r>
                      <a:endParaRPr lang="zh-TW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5412426"/>
                  </a:ext>
                </a:extLst>
              </a:tr>
              <a:tr h="410606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輸入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上下文詞彙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中心詞彙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0189177"/>
                  </a:ext>
                </a:extLst>
              </a:tr>
              <a:tr h="410606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輸出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中心詞彙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/>
                        <a:t>上下文詞彙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2662107"/>
                  </a:ext>
                </a:extLst>
              </a:tr>
              <a:tr h="410606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訓練速度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快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慢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365144"/>
                  </a:ext>
                </a:extLst>
              </a:tr>
              <a:tr h="1991160"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適合詞彙類型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出現頻率高的詞彙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/>
                        <a:t>對出現頻率低的詞學得更好，因為一個詞要預測多個上下文詞彙的架構，讓每個低頻詞都有機會「單獨學習」自己的語義。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592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93366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D1F16C-7C97-8B5B-2AC6-5D5A49CF7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1D93A92-4DC4-C607-3AC0-77CF2D7BBA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r>
              <a:rPr kumimoji="1" lang="en-US" altLang="zh-TW" dirty="0"/>
              <a:t> </a:t>
            </a:r>
            <a:r>
              <a:rPr kumimoji="1" lang="zh-TW" altLang="en-US" dirty="0"/>
              <a:t>（</a:t>
            </a:r>
            <a:r>
              <a:rPr kumimoji="1" lang="en-US" altLang="zh-TW" dirty="0"/>
              <a:t>Global Vectors for Word Representation</a:t>
            </a:r>
            <a:r>
              <a:rPr kumimoji="1" lang="zh-TW" altLang="en-US" dirty="0"/>
              <a:t>）是由史丹佛大學的 </a:t>
            </a:r>
            <a:r>
              <a:rPr kumimoji="1" lang="en-US" altLang="zh-TW" dirty="0"/>
              <a:t>Jeffrey</a:t>
            </a:r>
            <a:r>
              <a:rPr kumimoji="1" lang="zh-TW" altLang="en-US" dirty="0"/>
              <a:t> </a:t>
            </a:r>
            <a:r>
              <a:rPr kumimoji="1" lang="en-US" altLang="zh-TW" dirty="0"/>
              <a:t>Pennington</a:t>
            </a:r>
            <a:r>
              <a:rPr kumimoji="1" lang="zh-TW" altLang="en-US" dirty="0"/>
              <a:t> 等學者於 </a:t>
            </a:r>
            <a:r>
              <a:rPr kumimoji="1" lang="en-US" altLang="zh-TW" dirty="0"/>
              <a:t>2014</a:t>
            </a:r>
            <a:r>
              <a:rPr kumimoji="1" lang="zh-TW" altLang="en-US" dirty="0"/>
              <a:t> 年提出的另一種 </a:t>
            </a:r>
            <a:r>
              <a:rPr kumimoji="1" lang="en-US" altLang="zh-TW" dirty="0"/>
              <a:t>Embedding</a:t>
            </a:r>
            <a:r>
              <a:rPr kumimoji="1" lang="zh-TW" altLang="en-US" dirty="0"/>
              <a:t> 模型，與 </a:t>
            </a:r>
            <a:r>
              <a:rPr kumimoji="1" lang="en-US" altLang="zh-TW" dirty="0"/>
              <a:t>Word2Vec</a:t>
            </a:r>
            <a:r>
              <a:rPr kumimoji="1" lang="zh-TW" altLang="en-US" dirty="0"/>
              <a:t> 齊名。</a:t>
            </a:r>
            <a:endParaRPr kumimoji="1" lang="en-US" altLang="zh-TW" dirty="0"/>
          </a:p>
          <a:p>
            <a:r>
              <a:rPr kumimoji="1" lang="zh-TW" altLang="en-US" dirty="0"/>
              <a:t>前面課程介紹過，</a:t>
            </a:r>
            <a:r>
              <a:rPr kumimoji="1" lang="en-US" altLang="zh-TW" dirty="0"/>
              <a:t> Word2Vec</a:t>
            </a:r>
            <a:r>
              <a:rPr kumimoji="1" lang="zh-TW" altLang="en-US" dirty="0"/>
              <a:t> 使用附近詞彙來訓練模型。然而，這種方法的限制在於它主要依賴局部上下文，缺乏對整體語料中詞彙關係的全局（</a:t>
            </a:r>
            <a:r>
              <a:rPr kumimoji="1" lang="en-US" altLang="zh-TW" dirty="0"/>
              <a:t>global</a:t>
            </a:r>
            <a:r>
              <a:rPr kumimoji="1" lang="zh-TW" altLang="en-US" dirty="0"/>
              <a:t>）觀點。因此，</a:t>
            </a:r>
            <a:r>
              <a:rPr kumimoji="1" lang="en-US" altLang="zh-TW" dirty="0" err="1"/>
              <a:t>GloVe</a:t>
            </a:r>
            <a:r>
              <a:rPr kumimoji="1" lang="en-US" altLang="zh-TW" dirty="0"/>
              <a:t> </a:t>
            </a:r>
            <a:r>
              <a:rPr kumimoji="1" lang="zh-TW" altLang="en-US" dirty="0"/>
              <a:t>的核心想法是直接利用整個語料庫中的詞彙共現統計（</a:t>
            </a:r>
            <a:r>
              <a:rPr kumimoji="1" lang="en-US" altLang="zh-TW" dirty="0"/>
              <a:t>co-occurrence statistics</a:t>
            </a:r>
            <a:r>
              <a:rPr kumimoji="1" lang="zh-TW" altLang="en-US" dirty="0"/>
              <a:t>）來學習詞向量。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4DA919-97F2-38C9-4A1F-343A64D4F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2CFBD67-E84C-4F35-64F1-991D5321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0901936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C510B5-0F5A-55D9-794A-70BFB8F3FA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430F6B-B65A-273D-FF35-4DC5D638C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97" y="2329199"/>
            <a:ext cx="3750196" cy="3760891"/>
          </a:xfrm>
        </p:spPr>
        <p:txBody>
          <a:bodyPr/>
          <a:lstStyle/>
          <a:p>
            <a:r>
              <a:rPr kumimoji="1" lang="zh-TW" altLang="en-US" dirty="0"/>
              <a:t>假定我們有下列三個句子：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I like machine learning. 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I like deep learning.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Deep learning is fun.</a:t>
            </a:r>
          </a:p>
          <a:p>
            <a:pPr marL="0" indent="0">
              <a:buNone/>
            </a:pPr>
            <a:r>
              <a:rPr kumimoji="1" lang="zh-TW" altLang="en-US" dirty="0"/>
              <a:t>可選五個核心詞 </a:t>
            </a:r>
            <a:r>
              <a:rPr kumimoji="1" lang="en-US" altLang="zh-TW" dirty="0"/>
              <a:t>I, like, deep, machine,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 出來，並且算出 </a:t>
            </a:r>
            <a:r>
              <a:rPr kumimoji="1" lang="en-US" altLang="zh-TW" dirty="0"/>
              <a:t>co-occurrence</a:t>
            </a:r>
            <a:r>
              <a:rPr kumimoji="1" lang="zh-TW" altLang="en-US" dirty="0"/>
              <a:t> </a:t>
            </a:r>
            <a:r>
              <a:rPr kumimoji="1" lang="en-US" altLang="zh-TW" dirty="0"/>
              <a:t>matrix</a:t>
            </a:r>
            <a:r>
              <a:rPr kumimoji="1" lang="zh-TW" altLang="en-US" dirty="0"/>
              <a:t>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686413-BB3C-DDFC-8564-6BBD0F2F8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480F80-C7E7-C3C8-ABF9-A41672630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6F7FA24F-68B5-424E-EB9E-C5F2BE775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2152346"/>
              </p:ext>
            </p:extLst>
          </p:nvPr>
        </p:nvGraphicFramePr>
        <p:xfrm>
          <a:off x="4120587" y="2005058"/>
          <a:ext cx="7466072" cy="390337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81867">
                  <a:extLst>
                    <a:ext uri="{9D8B030D-6E8A-4147-A177-3AD203B41FA5}">
                      <a16:colId xmlns:a16="http://schemas.microsoft.com/office/drawing/2014/main" val="2440568988"/>
                    </a:ext>
                  </a:extLst>
                </a:gridCol>
                <a:gridCol w="1081867">
                  <a:extLst>
                    <a:ext uri="{9D8B030D-6E8A-4147-A177-3AD203B41FA5}">
                      <a16:colId xmlns:a16="http://schemas.microsoft.com/office/drawing/2014/main" val="2079953521"/>
                    </a:ext>
                  </a:extLst>
                </a:gridCol>
                <a:gridCol w="1081867">
                  <a:extLst>
                    <a:ext uri="{9D8B030D-6E8A-4147-A177-3AD203B41FA5}">
                      <a16:colId xmlns:a16="http://schemas.microsoft.com/office/drawing/2014/main" val="2854758133"/>
                    </a:ext>
                  </a:extLst>
                </a:gridCol>
                <a:gridCol w="1081867">
                  <a:extLst>
                    <a:ext uri="{9D8B030D-6E8A-4147-A177-3AD203B41FA5}">
                      <a16:colId xmlns:a16="http://schemas.microsoft.com/office/drawing/2014/main" val="1558394340"/>
                    </a:ext>
                  </a:extLst>
                </a:gridCol>
                <a:gridCol w="1081867">
                  <a:extLst>
                    <a:ext uri="{9D8B030D-6E8A-4147-A177-3AD203B41FA5}">
                      <a16:colId xmlns:a16="http://schemas.microsoft.com/office/drawing/2014/main" val="3913136395"/>
                    </a:ext>
                  </a:extLst>
                </a:gridCol>
                <a:gridCol w="1081867">
                  <a:extLst>
                    <a:ext uri="{9D8B030D-6E8A-4147-A177-3AD203B41FA5}">
                      <a16:colId xmlns:a16="http://schemas.microsoft.com/office/drawing/2014/main" val="822590104"/>
                    </a:ext>
                  </a:extLst>
                </a:gridCol>
                <a:gridCol w="974870">
                  <a:extLst>
                    <a:ext uri="{9D8B030D-6E8A-4147-A177-3AD203B41FA5}">
                      <a16:colId xmlns:a16="http://schemas.microsoft.com/office/drawing/2014/main" val="3868038655"/>
                    </a:ext>
                  </a:extLst>
                </a:gridCol>
              </a:tblGrid>
              <a:tr h="73345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</a:rPr>
                        <a:t>詞彙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I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like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deep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machine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learning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zh-TW" altLang="en-US" b="1" dirty="0">
                          <a:solidFill>
                            <a:srgbClr val="1F1F1F"/>
                          </a:solidFill>
                          <a:effectLst/>
                        </a:rPr>
                        <a:t>總計 </a:t>
                      </a: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(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Xi​)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128513756"/>
                  </a:ext>
                </a:extLst>
              </a:tr>
              <a:tr h="4977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I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976846650"/>
                  </a:ext>
                </a:extLst>
              </a:tr>
              <a:tr h="4977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like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4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133063869"/>
                  </a:ext>
                </a:extLst>
              </a:tr>
              <a:tr h="4977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</a:rPr>
                        <a:t>deep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259699732"/>
                  </a:ext>
                </a:extLst>
              </a:tr>
              <a:tr h="733452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</a:rPr>
                        <a:t>machine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1372819579"/>
                  </a:ext>
                </a:extLst>
              </a:tr>
              <a:tr h="49770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learning</a:t>
                      </a:r>
                      <a:endParaRPr 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2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1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solidFill>
                            <a:srgbClr val="1F1F1F"/>
                          </a:solidFill>
                          <a:effectLst/>
                        </a:rPr>
                        <a:t>0</a:t>
                      </a:r>
                      <a:endParaRPr lang="en-US" altLang="zh-TW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R="114300" marT="152400" marB="152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>
                          <a:solidFill>
                            <a:srgbClr val="1F1F1F"/>
                          </a:solidFill>
                          <a:effectLst/>
                        </a:rPr>
                        <a:t>3</a:t>
                      </a:r>
                      <a:endParaRPr lang="zh-TW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T="152400" marB="152400" anchor="ctr"/>
                </a:tc>
                <a:extLst>
                  <a:ext uri="{0D108BD9-81ED-4DB2-BD59-A6C34878D82A}">
                    <a16:rowId xmlns:a16="http://schemas.microsoft.com/office/drawing/2014/main" val="954910473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0201551E-1487-399C-D699-73DC534DEF2C}"/>
              </a:ext>
            </a:extLst>
          </p:cNvPr>
          <p:cNvSpPr txBox="1"/>
          <p:nvPr/>
        </p:nvSpPr>
        <p:spPr>
          <a:xfrm>
            <a:off x="6702626" y="5992968"/>
            <a:ext cx="3031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/>
              <a:t>這是一個 </a:t>
            </a:r>
            <a:r>
              <a:rPr kumimoji="1" lang="en-US" altLang="zh-TW" dirty="0"/>
              <a:t>symmetric</a:t>
            </a:r>
            <a:r>
              <a:rPr kumimoji="1" lang="zh-TW" altLang="en-US" dirty="0"/>
              <a:t> </a:t>
            </a:r>
            <a:r>
              <a:rPr kumimoji="1" lang="en-US" altLang="zh-TW" dirty="0"/>
              <a:t>matrix</a:t>
            </a:r>
            <a:r>
              <a:rPr kumimoji="1" lang="zh-TW" altLang="en-US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356972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4F04E2-1BB2-CF1B-3AFE-B29D9AE8C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5AF958-E43C-F615-1863-5B478CE4B7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zh-TW" altLang="en-US" dirty="0"/>
                  <a:t>另外，作者發現真正能體現詞彙語義的不是的共現次數，而是共現機率的比值。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例如，若要比較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kumimoji="1" lang="zh-TW" altLang="en-US" dirty="0"/>
                  <a:t> 兩個詞彙誰與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zh-TW" altLang="en-US" dirty="0"/>
                  <a:t> 更相關，我們可以先計算條件機率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1" lang="zh-TW" altLang="en-US" dirty="0"/>
                  <a:t> 與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若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zh-TW" altLang="en-US" dirty="0"/>
                  <a:t> 與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kumimoji="1" lang="zh-TW" altLang="en-US" dirty="0"/>
                  <a:t> 更相關，則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kumimoji="1" lang="zh-TW" altLang="en-US" dirty="0"/>
                  <a:t> 會大於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kumimoji="1" lang="zh-TW" altLang="en-US" dirty="0"/>
                  <a:t>，所以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kumimoji="1" lang="en-US" altLang="zh-TW" dirty="0"/>
                  <a:t> </a:t>
                </a:r>
                <a:r>
                  <a:rPr kumimoji="1" lang="zh-TW" altLang="en-US" dirty="0"/>
                  <a:t>會大於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反之則小於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若相關性相同，例如都非常相關或非常不相關，則會趨於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endParaRPr kumimoji="1" lang="en-US" altLang="zh-TW" dirty="0"/>
              </a:p>
              <a:p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15AF958-E43C-F615-1863-5B478CE4B7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65" t="-134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089DDF-FFBC-FA1B-688D-B74A317CF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2F14BF-14C2-3B25-79FB-72580E18D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4830591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516F53-77DD-87B0-E16D-890C8AC2A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5FB6D56-9F47-5397-CEF0-686DAC95D6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zh-TW" altLang="en-US" dirty="0"/>
                  <a:t>若要比較 </a:t>
                </a:r>
                <a:r>
                  <a:rPr kumimoji="1" lang="en-US" altLang="zh-TW" dirty="0"/>
                  <a:t>like </a:t>
                </a:r>
                <a:r>
                  <a:rPr kumimoji="1" lang="zh-TW" altLang="en-US" dirty="0"/>
                  <a:t>和 </a:t>
                </a:r>
                <a:r>
                  <a:rPr kumimoji="1" lang="en-US" altLang="zh-TW" dirty="0"/>
                  <a:t>deep </a:t>
                </a:r>
                <a:r>
                  <a:rPr kumimoji="1" lang="zh-TW" altLang="en-US" dirty="0"/>
                  <a:t>這兩個詞相對於 </a:t>
                </a:r>
                <a:r>
                  <a:rPr kumimoji="1" lang="en-US" altLang="zh-TW" dirty="0"/>
                  <a:t>learning</a:t>
                </a:r>
                <a:r>
                  <a:rPr kumimoji="1" lang="zh-TW" altLang="en-US" dirty="0"/>
                  <a:t> 的相關程度，我們可以將條件機率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𝑙𝑒𝑎𝑟𝑛𝑖𝑛𝑔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𝑙𝑖𝑘𝑒</m:t>
                        </m:r>
                      </m:e>
                    </m:d>
                  </m:oMath>
                </a14:m>
                <a:r>
                  <a:rPr kumimoji="1" lang="zh-TW" altLang="en-US" dirty="0"/>
                  <a:t> 與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𝑙𝑒𝑎𝑟𝑛𝑖𝑛𝑔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e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𝑑𝑒𝑒𝑝</m:t>
                        </m:r>
                      </m:e>
                    </m:d>
                  </m:oMath>
                </a14:m>
                <a:r>
                  <a:rPr kumimoji="1" lang="zh-TW" altLang="en-US" dirty="0"/>
                  <a:t> 相除：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𝑙𝑒𝑎𝑟𝑛𝑖𝑛𝑔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𝑙𝑖𝑘𝑒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𝑙𝑒𝑎𝑟𝑛𝑖𝑛𝑔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𝑑𝑒𝑒𝑝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num>
                            <m:den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den>
                      </m:f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dirty="0"/>
                  <a:t>因此，我們知道 </a:t>
                </a:r>
                <a:r>
                  <a:rPr kumimoji="1" lang="en-US" altLang="zh-TW" dirty="0"/>
                  <a:t>deep</a:t>
                </a:r>
                <a:r>
                  <a:rPr kumimoji="1" lang="zh-TW" altLang="en-US" dirty="0"/>
                  <a:t> 與 </a:t>
                </a:r>
                <a:r>
                  <a:rPr kumimoji="1" lang="en-US" altLang="zh-TW" dirty="0"/>
                  <a:t>learning</a:t>
                </a:r>
                <a:r>
                  <a:rPr kumimoji="1" lang="zh-TW" altLang="en-US" dirty="0"/>
                  <a:t> 的相關性比 </a:t>
                </a:r>
                <a:r>
                  <a:rPr kumimoji="1" lang="en-US" altLang="zh-TW" dirty="0"/>
                  <a:t>like</a:t>
                </a:r>
                <a:r>
                  <a:rPr kumimoji="1" lang="zh-TW" altLang="en-US" dirty="0"/>
                  <a:t> 與 </a:t>
                </a:r>
                <a:r>
                  <a:rPr kumimoji="1" lang="en-US" altLang="zh-TW" dirty="0"/>
                  <a:t>learning</a:t>
                </a:r>
                <a:r>
                  <a:rPr kumimoji="1" lang="zh-TW" altLang="en-US" dirty="0"/>
                  <a:t> 的相關性更強。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5FB6D56-9F47-5397-CEF0-686DAC95D6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92" t="-1347" r="-16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FA3C4E7-4358-6902-6F53-599CBFDFA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6E927D-53E5-0A27-5A67-63677ACC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4459603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C0DA93-A270-96B0-A21B-8FF9FC2B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p:pic>
        <p:nvPicPr>
          <p:cNvPr id="7" name="內容版面配置區 6" descr="一張含有 文字, 字型, 螢幕擷取畫面, 白色 的圖片&#10;&#10;AI 產生的內容可能不正確。">
            <a:extLst>
              <a:ext uri="{FF2B5EF4-FFF2-40B4-BE49-F238E27FC236}">
                <a16:creationId xmlns:a16="http://schemas.microsoft.com/office/drawing/2014/main" id="{B4EA5219-59C9-6D96-08C2-2185AA562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8427" y="2159855"/>
            <a:ext cx="8035145" cy="168275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93E086-EE25-E79C-B20C-D25F93045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BC4F02-6CDB-E4C9-CC38-8835AC4EC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6EAF25-466F-0C71-4E51-75C6143B0CC0}"/>
                  </a:ext>
                </a:extLst>
              </p:cNvPr>
              <p:cNvSpPr txBox="1"/>
              <p:nvPr/>
            </p:nvSpPr>
            <p:spPr>
              <a:xfrm>
                <a:off x="1531330" y="4243478"/>
                <a:ext cx="9190299" cy="175432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kumimoji="1" lang="en-US" altLang="zh-TW" dirty="0" err="1"/>
                  <a:t>GloVe</a:t>
                </a:r>
                <a:r>
                  <a:rPr kumimoji="1" lang="zh-TW" altLang="en-US" dirty="0"/>
                  <a:t> 論文作者使用的例子。在上面的表格中，作者使用 </a:t>
                </a:r>
                <a:r>
                  <a:rPr kumimoji="1" lang="en-US" altLang="zh-TW" dirty="0"/>
                  <a:t>ice</a:t>
                </a:r>
                <a:r>
                  <a:rPr kumimoji="1" lang="zh-TW" altLang="en-US" dirty="0"/>
                  <a:t> 與 </a:t>
                </a:r>
                <a:r>
                  <a:rPr kumimoji="1" lang="en-US" altLang="zh-TW" dirty="0"/>
                  <a:t>steam</a:t>
                </a:r>
                <a:r>
                  <a:rPr kumimoji="1" lang="zh-TW" altLang="en-US" dirty="0"/>
                  <a:t> 當作 </a:t>
                </a:r>
                <a:r>
                  <a:rPr kumimoji="1" lang="en-US" altLang="zh-TW" dirty="0" err="1"/>
                  <a:t>i</a:t>
                </a:r>
                <a:r>
                  <a:rPr kumimoji="1" lang="en-US" altLang="zh-TW" dirty="0"/>
                  <a:t>,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j</a:t>
                </a:r>
                <a:r>
                  <a:rPr kumimoji="1" lang="zh-TW" altLang="en-US" dirty="0"/>
                  <a:t>，並且在 </a:t>
                </a:r>
                <a:r>
                  <a:rPr kumimoji="1" lang="en-US" altLang="zh-TW" dirty="0"/>
                  <a:t>k</a:t>
                </a:r>
                <a:r>
                  <a:rPr kumimoji="1" lang="zh-TW" altLang="en-US" dirty="0"/>
                  <a:t> 分別使用了 </a:t>
                </a:r>
                <a:r>
                  <a:rPr kumimoji="1" lang="en-US" altLang="zh-TW" dirty="0"/>
                  <a:t>solid,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gas,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water</a:t>
                </a:r>
                <a:r>
                  <a:rPr kumimoji="1" lang="zh-TW" altLang="en-US" dirty="0"/>
                  <a:t> 與 </a:t>
                </a:r>
                <a:r>
                  <a:rPr kumimoji="1" lang="en-US" altLang="zh-TW" dirty="0"/>
                  <a:t>fashion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zh-TW" altLang="en-US" dirty="0"/>
                  <a:t>因為冰塊是固體，所以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k|ice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/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k|steam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&gt;1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zh-TW" altLang="en-US" dirty="0"/>
                  <a:t>因為瓦斯是氣體，所以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k|ice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/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k|steam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&lt;1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zh-TW" altLang="en-US" dirty="0"/>
                  <a:t>因為水可能是固體也可能是氣體，所以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k|ice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/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k|steam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kumimoji="1" lang="zh-TW" altLang="en-US" dirty="0"/>
                  <a:t>因為時尚與冰塊、蒸汽無關，所以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k|ice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/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P(</a:t>
                </a:r>
                <a:r>
                  <a:rPr kumimoji="1" lang="en-US" altLang="zh-TW" dirty="0" err="1"/>
                  <a:t>k|steam</a:t>
                </a:r>
                <a:r>
                  <a:rPr kumimoji="1" lang="en-US" altLang="zh-TW" dirty="0"/>
                  <a:t>)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116EAF25-466F-0C71-4E51-75C6143B0C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330" y="4243478"/>
                <a:ext cx="9190299" cy="1754326"/>
              </a:xfrm>
              <a:prstGeom prst="rect">
                <a:avLst/>
              </a:prstGeom>
              <a:blipFill>
                <a:blip r:embed="rId3"/>
                <a:stretch>
                  <a:fillRect l="-551" t="-709" b="-35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089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64F042-0FA4-C035-34F9-CCD89013B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7D70A2-DADB-1F1C-ABDD-04EF9EA60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GloVe</a:t>
            </a:r>
            <a:r>
              <a:rPr kumimoji="1" lang="en-US" altLang="zh-TW" dirty="0"/>
              <a:t> </a:t>
            </a:r>
            <a:r>
              <a:rPr kumimoji="1" lang="zh-TW" altLang="en-US" dirty="0"/>
              <a:t>的目標就是讓詞彙的 </a:t>
            </a:r>
            <a:r>
              <a:rPr kumimoji="1" lang="en-US" altLang="zh-TW" dirty="0"/>
              <a:t>embedding</a:t>
            </a:r>
            <a:r>
              <a:rPr kumimoji="1" lang="zh-TW" altLang="en-US" dirty="0"/>
              <a:t> 的內積能夠模擬這個機率比值。根據此想法，研究員們設計了損失函數 *，讓語意相似的詞向量靠近彼此。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對設計細節有興趣者，請參考 </a:t>
            </a:r>
            <a:r>
              <a:rPr kumimoji="1" lang="en-US" altLang="zh-TW" sz="1800" dirty="0">
                <a:hlinkClick r:id="rId2"/>
              </a:rPr>
              <a:t>https://nlp.stanford.edu/pubs/glove.pdf</a:t>
            </a:r>
            <a:endParaRPr kumimoji="1" lang="en-US" altLang="zh-TW" sz="1800" dirty="0"/>
          </a:p>
          <a:p>
            <a:r>
              <a:rPr kumimoji="1" lang="zh-TW" altLang="en-US" sz="1800" dirty="0"/>
              <a:t>*</a:t>
            </a:r>
            <a:r>
              <a:rPr kumimoji="1" lang="en-US" altLang="zh-TW" sz="1800" dirty="0"/>
              <a:t>.</a:t>
            </a:r>
            <a:r>
              <a:rPr kumimoji="1" lang="zh-TW" altLang="en-US" sz="1800" dirty="0"/>
              <a:t> </a:t>
            </a:r>
            <a:r>
              <a:rPr kumimoji="1" lang="en-US" altLang="zh-TW" sz="1800" dirty="0"/>
              <a:t>Chapter_6_Embedding.ipynb</a:t>
            </a:r>
            <a:r>
              <a:rPr kumimoji="1" lang="zh-TW" altLang="en-US" sz="1800" dirty="0"/>
              <a:t>（國王 </a:t>
            </a:r>
            <a:r>
              <a:rPr kumimoji="1" lang="en-US" altLang="zh-TW" sz="1800" dirty="0"/>
              <a:t>–</a:t>
            </a:r>
            <a:r>
              <a:rPr kumimoji="1" lang="zh-TW" altLang="en-US" sz="1800" dirty="0"/>
              <a:t> 男人 </a:t>
            </a:r>
            <a:r>
              <a:rPr kumimoji="1" lang="en-US" altLang="zh-TW" sz="1800" dirty="0"/>
              <a:t>+</a:t>
            </a:r>
            <a:r>
              <a:rPr kumimoji="1" lang="zh-TW" altLang="en-US" sz="1800" dirty="0"/>
              <a:t> 女人 </a:t>
            </a:r>
            <a:r>
              <a:rPr kumimoji="1" lang="en-US" altLang="zh-TW" sz="1800" dirty="0"/>
              <a:t>=</a:t>
            </a:r>
            <a:r>
              <a:rPr kumimoji="1" lang="zh-TW" altLang="en-US" sz="1800" dirty="0"/>
              <a:t> 皇后）</a:t>
            </a:r>
            <a:endParaRPr kumimoji="1" lang="en-US" altLang="zh-TW" sz="1800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98F8AD-C4E1-6B4E-5087-E2B31487F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319E52-CA19-CF73-50CB-745B6336F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8748683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18D2D3-8E25-65B9-8CEC-176A7CF3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Embedding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5C0E3E-134D-71D6-F7E5-E918C24C21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4" y="2108201"/>
            <a:ext cx="11368478" cy="4118979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最後一種將文字轉為數值表示的方法是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Embedding Layer</a:t>
            </a:r>
            <a:r>
              <a:rPr kumimoji="1" lang="zh-TW" altLang="en-US" dirty="0"/>
              <a:t>。步驟如下：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Tokenization</a:t>
            </a:r>
            <a:r>
              <a:rPr kumimoji="1" lang="zh-TW" altLang="en-US" dirty="0"/>
              <a:t>：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無法直接處理文字，因此第一步是將句子拆成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。 例如，句子「我愛自然語言處理」經過 </a:t>
            </a:r>
            <a:r>
              <a:rPr kumimoji="1" lang="en-US" altLang="zh-TW" dirty="0"/>
              <a:t>Tokenization </a:t>
            </a:r>
            <a:r>
              <a:rPr kumimoji="1" lang="zh-TW" altLang="en-US" dirty="0"/>
              <a:t>後變成「我」、「愛」、「自然」、「語言」、「處理」。接下來，每個 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會被對應到一個唯一的整數 </a:t>
            </a:r>
            <a:r>
              <a:rPr kumimoji="1" lang="en-US" altLang="zh-TW" dirty="0"/>
              <a:t>ID</a:t>
            </a:r>
            <a:r>
              <a:rPr kumimoji="1" lang="zh-TW" altLang="en-US" dirty="0"/>
              <a:t>，例如「我」是 </a:t>
            </a:r>
            <a:r>
              <a:rPr kumimoji="1" lang="en-US" altLang="zh-TW" dirty="0"/>
              <a:t>1</a:t>
            </a:r>
            <a:r>
              <a:rPr kumimoji="1" lang="zh-TW" altLang="en-US" dirty="0"/>
              <a:t>、「語言」是 </a:t>
            </a:r>
            <a:r>
              <a:rPr kumimoji="1" lang="en-US" altLang="zh-TW" dirty="0"/>
              <a:t>23</a:t>
            </a:r>
            <a:r>
              <a:rPr kumimoji="1" lang="zh-TW" altLang="en-US" dirty="0"/>
              <a:t>。也就是將 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轉為數字表示。 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Embedding Layer</a:t>
            </a:r>
            <a:r>
              <a:rPr kumimoji="1" lang="zh-TW" altLang="en-US" dirty="0"/>
              <a:t>：</a:t>
            </a:r>
            <a:r>
              <a:rPr kumimoji="1" lang="en-US" altLang="zh-TW" dirty="0"/>
              <a:t>Embedding Layer </a:t>
            </a:r>
            <a:r>
              <a:rPr kumimoji="1" lang="zh-TW" altLang="en-US" dirty="0"/>
              <a:t>是一層可訓練的神經網路，可以將每個 </a:t>
            </a:r>
            <a:r>
              <a:rPr kumimoji="1" lang="en-US" altLang="zh-TW" dirty="0"/>
              <a:t>token ID </a:t>
            </a:r>
            <a:r>
              <a:rPr kumimoji="1" lang="zh-TW" altLang="en-US" dirty="0"/>
              <a:t>轉換成向量表示。</a:t>
            </a:r>
            <a:r>
              <a:rPr kumimoji="1" lang="en-US" altLang="zh-TW" dirty="0"/>
              <a:t> Embedding Layer</a:t>
            </a:r>
            <a:r>
              <a:rPr kumimoji="1" lang="zh-TW" altLang="en-US" dirty="0"/>
              <a:t> 會隨著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的訓練而更新，因此生成的向量最適合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後續的運算。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Chapter_6_Embedding.ipynb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4E47355-35FE-639F-9763-3D849DAD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C708F2-8B43-4108-E359-74BC1043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669372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2BD671F-F975-99B2-C2DF-8935EF21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Embedding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F77270-8DCD-93E8-2EC1-461EBE14F8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另外，</a:t>
            </a:r>
            <a:r>
              <a:rPr kumimoji="1" lang="en-US" altLang="zh-TW" dirty="0" err="1"/>
              <a:t>Tensorflow</a:t>
            </a:r>
            <a:r>
              <a:rPr kumimoji="1" lang="zh-TW" altLang="en-US" dirty="0"/>
              <a:t> </a:t>
            </a:r>
            <a:r>
              <a:rPr kumimoji="1" lang="en-US" altLang="zh-TW" dirty="0" err="1"/>
              <a:t>Keras</a:t>
            </a:r>
            <a:r>
              <a:rPr kumimoji="1" lang="zh-TW" altLang="en-US" dirty="0"/>
              <a:t> 的 </a:t>
            </a:r>
            <a:r>
              <a:rPr kumimoji="1" lang="en-US" altLang="zh-TW" dirty="0"/>
              <a:t>Embedding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 原理也相同，如上面所描述。</a:t>
            </a:r>
            <a:endParaRPr kumimoji="1" lang="en-US" altLang="zh-TW" dirty="0"/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https://</a:t>
            </a:r>
            <a:r>
              <a:rPr kumimoji="1" lang="en-US" altLang="zh-TW" dirty="0" err="1"/>
              <a:t>www.tensorflow.org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api_docs</a:t>
            </a:r>
            <a:r>
              <a:rPr kumimoji="1" lang="en-US" altLang="zh-TW" dirty="0"/>
              <a:t>/python/</a:t>
            </a:r>
            <a:r>
              <a:rPr kumimoji="1" lang="en-US" altLang="zh-TW" dirty="0" err="1"/>
              <a:t>tf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keras</a:t>
            </a:r>
            <a:r>
              <a:rPr kumimoji="1" lang="en-US" altLang="zh-TW" dirty="0"/>
              <a:t>/layers/Embedding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E81CBC-D81A-DA13-BE5B-1CD6F6E14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77CAA9-C290-FFD6-DF2A-C292F9D2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6579319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F039F1-5DEC-8CEC-3FD2-5BE7FF08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深度學習演算法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A3FBDF-3FDA-9E98-3A82-754DFF180F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前面課程已經認識過 </a:t>
            </a:r>
            <a:r>
              <a:rPr kumimoji="1" lang="en-US" altLang="zh-TW" dirty="0"/>
              <a:t>NLP</a:t>
            </a:r>
            <a:r>
              <a:rPr kumimoji="1" lang="zh-TW" altLang="en-US" dirty="0"/>
              <a:t> 的 </a:t>
            </a:r>
            <a:r>
              <a:rPr kumimoji="1" lang="en-US" altLang="zh-TW" dirty="0"/>
              <a:t>Embedding</a:t>
            </a:r>
            <a:r>
              <a:rPr kumimoji="1" lang="zh-TW" altLang="en-US" dirty="0"/>
              <a:t> 方法，接下來我們可以討論與 </a:t>
            </a:r>
            <a:r>
              <a:rPr kumimoji="1" lang="en-US" altLang="zh-TW" dirty="0"/>
              <a:t>NLP</a:t>
            </a:r>
            <a:r>
              <a:rPr kumimoji="1" lang="zh-TW" altLang="en-US" dirty="0"/>
              <a:t> 相關的深度學習算法：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RNN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LSTM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GRU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1C5691-4A2F-1B3E-136B-F4B21FEF8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16D04E-392C-2AC9-0748-11F8CE4E2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9771374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C22BBC-A714-65B7-80E3-55E5B59B1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NLP</a:t>
            </a:r>
            <a:r>
              <a:rPr kumimoji="1" lang="zh-TW" altLang="en-US" dirty="0"/>
              <a:t> 深度學習演算法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BBF5D5-D77D-57D6-87FC-591F996035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自然語言處理中，模型除了需要考慮語言本身的上下文關聯性外，還需要模擬人類的記憶能力。例如，我們今天的晚餐選擇可能會受到昨天、前天，甚至一週前晚餐經驗的影響（過於頻繁的選擇可能會被自動排除）。對人類而言，不論時間多久，過去的經驗都會在腦中留下印象。 </a:t>
            </a:r>
            <a:endParaRPr kumimoji="1" lang="en-US" altLang="zh-TW" dirty="0"/>
          </a:p>
          <a:p>
            <a:r>
              <a:rPr kumimoji="1" lang="zh-TW" altLang="en-US" dirty="0"/>
              <a:t>因此，為了提升 </a:t>
            </a:r>
            <a:r>
              <a:rPr kumimoji="1" lang="en-US" altLang="zh-TW" dirty="0"/>
              <a:t>NLP </a:t>
            </a:r>
            <a:r>
              <a:rPr kumimoji="1" lang="zh-TW" altLang="en-US" dirty="0"/>
              <a:t>模型的表現，研究者通常會額外設計機制，使 </a:t>
            </a:r>
            <a:r>
              <a:rPr kumimoji="1" lang="en-US" altLang="zh-TW" dirty="0"/>
              <a:t>NLP</a:t>
            </a:r>
            <a:r>
              <a:rPr kumimoji="1" lang="zh-TW" altLang="en-US" dirty="0"/>
              <a:t> 的深度神經網路模型具備更強的上下文理解能力和記憶功能。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7BD5A2-3E31-480A-34BC-42F8B065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D7006B6-A3FC-172B-1D26-124D8B381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1165899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1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419B850-25BB-F2D0-9F18-F94B17FEE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kumimoji="1" lang="en-US" altLang="zh-TW" sz="4000" dirty="0">
                <a:solidFill>
                  <a:srgbClr val="FFFFFF"/>
                </a:solidFill>
              </a:rPr>
              <a:t>RNN</a:t>
            </a:r>
            <a:endParaRPr kumimoji="1" lang="zh-TW" altLang="en-US" sz="4000" dirty="0">
              <a:solidFill>
                <a:srgbClr val="FFFFFF"/>
              </a:solidFill>
            </a:endParaRPr>
          </a:p>
        </p:txBody>
      </p:sp>
      <p:cxnSp>
        <p:nvCxnSpPr>
          <p:cNvPr id="28" name="Straight Connector 15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7B8598-9DA5-A573-9D43-FF3CF9972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815" y="2799654"/>
            <a:ext cx="3218399" cy="3189665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>
                <a:solidFill>
                  <a:srgbClr val="FFFFFF"/>
                </a:solidFill>
              </a:rPr>
              <a:t>循環神經網路（</a:t>
            </a:r>
            <a:r>
              <a:rPr lang="en-US" altLang="zh-TW" dirty="0">
                <a:solidFill>
                  <a:srgbClr val="FFFFFF"/>
                </a:solidFill>
              </a:rPr>
              <a:t> Recurrent Neural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Network,</a:t>
            </a:r>
            <a:r>
              <a:rPr lang="zh-TW" altLang="en-US" dirty="0">
                <a:solidFill>
                  <a:srgbClr val="FFFFFF"/>
                </a:solidFill>
              </a:rPr>
              <a:t> </a:t>
            </a:r>
            <a:r>
              <a:rPr lang="en-US" altLang="zh-TW" dirty="0">
                <a:solidFill>
                  <a:srgbClr val="FFFFFF"/>
                </a:solidFill>
              </a:rPr>
              <a:t>RNN</a:t>
            </a:r>
            <a:r>
              <a:rPr kumimoji="1" lang="zh-TW" altLang="en-US" dirty="0">
                <a:solidFill>
                  <a:srgbClr val="FFFFFF"/>
                </a:solidFill>
              </a:rPr>
              <a:t>）與傳統神經網路不同。它能夠保留先前時間步的資訊，將歷史狀態傳遞到下一個時間步，因此非常適合處理文字、語音、時間序列等資料。</a:t>
            </a: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C5AE261D-C7DB-7B3E-2E9A-85E96D37C3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46620" y="957392"/>
            <a:ext cx="7414825" cy="247160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26EF87A-E68B-1B47-6CA7-531DD0B2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1752" y="6446838"/>
            <a:ext cx="3005462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US" altLang="zh-TW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04B3BC5-8E4B-B909-ABF3-6E733EB07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BAFCE60-D07B-27AC-C474-D43C5FBB618F}"/>
                  </a:ext>
                </a:extLst>
              </p:cNvPr>
              <p:cNvSpPr txBox="1"/>
              <p:nvPr/>
            </p:nvSpPr>
            <p:spPr>
              <a:xfrm>
                <a:off x="5308275" y="3783757"/>
                <a:ext cx="5891514" cy="2308324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n"/>
                </a:pPr>
                <a:r>
                  <a:rPr kumimoji="1" lang="zh-TW" altLang="en-US" dirty="0"/>
                  <a:t>傳統的神經網路會將輸入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zh-TW" altLang="en-US" dirty="0"/>
                  <a:t> 放入模型中，然後輸出結果 </a:t>
                </a:r>
                <a14:m>
                  <m:oMath xmlns:m="http://schemas.openxmlformats.org/officeDocument/2006/math">
                    <m:r>
                      <a:rPr kumimoji="1" lang="en-US" altLang="zh-TW" i="1" dirty="0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285750" indent="-285750">
                  <a:buFont typeface="Wingdings" pitchFamily="2" charset="2"/>
                  <a:buChar char="n"/>
                </a:pPr>
                <a:r>
                  <a:rPr kumimoji="1" lang="en-US" altLang="zh-TW" dirty="0"/>
                  <a:t>RNN</a:t>
                </a:r>
                <a:r>
                  <a:rPr kumimoji="1" lang="zh-TW" altLang="en-US" dirty="0"/>
                  <a:t> 有時間序列特性。當輸入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dirty="0"/>
                  <a:t> 進入模型並得到輸出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dirty="0"/>
                  <a:t> 時，模型內部同時會產生一個隱藏狀態（</a:t>
                </a:r>
                <a:r>
                  <a:rPr kumimoji="1" lang="en-US" altLang="zh-TW" dirty="0"/>
                  <a:t>Hidden State</a:t>
                </a:r>
                <a:r>
                  <a:rPr kumimoji="1" lang="zh-TW" altLang="en-US" dirty="0"/>
                  <a:t>），我們可以記作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dirty="0"/>
                  <a:t>。這個狀態就像是模型的「記憶」。當下一個時間點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kumimoji="1" lang="zh-TW" altLang="en-US" dirty="0"/>
                  <a:t> 的輸入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到來時，</a:t>
                </a:r>
                <a:r>
                  <a:rPr kumimoji="1" lang="en-US" altLang="zh-TW" dirty="0"/>
                  <a:t>RNN </a:t>
                </a:r>
                <a:r>
                  <a:rPr kumimoji="1" lang="zh-TW" altLang="en-US" dirty="0"/>
                  <a:t>不僅僅看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，還會讀取上一個時刻留下的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。</a:t>
                </a: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BAFCE60-D07B-27AC-C474-D43C5FBB6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8275" y="3783757"/>
                <a:ext cx="5891514" cy="2308324"/>
              </a:xfrm>
              <a:prstGeom prst="rect">
                <a:avLst/>
              </a:prstGeom>
              <a:blipFill>
                <a:blip r:embed="rId3"/>
                <a:stretch>
                  <a:fillRect l="-644" t="-1087" b="-271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864111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16AFA8-31E9-621C-437C-9B4DEB3CF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1ED21D-3615-4AA4-D493-F0DD31FE6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5118325" cy="3760891"/>
          </a:xfrm>
        </p:spPr>
        <p:txBody>
          <a:bodyPr/>
          <a:lstStyle/>
          <a:p>
            <a:r>
              <a:rPr kumimoji="1" lang="zh-TW" altLang="en-US" dirty="0"/>
              <a:t>另外，</a:t>
            </a:r>
            <a:r>
              <a:rPr kumimoji="1" lang="en-US" altLang="zh-TW" dirty="0"/>
              <a:t>RNN</a:t>
            </a:r>
            <a:r>
              <a:rPr kumimoji="1" lang="zh-TW" altLang="en-US" dirty="0"/>
              <a:t> 也可以做多層的堆疊。在 </a:t>
            </a:r>
            <a:r>
              <a:rPr kumimoji="1" lang="en-US" altLang="zh-TW" dirty="0" err="1"/>
              <a:t>Tensorflow</a:t>
            </a:r>
            <a:r>
              <a:rPr kumimoji="1" lang="zh-TW" altLang="en-US" dirty="0"/>
              <a:t> 中要注意，下層的 </a:t>
            </a:r>
            <a:r>
              <a:rPr kumimoji="1" lang="en-US" altLang="zh-TW" dirty="0"/>
              <a:t>RNN</a:t>
            </a:r>
            <a:r>
              <a:rPr kumimoji="1" lang="zh-TW" altLang="en-US" dirty="0"/>
              <a:t> 需要設定 </a:t>
            </a:r>
            <a:r>
              <a:rPr lang="en-US" altLang="zh-TW" dirty="0" err="1"/>
              <a:t>return_sequences</a:t>
            </a:r>
            <a:r>
              <a:rPr lang="en-US" altLang="zh-TW" dirty="0"/>
              <a:t>=True</a:t>
            </a:r>
            <a:r>
              <a:rPr lang="zh-TW" altLang="en-US" dirty="0"/>
              <a:t>。</a:t>
            </a:r>
            <a:endParaRPr lang="en-US" altLang="zh-TW" dirty="0"/>
          </a:p>
          <a:p>
            <a:endParaRPr kumimoji="1" lang="en-US" altLang="zh-TW" dirty="0"/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Chapter_6_RNN.ipynb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FCED2E-B5F3-3714-B773-DE9122E9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3AFB7F-AC6A-BDF3-D11C-3B1892E7D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螢幕擷取畫面, 圓形 的圖片&#10;&#10;AI 產生的內容可能不正確。">
            <a:extLst>
              <a:ext uri="{FF2B5EF4-FFF2-40B4-BE49-F238E27FC236}">
                <a16:creationId xmlns:a16="http://schemas.microsoft.com/office/drawing/2014/main" id="{51D72DC6-4BE8-5F22-8A76-356A72BDF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2024" y="2332158"/>
            <a:ext cx="6749005" cy="331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8694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80F4EA-04A4-50F3-4BDB-BCBABF75B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RNN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3AF71D1-EA66-5ACD-E304-B3B7D73195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RNN</a:t>
            </a:r>
            <a:r>
              <a:rPr kumimoji="1" lang="zh-TW" altLang="en-US" dirty="0"/>
              <a:t> 有些明顯的缺點：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長程依賴問題（</a:t>
            </a:r>
            <a:r>
              <a:rPr kumimoji="1" lang="en-US" altLang="zh-TW" dirty="0"/>
              <a:t>Long-term Dependency</a:t>
            </a:r>
            <a:r>
              <a:rPr kumimoji="1" lang="zh-TW" altLang="en-US" dirty="0"/>
              <a:t>）：雖然理論上 </a:t>
            </a:r>
            <a:r>
              <a:rPr kumimoji="1" lang="en-US" altLang="zh-TW" dirty="0"/>
              <a:t>RNN </a:t>
            </a:r>
            <a:r>
              <a:rPr kumimoji="1" lang="zh-TW" altLang="en-US" dirty="0"/>
              <a:t>可處理任意長度的序列，但實務上我們常觀察到 </a:t>
            </a:r>
            <a:r>
              <a:rPr kumimoji="1" lang="en-US" altLang="zh-TW" dirty="0"/>
              <a:t>RNN</a:t>
            </a:r>
            <a:r>
              <a:rPr kumimoji="1" lang="zh-TW" altLang="en-US" dirty="0"/>
              <a:t> 的效能隨著序列增長而急劇下降。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運算效率瓶頸： </a:t>
            </a:r>
            <a:r>
              <a:rPr kumimoji="1" lang="en-US" altLang="zh-TW" dirty="0"/>
              <a:t>RNN </a:t>
            </a:r>
            <a:r>
              <a:rPr kumimoji="1" lang="zh-TW" altLang="en-US" dirty="0"/>
              <a:t>的計算具備時間步依賴性（</a:t>
            </a:r>
            <a:r>
              <a:rPr kumimoji="1" lang="en-US" altLang="zh-TW" dirty="0"/>
              <a:t>Time-step dependency</a:t>
            </a:r>
            <a:r>
              <a:rPr kumimoji="1" lang="zh-TW" altLang="en-US" dirty="0"/>
              <a:t>），必須依序處理輸入，無法像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進行大規模並行運算（</a:t>
            </a:r>
            <a:r>
              <a:rPr kumimoji="1" lang="en-US" altLang="zh-TW" dirty="0"/>
              <a:t>Parallelization</a:t>
            </a:r>
            <a:r>
              <a:rPr kumimoji="1" lang="zh-TW" altLang="en-US" dirty="0"/>
              <a:t>）。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5FE67A-F5FC-173E-0E38-5603C3B42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C80948-BF5F-E770-8214-927CD41CA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971652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2CEFED-50A5-C648-BB71-7B1298620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LSTM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0CB512-2489-5AC5-54C7-50D7A9F50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5195" y="2108201"/>
            <a:ext cx="6238755" cy="4082623"/>
          </a:xfrm>
        </p:spPr>
        <p:txBody>
          <a:bodyPr>
            <a:normAutofit/>
          </a:bodyPr>
          <a:lstStyle/>
          <a:p>
            <a:r>
              <a:rPr lang="en-US" altLang="zh-TW" dirty="0"/>
              <a:t>LSTM</a:t>
            </a:r>
            <a:r>
              <a:rPr lang="zh-TW" altLang="en-US" dirty="0"/>
              <a:t>（</a:t>
            </a:r>
            <a:r>
              <a:rPr lang="en-US" altLang="zh-TW" dirty="0"/>
              <a:t>Long Short-Term Memory</a:t>
            </a:r>
            <a:r>
              <a:rPr lang="zh-TW" altLang="en-US" dirty="0"/>
              <a:t>） 是一種改良後的 </a:t>
            </a:r>
            <a:r>
              <a:rPr lang="en-US" altLang="zh-TW" dirty="0"/>
              <a:t>RNN </a:t>
            </a:r>
            <a:r>
              <a:rPr lang="zh-TW" altLang="en-US" dirty="0"/>
              <a:t>架構，為解決</a:t>
            </a:r>
            <a:r>
              <a:rPr kumimoji="1" lang="zh-TW" altLang="en-US" dirty="0"/>
              <a:t>長程依賴問題</a:t>
            </a:r>
            <a:r>
              <a:rPr lang="zh-TW" altLang="en-US" dirty="0"/>
              <a:t>而設計。透過「門控機制」，</a:t>
            </a:r>
            <a:r>
              <a:rPr lang="en-US" altLang="zh-TW" dirty="0"/>
              <a:t>LSTM</a:t>
            </a:r>
            <a:r>
              <a:rPr lang="zh-TW" altLang="en-US" dirty="0"/>
              <a:t> 能有選擇地保留重要資訊或遺忘冗餘資料。</a:t>
            </a:r>
            <a:endParaRPr lang="en-US" altLang="zh-TW" dirty="0"/>
          </a:p>
          <a:p>
            <a:r>
              <a:rPr lang="zh-TW" altLang="en-US" dirty="0"/>
              <a:t>值得注意的是，其名稱中的「</a:t>
            </a:r>
            <a:r>
              <a:rPr lang="en-US" altLang="zh-TW" dirty="0"/>
              <a:t>Long</a:t>
            </a:r>
            <a:r>
              <a:rPr lang="zh-TW" altLang="en-US" dirty="0"/>
              <a:t>」是用來修飾「</a:t>
            </a:r>
            <a:r>
              <a:rPr lang="en-US" altLang="zh-TW" dirty="0"/>
              <a:t>Short-Term Memory</a:t>
            </a:r>
            <a:r>
              <a:rPr lang="zh-TW" altLang="en-US" dirty="0"/>
              <a:t>」；這代表它本質上仍屬於「短期記憶」機制，只是透過門控設計，將這段記憶的有效長度有效地延伸了。</a:t>
            </a:r>
            <a:endParaRPr lang="en-US" altLang="zh-TW" dirty="0"/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你不需要記得 </a:t>
            </a:r>
            <a:r>
              <a:rPr kumimoji="1" lang="en-US" altLang="zh-TW" dirty="0"/>
              <a:t>LSTM</a:t>
            </a:r>
            <a:r>
              <a:rPr kumimoji="1" lang="zh-TW" altLang="en-US" dirty="0"/>
              <a:t> 設計架構的所有細節！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F693E7-E8FB-7040-3BA4-D3B2648BE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05E46CF-42D4-3121-D225-3972602E5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AE1EA042-4B4E-F93C-B499-4386A38ED0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34645" y="2268638"/>
            <a:ext cx="5105969" cy="361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6693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135DA3-952F-A82E-14B6-B637E437F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LSTM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054BB30-E44F-45D5-A6C2-8AA1C37B27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2"/>
                <a:ext cx="10058400" cy="4234726"/>
              </a:xfrm>
            </p:spPr>
            <p:txBody>
              <a:bodyPr>
                <a:normAutofit/>
              </a:bodyPr>
              <a:lstStyle/>
              <a:p>
                <a:r>
                  <a:rPr kumimoji="1" lang="en-US" altLang="zh-TW" dirty="0"/>
                  <a:t>LSTM </a:t>
                </a:r>
                <a:r>
                  <a:rPr kumimoji="1" lang="zh-TW" altLang="en-US" dirty="0"/>
                  <a:t>的核心是細胞狀態（</a:t>
                </a:r>
                <a:r>
                  <a:rPr kumimoji="1" lang="en-US" altLang="zh-TW" dirty="0"/>
                  <a:t>Cell State,</a:t>
                </a:r>
                <a:r>
                  <a:rPr kumimoji="1" lang="zh-TW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TW" altLang="en-US" dirty="0"/>
                  <a:t>），功能是保存長期記憶。而三個門控（</a:t>
                </a:r>
                <a:r>
                  <a:rPr kumimoji="1" lang="en-US" altLang="zh-TW" dirty="0"/>
                  <a:t>Forget Gate</a:t>
                </a:r>
                <a:r>
                  <a:rPr kumimoji="1" lang="zh-TW" altLang="en-US" dirty="0"/>
                  <a:t>、</a:t>
                </a:r>
                <a:r>
                  <a:rPr kumimoji="1" lang="en-US" altLang="zh-TW" dirty="0"/>
                  <a:t>Input Gate</a:t>
                </a:r>
                <a:r>
                  <a:rPr kumimoji="1" lang="zh-TW" altLang="en-US" dirty="0"/>
                  <a:t>、</a:t>
                </a:r>
                <a:r>
                  <a:rPr kumimoji="1" lang="en-US" altLang="zh-TW" dirty="0"/>
                  <a:t>Output Gate</a:t>
                </a:r>
                <a:r>
                  <a:rPr kumimoji="1" lang="zh-TW" altLang="en-US" dirty="0"/>
                  <a:t>）則控制資訊的流入、保留與流出。假定前一時間步的隱藏狀態為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，當前輸入為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TW" altLang="en-US" dirty="0"/>
                  <a:t>，則 </a:t>
                </a:r>
                <a:r>
                  <a:rPr kumimoji="1" lang="en-US" altLang="zh-TW" dirty="0"/>
                  <a:t>LSTM </a:t>
                </a:r>
                <a:r>
                  <a:rPr kumimoji="1" lang="zh-TW" altLang="en-US" dirty="0"/>
                  <a:t>的運作步驟如下：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遺忘門（</a:t>
                </a:r>
                <a:r>
                  <a:rPr kumimoji="1" lang="en-US" altLang="zh-TW" dirty="0"/>
                  <a:t>Forget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Gate</a:t>
                </a:r>
                <a:r>
                  <a:rPr kumimoji="1" lang="zh-TW" altLang="en-US" dirty="0"/>
                  <a:t>）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功能是決定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dirty="0"/>
                  <a:t> 中的哪些資訊需要被遺忘。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輸入：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zh-TW" altLang="en-US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kumimoji="1" lang="en-US" altLang="zh-TW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kumimoji="1" lang="en-US" altLang="zh-TW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位置：在上圖左下的四個直角中，從內往外數來第二個。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用法：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1054BB30-E44F-45D5-A6C2-8AA1C37B27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2"/>
                <a:ext cx="10058400" cy="4234726"/>
              </a:xfrm>
              <a:blipFill>
                <a:blip r:embed="rId2"/>
                <a:stretch>
                  <a:fillRect l="-1765" t="-1198" r="-176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6531F7-E614-43F3-070E-22FB5C10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AB4C266-8A53-B157-8E6A-A2B3F1D20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0049184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7ABEC9-A91E-2DC4-CC06-A53F3B611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LSTM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571C738-21D0-1F2C-0C13-5673C95B87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9367" y="2134242"/>
                <a:ext cx="5507235" cy="4223151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kumimoji="1" lang="zh-TW" altLang="en-US" dirty="0"/>
                  <a:t>輸入門（</a:t>
                </a:r>
                <a:r>
                  <a:rPr kumimoji="1" lang="en-US" altLang="zh-TW" dirty="0"/>
                  <a:t>Input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Gate</a:t>
                </a:r>
                <a:r>
                  <a:rPr kumimoji="1" lang="zh-TW" altLang="en-US" dirty="0"/>
                  <a:t>）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功能：決定哪些新資訊可以加入細胞狀態。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輸入：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zh-TW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kumimoji="1" lang="en-US" altLang="zh-TW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𝑡𝑎𝑛h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zh-TW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位置：在上圖左下的四個直角中，從內往外數來第一個與第三個。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用法：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⊕(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⊗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7571C738-21D0-1F2C-0C13-5673C95B87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9367" y="2134242"/>
                <a:ext cx="5507235" cy="4223151"/>
              </a:xfrm>
              <a:blipFill>
                <a:blip r:embed="rId2"/>
                <a:stretch>
                  <a:fillRect l="-2989" t="-1201" r="-413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D47849-3569-AA2E-6841-AA0763D48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516F938-B072-C9BF-87EE-98FC6E64B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5C27195F-6708-9E7D-D134-98DADFA39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30576" y="2134241"/>
                <a:ext cx="5643016" cy="4223151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400"/>
                  </a:spcAft>
                  <a:buClrTx/>
                  <a:buFont typeface="Calibri" pitchFamily="34" charset="0"/>
                  <a:buChar char="◦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400"/>
                  </a:spcAft>
                  <a:buClrTx/>
                  <a:buFont typeface="Calibri" pitchFamily="34" charset="0"/>
                  <a:buChar char="◦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400"/>
                  </a:spcAft>
                  <a:buClrTx/>
                  <a:buFont typeface="Calibri" pitchFamily="34" charset="0"/>
                  <a:buChar char="◦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100000"/>
                  </a:lnSpc>
                  <a:spcBef>
                    <a:spcPts val="200"/>
                  </a:spcBef>
                  <a:spcAft>
                    <a:spcPts val="400"/>
                  </a:spcAft>
                  <a:buClrTx/>
                  <a:buFont typeface="Calibri" pitchFamily="34" charset="0"/>
                  <a:buChar char="◦"/>
                  <a:defRPr sz="16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457200" indent="-457200">
                  <a:buFont typeface="+mj-lt"/>
                  <a:buAutoNum type="arabicPeriod" startAt="3"/>
                </a:pPr>
                <a:r>
                  <a:rPr kumimoji="1" lang="zh-TW" altLang="en-US" dirty="0"/>
                  <a:t>輸出門（</a:t>
                </a:r>
                <a:r>
                  <a:rPr kumimoji="1" lang="en-US" altLang="zh-TW" dirty="0"/>
                  <a:t>Output</a:t>
                </a: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Gate</a:t>
                </a:r>
                <a:r>
                  <a:rPr kumimoji="1" lang="zh-TW" altLang="en-US" dirty="0"/>
                  <a:t>）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功能：決定哪些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TW" altLang="en-US" dirty="0"/>
                  <a:t> 中的資訊可以被輸出，當作當前時間步的隱藏狀態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輸入：</a:t>
                </a:r>
                <a:r>
                  <a:rPr kumimoji="1" lang="en-US" altLang="zh-TW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,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kumimoji="1" lang="en-US" altLang="zh-TW" i="1" dirty="0">
                  <a:latin typeface="Cambria Math" panose="02040503050406030204" pitchFamily="18" charset="0"/>
                </a:endParaRPr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輸出：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zh-TW" altLang="en-US" i="1">
                        <a:latin typeface="Cambria Math" panose="02040503050406030204" pitchFamily="18" charset="0"/>
                      </a:rPr>
                      <m:t>𝜎</m:t>
                    </m:r>
                    <m:d>
                      <m:d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d>
                          <m:dPr>
                            <m:begChr m:val="["/>
                            <m:endChr m:val="]"/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b>
                            </m:s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kumimoji="1" lang="zh-TW" alt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位置：在上圖左下的四個直角中，最外層的那一個。</a:t>
                </a:r>
                <a:endParaRPr kumimoji="1" lang="en-US" altLang="zh-TW" dirty="0"/>
              </a:p>
              <a:p>
                <a:pPr marL="749808" lvl="1" indent="-457200">
                  <a:buFont typeface="Wingdings" pitchFamily="2" charset="2"/>
                  <a:buChar char="n"/>
                </a:pPr>
                <a:r>
                  <a:rPr kumimoji="1" lang="zh-TW" altLang="en-US" dirty="0"/>
                  <a:t>用法：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⊗</m:t>
                    </m:r>
                    <m:r>
                      <m:rPr>
                        <m:sty m:val="p"/>
                      </m:rPr>
                      <a:rPr kumimoji="1" lang="en-US" altLang="zh-TW">
                        <a:latin typeface="Cambria Math" panose="02040503050406030204" pitchFamily="18" charset="0"/>
                      </a:rPr>
                      <m:t>tanh</m:t>
                    </m:r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8" name="內容版面配置區 2">
                <a:extLst>
                  <a:ext uri="{FF2B5EF4-FFF2-40B4-BE49-F238E27FC236}">
                    <a16:creationId xmlns:a16="http://schemas.microsoft.com/office/drawing/2014/main" id="{5C27195F-6708-9E7D-D134-98DADFA39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0576" y="2134241"/>
                <a:ext cx="5643016" cy="4223151"/>
              </a:xfrm>
              <a:prstGeom prst="rect">
                <a:avLst/>
              </a:prstGeom>
              <a:blipFill>
                <a:blip r:embed="rId3"/>
                <a:stretch>
                  <a:fillRect l="-3146" t="-1201" r="-179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82715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616E6E-1D0C-D88D-5549-2651D5DC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LSTM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5878DE-4E32-51EC-6810-67C90863A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Hadamard Product</a:t>
            </a:r>
            <a:r>
              <a:rPr kumimoji="1" lang="zh-TW" altLang="en-US" dirty="0"/>
              <a:t> 有「閥門」的效果：</a:t>
            </a:r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4E63C1F-93D1-4456-7D43-7C679CFD4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9DBA85-6562-076D-1457-CE097EF1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E0CBE2D-F231-3352-C9DD-F742239B6535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313990357"/>
              </p:ext>
            </p:extLst>
          </p:nvPr>
        </p:nvGraphicFramePr>
        <p:xfrm>
          <a:off x="3224192" y="2949045"/>
          <a:ext cx="942693" cy="213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693">
                  <a:extLst>
                    <a:ext uri="{9D8B030D-6E8A-4147-A177-3AD203B41FA5}">
                      <a16:colId xmlns:a16="http://schemas.microsoft.com/office/drawing/2014/main" val="1731341512"/>
                    </a:ext>
                  </a:extLst>
                </a:gridCol>
              </a:tblGrid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水流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551098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590029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23660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872043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2A5F3A-01FB-1AB6-6F4D-752332CA4C27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092299479"/>
              </p:ext>
            </p:extLst>
          </p:nvPr>
        </p:nvGraphicFramePr>
        <p:xfrm>
          <a:off x="5351104" y="2949045"/>
          <a:ext cx="942693" cy="213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693">
                  <a:extLst>
                    <a:ext uri="{9D8B030D-6E8A-4147-A177-3AD203B41FA5}">
                      <a16:colId xmlns:a16="http://schemas.microsoft.com/office/drawing/2014/main" val="1731341512"/>
                    </a:ext>
                  </a:extLst>
                </a:gridCol>
              </a:tblGrid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閥門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551098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0.5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590029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23660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872043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8F06A947-78BF-9F63-B017-8A08C3C4DEE0}"/>
              </a:ext>
            </a:extLst>
          </p:cNvPr>
          <p:cNvGraphicFramePr>
            <a:graphicFrameLocks noGrp="1" noDrilldown="1" noMove="1" noResize="1"/>
          </p:cNvGraphicFramePr>
          <p:nvPr>
            <p:extLst>
              <p:ext uri="{D42A27DB-BD31-4B8C-83A1-F6EECF244321}">
                <p14:modId xmlns:p14="http://schemas.microsoft.com/office/powerpoint/2010/main" val="3016047503"/>
              </p:ext>
            </p:extLst>
          </p:nvPr>
        </p:nvGraphicFramePr>
        <p:xfrm>
          <a:off x="7553770" y="2949045"/>
          <a:ext cx="942693" cy="213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2693">
                  <a:extLst>
                    <a:ext uri="{9D8B030D-6E8A-4147-A177-3AD203B41FA5}">
                      <a16:colId xmlns:a16="http://schemas.microsoft.com/office/drawing/2014/main" val="1731341512"/>
                    </a:ext>
                  </a:extLst>
                </a:gridCol>
              </a:tblGrid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水量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6551098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9590029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23660"/>
                  </a:ext>
                </a:extLst>
              </a:tr>
              <a:tr h="53482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872043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D4120D6-A8EF-0FE2-120B-407FB9531FCD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45122" y="3803980"/>
                <a:ext cx="5034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i="1" smtClean="0">
                          <a:latin typeface="Cambria Math" panose="02040503050406030204" pitchFamily="18" charset="0"/>
                        </a:rPr>
                        <m:t>⊗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4D4120D6-A8EF-0FE2-120B-407FB9531FC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5122" y="3803980"/>
                <a:ext cx="503499" cy="369332"/>
              </a:xfrm>
              <a:prstGeom prst="rect">
                <a:avLst/>
              </a:prstGeom>
              <a:blipFill>
                <a:blip r:embed="rId2"/>
                <a:stretch>
                  <a:fillRect b="-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4781F84-2FF8-93A5-E6F2-7BEC3ADB7AF3}"/>
                  </a:ext>
                </a:extLst>
              </p:cNvPr>
              <p:cNvSpPr txBox="1"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596280" y="3803980"/>
                <a:ext cx="50349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94781F84-2FF8-93A5-E6F2-7BEC3ADB7AF3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6280" y="3803980"/>
                <a:ext cx="5034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44873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4750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E4B10BD-010D-5E54-B66B-968BC231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kumimoji="1" lang="en-US" altLang="zh-TW" sz="4000">
                <a:solidFill>
                  <a:srgbClr val="FFFFFF"/>
                </a:solidFill>
              </a:rPr>
              <a:t>LSTM</a:t>
            </a:r>
            <a:endParaRPr kumimoji="1" lang="zh-TW" altLang="en-US" sz="400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89221A-CBB0-6220-86B2-055DB32FA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643" y="2799654"/>
            <a:ext cx="3322571" cy="3189665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solidFill>
                  <a:srgbClr val="FFFFFF"/>
                </a:solidFill>
              </a:rPr>
              <a:t>Google Neural Machine Translation (GNMT)</a:t>
            </a:r>
            <a:r>
              <a:rPr kumimoji="1" lang="zh-TW" altLang="en-US" dirty="0">
                <a:solidFill>
                  <a:srgbClr val="FFFFFF"/>
                </a:solidFill>
              </a:rPr>
              <a:t> 是基於 </a:t>
            </a:r>
            <a:r>
              <a:rPr kumimoji="1" lang="en-US" altLang="zh-TW" dirty="0">
                <a:solidFill>
                  <a:srgbClr val="FFFFFF"/>
                </a:solidFill>
              </a:rPr>
              <a:t>LSTM</a:t>
            </a:r>
            <a:r>
              <a:rPr kumimoji="1" lang="zh-TW" altLang="en-US" dirty="0">
                <a:solidFill>
                  <a:srgbClr val="FFFFFF"/>
                </a:solidFill>
              </a:rPr>
              <a:t> 的架構：</a:t>
            </a:r>
            <a:endParaRPr kumimoji="1" lang="en-US" altLang="zh-TW" dirty="0">
              <a:solidFill>
                <a:srgbClr val="FFFFFF"/>
              </a:solidFill>
            </a:endParaRPr>
          </a:p>
          <a:p>
            <a:r>
              <a:rPr kumimoji="1" lang="en-US" altLang="zh-TW" dirty="0">
                <a:solidFill>
                  <a:srgbClr val="FFFFFF"/>
                </a:solidFill>
                <a:hlinkClick r:id="rId2"/>
              </a:rPr>
              <a:t>https://en.wikipedia.org/wiki/Google_Neural_Machine_Translation</a:t>
            </a:r>
            <a:endParaRPr kumimoji="1" lang="en-US" altLang="zh-TW" dirty="0">
              <a:solidFill>
                <a:srgbClr val="FFFFFF"/>
              </a:solidFill>
            </a:endParaRPr>
          </a:p>
          <a:p>
            <a:endParaRPr kumimoji="1" lang="zh-TW" altLang="en-US" dirty="0">
              <a:solidFill>
                <a:srgbClr val="FFFFFF"/>
              </a:solidFill>
            </a:endParaRPr>
          </a:p>
        </p:txBody>
      </p:sp>
      <p:pic>
        <p:nvPicPr>
          <p:cNvPr id="7" name="圖片 6" descr="一張含有 文字, 螢幕擷取畫面, 網頁, 網站 的圖片&#10;&#10;AI 產生的內容可能不正確。">
            <a:extLst>
              <a:ext uri="{FF2B5EF4-FFF2-40B4-BE49-F238E27FC236}">
                <a16:creationId xmlns:a16="http://schemas.microsoft.com/office/drawing/2014/main" id="{3C992D44-4722-8F90-3FC5-9542E09E7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2017" y="1313098"/>
            <a:ext cx="6798082" cy="42318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896A78-6CA7-8AB8-97B1-FE3EAE17E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911428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991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C0E6D79-2F0C-C5E3-1FA1-487F6849E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6"/>
            <a:ext cx="3084844" cy="1961086"/>
          </a:xfrm>
        </p:spPr>
        <p:txBody>
          <a:bodyPr>
            <a:normAutofit/>
          </a:bodyPr>
          <a:lstStyle/>
          <a:p>
            <a:r>
              <a:rPr kumimoji="1" lang="en-US" altLang="zh-TW" sz="4000">
                <a:solidFill>
                  <a:srgbClr val="FFFFFF"/>
                </a:solidFill>
              </a:rPr>
              <a:t>GRU</a:t>
            </a:r>
            <a:endParaRPr kumimoji="1" lang="zh-TW" altLang="en-US" sz="4000">
              <a:solidFill>
                <a:srgbClr val="FFFFFF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4A321A-A039-4720-87B4-66A4210E0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1752" y="2638787"/>
            <a:ext cx="27432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C6CAD8-5D53-1E59-ACC5-C13780EB0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091" y="2799654"/>
            <a:ext cx="3402957" cy="3189665"/>
          </a:xfrm>
        </p:spPr>
        <p:txBody>
          <a:bodyPr>
            <a:normAutofit/>
          </a:bodyPr>
          <a:lstStyle/>
          <a:p>
            <a:r>
              <a:rPr kumimoji="1" lang="en-US" altLang="zh-TW" sz="1800" dirty="0">
                <a:solidFill>
                  <a:srgbClr val="FFFFFF"/>
                </a:solidFill>
              </a:rPr>
              <a:t>GRU</a:t>
            </a:r>
            <a:r>
              <a:rPr kumimoji="1" lang="zh-TW" altLang="en-US" sz="1800" dirty="0">
                <a:solidFill>
                  <a:srgbClr val="FFFFFF"/>
                </a:solidFill>
              </a:rPr>
              <a:t>（</a:t>
            </a:r>
            <a:r>
              <a:rPr kumimoji="1" lang="en-US" altLang="zh-TW" sz="1800" dirty="0">
                <a:solidFill>
                  <a:srgbClr val="FFFFFF"/>
                </a:solidFill>
              </a:rPr>
              <a:t>Gate</a:t>
            </a:r>
            <a:r>
              <a:rPr kumimoji="1" lang="zh-TW" altLang="en-US" sz="1800" dirty="0">
                <a:solidFill>
                  <a:srgbClr val="FFFFFF"/>
                </a:solidFill>
              </a:rPr>
              <a:t> </a:t>
            </a:r>
            <a:r>
              <a:rPr kumimoji="1" lang="en-US" altLang="zh-TW" sz="1800" dirty="0">
                <a:solidFill>
                  <a:srgbClr val="FFFFFF"/>
                </a:solidFill>
              </a:rPr>
              <a:t>Recurrent</a:t>
            </a:r>
            <a:r>
              <a:rPr kumimoji="1" lang="zh-TW" altLang="en-US" sz="1800" dirty="0">
                <a:solidFill>
                  <a:srgbClr val="FFFFFF"/>
                </a:solidFill>
              </a:rPr>
              <a:t> </a:t>
            </a:r>
            <a:r>
              <a:rPr kumimoji="1" lang="en-US" altLang="zh-TW" sz="1800" dirty="0">
                <a:solidFill>
                  <a:srgbClr val="FFFFFF"/>
                </a:solidFill>
              </a:rPr>
              <a:t>Unit</a:t>
            </a:r>
            <a:r>
              <a:rPr kumimoji="1" lang="zh-TW" altLang="en-US" sz="1800" dirty="0">
                <a:solidFill>
                  <a:srgbClr val="FFFFFF"/>
                </a:solidFill>
              </a:rPr>
              <a:t>）是 </a:t>
            </a:r>
            <a:r>
              <a:rPr kumimoji="1" lang="en-US" altLang="zh-TW" sz="1800" dirty="0">
                <a:solidFill>
                  <a:srgbClr val="FFFFFF"/>
                </a:solidFill>
              </a:rPr>
              <a:t>LSTM</a:t>
            </a:r>
            <a:r>
              <a:rPr kumimoji="1" lang="zh-TW" altLang="en-US" sz="1800" dirty="0">
                <a:solidFill>
                  <a:srgbClr val="FFFFFF"/>
                </a:solidFill>
              </a:rPr>
              <a:t> 的變體，由研究員 </a:t>
            </a:r>
            <a:r>
              <a:rPr kumimoji="1" lang="en-US" altLang="zh-TW" sz="1800" dirty="0" err="1">
                <a:solidFill>
                  <a:srgbClr val="FFFFFF"/>
                </a:solidFill>
              </a:rPr>
              <a:t>Kyunghyun</a:t>
            </a:r>
            <a:r>
              <a:rPr kumimoji="1" lang="zh-TW" altLang="en-US" sz="1800" dirty="0">
                <a:solidFill>
                  <a:srgbClr val="FFFFFF"/>
                </a:solidFill>
              </a:rPr>
              <a:t> </a:t>
            </a:r>
            <a:r>
              <a:rPr kumimoji="1" lang="en-US" altLang="zh-TW" sz="1800" dirty="0">
                <a:solidFill>
                  <a:srgbClr val="FFFFFF"/>
                </a:solidFill>
              </a:rPr>
              <a:t>Cho</a:t>
            </a:r>
            <a:r>
              <a:rPr kumimoji="1" lang="zh-TW" altLang="en-US" sz="1800" dirty="0">
                <a:solidFill>
                  <a:srgbClr val="FFFFFF"/>
                </a:solidFill>
              </a:rPr>
              <a:t> 等在 </a:t>
            </a:r>
            <a:r>
              <a:rPr kumimoji="1" lang="en-US" altLang="zh-TW" sz="1800" dirty="0">
                <a:solidFill>
                  <a:srgbClr val="FFFFFF"/>
                </a:solidFill>
              </a:rPr>
              <a:t>2014</a:t>
            </a:r>
            <a:r>
              <a:rPr kumimoji="1" lang="zh-TW" altLang="en-US" sz="1800" dirty="0">
                <a:solidFill>
                  <a:srgbClr val="FFFFFF"/>
                </a:solidFill>
              </a:rPr>
              <a:t> 年所提出。基本上 </a:t>
            </a:r>
            <a:r>
              <a:rPr kumimoji="1" lang="en-US" altLang="zh-TW" sz="1800" dirty="0">
                <a:solidFill>
                  <a:srgbClr val="FFFFFF"/>
                </a:solidFill>
              </a:rPr>
              <a:t>GRU</a:t>
            </a:r>
            <a:r>
              <a:rPr kumimoji="1" lang="zh-TW" altLang="en-US" sz="1800" dirty="0">
                <a:solidFill>
                  <a:srgbClr val="FFFFFF"/>
                </a:solidFill>
              </a:rPr>
              <a:t> 希望改善 </a:t>
            </a:r>
            <a:r>
              <a:rPr kumimoji="1" lang="en-US" altLang="zh-TW" sz="1800" dirty="0">
                <a:solidFill>
                  <a:srgbClr val="FFFFFF"/>
                </a:solidFill>
              </a:rPr>
              <a:t>LSTM</a:t>
            </a:r>
            <a:r>
              <a:rPr kumimoji="1" lang="zh-TW" altLang="en-US" sz="1800" dirty="0">
                <a:solidFill>
                  <a:srgbClr val="FFFFFF"/>
                </a:solidFill>
              </a:rPr>
              <a:t> 的兩個方面：</a:t>
            </a:r>
            <a:endParaRPr kumimoji="1" lang="en-US" altLang="zh-TW" sz="18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sz="1800" dirty="0">
                <a:solidFill>
                  <a:srgbClr val="FFFFFF"/>
                </a:solidFill>
              </a:rPr>
              <a:t>提升計算速度</a:t>
            </a:r>
            <a:endParaRPr kumimoji="1" lang="en-US" altLang="zh-TW" sz="1800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sz="1800" dirty="0">
                <a:solidFill>
                  <a:srgbClr val="FFFFFF"/>
                </a:solidFill>
              </a:rPr>
              <a:t>簡化模型，節省記憶體空間</a:t>
            </a:r>
            <a:endParaRPr kumimoji="1" lang="en-US" altLang="zh-TW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kumimoji="1" lang="zh-TW" altLang="en-US" sz="1800" dirty="0">
                <a:solidFill>
                  <a:srgbClr val="FFFFFF"/>
                </a:solidFill>
              </a:rPr>
              <a:t>（</a:t>
            </a:r>
            <a:r>
              <a:rPr kumimoji="1" lang="en-US" altLang="zh-TW" sz="1800" dirty="0">
                <a:solidFill>
                  <a:srgbClr val="FFFFFF"/>
                </a:solidFill>
              </a:rPr>
              <a:t>GRU</a:t>
            </a:r>
            <a:r>
              <a:rPr kumimoji="1" lang="zh-TW" altLang="en-US" sz="1800" dirty="0">
                <a:solidFill>
                  <a:srgbClr val="FFFFFF"/>
                </a:solidFill>
              </a:rPr>
              <a:t> 模型的缺點在於，效能可能沒有 </a:t>
            </a:r>
            <a:r>
              <a:rPr kumimoji="1" lang="en-US" altLang="zh-TW" sz="1800" dirty="0">
                <a:solidFill>
                  <a:srgbClr val="FFFFFF"/>
                </a:solidFill>
              </a:rPr>
              <a:t>LSTM</a:t>
            </a:r>
            <a:r>
              <a:rPr kumimoji="1" lang="zh-TW" altLang="en-US" sz="1800" dirty="0">
                <a:solidFill>
                  <a:srgbClr val="FFFFFF"/>
                </a:solidFill>
              </a:rPr>
              <a:t> 好）</a:t>
            </a:r>
            <a:endParaRPr kumimoji="1" lang="en-US" altLang="zh-TW" sz="18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kumimoji="1" lang="en-US" altLang="zh-TW" sz="1800" dirty="0">
              <a:solidFill>
                <a:srgbClr val="FFFFFF"/>
              </a:solidFill>
            </a:endParaRPr>
          </a:p>
        </p:txBody>
      </p:sp>
      <p:pic>
        <p:nvPicPr>
          <p:cNvPr id="7" name="圖形 6">
            <a:extLst>
              <a:ext uri="{FF2B5EF4-FFF2-40B4-BE49-F238E27FC236}">
                <a16:creationId xmlns:a16="http://schemas.microsoft.com/office/drawing/2014/main" id="{316AB97F-36D2-3BB6-999F-5C814FF4C8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2017" y="1727434"/>
            <a:ext cx="6798082" cy="3403131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EFB154-9373-5E3C-589F-8529CFCF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118536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888FF7-ECE2-BCCF-7E74-911DF2B8D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LSTM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GRU</a:t>
            </a:r>
            <a:r>
              <a:rPr kumimoji="1" lang="zh-TW" altLang="en-US" dirty="0"/>
              <a:t> 程式碼範例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8C047EF-8F71-F00F-BE49-97B2221148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Chapter_6_LSTM.ipynb</a:t>
            </a:r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Chapter_6_GRU.ipynb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0B5BFC-7ABE-15DE-684A-902293662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F92F69-5959-19D3-6FB1-FC7B6F97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73640626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0">
            <a:extLst>
              <a:ext uri="{FF2B5EF4-FFF2-40B4-BE49-F238E27FC236}">
                <a16:creationId xmlns:a16="http://schemas.microsoft.com/office/drawing/2014/main" id="{67B74F2B-9534-4540-96B0-5C8E958B9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693F529-B117-EC67-9A73-3ABF5D82D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72074" y="286603"/>
            <a:ext cx="5983605" cy="1450757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pic>
        <p:nvPicPr>
          <p:cNvPr id="6" name="內容版面配置區 8" descr="一張含有 文字, 圖表, 螢幕擷取畫面, 方案 的圖片&#10;&#10;AI 產生的內容可能不正確。">
            <a:extLst>
              <a:ext uri="{FF2B5EF4-FFF2-40B4-BE49-F238E27FC236}">
                <a16:creationId xmlns:a16="http://schemas.microsoft.com/office/drawing/2014/main" id="{602B5270-01BD-2E16-1B9B-87E615414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6" b="447"/>
          <a:stretch>
            <a:fillRect/>
          </a:stretch>
        </p:blipFill>
        <p:spPr>
          <a:xfrm>
            <a:off x="20" y="10"/>
            <a:ext cx="4580077" cy="6400784"/>
          </a:xfrm>
          <a:prstGeom prst="rect">
            <a:avLst/>
          </a:prstGeom>
        </p:spPr>
      </p:pic>
      <p:cxnSp>
        <p:nvCxnSpPr>
          <p:cNvPr id="17" name="!!Straight Connector">
            <a:extLst>
              <a:ext uri="{FF2B5EF4-FFF2-40B4-BE49-F238E27FC236}">
                <a16:creationId xmlns:a16="http://schemas.microsoft.com/office/drawing/2014/main" id="{33BECB2B-2CFA-412C-880F-C4B609749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42903" y="1917852"/>
            <a:ext cx="59436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ED833F-0E3A-D5C6-FFC5-655FAEA002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72073" y="2108200"/>
            <a:ext cx="6601519" cy="424654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1" lang="en-US" altLang="zh-TW" sz="2200" dirty="0"/>
              <a:t>Google</a:t>
            </a:r>
            <a:r>
              <a:rPr kumimoji="1" lang="zh-TW" altLang="en-US" sz="2200" dirty="0"/>
              <a:t> 學者們在 </a:t>
            </a:r>
            <a:r>
              <a:rPr kumimoji="1" lang="en-US" altLang="zh-TW" sz="2200" dirty="0"/>
              <a:t>2017</a:t>
            </a:r>
            <a:r>
              <a:rPr kumimoji="1" lang="zh-TW" altLang="en-US" sz="2200" dirty="0"/>
              <a:t> 年發表了論文 </a:t>
            </a:r>
            <a:r>
              <a:rPr kumimoji="1" lang="en-US" altLang="zh-TW" sz="2200" dirty="0"/>
              <a:t>Attention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is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All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You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Need</a:t>
            </a:r>
            <a:r>
              <a:rPr kumimoji="1" lang="zh-TW" altLang="en-US" sz="2200" dirty="0"/>
              <a:t>，提出了注意力的機制與 </a:t>
            </a:r>
            <a:r>
              <a:rPr kumimoji="1" lang="en-US" altLang="zh-TW" sz="2200" dirty="0"/>
              <a:t>Transformer</a:t>
            </a:r>
            <a:r>
              <a:rPr kumimoji="1" lang="zh-TW" altLang="en-US" sz="2200" dirty="0"/>
              <a:t> 架構，馬上成為 </a:t>
            </a:r>
            <a:r>
              <a:rPr kumimoji="1" lang="en-US" altLang="zh-TW" sz="2200" dirty="0"/>
              <a:t>NLP</a:t>
            </a:r>
            <a:r>
              <a:rPr kumimoji="1" lang="zh-TW" altLang="en-US" sz="2200" dirty="0"/>
              <a:t> 領域最核心的演算法。</a:t>
            </a:r>
            <a:endParaRPr kumimoji="1" lang="en-US" altLang="zh-TW" sz="2200" dirty="0"/>
          </a:p>
          <a:p>
            <a:pPr>
              <a:lnSpc>
                <a:spcPct val="90000"/>
              </a:lnSpc>
            </a:pPr>
            <a:r>
              <a:rPr kumimoji="1" lang="en-US" altLang="zh-TW" sz="2200" dirty="0"/>
              <a:t>Transformer</a:t>
            </a:r>
            <a:r>
              <a:rPr kumimoji="1" lang="zh-TW" altLang="en-US" sz="2200" dirty="0"/>
              <a:t> 架構最初設計的本意是要作為一個通用的序列到序列（</a:t>
            </a:r>
            <a:r>
              <a:rPr kumimoji="1" lang="en-US" altLang="zh-TW" sz="2200" dirty="0"/>
              <a:t>sequence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to</a:t>
            </a:r>
            <a:r>
              <a:rPr kumimoji="1" lang="zh-TW" altLang="en-US" sz="2200" dirty="0"/>
              <a:t> </a:t>
            </a:r>
            <a:r>
              <a:rPr kumimoji="1" lang="en-US" altLang="zh-TW" sz="2200" dirty="0"/>
              <a:t>sequence</a:t>
            </a:r>
            <a:r>
              <a:rPr kumimoji="1" lang="zh-TW" altLang="en-US" sz="2200" dirty="0"/>
              <a:t>）任務的模型架構。可應用於機器翻譯、聊天機器人、文字摘要生成等等。</a:t>
            </a:r>
            <a:endParaRPr kumimoji="1" lang="en-US" altLang="zh-TW" sz="2200" dirty="0"/>
          </a:p>
          <a:p>
            <a:pPr>
              <a:lnSpc>
                <a:spcPct val="90000"/>
              </a:lnSpc>
            </a:pPr>
            <a:r>
              <a:rPr kumimoji="1" lang="en-US" altLang="zh-TW" sz="2200" dirty="0"/>
              <a:t>Transformer</a:t>
            </a:r>
            <a:r>
              <a:rPr kumimoji="1" lang="zh-TW" altLang="en-US" sz="2200" dirty="0"/>
              <a:t> 架構</a:t>
            </a:r>
            <a:r>
              <a:rPr lang="zh-TW" altLang="en-US" sz="2200" dirty="0"/>
              <a:t>由兩大核心組成：</a:t>
            </a:r>
            <a:endParaRPr lang="en-US" altLang="zh-TW" sz="22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kumimoji="1" lang="zh-TW" altLang="en-US" sz="2200" dirty="0"/>
              <a:t> </a:t>
            </a:r>
            <a:r>
              <a:rPr kumimoji="1" lang="en-US" altLang="zh-TW" sz="2200" dirty="0"/>
              <a:t>Encoder </a:t>
            </a:r>
            <a:r>
              <a:rPr kumimoji="1" lang="zh-TW" altLang="en-US" sz="2200" dirty="0"/>
              <a:t>負責理解輸入</a:t>
            </a:r>
            <a:endParaRPr kumimoji="1" lang="en-US" altLang="zh-TW" sz="2200" dirty="0"/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kumimoji="1" lang="zh-TW" altLang="en-US" sz="2200" dirty="0"/>
              <a:t> </a:t>
            </a:r>
            <a:r>
              <a:rPr kumimoji="1" lang="en-US" altLang="zh-TW" sz="2200" dirty="0"/>
              <a:t>Decoder </a:t>
            </a:r>
            <a:r>
              <a:rPr kumimoji="1" lang="zh-TW" altLang="en-US" sz="2200" dirty="0"/>
              <a:t>負責生成輸出。</a:t>
            </a:r>
            <a:endParaRPr kumimoji="1" lang="en-US" altLang="zh-TW" sz="22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B60310-C5C3-46A0-A452-2A0B00843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B19734-5CF3-E249-5260-6F697AEA2C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zh-TW"/>
              <a:t>Wilson Ren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65A20BE-9D64-8087-036C-138518106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3582" y="6446838"/>
            <a:ext cx="78001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28799018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CD6E8B-206C-9FA0-775D-9657B70D5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67ADB28-32B1-9619-5AC0-BCE23850AF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Encoder </a:t>
            </a:r>
            <a:r>
              <a:rPr kumimoji="1" lang="zh-TW" altLang="en-US" dirty="0"/>
              <a:t>會一次性平行讀取整段文字。這與傳統 </a:t>
            </a:r>
            <a:r>
              <a:rPr kumimoji="1" lang="en-US" altLang="zh-TW" dirty="0"/>
              <a:t>RNN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LSTM </a:t>
            </a:r>
            <a:r>
              <a:rPr kumimoji="1" lang="zh-TW" altLang="en-US" dirty="0"/>
              <a:t>逐字處理的特性截然不同。在文字進入 </a:t>
            </a:r>
            <a:r>
              <a:rPr kumimoji="1" lang="en-US" altLang="zh-TW" dirty="0"/>
              <a:t>Embedding Layer </a:t>
            </a:r>
            <a:r>
              <a:rPr kumimoji="1" lang="zh-TW" altLang="en-US" dirty="0"/>
              <a:t>轉換為向量後，會被送入 </a:t>
            </a:r>
            <a:r>
              <a:rPr kumimoji="1" lang="en-US" altLang="zh-TW" dirty="0"/>
              <a:t>Multi-Head Attention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Layer</a:t>
            </a:r>
            <a:r>
              <a:rPr kumimoji="1" lang="zh-TW" altLang="en-US" dirty="0"/>
              <a:t>。 這一層的核心功能是讓模型「學習」序列中各個單字之間的關聯性。以語義辨析為例：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在「</a:t>
            </a:r>
            <a:r>
              <a:rPr kumimoji="1" lang="en-US" altLang="zh-TW" dirty="0"/>
              <a:t>Time </a:t>
            </a:r>
            <a:r>
              <a:rPr kumimoji="1" lang="en-US" altLang="zh-TW" b="1" dirty="0"/>
              <a:t>flies</a:t>
            </a:r>
            <a:r>
              <a:rPr kumimoji="1" lang="en-US" altLang="zh-TW" dirty="0"/>
              <a:t> like an arrow</a:t>
            </a:r>
            <a:r>
              <a:rPr kumimoji="1" lang="zh-TW" altLang="en-US" dirty="0"/>
              <a:t>」中，當模型處理到 </a:t>
            </a:r>
            <a:r>
              <a:rPr kumimoji="1" lang="en-US" altLang="zh-TW" dirty="0"/>
              <a:t>flies </a:t>
            </a:r>
            <a:r>
              <a:rPr kumimoji="1" lang="zh-TW" altLang="en-US" dirty="0"/>
              <a:t>時，若將注意力權重放在 </a:t>
            </a:r>
            <a:r>
              <a:rPr kumimoji="1" lang="en-US" altLang="zh-TW" dirty="0"/>
              <a:t>Time </a:t>
            </a:r>
            <a:r>
              <a:rPr kumimoji="1" lang="zh-TW" altLang="en-US" dirty="0"/>
              <a:t>上，便能推斷此處的 </a:t>
            </a:r>
            <a:r>
              <a:rPr kumimoji="1" lang="en-US" altLang="zh-TW" dirty="0"/>
              <a:t>flies </a:t>
            </a:r>
            <a:r>
              <a:rPr kumimoji="1" lang="zh-TW" altLang="en-US" dirty="0"/>
              <a:t>是動詞「飛逝」。 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在「</a:t>
            </a:r>
            <a:r>
              <a:rPr kumimoji="1" lang="en-US" altLang="zh-TW" dirty="0"/>
              <a:t>Fruit </a:t>
            </a:r>
            <a:r>
              <a:rPr kumimoji="1" lang="en-US" altLang="zh-TW" b="1" dirty="0"/>
              <a:t>flies</a:t>
            </a:r>
            <a:r>
              <a:rPr kumimoji="1" lang="en-US" altLang="zh-TW" dirty="0"/>
              <a:t> are annoying</a:t>
            </a:r>
            <a:r>
              <a:rPr kumimoji="1" lang="zh-TW" altLang="en-US" dirty="0"/>
              <a:t>」中，若注意力集中在 </a:t>
            </a:r>
            <a:r>
              <a:rPr kumimoji="1" lang="en-US" altLang="zh-TW" dirty="0"/>
              <a:t>Fruit </a:t>
            </a:r>
            <a:r>
              <a:rPr kumimoji="1" lang="zh-TW" altLang="en-US" dirty="0"/>
              <a:t>上，則能判定這裡的 </a:t>
            </a:r>
            <a:r>
              <a:rPr kumimoji="1" lang="en-US" altLang="zh-TW" dirty="0"/>
              <a:t>flies </a:t>
            </a:r>
            <a:r>
              <a:rPr kumimoji="1" lang="zh-TW" altLang="en-US" dirty="0"/>
              <a:t>是名詞「果蠅」。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024515-42D8-57C2-2350-FB74963C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D36CCF-CD88-E522-4764-01EC17C4B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2469019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C4C60C-22CE-2037-0AF5-81F2CDA8F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8EC3AC-B592-1342-3435-D1FDFA57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87" y="2108201"/>
            <a:ext cx="11310605" cy="4223151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/>
              <a:t>當 </a:t>
            </a:r>
            <a:r>
              <a:rPr kumimoji="1" lang="en-US" altLang="zh-TW" dirty="0"/>
              <a:t>Encoder </a:t>
            </a:r>
            <a:r>
              <a:rPr kumimoji="1" lang="zh-TW" altLang="en-US" dirty="0"/>
              <a:t>對文字完成處理後，會生成一個 </a:t>
            </a:r>
            <a:r>
              <a:rPr kumimoji="1" lang="en-US" altLang="zh-TW" dirty="0"/>
              <a:t>context vector</a:t>
            </a:r>
            <a:r>
              <a:rPr kumimoji="1" lang="zh-TW" altLang="en-US" dirty="0"/>
              <a:t>，其中包含整段文字的語意資訊。這個向量接著會被傳給 </a:t>
            </a:r>
            <a:r>
              <a:rPr kumimoji="1" lang="en-US" altLang="zh-TW" dirty="0"/>
              <a:t>Decoder</a:t>
            </a:r>
            <a:r>
              <a:rPr kumimoji="1" lang="zh-TW" altLang="en-US" dirty="0"/>
              <a:t>。</a:t>
            </a:r>
            <a:r>
              <a:rPr kumimoji="1" lang="en-US" altLang="zh-TW" dirty="0"/>
              <a:t>Decoder </a:t>
            </a:r>
            <a:r>
              <a:rPr kumimoji="1" lang="zh-TW" altLang="en-US" dirty="0"/>
              <a:t>採用 </a:t>
            </a:r>
            <a:r>
              <a:rPr kumimoji="1" lang="en-US" altLang="zh-TW" dirty="0"/>
              <a:t>Autoregressive</a:t>
            </a:r>
            <a:r>
              <a:rPr kumimoji="1" lang="zh-TW" altLang="en-US" dirty="0"/>
              <a:t>（自迴歸） 的方式逐字生成結果，流程如下：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初始步驟：</a:t>
            </a:r>
            <a:r>
              <a:rPr kumimoji="1" lang="en-US" altLang="zh-TW" dirty="0"/>
              <a:t>Decoder </a:t>
            </a:r>
            <a:r>
              <a:rPr kumimoji="1" lang="zh-TW" altLang="en-US" dirty="0"/>
              <a:t>首先接收一個特殊的起始符號（例如 </a:t>
            </a:r>
            <a:r>
              <a:rPr kumimoji="1" lang="en-US" altLang="zh-TW" dirty="0"/>
              <a:t>&lt;SOS&gt;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[START]</a:t>
            </a:r>
            <a:r>
              <a:rPr kumimoji="1" lang="zh-TW" altLang="en-US" dirty="0"/>
              <a:t>）。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生成首字：</a:t>
            </a:r>
            <a:r>
              <a:rPr kumimoji="1" lang="en-US" altLang="zh-TW" dirty="0"/>
              <a:t>Decoder </a:t>
            </a:r>
            <a:r>
              <a:rPr kumimoji="1" lang="zh-TW" altLang="en-US" dirty="0"/>
              <a:t>使用 </a:t>
            </a:r>
            <a:r>
              <a:rPr kumimoji="1" lang="en-US" altLang="zh-TW" dirty="0"/>
              <a:t>context vector </a:t>
            </a:r>
            <a:r>
              <a:rPr kumimoji="1" lang="zh-TW" altLang="en-US" dirty="0"/>
              <a:t>與這個起始符號，生成第一個字。注意，最上層的 </a:t>
            </a:r>
            <a:r>
              <a:rPr kumimoji="1" lang="en-US" altLang="zh-TW" dirty="0"/>
              <a:t>Linear </a:t>
            </a:r>
            <a:r>
              <a:rPr kumimoji="1" lang="zh-TW" altLang="en-US" dirty="0"/>
              <a:t>層與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</a:t>
            </a:r>
            <a:r>
              <a:rPr kumimoji="1" lang="zh-TW" altLang="en-US" dirty="0"/>
              <a:t>層用於輸出一個機率分佈，用於選擇最可能的字。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循環生成：接著，</a:t>
            </a:r>
            <a:r>
              <a:rPr kumimoji="1" lang="en-US" altLang="zh-TW" dirty="0"/>
              <a:t>Decoder </a:t>
            </a:r>
            <a:r>
              <a:rPr kumimoji="1" lang="zh-TW" altLang="en-US" dirty="0"/>
              <a:t>會將 </a:t>
            </a:r>
            <a:r>
              <a:rPr kumimoji="1" lang="en-US" altLang="zh-TW" dirty="0"/>
              <a:t>Context Vector </a:t>
            </a:r>
            <a:r>
              <a:rPr kumimoji="1" lang="zh-TW" altLang="en-US" dirty="0"/>
              <a:t>與上一步剛生成的字同時作為輸入，用來生成下一個字。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zh-TW" altLang="en-US" dirty="0"/>
              <a:t>這個過程會不斷重複，直到 </a:t>
            </a:r>
            <a:r>
              <a:rPr kumimoji="1" lang="en-US" altLang="zh-TW" dirty="0"/>
              <a:t>Decoder </a:t>
            </a:r>
            <a:r>
              <a:rPr kumimoji="1" lang="zh-TW" altLang="en-US" dirty="0"/>
              <a:t>輸出結束符號（如 </a:t>
            </a:r>
            <a:r>
              <a:rPr kumimoji="1" lang="en-US" altLang="zh-TW" dirty="0"/>
              <a:t>&lt;EOS&gt;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[END]</a:t>
            </a:r>
            <a:r>
              <a:rPr kumimoji="1" lang="zh-TW" altLang="en-US" dirty="0"/>
              <a:t>）或達到預設的最大長度為止。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DF001F-3B9D-5EFB-B7A1-A786F872D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D02B0E-3A05-28C6-97F1-8A99D62C6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8447442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DCD402-7DC7-BA67-BFEA-3DA4EAB04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5A3E52-A0C7-FD0A-D715-B64AEE2E8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3991657"/>
          </a:xfrm>
        </p:spPr>
        <p:txBody>
          <a:bodyPr>
            <a:normAutofit lnSpcReduction="10000"/>
          </a:bodyPr>
          <a:lstStyle/>
          <a:p>
            <a:r>
              <a:rPr kumimoji="1" lang="en-US" altLang="zh-TW" dirty="0"/>
              <a:t>BERT</a:t>
            </a:r>
            <a:r>
              <a:rPr kumimoji="1" lang="zh-TW" altLang="en-US" dirty="0"/>
              <a:t>（</a:t>
            </a:r>
            <a:r>
              <a:rPr kumimoji="1" lang="en-US" altLang="zh-TW" dirty="0"/>
              <a:t>Bidirectional Encoder Representations from Transformers</a:t>
            </a:r>
            <a:r>
              <a:rPr kumimoji="1" lang="zh-TW" altLang="en-US" dirty="0"/>
              <a:t>） 是在 </a:t>
            </a:r>
            <a:r>
              <a:rPr kumimoji="1" lang="en-US" altLang="zh-TW" dirty="0"/>
              <a:t>2018 </a:t>
            </a:r>
            <a:r>
              <a:rPr kumimoji="1" lang="zh-TW" altLang="en-US" dirty="0"/>
              <a:t>年由 </a:t>
            </a:r>
            <a:r>
              <a:rPr kumimoji="1" lang="en-US" altLang="zh-TW" dirty="0"/>
              <a:t>Google </a:t>
            </a:r>
            <a:r>
              <a:rPr kumimoji="1" lang="zh-TW" altLang="en-US" dirty="0"/>
              <a:t>的研究團隊提出的語言模型，基於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架構。</a:t>
            </a:r>
            <a:endParaRPr kumimoji="1" lang="en-US" altLang="zh-TW" dirty="0"/>
          </a:p>
          <a:p>
            <a:r>
              <a:rPr kumimoji="1" lang="zh-TW" altLang="en-US" dirty="0"/>
              <a:t>在模型設計上，</a:t>
            </a:r>
            <a:r>
              <a:rPr kumimoji="1" lang="en-US" altLang="zh-TW" dirty="0"/>
              <a:t>BERT </a:t>
            </a:r>
            <a:r>
              <a:rPr kumimoji="1" lang="zh-TW" altLang="en-US" dirty="0"/>
              <a:t>只使用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Encoder </a:t>
            </a:r>
            <a:r>
              <a:rPr kumimoji="1" lang="zh-TW" altLang="en-US" dirty="0"/>
              <a:t>部分。</a:t>
            </a:r>
            <a:r>
              <a:rPr kumimoji="1" lang="zh-TW" altLang="en-US" sz="1800" dirty="0"/>
              <a:t>（名稱中的 </a:t>
            </a:r>
            <a:r>
              <a:rPr kumimoji="1" lang="en-US" altLang="zh-TW" sz="1800" dirty="0"/>
              <a:t>Bidirectional</a:t>
            </a:r>
            <a:r>
              <a:rPr kumimoji="1" lang="zh-TW" altLang="en-US" sz="1800" dirty="0"/>
              <a:t> 是在強調 </a:t>
            </a:r>
            <a:r>
              <a:rPr kumimoji="1" lang="en-US" altLang="zh-TW" sz="1800" dirty="0"/>
              <a:t>Encoder</a:t>
            </a:r>
            <a:r>
              <a:rPr kumimoji="1" lang="zh-TW" altLang="en-US" sz="1800" dirty="0"/>
              <a:t> 的雙向上下文理解特性。</a:t>
            </a:r>
            <a:r>
              <a:rPr kumimoji="1" lang="en-US" altLang="zh-TW" sz="1800" dirty="0"/>
              <a:t>Encoder</a:t>
            </a:r>
            <a:r>
              <a:rPr kumimoji="1" lang="zh-TW" altLang="en-US" sz="1800" dirty="0"/>
              <a:t> 在處理每一個 </a:t>
            </a:r>
            <a:r>
              <a:rPr kumimoji="1" lang="en-US" altLang="zh-TW" sz="1800" dirty="0"/>
              <a:t>token </a:t>
            </a:r>
            <a:r>
              <a:rPr kumimoji="1" lang="zh-TW" altLang="en-US" sz="1800" dirty="0"/>
              <a:t>時，會同時考慮左邊與右邊的語意，與傳統語言模型從左到右的單向理解不同。）</a:t>
            </a:r>
            <a:endParaRPr kumimoji="1" lang="en-US" altLang="zh-TW" sz="1800" dirty="0"/>
          </a:p>
          <a:p>
            <a:r>
              <a:rPr kumimoji="1" lang="zh-TW" altLang="en-US" dirty="0"/>
              <a:t>研究員將 </a:t>
            </a:r>
            <a:r>
              <a:rPr kumimoji="1" lang="en-US" altLang="zh-TW" dirty="0"/>
              <a:t>BERT </a:t>
            </a:r>
            <a:r>
              <a:rPr kumimoji="1" lang="zh-TW" altLang="en-US" dirty="0"/>
              <a:t>在大規模語料上進行訓練，訓練方法有：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en-US" altLang="zh-TW" dirty="0"/>
              <a:t>Masked Language Modeling</a:t>
            </a:r>
            <a:r>
              <a:rPr kumimoji="1" lang="zh-TW" altLang="en-US" dirty="0"/>
              <a:t>（</a:t>
            </a:r>
            <a:r>
              <a:rPr kumimoji="1" lang="en-US" altLang="zh-TW" dirty="0"/>
              <a:t>MLM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隨機將輸入句子中的部分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 遮住（用 </a:t>
            </a:r>
            <a:r>
              <a:rPr kumimoji="1" lang="en-US" altLang="zh-TW" dirty="0"/>
              <a:t>[MASK]</a:t>
            </a:r>
            <a:r>
              <a:rPr kumimoji="1" lang="zh-TW" altLang="en-US" dirty="0"/>
              <a:t>） 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模型需要根據上下文預測被遮住的詞。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例如：</a:t>
            </a:r>
            <a:r>
              <a:rPr kumimoji="1" lang="en-US" altLang="zh-TW" dirty="0"/>
              <a:t>I [MASK] you. → </a:t>
            </a:r>
            <a:r>
              <a:rPr kumimoji="1" lang="zh-TW" altLang="en-US" dirty="0"/>
              <a:t>預測 </a:t>
            </a:r>
            <a:r>
              <a:rPr kumimoji="1" lang="en-US" altLang="zh-TW" dirty="0"/>
              <a:t>love</a:t>
            </a:r>
            <a:r>
              <a:rPr kumimoji="1" lang="zh-TW" altLang="en-US" dirty="0"/>
              <a:t>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637076-C47B-997F-9E69-1D997F9F4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56BF39-43E6-EA40-084A-940F3E4C3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5851578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CF0BA2-3A11-89EE-0082-317DB37E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AEF2AD2-75F2-E290-EDD4-E23667929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kumimoji="1" lang="en-US" altLang="zh-TW" dirty="0"/>
              <a:t>Next Sentence Prediction</a:t>
            </a:r>
            <a:r>
              <a:rPr kumimoji="1" lang="zh-TW" altLang="en-US" dirty="0"/>
              <a:t>（</a:t>
            </a:r>
            <a:r>
              <a:rPr kumimoji="1" lang="en-US" altLang="zh-TW" dirty="0"/>
              <a:t>NSP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給模型兩個句子，判斷第二句是否為第一句的「下一句」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用來學習句子之間的語意連貫性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例如：我喜歡吃自助餐。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那我們何時一起去吃？（✔ 正確下一句）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n"/>
            </a:pPr>
            <a:r>
              <a:rPr kumimoji="1" lang="zh-TW" altLang="en-US" dirty="0"/>
              <a:t>義大利麵就應該拌</a:t>
            </a:r>
            <a:r>
              <a:rPr kumimoji="1" lang="en-US" altLang="zh-TW" dirty="0"/>
              <a:t>42</a:t>
            </a:r>
            <a:r>
              <a:rPr kumimoji="1" lang="zh-TW" altLang="en-US" dirty="0"/>
              <a:t>號混泥土（✘ 無關）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5018A5-69BE-2C48-8EE6-666CD5472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8510C0-1A72-7F9D-919A-4EFB3E957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32046739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BBD870-9705-E976-1531-567FF349E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</a:t>
            </a:r>
            <a:r>
              <a:rPr kumimoji="1" lang="zh-TW" altLang="en-US" dirty="0"/>
              <a:t> 的遷移學習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DB34DC-8322-5B5E-FBDB-9692D5340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07404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BERT </a:t>
            </a:r>
            <a:r>
              <a:rPr kumimoji="1" lang="zh-TW" altLang="en-US" dirty="0"/>
              <a:t>的優勢在於其高度的通用性。對於長度為 </a:t>
            </a:r>
            <a:r>
              <a:rPr kumimoji="1" lang="en-US" altLang="zh-TW" dirty="0"/>
              <a:t>n</a:t>
            </a:r>
            <a:r>
              <a:rPr kumimoji="1" lang="zh-TW" altLang="en-US" dirty="0"/>
              <a:t> 的輸入序列（包含特殊符號），</a:t>
            </a:r>
            <a:r>
              <a:rPr kumimoji="1" lang="en-US" altLang="zh-TW" dirty="0"/>
              <a:t>BERT </a:t>
            </a:r>
            <a:r>
              <a:rPr kumimoji="1" lang="zh-TW" altLang="en-US" dirty="0"/>
              <a:t>會輸出一個尺寸為 </a:t>
            </a:r>
            <a:r>
              <a:rPr kumimoji="1" lang="en-US" altLang="zh-TW" dirty="0"/>
              <a:t>n</a:t>
            </a:r>
            <a:r>
              <a:rPr kumimoji="1" lang="zh-TW" altLang="en-US" dirty="0"/>
              <a:t> </a:t>
            </a:r>
            <a:r>
              <a:rPr kumimoji="1" lang="en-US" altLang="zh-TW" dirty="0"/>
              <a:t>x</a:t>
            </a:r>
            <a:r>
              <a:rPr kumimoji="1" lang="zh-TW" altLang="en-US" dirty="0"/>
              <a:t> </a:t>
            </a:r>
            <a:r>
              <a:rPr kumimoji="1" lang="en-US" altLang="zh-TW" dirty="0"/>
              <a:t>768</a:t>
            </a:r>
            <a:r>
              <a:rPr kumimoji="1" lang="zh-TW" altLang="en-US" dirty="0"/>
              <a:t> 的矩陣。該矩陣由 </a:t>
            </a:r>
            <a:r>
              <a:rPr kumimoji="1" lang="en-US" altLang="zh-TW" dirty="0"/>
              <a:t>n </a:t>
            </a:r>
            <a:r>
              <a:rPr kumimoji="1" lang="zh-TW" altLang="en-US" dirty="0"/>
              <a:t>個 </a:t>
            </a:r>
            <a:r>
              <a:rPr kumimoji="1" lang="en-US" altLang="zh-TW" dirty="0"/>
              <a:t>768 </a:t>
            </a:r>
            <a:r>
              <a:rPr kumimoji="1" lang="zh-TW" altLang="en-US" dirty="0"/>
              <a:t>維的向量組成，分別對應輸入序列中的每個 </a:t>
            </a:r>
            <a:r>
              <a:rPr kumimoji="1" lang="en-US" altLang="zh-TW" dirty="0"/>
              <a:t>Token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zh-TW" altLang="en-US" dirty="0"/>
              <a:t>不同的 </a:t>
            </a:r>
            <a:r>
              <a:rPr kumimoji="1" lang="en-US" altLang="zh-TW" dirty="0"/>
              <a:t>NLP</a:t>
            </a:r>
            <a:r>
              <a:rPr kumimoji="1" lang="zh-TW" altLang="en-US" dirty="0"/>
              <a:t> 任務對於這些向量會有不同的使用方式：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文本分類（</a:t>
            </a:r>
            <a:r>
              <a:rPr kumimoji="1" lang="en-US" altLang="zh-TW" dirty="0"/>
              <a:t>Text Classification</a:t>
            </a:r>
            <a:r>
              <a:rPr kumimoji="1" lang="zh-TW" altLang="en-US" dirty="0"/>
              <a:t>）</a:t>
            </a:r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在輸入序列的最前端插入一個特殊符號 </a:t>
            </a:r>
            <a:r>
              <a:rPr kumimoji="1" lang="en-US" altLang="zh-TW" dirty="0"/>
              <a:t>[CLS] (stands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</a:t>
            </a:r>
            <a:r>
              <a:rPr kumimoji="1" lang="zh-TW" altLang="en-US" dirty="0"/>
              <a:t> </a:t>
            </a:r>
            <a:r>
              <a:rPr kumimoji="1" lang="en-US" altLang="zh-TW" dirty="0"/>
              <a:t>classification)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當所有 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通過 </a:t>
            </a:r>
            <a:r>
              <a:rPr kumimoji="1" lang="en-US" altLang="zh-TW" dirty="0"/>
              <a:t>BERT </a:t>
            </a:r>
            <a:r>
              <a:rPr kumimoji="1" lang="zh-TW" altLang="en-US" dirty="0"/>
              <a:t>層後，在 </a:t>
            </a:r>
            <a:r>
              <a:rPr kumimoji="1" lang="en-US" altLang="zh-TW" dirty="0"/>
              <a:t>n</a:t>
            </a:r>
            <a:r>
              <a:rPr kumimoji="1" lang="zh-TW" altLang="en-US" dirty="0"/>
              <a:t> 個 </a:t>
            </a:r>
            <a:r>
              <a:rPr kumimoji="1" lang="en-US" altLang="zh-TW" dirty="0"/>
              <a:t>768</a:t>
            </a:r>
            <a:r>
              <a:rPr kumimoji="1" lang="zh-TW" altLang="en-US" dirty="0"/>
              <a:t> 維的向量裡我們只需取出第一個向量即可（即對應 </a:t>
            </a:r>
            <a:r>
              <a:rPr kumimoji="1" lang="en-US" altLang="zh-TW" dirty="0"/>
              <a:t>[CLS] </a:t>
            </a:r>
            <a:r>
              <a:rPr kumimoji="1" lang="zh-TW" altLang="en-US" dirty="0"/>
              <a:t>的向量）。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將該向量輸入到 </a:t>
            </a:r>
            <a:r>
              <a:rPr kumimoji="1" lang="en-US" altLang="zh-TW" dirty="0"/>
              <a:t>Feed Forward Neural Network</a:t>
            </a:r>
            <a:r>
              <a:rPr kumimoji="1" lang="zh-TW" altLang="en-US" dirty="0"/>
              <a:t> 與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</a:t>
            </a:r>
            <a:r>
              <a:rPr kumimoji="1" lang="zh-TW" altLang="en-US" dirty="0"/>
              <a:t>層，即可完成分類。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7ED18E-0495-E086-1825-27D24ED1D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4F07D9F-0161-DF7E-820E-879742589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5892797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BCD5E96-518A-716D-A4AF-1B55B9BC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</a:t>
            </a:r>
            <a:r>
              <a:rPr kumimoji="1" lang="zh-TW" altLang="en-US" dirty="0"/>
              <a:t> 的遷移學習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4213CCC-DB79-0C6A-2888-289BC45A88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200002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2"/>
            </a:pPr>
            <a:r>
              <a:rPr kumimoji="1" lang="zh-TW" altLang="en-US" dirty="0"/>
              <a:t>命名實體辨識（</a:t>
            </a:r>
            <a:r>
              <a:rPr kumimoji="1" lang="en-US" altLang="zh-TW" dirty="0"/>
              <a:t>NER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en-US" altLang="zh-TW" dirty="0"/>
              <a:t>Named</a:t>
            </a:r>
            <a:r>
              <a:rPr kumimoji="1" lang="zh-TW" altLang="en-US" dirty="0"/>
              <a:t> </a:t>
            </a:r>
            <a:r>
              <a:rPr kumimoji="1" lang="en-US" altLang="zh-TW" dirty="0"/>
              <a:t>Entity</a:t>
            </a:r>
            <a:r>
              <a:rPr kumimoji="1" lang="zh-TW" altLang="en-US" dirty="0"/>
              <a:t> </a:t>
            </a:r>
            <a:r>
              <a:rPr kumimoji="1" lang="en-US" altLang="zh-TW" dirty="0"/>
              <a:t>Recognition</a:t>
            </a:r>
            <a:r>
              <a:rPr kumimoji="1" lang="zh-TW" altLang="en-US" dirty="0"/>
              <a:t> 是指識別文本中具有特定意義的實體，主要包括常見類別包括人名（</a:t>
            </a:r>
            <a:r>
              <a:rPr kumimoji="1" lang="en-US" altLang="zh-TW" dirty="0"/>
              <a:t>PER</a:t>
            </a:r>
            <a:r>
              <a:rPr kumimoji="1" lang="zh-TW" altLang="en-US" dirty="0"/>
              <a:t>）、地名（</a:t>
            </a:r>
            <a:r>
              <a:rPr kumimoji="1" lang="en-US" altLang="zh-TW" dirty="0"/>
              <a:t>LOC</a:t>
            </a:r>
            <a:r>
              <a:rPr kumimoji="1" lang="zh-TW" altLang="en-US" dirty="0"/>
              <a:t>）、機構名（</a:t>
            </a:r>
            <a:r>
              <a:rPr kumimoji="1" lang="en-US" altLang="zh-TW" dirty="0"/>
              <a:t>ORG</a:t>
            </a:r>
            <a:r>
              <a:rPr kumimoji="1" lang="zh-TW" altLang="en-US" dirty="0"/>
              <a:t>）及專有名詞等。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我們可以將 </a:t>
            </a:r>
            <a:r>
              <a:rPr kumimoji="1" lang="en-US" altLang="zh-TW" dirty="0"/>
              <a:t>BERT</a:t>
            </a:r>
            <a:r>
              <a:rPr kumimoji="1" lang="zh-TW" altLang="en-US" dirty="0"/>
              <a:t> 輸出的 </a:t>
            </a:r>
            <a:r>
              <a:rPr kumimoji="1" lang="en-US" altLang="zh-TW" dirty="0"/>
              <a:t>n</a:t>
            </a:r>
            <a:r>
              <a:rPr kumimoji="1" lang="zh-TW" altLang="en-US" dirty="0"/>
              <a:t> 個 </a:t>
            </a:r>
            <a:r>
              <a:rPr kumimoji="1" lang="en-US" altLang="zh-TW" dirty="0"/>
              <a:t>768</a:t>
            </a:r>
            <a:r>
              <a:rPr kumimoji="1" lang="zh-TW" altLang="en-US" dirty="0"/>
              <a:t> 維的向量均放入 </a:t>
            </a:r>
            <a:r>
              <a:rPr kumimoji="1" lang="en-US" altLang="zh-TW" dirty="0"/>
              <a:t>Feed Forward Neural Network</a:t>
            </a:r>
            <a:r>
              <a:rPr kumimoji="1" lang="zh-TW" altLang="en-US" dirty="0"/>
              <a:t> 與 </a:t>
            </a:r>
            <a:r>
              <a:rPr kumimoji="1" lang="en-US" altLang="zh-TW" dirty="0" err="1"/>
              <a:t>Softmax</a:t>
            </a:r>
            <a:r>
              <a:rPr kumimoji="1" lang="en-US" altLang="zh-TW" dirty="0"/>
              <a:t> </a:t>
            </a:r>
            <a:r>
              <a:rPr kumimoji="1" lang="zh-TW" altLang="en-US" dirty="0"/>
              <a:t>層，做分類。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每個向量的分類結果，即代表該 </a:t>
            </a:r>
            <a:r>
              <a:rPr kumimoji="1" lang="en-US" altLang="zh-TW" dirty="0"/>
              <a:t>Token </a:t>
            </a:r>
            <a:r>
              <a:rPr kumimoji="1" lang="zh-TW" altLang="en-US" dirty="0"/>
              <a:t>在序列中所屬的實體標籤。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 startAt="2"/>
            </a:pPr>
            <a:r>
              <a:rPr kumimoji="1" lang="zh-TW" altLang="en-US" dirty="0"/>
              <a:t>句子相似度計算（</a:t>
            </a:r>
            <a:r>
              <a:rPr kumimoji="1" lang="en-US" altLang="zh-TW" dirty="0"/>
              <a:t>Sentence Similarity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傳統方法上主要依賴文字重合度。這種方式較為僵化，無法處理「同義詞」或「語境變化」。例如「我喜歡運動」與「我熱愛健身」在字面上重複率低，但語義卻高度相關。</a:t>
            </a:r>
            <a:endParaRPr kumimoji="1" lang="en-US" altLang="zh-TW" dirty="0"/>
          </a:p>
          <a:p>
            <a:pPr marL="749808" lvl="1" indent="-457200">
              <a:buFont typeface="Wingdings" pitchFamily="2" charset="2"/>
              <a:buChar char="l"/>
            </a:pPr>
            <a:r>
              <a:rPr kumimoji="1" lang="zh-TW" altLang="en-US" dirty="0"/>
              <a:t>我們分別把兩個句子丟進 </a:t>
            </a:r>
            <a:r>
              <a:rPr kumimoji="1" lang="en-US" altLang="zh-TW" dirty="0"/>
              <a:t>BERT</a:t>
            </a:r>
            <a:r>
              <a:rPr kumimoji="1" lang="zh-TW" altLang="en-US" dirty="0"/>
              <a:t>、取各自的 </a:t>
            </a:r>
            <a:r>
              <a:rPr kumimoji="1" lang="en-US" altLang="zh-TW" dirty="0"/>
              <a:t>[CLS]</a:t>
            </a:r>
            <a:r>
              <a:rPr kumimoji="1" lang="zh-TW" altLang="en-US" dirty="0"/>
              <a:t> 對應向量，計算 </a:t>
            </a:r>
            <a:r>
              <a:rPr kumimoji="1" lang="en-US" altLang="zh-TW" dirty="0"/>
              <a:t>cosine similarity</a:t>
            </a:r>
            <a:r>
              <a:rPr kumimoji="1" lang="zh-TW" altLang="en-US" dirty="0"/>
              <a:t>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8F3906-B77D-BAFA-CCFD-D1825D186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79834BB-859B-0013-0AEC-BC4AA0993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009670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68FEA3-6C8B-2801-9BC8-B734A028E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9800374-6BCC-5FB3-F087-07D03756B4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kumimoji="1" lang="en-US" altLang="zh-TW" dirty="0"/>
                  <a:t>GPT</a:t>
                </a:r>
                <a:r>
                  <a:rPr kumimoji="1" lang="zh-TW" altLang="en-US" dirty="0"/>
                  <a:t>（</a:t>
                </a:r>
                <a:r>
                  <a:rPr kumimoji="1" lang="en-US" altLang="zh-TW" dirty="0"/>
                  <a:t>Generative Pre-trained Transformer</a:t>
                </a:r>
                <a:r>
                  <a:rPr kumimoji="1" lang="zh-TW" altLang="en-US" dirty="0"/>
                  <a:t>）是由 </a:t>
                </a:r>
                <a:r>
                  <a:rPr kumimoji="1" lang="en-US" altLang="zh-TW" dirty="0"/>
                  <a:t>OpenAI </a:t>
                </a:r>
                <a:r>
                  <a:rPr kumimoji="1" lang="zh-TW" altLang="en-US" dirty="0"/>
                  <a:t>於 </a:t>
                </a:r>
                <a:r>
                  <a:rPr kumimoji="1" lang="en-US" altLang="zh-TW" dirty="0"/>
                  <a:t>2018</a:t>
                </a:r>
                <a:r>
                  <a:rPr kumimoji="1" lang="zh-TW" altLang="en-US" dirty="0"/>
                  <a:t> 年提出的語言模型，基於 </a:t>
                </a:r>
                <a:r>
                  <a:rPr kumimoji="1" lang="en-US" altLang="zh-TW" dirty="0"/>
                  <a:t>Transformer </a:t>
                </a:r>
                <a:r>
                  <a:rPr kumimoji="1" lang="zh-TW" altLang="en-US" dirty="0"/>
                  <a:t>架構。在模型設計上，</a:t>
                </a:r>
                <a:r>
                  <a:rPr kumimoji="1" lang="en-US" altLang="zh-TW" dirty="0"/>
                  <a:t>GPT </a:t>
                </a:r>
                <a:r>
                  <a:rPr kumimoji="1" lang="zh-TW" altLang="en-US" dirty="0"/>
                  <a:t>只使用 </a:t>
                </a:r>
                <a:r>
                  <a:rPr kumimoji="1" lang="en-US" altLang="zh-TW" dirty="0"/>
                  <a:t>Transformer </a:t>
                </a:r>
                <a:r>
                  <a:rPr kumimoji="1" lang="zh-TW" altLang="en-US" dirty="0"/>
                  <a:t>的 </a:t>
                </a:r>
                <a:r>
                  <a:rPr kumimoji="1" lang="en-US" altLang="zh-TW" dirty="0"/>
                  <a:t>Decoder </a:t>
                </a:r>
                <a:r>
                  <a:rPr kumimoji="1" lang="zh-TW" altLang="en-US" dirty="0"/>
                  <a:t>部分。</a:t>
                </a:r>
                <a:endParaRPr kumimoji="1" lang="en-US" altLang="zh-TW" dirty="0"/>
              </a:p>
              <a:p>
                <a:r>
                  <a:rPr kumimoji="1" lang="zh-TW" altLang="en-US" dirty="0"/>
                  <a:t>架構特性：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採用自迴歸（</a:t>
                </a:r>
                <a:r>
                  <a:rPr kumimoji="1" lang="en-US" altLang="zh-TW" dirty="0"/>
                  <a:t>autoregressive</a:t>
                </a:r>
                <a:r>
                  <a:rPr kumimoji="1" lang="zh-TW" altLang="en-US" dirty="0"/>
                  <a:t>）方式生成文本。</a:t>
                </a:r>
                <a:endParaRPr kumimoji="1" lang="en-US" altLang="zh-TW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kumimoji="1" lang="zh-TW" altLang="en-US" dirty="0"/>
                  <a:t>使用單向注意力，從左到右預測下一個 </a:t>
                </a:r>
                <a:r>
                  <a:rPr kumimoji="1" lang="en-US" altLang="zh-TW" dirty="0"/>
                  <a:t>token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 marL="0" indent="0">
                  <a:buNone/>
                </a:pPr>
                <a:r>
                  <a:rPr kumimoji="1" lang="zh-TW" altLang="en-US" dirty="0"/>
                  <a:t>訓練方式是透過閱讀海量文本，學習如何根據前文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kumimoji="1" lang="zh-TW" altLang="en-US" dirty="0"/>
                  <a:t> 來最大化預測下一個詞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TW" altLang="en-US" dirty="0"/>
                  <a:t>的機率。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39800374-6BCC-5FB3-F087-07D03756B4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892" t="-1347" r="-883"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5D31ED-7E5E-0AA0-822D-13F97ACC3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7DC926-7CF1-1576-0DF7-885379487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421241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3929CC-5A4D-A77B-654B-75593049D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0017BB-47A9-B05F-CFD5-495AF9834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hlinkClick r:id="rId2"/>
              </a:rPr>
              <a:t>https://poloclub.github.io/transformer-explainer/</a:t>
            </a:r>
            <a:endParaRPr kumimoji="1" lang="en-US" altLang="zh-TW" dirty="0"/>
          </a:p>
          <a:p>
            <a:r>
              <a:rPr kumimoji="1" lang="zh-TW" altLang="en-US" dirty="0"/>
              <a:t>（</a:t>
            </a:r>
            <a:r>
              <a:rPr kumimoji="1" lang="en-US" altLang="zh-TW" dirty="0"/>
              <a:t>Next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word</a:t>
            </a:r>
            <a:r>
              <a:rPr kumimoji="1" lang="zh-TW" altLang="en-US" dirty="0"/>
              <a:t> </a:t>
            </a:r>
            <a:r>
              <a:rPr kumimoji="1" lang="en-US" altLang="zh-TW" dirty="0"/>
              <a:t>prediction</a:t>
            </a:r>
            <a:r>
              <a:rPr kumimoji="1" lang="zh-TW" altLang="en-US" dirty="0"/>
              <a:t> </a:t>
            </a:r>
            <a:r>
              <a:rPr kumimoji="1" lang="en-US" altLang="zh-TW"/>
              <a:t>visualizer</a:t>
            </a:r>
            <a:r>
              <a:rPr kumimoji="1" lang="zh-TW" altLang="en-US"/>
              <a:t>）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607A01-A738-5A24-2446-A7226A880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566A1E-6033-B210-43DD-81565A632D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0577204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B097BB-D8CC-A179-E378-768095673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GPT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44B2C4-AEDB-B244-F40D-0B3F1BD67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常見的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應用場景：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對話系統：能夠進行多輪對話，生成自然且連貫的回應。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文本生成：包含文章寫作、摘要生成、故事創作等。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問答系統：根據上下文回答問題。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翻譯與改寫：可進行語言翻譯或句子修訂。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雖非完整的 </a:t>
            </a:r>
            <a:r>
              <a:rPr kumimoji="1" lang="en-US" altLang="zh-TW" dirty="0"/>
              <a:t>Transformer</a:t>
            </a:r>
            <a:r>
              <a:rPr kumimoji="1" lang="zh-TW" altLang="en-US" dirty="0"/>
              <a:t> 架構，但在許多情況下的效果仍非常好。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44FE66F-BE97-159B-BE8E-DDDFDC2C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F611A83-0393-81E1-B444-1DF15868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437867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F166B9-B351-745D-4E2D-2E0409B72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Transformer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F058461-9E3D-8E69-F9E0-D900E2DAD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037956"/>
          </a:xfrm>
        </p:spPr>
        <p:txBody>
          <a:bodyPr>
            <a:normAutofit/>
          </a:bodyPr>
          <a:lstStyle/>
          <a:p>
            <a:r>
              <a:rPr kumimoji="1" lang="zh-TW" altLang="en-US" dirty="0"/>
              <a:t>請注意，這裡提到的 </a:t>
            </a:r>
            <a:r>
              <a:rPr kumimoji="1" lang="en-US" altLang="zh-TW" dirty="0"/>
              <a:t>Transformer </a:t>
            </a:r>
            <a:r>
              <a:rPr kumimoji="1" lang="zh-TW" altLang="en-US" dirty="0"/>
              <a:t>模型規模（或參數數量）非常驚人，遠超我們之前課程所學的模型。這正是它們被稱為</a:t>
            </a:r>
            <a:r>
              <a:rPr kumimoji="1" lang="zh-TW" altLang="en-US" u="sng" dirty="0"/>
              <a:t>大型語言模型</a:t>
            </a:r>
            <a:r>
              <a:rPr kumimoji="1" lang="zh-TW" altLang="en-US" dirty="0"/>
              <a:t>（</a:t>
            </a:r>
            <a:r>
              <a:rPr kumimoji="1" lang="en-US" altLang="zh-TW" dirty="0"/>
              <a:t>LLM</a:t>
            </a:r>
            <a:r>
              <a:rPr kumimoji="1" lang="zh-TW" altLang="en-US" dirty="0"/>
              <a:t>）的原因：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</a:t>
            </a:r>
            <a:r>
              <a:rPr kumimoji="1" lang="en-US" altLang="zh-TW" dirty="0"/>
              <a:t>BERT Base</a:t>
            </a:r>
            <a:r>
              <a:rPr kumimoji="1" lang="zh-TW" altLang="en-US" dirty="0"/>
              <a:t>（</a:t>
            </a:r>
            <a:r>
              <a:rPr kumimoji="1" lang="en-US" altLang="zh-TW" dirty="0"/>
              <a:t>12</a:t>
            </a:r>
            <a:r>
              <a:rPr kumimoji="1" lang="zh-TW" altLang="en-US" dirty="0"/>
              <a:t> 層 </a:t>
            </a:r>
            <a:r>
              <a:rPr kumimoji="1" lang="en-US" altLang="zh-TW" dirty="0"/>
              <a:t>Encoders</a:t>
            </a:r>
            <a:r>
              <a:rPr kumimoji="1" lang="zh-TW" altLang="en-US" dirty="0"/>
              <a:t>，權重數量約為 </a:t>
            </a:r>
            <a:r>
              <a:rPr kumimoji="1" lang="en-US" altLang="zh-TW" dirty="0"/>
              <a:t>108M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</a:t>
            </a:r>
            <a:r>
              <a:rPr kumimoji="1" lang="en-US" altLang="zh-TW" dirty="0"/>
              <a:t>BERT</a:t>
            </a:r>
            <a:r>
              <a:rPr kumimoji="1" lang="zh-TW" altLang="en-US" dirty="0"/>
              <a:t> </a:t>
            </a:r>
            <a:r>
              <a:rPr kumimoji="1" lang="en-US" altLang="zh-TW" dirty="0"/>
              <a:t>Large</a:t>
            </a:r>
            <a:r>
              <a:rPr kumimoji="1" lang="zh-TW" altLang="en-US" dirty="0"/>
              <a:t>（</a:t>
            </a:r>
            <a:r>
              <a:rPr kumimoji="1" lang="en-US" altLang="zh-TW" dirty="0"/>
              <a:t>24</a:t>
            </a:r>
            <a:r>
              <a:rPr kumimoji="1" lang="zh-TW" altLang="en-US" dirty="0"/>
              <a:t> 層 </a:t>
            </a:r>
            <a:r>
              <a:rPr kumimoji="1" lang="en-US" altLang="zh-TW" dirty="0"/>
              <a:t>Encoders</a:t>
            </a:r>
            <a:r>
              <a:rPr kumimoji="1" lang="zh-TW" altLang="en-US" dirty="0"/>
              <a:t>，權重數量約為 </a:t>
            </a:r>
            <a:r>
              <a:rPr kumimoji="1" lang="en-US" altLang="zh-TW" dirty="0"/>
              <a:t>334M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</a:t>
            </a:r>
            <a:r>
              <a:rPr kumimoji="1" lang="en-US" altLang="zh-TW" dirty="0"/>
              <a:t>GPT-2</a:t>
            </a:r>
            <a:r>
              <a:rPr kumimoji="1" lang="zh-TW" altLang="en-US" dirty="0"/>
              <a:t>（權重數量約為 </a:t>
            </a:r>
            <a:r>
              <a:rPr kumimoji="1" lang="en-US" altLang="zh-TW" dirty="0"/>
              <a:t>1500M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</a:t>
            </a:r>
            <a:r>
              <a:rPr kumimoji="1" lang="en-US" altLang="zh-TW" dirty="0"/>
              <a:t>GPT-3</a:t>
            </a:r>
            <a:r>
              <a:rPr kumimoji="1" lang="zh-TW" altLang="en-US" dirty="0"/>
              <a:t>（權重數量約為 </a:t>
            </a:r>
            <a:r>
              <a:rPr kumimoji="1" lang="en-US" altLang="zh-TW" dirty="0"/>
              <a:t>175B </a:t>
            </a:r>
            <a:r>
              <a:rPr kumimoji="1" lang="zh-TW" altLang="en-US" dirty="0"/>
              <a:t>，同 </a:t>
            </a:r>
            <a:r>
              <a:rPr kumimoji="1" lang="en-US" altLang="zh-TW" dirty="0"/>
              <a:t>175000M</a:t>
            </a:r>
            <a:r>
              <a:rPr kumimoji="1" lang="zh-TW" altLang="en-US" dirty="0"/>
              <a:t>）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</a:t>
            </a:r>
            <a:r>
              <a:rPr kumimoji="1" lang="en-US" altLang="zh-TW" dirty="0"/>
              <a:t>GPT-4</a:t>
            </a:r>
            <a:r>
              <a:rPr kumimoji="1" lang="zh-TW" altLang="en-US" dirty="0"/>
              <a:t>（權重數量超過一兆，</a:t>
            </a:r>
            <a:r>
              <a:rPr kumimoji="1" lang="en-US" altLang="zh-TW" dirty="0"/>
              <a:t> </a:t>
            </a:r>
            <a:r>
              <a:rPr kumimoji="1" lang="en-US" altLang="zh-TW" dirty="0">
                <a:hlinkClick r:id="rId2"/>
              </a:rPr>
              <a:t>https://arxiv.org/pdf/2305.03195</a:t>
            </a:r>
            <a:r>
              <a:rPr kumimoji="1" lang="zh-TW" altLang="en-US" dirty="0"/>
              <a:t>）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2CA4042-FCC1-35AC-E560-EB70102C6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A7F72D-BD43-6849-8BB7-7F7766F8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9326556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F697CD-9289-1B2F-A1C5-B6EA7791B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BERT</a:t>
            </a:r>
            <a:r>
              <a:rPr kumimoji="1" lang="zh-TW" altLang="en-US" dirty="0"/>
              <a:t> 與 </a:t>
            </a:r>
            <a:r>
              <a:rPr kumimoji="1" lang="en-US" altLang="zh-TW" dirty="0"/>
              <a:t>GPT</a:t>
            </a:r>
            <a:r>
              <a:rPr kumimoji="1" lang="zh-TW" altLang="en-US" dirty="0"/>
              <a:t> 程式碼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43B54C1-912F-5220-82F9-BC6ADCE92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367" y="2108201"/>
            <a:ext cx="11484225" cy="4130553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Chapter_6_BERT.ipynb</a:t>
            </a:r>
          </a:p>
          <a:p>
            <a:r>
              <a:rPr kumimoji="1" lang="en-US" altLang="zh-TW" sz="1800" dirty="0"/>
              <a:t> </a:t>
            </a:r>
            <a:r>
              <a:rPr kumimoji="1" lang="zh-TW" altLang="en-US" sz="1800" dirty="0"/>
              <a:t>（這是 </a:t>
            </a:r>
            <a:r>
              <a:rPr kumimoji="1" lang="en-US" altLang="zh-TW" sz="1800" dirty="0" err="1"/>
              <a:t>PyTorch</a:t>
            </a:r>
            <a:r>
              <a:rPr kumimoji="1" lang="en-US" altLang="zh-TW" sz="1800" dirty="0"/>
              <a:t> </a:t>
            </a:r>
            <a:r>
              <a:rPr kumimoji="1" lang="zh-TW" altLang="en-US" sz="1800" dirty="0"/>
              <a:t>程式碼，因為 </a:t>
            </a:r>
            <a:r>
              <a:rPr kumimoji="1" lang="en-US" altLang="zh-TW" sz="1800" dirty="0"/>
              <a:t>BERT </a:t>
            </a:r>
            <a:r>
              <a:rPr kumimoji="1" lang="zh-TW" altLang="en-US" sz="1800" dirty="0"/>
              <a:t>更適合在 </a:t>
            </a:r>
            <a:r>
              <a:rPr kumimoji="1" lang="en-US" altLang="zh-TW" sz="1800" dirty="0" err="1"/>
              <a:t>PyTorch</a:t>
            </a:r>
            <a:r>
              <a:rPr kumimoji="1" lang="en-US" altLang="zh-TW" sz="1800" dirty="0"/>
              <a:t> </a:t>
            </a:r>
            <a:r>
              <a:rPr kumimoji="1" lang="zh-TW" altLang="en-US" sz="1800" dirty="0"/>
              <a:t>環境下運作。此外，由於</a:t>
            </a:r>
            <a:r>
              <a:rPr kumimoji="1" lang="en-US" altLang="zh-TW" sz="1800" dirty="0"/>
              <a:t> </a:t>
            </a:r>
            <a:r>
              <a:rPr kumimoji="1" lang="en-US" altLang="zh-TW" sz="1800" dirty="0" err="1"/>
              <a:t>Finetuing</a:t>
            </a:r>
            <a:r>
              <a:rPr kumimoji="1" lang="en-US" altLang="zh-TW" sz="1800" dirty="0"/>
              <a:t> </a:t>
            </a:r>
            <a:r>
              <a:rPr kumimoji="1" lang="zh-TW" altLang="en-US" sz="1800" dirty="0"/>
              <a:t>成本太高，這裡採用的是遷移學習中的</a:t>
            </a:r>
            <a:r>
              <a:rPr kumimoji="1" lang="en-US" altLang="zh-TW" sz="1800" dirty="0"/>
              <a:t> feature extraction </a:t>
            </a:r>
            <a:r>
              <a:rPr kumimoji="1" lang="zh-TW" altLang="en-US" sz="1800" dirty="0"/>
              <a:t>方法。）</a:t>
            </a:r>
            <a:endParaRPr kumimoji="1" lang="en-US" altLang="zh-TW" dirty="0"/>
          </a:p>
          <a:p>
            <a:r>
              <a:rPr kumimoji="1" lang="zh-TW" altLang="en-US" dirty="0"/>
              <a:t>*</a:t>
            </a:r>
            <a:r>
              <a:rPr kumimoji="1" lang="en-US" altLang="zh-TW" dirty="0"/>
              <a:t>.</a:t>
            </a:r>
            <a:r>
              <a:rPr kumimoji="1" lang="zh-TW" altLang="en-US" dirty="0"/>
              <a:t> </a:t>
            </a:r>
            <a:r>
              <a:rPr kumimoji="1" lang="en-US" altLang="zh-TW" dirty="0"/>
              <a:t>Chapter_6_GPT.ipynb</a:t>
            </a:r>
          </a:p>
          <a:p>
            <a:r>
              <a:rPr kumimoji="1" lang="en-US" altLang="zh-TW" sz="1800" dirty="0"/>
              <a:t> </a:t>
            </a:r>
            <a:r>
              <a:rPr kumimoji="1" lang="zh-TW" altLang="en-US" sz="1800" dirty="0"/>
              <a:t>因為環境因素，所以這也是 </a:t>
            </a:r>
            <a:r>
              <a:rPr kumimoji="1" lang="en-US" altLang="zh-TW" sz="1800" dirty="0" err="1"/>
              <a:t>Pytorch</a:t>
            </a:r>
            <a:r>
              <a:rPr kumimoji="1" lang="zh-TW" altLang="en-US" sz="1800" dirty="0"/>
              <a:t> 程式碼。</a:t>
            </a:r>
            <a:r>
              <a:rPr kumimoji="1" lang="en-US" altLang="zh-TW" sz="1800" dirty="0"/>
              <a:t>GPT-2 </a:t>
            </a:r>
            <a:r>
              <a:rPr kumimoji="1" lang="zh-TW" altLang="en-US" sz="1800" dirty="0"/>
              <a:t>是一個機率採樣的語言模型，它會根據前面的文字，用機率挑選下一個字詞，一直生成到完成回答。</a:t>
            </a:r>
            <a:endParaRPr kumimoji="1" lang="en-US" altLang="zh-TW" sz="1800" dirty="0"/>
          </a:p>
          <a:p>
            <a:pPr>
              <a:buFont typeface="Wingdings" pitchFamily="2" charset="2"/>
              <a:buChar char="n"/>
            </a:pPr>
            <a:r>
              <a:rPr kumimoji="1" lang="zh-TW" altLang="en-US" sz="1800" dirty="0"/>
              <a:t> </a:t>
            </a:r>
            <a:r>
              <a:rPr kumimoji="1" lang="en-US" altLang="zh-TW" sz="1800" dirty="0"/>
              <a:t>temperature</a:t>
            </a:r>
            <a:r>
              <a:rPr kumimoji="1" lang="zh-TW" altLang="en-US" sz="1800" dirty="0"/>
              <a:t> 控制生成文字的隨機性。數字越低、越接近 </a:t>
            </a:r>
            <a:r>
              <a:rPr kumimoji="1" lang="en-US" altLang="zh-TW" sz="1800" dirty="0"/>
              <a:t>0</a:t>
            </a:r>
            <a:r>
              <a:rPr kumimoji="1" lang="zh-TW" altLang="en-US" sz="1800" dirty="0"/>
              <a:t>，模型越保守，會選最有可能的字。</a:t>
            </a:r>
            <a:endParaRPr kumimoji="1" lang="en-US" altLang="zh-TW" sz="1800" dirty="0"/>
          </a:p>
          <a:p>
            <a:pPr>
              <a:buFont typeface="Wingdings" pitchFamily="2" charset="2"/>
              <a:buChar char="n"/>
            </a:pPr>
            <a:r>
              <a:rPr kumimoji="1" lang="zh-TW" altLang="en-US" sz="1800" dirty="0"/>
              <a:t> </a:t>
            </a:r>
            <a:r>
              <a:rPr kumimoji="1" lang="en-US" altLang="zh-TW" sz="1800" dirty="0" err="1"/>
              <a:t>top_p</a:t>
            </a:r>
            <a:r>
              <a:rPr kumimoji="1" lang="en-US" altLang="zh-TW" sz="1800" dirty="0"/>
              <a:t>=0.9 </a:t>
            </a:r>
            <a:r>
              <a:rPr kumimoji="1" lang="zh-TW" altLang="en-US" sz="1800" dirty="0"/>
              <a:t>代表模型只從累積機率 </a:t>
            </a:r>
            <a:r>
              <a:rPr kumimoji="1" lang="en-US" altLang="zh-TW" sz="1800" dirty="0"/>
              <a:t>90% </a:t>
            </a:r>
            <a:r>
              <a:rPr kumimoji="1" lang="zh-TW" altLang="en-US" sz="1800" dirty="0"/>
              <a:t>的字詞中挑下一個字，過濾掉機率太低的選項。這樣生成既有多樣性又不太亂。</a:t>
            </a:r>
            <a:endParaRPr kumimoji="1" lang="en-US" altLang="zh-TW" sz="1800" dirty="0"/>
          </a:p>
          <a:p>
            <a:pPr>
              <a:buFont typeface="Wingdings" pitchFamily="2" charset="2"/>
              <a:buChar char="n"/>
            </a:pPr>
            <a:r>
              <a:rPr kumimoji="1" lang="en-US" altLang="zh-TW" sz="1800" dirty="0" err="1"/>
              <a:t>do_sample</a:t>
            </a:r>
            <a:r>
              <a:rPr kumimoji="1" lang="en-US" altLang="zh-TW" sz="1800" dirty="0"/>
              <a:t>=True</a:t>
            </a:r>
            <a:r>
              <a:rPr kumimoji="1" lang="zh-TW" altLang="en-US" sz="1800" dirty="0"/>
              <a:t>開啟隨機採樣，讓模型不是每次都選機率最高的字，而是根據機率分布隨機選，生成結果會有多樣性。</a:t>
            </a:r>
            <a:endParaRPr kumimoji="1" lang="en-US" altLang="zh-TW" sz="1800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6B7710-B9F6-EA3F-8EEA-3C1BFD207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9140849-8BEC-183B-9151-A733F7BD4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03825542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29ED08-0DD2-F3BE-71C4-9B70A70AC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480858-BE8E-32AF-42D7-BEF0169FF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Contrastive Learning </a:t>
            </a:r>
            <a:r>
              <a:rPr kumimoji="1" lang="zh-TW" altLang="en-US" dirty="0"/>
              <a:t>是一種自監督（</a:t>
            </a:r>
            <a:r>
              <a:rPr kumimoji="1" lang="en-US" altLang="zh-TW" dirty="0"/>
              <a:t>self-supervised</a:t>
            </a:r>
            <a:r>
              <a:rPr kumimoji="1" lang="zh-TW" altLang="en-US" dirty="0"/>
              <a:t>）學習方法，它的核心思想是 讓模型學會判斷「哪些樣本是相似的，哪些樣本是不相似的」，而不依賴人工標註的標籤。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類似樣本 → 特徵向量距離靠近</a:t>
            </a:r>
            <a:endParaRPr kumimoji="1" lang="en-US" altLang="zh-TW" dirty="0"/>
          </a:p>
          <a:p>
            <a:pPr>
              <a:buFont typeface="Wingdings" pitchFamily="2" charset="2"/>
              <a:buChar char="n"/>
            </a:pPr>
            <a:r>
              <a:rPr kumimoji="1" lang="zh-TW" altLang="en-US" dirty="0"/>
              <a:t> 不同樣本 → 特徵向量距離遠離</a:t>
            </a:r>
            <a:endParaRPr kumimoji="1" lang="en-US" altLang="zh-TW" dirty="0"/>
          </a:p>
          <a:p>
            <a:r>
              <a:rPr kumimoji="1" lang="zh-TW" altLang="en-US" dirty="0"/>
              <a:t>在 </a:t>
            </a:r>
            <a:r>
              <a:rPr kumimoji="1" lang="en-US" altLang="zh-TW" dirty="0"/>
              <a:t>Contrastive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 中，一個有名的應用為 </a:t>
            </a:r>
            <a:r>
              <a:rPr kumimoji="1" lang="en-US" altLang="zh-TW" dirty="0"/>
              <a:t>CLIP</a:t>
            </a:r>
            <a:r>
              <a:rPr kumimoji="1" lang="zh-TW" altLang="en-US" dirty="0"/>
              <a:t> 模型。</a:t>
            </a:r>
            <a:r>
              <a:rPr kumimoji="1" lang="en-US" altLang="zh-TW" dirty="0"/>
              <a:t> CLIP </a:t>
            </a:r>
            <a:r>
              <a:rPr kumimoji="1" lang="zh-TW" altLang="en-US" dirty="0"/>
              <a:t>是由 </a:t>
            </a:r>
            <a:r>
              <a:rPr kumimoji="1" lang="en-US" altLang="zh-TW" dirty="0"/>
              <a:t>OpenAI </a:t>
            </a:r>
            <a:r>
              <a:rPr kumimoji="1" lang="zh-TW" altLang="en-US" dirty="0"/>
              <a:t>於 </a:t>
            </a:r>
            <a:r>
              <a:rPr kumimoji="1" lang="en-US" altLang="zh-TW" dirty="0"/>
              <a:t>2021</a:t>
            </a:r>
            <a:r>
              <a:rPr kumimoji="1" lang="zh-TW" altLang="en-US" dirty="0"/>
              <a:t> 年所發表的一種多模態 </a:t>
            </a:r>
            <a:r>
              <a:rPr kumimoji="1" lang="en-US" altLang="zh-TW" dirty="0"/>
              <a:t>Contrastive</a:t>
            </a:r>
            <a:r>
              <a:rPr kumimoji="1" lang="zh-TW" altLang="en-US" dirty="0"/>
              <a:t> </a:t>
            </a:r>
            <a:r>
              <a:rPr kumimoji="1" lang="en-US" altLang="zh-TW" dirty="0"/>
              <a:t>Learning</a:t>
            </a:r>
            <a:r>
              <a:rPr kumimoji="1" lang="zh-TW" altLang="en-US" dirty="0"/>
              <a:t> 模型，核心目標是學會將「圖像」和「文字」</a:t>
            </a:r>
            <a:r>
              <a:rPr kumimoji="1" lang="zh-TW" altLang="en-US" b="1" dirty="0"/>
              <a:t>對齊</a:t>
            </a:r>
            <a:r>
              <a:rPr kumimoji="1" lang="zh-TW" altLang="en-US" dirty="0"/>
              <a:t>到同一個向量空間。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72F7F7-C712-BD97-E87F-290B2EDCD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F2B499B-0704-1802-D4FB-B129D333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403087928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8BB94CE-4E1F-1199-6112-61B9839B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468C2A-5A05-C567-593D-7649910CB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79DF899-2B47-A6E7-5159-B49E353E8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9" name="圖片 8" descr="一張含有 戶外, 時鐘, 天空, 建築 的圖片&#10;&#10;AI 產生的內容可能不正確。">
            <a:extLst>
              <a:ext uri="{FF2B5EF4-FFF2-40B4-BE49-F238E27FC236}">
                <a16:creationId xmlns:a16="http://schemas.microsoft.com/office/drawing/2014/main" id="{6661E131-D3ED-3413-CA87-E1E0336D36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700" y="1995353"/>
            <a:ext cx="1110464" cy="1707339"/>
          </a:xfrm>
          <a:prstGeom prst="rect">
            <a:avLst/>
          </a:prstGeom>
        </p:spPr>
      </p:pic>
      <p:pic>
        <p:nvPicPr>
          <p:cNvPr id="11" name="圖片 10" descr="一張含有 戶外, 水, 建築, 天空 的圖片&#10;&#10;AI 產生的內容可能不正確。">
            <a:extLst>
              <a:ext uri="{FF2B5EF4-FFF2-40B4-BE49-F238E27FC236}">
                <a16:creationId xmlns:a16="http://schemas.microsoft.com/office/drawing/2014/main" id="{31AA0749-E42A-1B18-344E-E3B6FDA0CA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1547" y="1962811"/>
            <a:ext cx="1898582" cy="1269678"/>
          </a:xfrm>
          <a:prstGeom prst="rect">
            <a:avLst/>
          </a:prstGeom>
        </p:spPr>
      </p:pic>
      <p:pic>
        <p:nvPicPr>
          <p:cNvPr id="13" name="圖片 12" descr="一張含有 戶外, 天空, 宗教場所, 人民 的圖片&#10;&#10;AI 產生的內容可能不正確。">
            <a:extLst>
              <a:ext uri="{FF2B5EF4-FFF2-40B4-BE49-F238E27FC236}">
                <a16:creationId xmlns:a16="http://schemas.microsoft.com/office/drawing/2014/main" id="{50AEF3AA-15AA-9EEC-254B-F6233BBC3B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844" y="2430202"/>
            <a:ext cx="1898582" cy="1266710"/>
          </a:xfrm>
          <a:prstGeom prst="rect">
            <a:avLst/>
          </a:prstGeom>
        </p:spPr>
      </p:pic>
      <p:pic>
        <p:nvPicPr>
          <p:cNvPr id="15" name="圖片 14" descr="一張含有 天空, 建築, 戶外, 美國國旗 的圖片&#10;&#10;AI 產生的內容可能不正確。">
            <a:extLst>
              <a:ext uri="{FF2B5EF4-FFF2-40B4-BE49-F238E27FC236}">
                <a16:creationId xmlns:a16="http://schemas.microsoft.com/office/drawing/2014/main" id="{3889C12E-D8D8-0141-E64A-63C786E245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22" y="4752795"/>
            <a:ext cx="2203858" cy="1442838"/>
          </a:xfrm>
          <a:prstGeom prst="rect">
            <a:avLst/>
          </a:prstGeom>
        </p:spPr>
      </p:pic>
      <p:pic>
        <p:nvPicPr>
          <p:cNvPr id="17" name="圖片 16" descr="一張含有 戶外, 建築, 雨傘, 服裝 的圖片&#10;&#10;AI 產生的內容可能不正確。">
            <a:extLst>
              <a:ext uri="{FF2B5EF4-FFF2-40B4-BE49-F238E27FC236}">
                <a16:creationId xmlns:a16="http://schemas.microsoft.com/office/drawing/2014/main" id="{37F7EBAA-4217-D3A5-5F01-D939279AE3F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7809" y="2408643"/>
            <a:ext cx="2242506" cy="1496172"/>
          </a:xfrm>
          <a:prstGeom prst="rect">
            <a:avLst/>
          </a:prstGeom>
        </p:spPr>
      </p:pic>
      <p:pic>
        <p:nvPicPr>
          <p:cNvPr id="19" name="圖片 18" descr="一張含有 戶外, 天空, 樹狀, 雲 的圖片&#10;&#10;AI 產生的內容可能不正確。">
            <a:extLst>
              <a:ext uri="{FF2B5EF4-FFF2-40B4-BE49-F238E27FC236}">
                <a16:creationId xmlns:a16="http://schemas.microsoft.com/office/drawing/2014/main" id="{71A4DAE4-8039-287B-8B73-17961E74BC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8426" y="4050062"/>
            <a:ext cx="1964211" cy="1310497"/>
          </a:xfrm>
          <a:prstGeom prst="rect">
            <a:avLst/>
          </a:prstGeom>
        </p:spPr>
      </p:pic>
      <p:pic>
        <p:nvPicPr>
          <p:cNvPr id="21" name="圖片 20" descr="一張含有 日落, 雲, 戶外, 天空 的圖片&#10;&#10;AI 產生的內容可能不正確。">
            <a:extLst>
              <a:ext uri="{FF2B5EF4-FFF2-40B4-BE49-F238E27FC236}">
                <a16:creationId xmlns:a16="http://schemas.microsoft.com/office/drawing/2014/main" id="{04567C97-2484-EC11-5369-12453FD89DC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6132" y="3948520"/>
            <a:ext cx="1579548" cy="1053854"/>
          </a:xfrm>
          <a:prstGeom prst="rect">
            <a:avLst/>
          </a:prstGeom>
        </p:spPr>
      </p:pic>
      <p:pic>
        <p:nvPicPr>
          <p:cNvPr id="23" name="圖片 22" descr="一張含有 建築, 場景, 街道, 電子標記板 的圖片&#10;&#10;AI 產生的內容可能不正確。">
            <a:extLst>
              <a:ext uri="{FF2B5EF4-FFF2-40B4-BE49-F238E27FC236}">
                <a16:creationId xmlns:a16="http://schemas.microsoft.com/office/drawing/2014/main" id="{E9ADD215-8131-FDAE-7A63-B9DA34F434A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2825" y="4332949"/>
            <a:ext cx="1710561" cy="1141265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8AD0CE6F-6F71-B398-0802-68B8B1CF76E4}"/>
              </a:ext>
            </a:extLst>
          </p:cNvPr>
          <p:cNvSpPr txBox="1"/>
          <p:nvPr/>
        </p:nvSpPr>
        <p:spPr>
          <a:xfrm>
            <a:off x="8347809" y="5713709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歐洲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AF1734B4-F45A-5772-41AA-C1373A5DAE9B}"/>
              </a:ext>
            </a:extLst>
          </p:cNvPr>
          <p:cNvSpPr txBox="1"/>
          <p:nvPr/>
        </p:nvSpPr>
        <p:spPr>
          <a:xfrm>
            <a:off x="7572095" y="1971721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美國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FABF2703-C806-277F-3EC5-26511D9C3BD2}"/>
              </a:ext>
            </a:extLst>
          </p:cNvPr>
          <p:cNvSpPr txBox="1"/>
          <p:nvPr/>
        </p:nvSpPr>
        <p:spPr>
          <a:xfrm>
            <a:off x="4283356" y="3844206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中國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0C644FD-8DCE-486B-1855-FAA86E94378F}"/>
              </a:ext>
            </a:extLst>
          </p:cNvPr>
          <p:cNvSpPr txBox="1"/>
          <p:nvPr/>
        </p:nvSpPr>
        <p:spPr>
          <a:xfrm>
            <a:off x="3692334" y="3384909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日本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6F85DDC9-9658-4BD5-AC13-DD31C0DE5BF6}"/>
              </a:ext>
            </a:extLst>
          </p:cNvPr>
          <p:cNvSpPr txBox="1"/>
          <p:nvPr/>
        </p:nvSpPr>
        <p:spPr>
          <a:xfrm>
            <a:off x="3507854" y="4275621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台灣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78D4E72-57BA-E460-4872-D6AC58A87400}"/>
              </a:ext>
            </a:extLst>
          </p:cNvPr>
          <p:cNvSpPr txBox="1"/>
          <p:nvPr/>
        </p:nvSpPr>
        <p:spPr>
          <a:xfrm>
            <a:off x="3633565" y="705630"/>
            <a:ext cx="7180856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在進行</a:t>
            </a:r>
            <a:r>
              <a:rPr kumimoji="1" lang="en-US" altLang="zh-TW" dirty="0"/>
              <a:t>『</a:t>
            </a:r>
            <a:r>
              <a:rPr kumimoji="1" lang="zh-TW" altLang="en-US" dirty="0"/>
              <a:t>對齊</a:t>
            </a:r>
            <a:r>
              <a:rPr kumimoji="1" lang="en-US" altLang="zh-TW" dirty="0"/>
              <a:t>』</a:t>
            </a:r>
            <a:r>
              <a:rPr kumimoji="1" lang="zh-TW" altLang="en-US" dirty="0"/>
              <a:t>之前，類似圖片的向量們會在空間中出現在相近的位置，而文字向量亦然。但整體分佈仍然較為混亂，因為圖片向量和文字向量尚未對齊。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947495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6B4AF-2D60-B384-CAB0-67C3ED30F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7947C8-4180-A22A-4134-3704961E9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385531-078E-72F4-2DE5-92D0FB57F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EDF89DD-DF5D-802F-5EFC-ADC2FCEF1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9" name="圖片 8" descr="一張含有 戶外, 時鐘, 天空, 建築 的圖片&#10;&#10;AI 產生的內容可能不正確。">
            <a:extLst>
              <a:ext uri="{FF2B5EF4-FFF2-40B4-BE49-F238E27FC236}">
                <a16:creationId xmlns:a16="http://schemas.microsoft.com/office/drawing/2014/main" id="{4A4505F5-7785-2A6F-7257-DA02F316AF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072" y="2028920"/>
            <a:ext cx="1110464" cy="1707339"/>
          </a:xfrm>
          <a:prstGeom prst="rect">
            <a:avLst/>
          </a:prstGeom>
        </p:spPr>
      </p:pic>
      <p:pic>
        <p:nvPicPr>
          <p:cNvPr id="11" name="圖片 10" descr="一張含有 戶外, 水, 建築, 天空 的圖片&#10;&#10;AI 產生的內容可能不正確。">
            <a:extLst>
              <a:ext uri="{FF2B5EF4-FFF2-40B4-BE49-F238E27FC236}">
                <a16:creationId xmlns:a16="http://schemas.microsoft.com/office/drawing/2014/main" id="{36D1142D-080A-17F5-CE7E-AF45CFA851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919" y="1996378"/>
            <a:ext cx="1898582" cy="1269678"/>
          </a:xfrm>
          <a:prstGeom prst="rect">
            <a:avLst/>
          </a:prstGeom>
        </p:spPr>
      </p:pic>
      <p:pic>
        <p:nvPicPr>
          <p:cNvPr id="13" name="圖片 12" descr="一張含有 戶外, 天空, 宗教場所, 人民 的圖片&#10;&#10;AI 產生的內容可能不正確。">
            <a:extLst>
              <a:ext uri="{FF2B5EF4-FFF2-40B4-BE49-F238E27FC236}">
                <a16:creationId xmlns:a16="http://schemas.microsoft.com/office/drawing/2014/main" id="{19957859-C53E-DBB2-B628-66CFE28A6C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3993" y="2056402"/>
            <a:ext cx="1898582" cy="1266710"/>
          </a:xfrm>
          <a:prstGeom prst="rect">
            <a:avLst/>
          </a:prstGeom>
        </p:spPr>
      </p:pic>
      <p:pic>
        <p:nvPicPr>
          <p:cNvPr id="15" name="圖片 14" descr="一張含有 天空, 建築, 戶外, 美國國旗 的圖片&#10;&#10;AI 產生的內容可能不正確。">
            <a:extLst>
              <a:ext uri="{FF2B5EF4-FFF2-40B4-BE49-F238E27FC236}">
                <a16:creationId xmlns:a16="http://schemas.microsoft.com/office/drawing/2014/main" id="{F42DF57D-5086-E4F8-D413-B61E1E507E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49" y="4810956"/>
            <a:ext cx="2203858" cy="1442838"/>
          </a:xfrm>
          <a:prstGeom prst="rect">
            <a:avLst/>
          </a:prstGeom>
        </p:spPr>
      </p:pic>
      <p:pic>
        <p:nvPicPr>
          <p:cNvPr id="17" name="圖片 16" descr="一張含有 戶外, 建築, 雨傘, 服裝 的圖片&#10;&#10;AI 產生的內容可能不正確。">
            <a:extLst>
              <a:ext uri="{FF2B5EF4-FFF2-40B4-BE49-F238E27FC236}">
                <a16:creationId xmlns:a16="http://schemas.microsoft.com/office/drawing/2014/main" id="{D86A8DFF-35A6-6D75-5E3A-FFA29A90F9A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0531" y="2181937"/>
            <a:ext cx="2242506" cy="1496172"/>
          </a:xfrm>
          <a:prstGeom prst="rect">
            <a:avLst/>
          </a:prstGeom>
        </p:spPr>
      </p:pic>
      <p:pic>
        <p:nvPicPr>
          <p:cNvPr id="19" name="圖片 18" descr="一張含有 戶外, 天空, 樹狀, 雲 的圖片&#10;&#10;AI 產生的內容可能不正確。">
            <a:extLst>
              <a:ext uri="{FF2B5EF4-FFF2-40B4-BE49-F238E27FC236}">
                <a16:creationId xmlns:a16="http://schemas.microsoft.com/office/drawing/2014/main" id="{B74A5AE8-98C6-0BB0-C2FE-665236240D8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0872" y="4885136"/>
            <a:ext cx="1964211" cy="1310497"/>
          </a:xfrm>
          <a:prstGeom prst="rect">
            <a:avLst/>
          </a:prstGeom>
        </p:spPr>
      </p:pic>
      <p:pic>
        <p:nvPicPr>
          <p:cNvPr id="21" name="圖片 20" descr="一張含有 日落, 雲, 戶外, 天空 的圖片&#10;&#10;AI 產生的內容可能不正確。">
            <a:extLst>
              <a:ext uri="{FF2B5EF4-FFF2-40B4-BE49-F238E27FC236}">
                <a16:creationId xmlns:a16="http://schemas.microsoft.com/office/drawing/2014/main" id="{22A23E26-8437-D2C2-C302-A31D492685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1516" y="5267382"/>
            <a:ext cx="1579548" cy="1053854"/>
          </a:xfrm>
          <a:prstGeom prst="rect">
            <a:avLst/>
          </a:prstGeom>
        </p:spPr>
      </p:pic>
      <p:pic>
        <p:nvPicPr>
          <p:cNvPr id="23" name="圖片 22" descr="一張含有 建築, 場景, 街道, 電子標記板 的圖片&#10;&#10;AI 產生的內容可能不正確。">
            <a:extLst>
              <a:ext uri="{FF2B5EF4-FFF2-40B4-BE49-F238E27FC236}">
                <a16:creationId xmlns:a16="http://schemas.microsoft.com/office/drawing/2014/main" id="{559C4C17-9CD1-656A-FC1B-63AA34E970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6314" y="5223676"/>
            <a:ext cx="1710561" cy="1141265"/>
          </a:xfrm>
          <a:prstGeom prst="rect">
            <a:avLst/>
          </a:prstGeom>
        </p:spPr>
      </p:pic>
      <p:sp>
        <p:nvSpPr>
          <p:cNvPr id="24" name="文字方塊 23">
            <a:extLst>
              <a:ext uri="{FF2B5EF4-FFF2-40B4-BE49-F238E27FC236}">
                <a16:creationId xmlns:a16="http://schemas.microsoft.com/office/drawing/2014/main" id="{09437FDA-0F71-F2E0-1598-EAA666CABAD5}"/>
              </a:ext>
            </a:extLst>
          </p:cNvPr>
          <p:cNvSpPr txBox="1"/>
          <p:nvPr/>
        </p:nvSpPr>
        <p:spPr>
          <a:xfrm>
            <a:off x="1668229" y="3306841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歐洲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0839787-2E81-A000-34E0-088BE48D15E3}"/>
              </a:ext>
            </a:extLst>
          </p:cNvPr>
          <p:cNvSpPr txBox="1"/>
          <p:nvPr/>
        </p:nvSpPr>
        <p:spPr>
          <a:xfrm>
            <a:off x="438255" y="4403116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美國</a:t>
            </a: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01073B38-8763-BE13-BCA8-6A2FC79323E8}"/>
              </a:ext>
            </a:extLst>
          </p:cNvPr>
          <p:cNvSpPr txBox="1"/>
          <p:nvPr/>
        </p:nvSpPr>
        <p:spPr>
          <a:xfrm>
            <a:off x="8353507" y="3377018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TW" altLang="en-US" dirty="0"/>
              <a:t>中國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6F35E4EE-7FCC-B1D7-C03A-CDE425282204}"/>
              </a:ext>
            </a:extLst>
          </p:cNvPr>
          <p:cNvSpPr txBox="1"/>
          <p:nvPr/>
        </p:nvSpPr>
        <p:spPr>
          <a:xfrm>
            <a:off x="10461083" y="4475447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日本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9DDD3F8B-B194-FD64-DBCF-59F916FBF0D9}"/>
              </a:ext>
            </a:extLst>
          </p:cNvPr>
          <p:cNvSpPr txBox="1"/>
          <p:nvPr/>
        </p:nvSpPr>
        <p:spPr>
          <a:xfrm>
            <a:off x="6438350" y="4772448"/>
            <a:ext cx="6463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台灣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0AC953E-C094-5E72-D86F-F2922F17D05C}"/>
              </a:ext>
            </a:extLst>
          </p:cNvPr>
          <p:cNvSpPr txBox="1"/>
          <p:nvPr/>
        </p:nvSpPr>
        <p:spPr>
          <a:xfrm>
            <a:off x="3633565" y="705630"/>
            <a:ext cx="7180856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經過</a:t>
            </a:r>
            <a:r>
              <a:rPr kumimoji="1" lang="en-US" altLang="zh-TW" dirty="0"/>
              <a:t>『</a:t>
            </a:r>
            <a:r>
              <a:rPr kumimoji="1" lang="zh-TW" altLang="en-US" dirty="0"/>
              <a:t>對齊</a:t>
            </a:r>
            <a:r>
              <a:rPr kumimoji="1" lang="en-US" altLang="zh-TW" dirty="0"/>
              <a:t>』</a:t>
            </a:r>
            <a:r>
              <a:rPr kumimoji="1" lang="zh-TW" altLang="en-US" dirty="0"/>
              <a:t>之後，圖片向量與文字向量可以互相對應，同時不同圖片與文字之間的向量距離也被拉開，形成更明顯的區隔。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2536720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6AFED0E-1ACD-F137-76CC-034B5D245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p:pic>
        <p:nvPicPr>
          <p:cNvPr id="7" name="內容版面配置區 6" descr="一張含有 文字, 螢幕擷取畫面, 圖表, 方案 的圖片&#10;&#10;AI 產生的內容可能不正確。">
            <a:extLst>
              <a:ext uri="{FF2B5EF4-FFF2-40B4-BE49-F238E27FC236}">
                <a16:creationId xmlns:a16="http://schemas.microsoft.com/office/drawing/2014/main" id="{AB9684F4-16EC-5B24-3F7D-A09F1E6DF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98" y="2096625"/>
            <a:ext cx="5395502" cy="3760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0D16E16-BB99-179E-17B2-4011FDAEA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B181B65-F1BE-E0E8-1761-6CCDAA27F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30DE031-D886-26F1-716D-048D71B4A79E}"/>
              </a:ext>
            </a:extLst>
          </p:cNvPr>
          <p:cNvSpPr txBox="1"/>
          <p:nvPr/>
        </p:nvSpPr>
        <p:spPr>
          <a:xfrm>
            <a:off x="1563978" y="5985713"/>
            <a:ext cx="323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hlinkClick r:id="rId3"/>
              </a:rPr>
              <a:t>https://arxiv.org/pdf/2103.00020</a:t>
            </a:r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B9ED4BA-6C05-C322-5B7C-CAF7CB3B2274}"/>
              </a:ext>
            </a:extLst>
          </p:cNvPr>
          <p:cNvSpPr txBox="1"/>
          <p:nvPr/>
        </p:nvSpPr>
        <p:spPr>
          <a:xfrm>
            <a:off x="6593179" y="2961356"/>
            <a:ext cx="5029199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Text Encoder </a:t>
            </a:r>
            <a:r>
              <a:rPr kumimoji="1" lang="zh-TW" altLang="en-US" dirty="0"/>
              <a:t>可使用 </a:t>
            </a:r>
            <a:r>
              <a:rPr kumimoji="1" lang="en-US" altLang="zh-TW" dirty="0"/>
              <a:t>BERT</a:t>
            </a:r>
            <a:r>
              <a:rPr kumimoji="1" lang="zh-TW" altLang="en-US" dirty="0"/>
              <a:t>。 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Image Encoder </a:t>
            </a:r>
            <a:r>
              <a:rPr kumimoji="1" lang="zh-TW" altLang="en-US" dirty="0"/>
              <a:t>可使用 </a:t>
            </a:r>
            <a:r>
              <a:rPr kumimoji="1" lang="en-US" altLang="zh-TW" dirty="0" err="1"/>
              <a:t>ResNet</a:t>
            </a:r>
            <a:r>
              <a:rPr kumimoji="1" lang="en-US" altLang="zh-TW" dirty="0"/>
              <a:t> </a:t>
            </a:r>
            <a:r>
              <a:rPr kumimoji="1" lang="zh-TW" altLang="en-US" dirty="0"/>
              <a:t>或 </a:t>
            </a:r>
            <a:r>
              <a:rPr kumimoji="1" lang="en-US" altLang="zh-TW" dirty="0"/>
              <a:t>Vision Transformer (</a:t>
            </a:r>
            <a:r>
              <a:rPr kumimoji="1" lang="en-US" altLang="zh-TW" dirty="0" err="1"/>
              <a:t>ViT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，原論文中使用的是 </a:t>
            </a:r>
            <a:r>
              <a:rPr kumimoji="1" lang="en-US" altLang="zh-TW" dirty="0"/>
              <a:t>ResNet-50</a:t>
            </a:r>
            <a:r>
              <a:rPr kumimoji="1" lang="zh-TW" altLang="en-US" dirty="0"/>
              <a:t>。 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TW" altLang="en-US" dirty="0"/>
              <a:t>圖中未畫出，但在 </a:t>
            </a:r>
            <a:r>
              <a:rPr kumimoji="1" lang="en-US" altLang="zh-TW" dirty="0"/>
              <a:t>Text Encoder </a:t>
            </a:r>
            <a:r>
              <a:rPr kumimoji="1" lang="zh-TW" altLang="en-US" dirty="0"/>
              <a:t>與 </a:t>
            </a:r>
            <a:r>
              <a:rPr kumimoji="1" lang="en-US" altLang="zh-TW" dirty="0"/>
              <a:t>Image Encoder </a:t>
            </a:r>
            <a:r>
              <a:rPr kumimoji="1" lang="zh-TW" altLang="en-US" dirty="0"/>
              <a:t>後，需分別加入 </a:t>
            </a:r>
            <a:r>
              <a:rPr kumimoji="1" lang="en-US" altLang="zh-TW" dirty="0"/>
              <a:t>FFNN</a:t>
            </a:r>
            <a:r>
              <a:rPr kumimoji="1" lang="zh-TW" altLang="en-US" dirty="0"/>
              <a:t>，將向量轉換到相同維度。</a:t>
            </a:r>
            <a:endParaRPr kumimoji="1"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115006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BC8A96-77E7-3AAC-A04F-2D825C35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1F06A-F1CE-1139-57C7-48116D64B0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2108201"/>
                <a:ext cx="10058400" cy="4165277"/>
              </a:xfrm>
            </p:spPr>
            <p:txBody>
              <a:bodyPr>
                <a:normAutofit/>
              </a:bodyPr>
              <a:lstStyle/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計算每一個 </a:t>
                </a:r>
                <a:r>
                  <a:rPr kumimoji="1" lang="en-US" altLang="zh-TW" dirty="0"/>
                  <a:t>image-text pair </a:t>
                </a:r>
                <a:r>
                  <a:rPr kumimoji="1" lang="zh-TW" altLang="en-US" dirty="0"/>
                  <a:t>的向量 </a:t>
                </a:r>
                <a:r>
                  <a:rPr kumimoji="1" lang="en-US" altLang="zh-TW" dirty="0"/>
                  <a:t>cosine similarity</a:t>
                </a:r>
                <a:r>
                  <a:rPr kumimoji="1" lang="zh-TW" altLang="en-US" dirty="0"/>
                  <a:t>。由於所有向量已被 </a:t>
                </a:r>
                <a:r>
                  <a:rPr kumimoji="1" lang="en-US" altLang="zh-TW" dirty="0"/>
                  <a:t>normalized</a:t>
                </a:r>
                <a:r>
                  <a:rPr kumimoji="1" lang="zh-TW" altLang="en-US" dirty="0"/>
                  <a:t>，分母為 </a:t>
                </a:r>
                <a:r>
                  <a:rPr kumimoji="1" lang="en-US" altLang="zh-TW" dirty="0"/>
                  <a:t>1</a:t>
                </a:r>
                <a:r>
                  <a:rPr kumimoji="1" lang="zh-TW" altLang="en-US" dirty="0"/>
                  <a:t>，因此可以省略。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</a:t>
                </a:r>
                <a:r>
                  <a:rPr kumimoji="1" lang="en-US" altLang="zh-TW" dirty="0"/>
                  <a:t>CLIP</a:t>
                </a:r>
                <a:r>
                  <a:rPr kumimoji="1" lang="zh-TW" altLang="en-US" dirty="0"/>
                  <a:t> 的訓練目標是讓 </a:t>
                </a:r>
                <a:r>
                  <a:rPr kumimoji="1" lang="en-US" altLang="zh-TW" dirty="0"/>
                  <a:t>similarity matrix </a:t>
                </a:r>
                <a:r>
                  <a:rPr kumimoji="1" lang="zh-TW" altLang="en-US" dirty="0"/>
                  <a:t>接近 </a:t>
                </a:r>
                <a:r>
                  <a:rPr kumimoji="1" lang="en-US" altLang="zh-TW" dirty="0"/>
                  <a:t>identity matrix</a:t>
                </a:r>
                <a:r>
                  <a:rPr kumimoji="1" lang="zh-TW" altLang="en-US" dirty="0"/>
                  <a:t>。</a:t>
                </a:r>
                <a:endParaRPr kumimoji="1" lang="en-US" altLang="zh-TW" dirty="0"/>
              </a:p>
              <a:p>
                <a:pPr>
                  <a:buFont typeface="Wingdings" pitchFamily="2" charset="2"/>
                  <a:buChar char="n"/>
                </a:pPr>
                <a:r>
                  <a:rPr kumimoji="1" lang="zh-TW" altLang="en-US" dirty="0"/>
                  <a:t> 損失函數：</a:t>
                </a:r>
                <a:endParaRPr kumimoji="1" lang="en-US" altLang="zh-TW" dirty="0"/>
              </a:p>
              <a:p>
                <a:pPr lvl="1">
                  <a:buFont typeface="Wingdings" pitchFamily="2" charset="2"/>
                  <a:buChar char="n"/>
                </a:pPr>
                <a:r>
                  <a:rPr kumimoji="1" lang="zh-TW" altLang="en-US" dirty="0"/>
                  <a:t> 對於每張圖片 </a:t>
                </a:r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kumimoji="1" lang="zh-TW" altLang="en-US" dirty="0"/>
                  <a:t>，可定義：</a:t>
                </a:r>
                <a:endParaRPr kumimoji="1" lang="en-US" altLang="zh-TW" dirty="0"/>
              </a:p>
              <a:p>
                <a:pPr marL="201168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e>
                        <m:sub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f>
                        <m:fPr>
                          <m:ctrlP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kumimoji="1" lang="en-US" altLang="zh-TW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kumimoji="1" lang="zh-TW" alt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])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m:rPr>
                                  <m:sty m:val="p"/>
                                </m:rPr>
                                <a:rPr kumimoji="1" lang="en-US" altLang="zh-TW" b="0" i="0" smtClean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⁡(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kumimoji="1" lang="en-US" altLang="zh-TW" b="0" i="1" smtClean="0">
                                  <a:latin typeface="Cambria Math" panose="02040503050406030204" pitchFamily="18" charset="0"/>
                                </a:rPr>
                                <m:t>])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kumimoji="1" lang="en-US" altLang="zh-TW" dirty="0"/>
              </a:p>
              <a:p>
                <a:pPr lvl="1">
                  <a:buFont typeface="Wingdings" pitchFamily="2" charset="2"/>
                  <a:buChar char="n"/>
                </a:pPr>
                <a:r>
                  <a:rPr kumimoji="1" lang="zh-TW" altLang="en-US" dirty="0"/>
                  <a:t> 當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kumimoji="1" lang="zh-TW" altLang="en-US" dirty="0"/>
                  <a:t> 且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begChr m:val="["/>
                        <m:endChr m:val="]"/>
                        <m:ctrlPr>
                          <a:rPr kumimoji="1"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kumimoji="1" lang="zh-TW" altLang="en-U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kumimoji="1" lang="en-US" altLang="zh-TW" i="1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kumimoji="1" lang="zh-TW" altLang="en-US" dirty="0"/>
                  <a:t> 時，損失最小。</a:t>
                </a:r>
                <a:endParaRPr kumimoji="1" lang="en-US" altLang="zh-TW" dirty="0"/>
              </a:p>
              <a:p>
                <a:pPr lvl="1">
                  <a:buFont typeface="Wingdings" pitchFamily="2" charset="2"/>
                  <a:buChar char="n"/>
                </a:pPr>
                <a:r>
                  <a:rPr kumimoji="1" lang="zh-TW" altLang="en-US" dirty="0"/>
                  <a:t> 將所有圖片損失取平均，可得到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𝑙𝑜𝑠𝑠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𝑖𝑚𝑎𝑔𝑒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b>
                          <m:sSub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𝑙𝑜𝑠𝑠</m:t>
                            </m:r>
                          </m:e>
                          <m:sub>
                            <m:r>
                              <a:rPr kumimoji="1" lang="en-US" altLang="zh-TW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kumimoji="1" lang="zh-TW" altLang="en-US" dirty="0"/>
                  <a:t>。</a:t>
                </a:r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0D01F06A-F1CE-1139-57C7-48116D64B0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2108201"/>
                <a:ext cx="10058400" cy="4165277"/>
              </a:xfrm>
              <a:blipFill>
                <a:blip r:embed="rId2"/>
                <a:stretch>
                  <a:fillRect l="-1765" t="-1220" b="-100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9E4E87-6C4B-A410-BC10-B68690594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8A6D120-2307-330F-E77C-5C925A12D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9913600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1CB199-6DEE-2029-E35D-E541332A4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endParaRPr kumimoji="1"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64B253-6FFC-A3CD-6B64-49D0C3EF906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zh-TW" altLang="en-US" dirty="0"/>
                  <a:t>對於每段文字亦可定義一樣的損失函數，最後可求出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𝑙𝑜𝑠𝑠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𝑡𝑒𝑥𝑡</m:t>
                        </m:r>
                      </m:sub>
                    </m:sSub>
                  </m:oMath>
                </a14:m>
                <a:r>
                  <a:rPr kumimoji="1" lang="zh-TW" altLang="en-US" dirty="0"/>
                  <a:t>。總損失函數即為：</a:t>
                </a:r>
                <a:endParaRPr kumimoji="1" lang="en-US" altLang="zh-TW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1" lang="en-US" altLang="zh-TW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altLang="zh-TW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𝑙𝑜𝑠𝑠</m:t>
                          </m:r>
                        </m:e>
                        <m:sub>
                          <m:r>
                            <a:rPr kumimoji="1" lang="en-US" altLang="zh-TW" i="1">
                              <a:latin typeface="Cambria Math" panose="02040503050406030204" pitchFamily="18" charset="0"/>
                            </a:rPr>
                            <m:t>𝑡𝑒𝑥𝑡</m:t>
                          </m:r>
                        </m:sub>
                      </m:sSub>
                      <m:r>
                        <a:rPr kumimoji="1" lang="en-US" altLang="zh-TW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TW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AC64B253-6FFC-A3CD-6B64-49D0C3EF90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9" t="-1347" r="-13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2EF85D-B999-6E79-B685-059F1C41A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E8ACF3E-45FB-C14F-1CFB-B03253F47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21089853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196382-18D2-FD54-4A10-7C6D740B5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r>
              <a:rPr kumimoji="1" lang="zh-TW" altLang="en-US" dirty="0"/>
              <a:t> 應用場景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E92BCF-BAB4-7A50-3364-BAE5F2ACE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TW" altLang="en-US" dirty="0"/>
              <a:t>在 </a:t>
            </a:r>
            <a:r>
              <a:rPr kumimoji="1" lang="en-US" altLang="zh-TW" dirty="0"/>
              <a:t>CLIP</a:t>
            </a:r>
            <a:r>
              <a:rPr kumimoji="1" lang="zh-TW" altLang="en-US" dirty="0"/>
              <a:t> 論文中提到的一個應用場景是 </a:t>
            </a:r>
            <a:r>
              <a:rPr kumimoji="1" lang="en-US" altLang="zh-TW" dirty="0"/>
              <a:t>Zero-shot Image Classification</a:t>
            </a:r>
            <a:r>
              <a:rPr kumimoji="1" lang="zh-TW" altLang="en-US" dirty="0"/>
              <a:t>（零樣本圖像分類）。傳統圖像分類模型需要針對每個類別進行訓練，而 </a:t>
            </a:r>
            <a:r>
              <a:rPr kumimoji="1" lang="en-US" altLang="zh-TW" dirty="0"/>
              <a:t>Pretrained</a:t>
            </a:r>
            <a:r>
              <a:rPr kumimoji="1" lang="zh-TW" altLang="en-US" dirty="0"/>
              <a:t> </a:t>
            </a:r>
            <a:r>
              <a:rPr kumimoji="1" lang="en-US" altLang="zh-TW" dirty="0"/>
              <a:t>CLIP </a:t>
            </a:r>
            <a:r>
              <a:rPr kumimoji="1" lang="zh-TW" altLang="en-US" dirty="0"/>
              <a:t>可以不需額外訓練，就能對圖片進行分類。</a:t>
            </a:r>
            <a:endParaRPr kumimoji="1" lang="en-US" altLang="zh-TW" dirty="0"/>
          </a:p>
          <a:p>
            <a:r>
              <a:rPr kumimoji="1" lang="zh-TW" altLang="en-US" dirty="0"/>
              <a:t>做法：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透過 </a:t>
            </a:r>
            <a:r>
              <a:rPr kumimoji="1" lang="en-US" altLang="zh-TW" dirty="0"/>
              <a:t>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 生成一系列的 </a:t>
            </a:r>
            <a:r>
              <a:rPr kumimoji="1" lang="en-US" altLang="zh-TW" dirty="0"/>
              <a:t>A</a:t>
            </a:r>
            <a:r>
              <a:rPr kumimoji="1" lang="zh-TW" altLang="en-US" dirty="0"/>
              <a:t> </a:t>
            </a:r>
            <a:r>
              <a:rPr kumimoji="1" lang="en-US" altLang="zh-TW" dirty="0"/>
              <a:t>phot</a:t>
            </a:r>
            <a:r>
              <a:rPr kumimoji="1" lang="zh-TW" altLang="en-US" dirty="0"/>
              <a:t> </a:t>
            </a:r>
            <a:r>
              <a:rPr kumimoji="1" lang="en-US" altLang="zh-TW" dirty="0"/>
              <a:t>of</a:t>
            </a:r>
            <a:r>
              <a:rPr kumimoji="1" lang="zh-TW" altLang="en-US" dirty="0"/>
              <a:t> </a:t>
            </a:r>
            <a:r>
              <a:rPr kumimoji="1" lang="en-US" altLang="zh-TW" dirty="0"/>
              <a:t>a</a:t>
            </a:r>
            <a:r>
              <a:rPr kumimoji="1" lang="zh-TW" altLang="en-US" dirty="0"/>
              <a:t> </a:t>
            </a:r>
            <a:r>
              <a:rPr kumimoji="1" lang="en-US" altLang="zh-TW" dirty="0"/>
              <a:t>{object}</a:t>
            </a:r>
            <a:r>
              <a:rPr kumimoji="1" lang="zh-TW" altLang="en-US" dirty="0"/>
              <a:t> 向量。</a:t>
            </a:r>
            <a:r>
              <a:rPr kumimoji="1" lang="en-US" altLang="zh-TW" dirty="0"/>
              <a:t>Object</a:t>
            </a:r>
            <a:r>
              <a:rPr kumimoji="1" lang="zh-TW" altLang="en-US" dirty="0"/>
              <a:t> 可用 </a:t>
            </a:r>
            <a:r>
              <a:rPr kumimoji="1" lang="en-US" altLang="zh-TW" dirty="0"/>
              <a:t>plane,</a:t>
            </a:r>
            <a:r>
              <a:rPr kumimoji="1" lang="zh-TW" altLang="en-US" dirty="0"/>
              <a:t> </a:t>
            </a:r>
            <a:r>
              <a:rPr kumimoji="1" lang="en-US" altLang="zh-TW" dirty="0"/>
              <a:t>car,</a:t>
            </a:r>
            <a:r>
              <a:rPr kumimoji="1" lang="zh-TW" altLang="en-US" dirty="0"/>
              <a:t> </a:t>
            </a:r>
            <a:r>
              <a:rPr kumimoji="1" lang="en-US" altLang="zh-TW" dirty="0"/>
              <a:t>dog</a:t>
            </a:r>
            <a:r>
              <a:rPr kumimoji="1" lang="zh-TW" altLang="en-US" dirty="0"/>
              <a:t> 等字替換。將這些向量除存起來（例如放入 </a:t>
            </a:r>
            <a:r>
              <a:rPr kumimoji="1" lang="en-US" altLang="zh-TW" dirty="0"/>
              <a:t>Vector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Database</a:t>
            </a:r>
            <a:r>
              <a:rPr kumimoji="1" lang="zh-TW" altLang="en-US" dirty="0"/>
              <a:t>）。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對於一張新圖片，我們可用 </a:t>
            </a:r>
            <a:r>
              <a:rPr kumimoji="1" lang="en-US" altLang="zh-TW" dirty="0"/>
              <a:t>Image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 生成向量，並且比較 </a:t>
            </a:r>
            <a:r>
              <a:rPr kumimoji="1" lang="en-US" altLang="zh-TW" dirty="0"/>
              <a:t>Vector</a:t>
            </a:r>
            <a:r>
              <a:rPr kumimoji="1" lang="zh-TW" altLang="en-US" dirty="0"/>
              <a:t> </a:t>
            </a:r>
            <a:r>
              <a:rPr kumimoji="1" lang="en-US" altLang="zh-TW" dirty="0"/>
              <a:t>Database</a:t>
            </a:r>
            <a:r>
              <a:rPr kumimoji="1" lang="zh-TW" altLang="en-US" dirty="0"/>
              <a:t> 中哪個向量與之最相似。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61119F-A153-02C3-AFBD-136E1C347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F43EFB6-0880-4F4E-F6CF-19754EB7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12726591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B52210-19B2-B942-62D0-E097A2796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r>
              <a:rPr kumimoji="1" lang="zh-TW" altLang="en-US" dirty="0"/>
              <a:t> 應用場景</a:t>
            </a:r>
          </a:p>
        </p:txBody>
      </p:sp>
      <p:pic>
        <p:nvPicPr>
          <p:cNvPr id="7" name="內容版面配置區 6" descr="一張含有 文字, 圖表, 方案, Rectangle 的圖片&#10;&#10;AI 產生的內容可能不正確。">
            <a:extLst>
              <a:ext uri="{FF2B5EF4-FFF2-40B4-BE49-F238E27FC236}">
                <a16:creationId xmlns:a16="http://schemas.microsoft.com/office/drawing/2014/main" id="{FB4D1495-30C3-633B-D94B-E139B4E88C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433" y="2108200"/>
            <a:ext cx="5431459" cy="376078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8309CF-F1D4-5A31-34B6-AA890E180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933310-1357-057D-3E90-23A7064EE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9D8E69D-08ED-5550-3E0E-EF740E8893FB}"/>
              </a:ext>
            </a:extLst>
          </p:cNvPr>
          <p:cNvSpPr txBox="1"/>
          <p:nvPr/>
        </p:nvSpPr>
        <p:spPr>
          <a:xfrm>
            <a:off x="4477576" y="5973247"/>
            <a:ext cx="3236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hlinkClick r:id="rId3"/>
              </a:rPr>
              <a:t>https://arxiv.org/pdf/2103.00020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029019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86FFCD-1822-3DDD-7F0F-A64FAD20E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r>
              <a:rPr kumimoji="1" lang="zh-TW" altLang="en-US" dirty="0"/>
              <a:t> 應用場景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9C172A7-300D-B11B-FA84-FC00A5122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562" y="2108201"/>
            <a:ext cx="5220181" cy="3760891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/>
              <a:t>其他應用場景為 </a:t>
            </a:r>
            <a:r>
              <a:rPr kumimoji="1" lang="en-US" altLang="zh-TW" dirty="0"/>
              <a:t>Text-to-Image Search</a:t>
            </a:r>
            <a:r>
              <a:rPr kumimoji="1" lang="zh-TW" altLang="en-US" dirty="0"/>
              <a:t>（文字檢索圖像）。</a:t>
            </a:r>
            <a:endParaRPr kumimoji="1" lang="en-US" altLang="zh-TW" dirty="0"/>
          </a:p>
          <a:p>
            <a:r>
              <a:rPr kumimoji="1" lang="zh-TW" altLang="en-US" dirty="0"/>
              <a:t>做法：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將相簿內的所有相片放入 </a:t>
            </a:r>
            <a:r>
              <a:rPr kumimoji="1" lang="en-US" altLang="zh-TW" dirty="0"/>
              <a:t>Image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 生成向量，並且將這些向量儲存起來。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文字經過 </a:t>
            </a:r>
            <a:r>
              <a:rPr kumimoji="1" lang="en-US" altLang="zh-TW" dirty="0"/>
              <a:t>CLIP </a:t>
            </a:r>
            <a:r>
              <a:rPr kumimoji="1" lang="zh-TW" altLang="en-US" dirty="0"/>
              <a:t>的 </a:t>
            </a:r>
            <a:r>
              <a:rPr kumimoji="1" lang="en-US" altLang="zh-TW" dirty="0"/>
              <a:t>Text Encoder </a:t>
            </a:r>
            <a:r>
              <a:rPr kumimoji="1" lang="zh-TW" altLang="en-US" dirty="0"/>
              <a:t>生成向量，再與資料庫中圖片的向量比對相似度，找到最接近的幾張圖片。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FAD901-E308-7689-B42C-BF9823F4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1EEC1AA-65A6-07DC-1EF1-D15656F34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肉, 菜餚, 食物 的圖片&#10;&#10;AI 產生的內容可能不正確。">
            <a:extLst>
              <a:ext uri="{FF2B5EF4-FFF2-40B4-BE49-F238E27FC236}">
                <a16:creationId xmlns:a16="http://schemas.microsoft.com/office/drawing/2014/main" id="{D6A55B09-861D-8E58-BE78-0EFC8B61EA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0" y="2454677"/>
            <a:ext cx="5590572" cy="1948646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B8F9E33-21F3-8C8D-F821-2267AB2622ED}"/>
              </a:ext>
            </a:extLst>
          </p:cNvPr>
          <p:cNvSpPr txBox="1"/>
          <p:nvPr/>
        </p:nvSpPr>
        <p:spPr>
          <a:xfrm>
            <a:off x="6311675" y="4668763"/>
            <a:ext cx="5220181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kumimoji="1" lang="zh-TW" altLang="en-US" dirty="0"/>
              <a:t>雖然 </a:t>
            </a:r>
            <a:r>
              <a:rPr kumimoji="1" lang="en-US" altLang="zh-TW" dirty="0"/>
              <a:t>Google Album </a:t>
            </a:r>
            <a:r>
              <a:rPr kumimoji="1" lang="zh-TW" altLang="en-US" dirty="0"/>
              <a:t>沒有明確說明其是否使用 </a:t>
            </a:r>
            <a:r>
              <a:rPr kumimoji="1" lang="en-US" altLang="zh-TW" dirty="0"/>
              <a:t>CLIP </a:t>
            </a:r>
            <a:r>
              <a:rPr kumimoji="1" lang="zh-TW" altLang="en-US" dirty="0"/>
              <a:t>進行圖片搜尋，但從使用效果上，結果與 </a:t>
            </a:r>
            <a:r>
              <a:rPr kumimoji="1" lang="en-US" altLang="zh-TW" dirty="0"/>
              <a:t>CLIP </a:t>
            </a:r>
            <a:r>
              <a:rPr kumimoji="1" lang="zh-TW" altLang="en-US" dirty="0"/>
              <a:t>相似。透過文字描述來搜尋相關圖片，達到語義匹配的效果。</a:t>
            </a:r>
          </a:p>
        </p:txBody>
      </p:sp>
    </p:spTree>
    <p:extLst>
      <p:ext uri="{BB962C8B-B14F-4D97-AF65-F5344CB8AC3E}">
        <p14:creationId xmlns:p14="http://schemas.microsoft.com/office/powerpoint/2010/main" val="276904681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863430-FFC8-AA00-FDFC-597478228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CLIP</a:t>
            </a:r>
            <a:r>
              <a:rPr kumimoji="1" lang="zh-TW" altLang="en-US" dirty="0"/>
              <a:t> 應用場景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FCA9A5-C3AA-5120-97D3-B18B751A3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539" y="2108201"/>
            <a:ext cx="6724891" cy="3933784"/>
          </a:xfrm>
        </p:spPr>
        <p:txBody>
          <a:bodyPr>
            <a:normAutofit lnSpcReduction="10000"/>
          </a:bodyPr>
          <a:lstStyle/>
          <a:p>
            <a:r>
              <a:rPr kumimoji="1" lang="zh-TW" altLang="en-US" dirty="0"/>
              <a:t>其他應用場景還有 </a:t>
            </a:r>
            <a:r>
              <a:rPr kumimoji="1" lang="en-US" altLang="zh-TW" dirty="0"/>
              <a:t>Image-to-Text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Search</a:t>
            </a:r>
            <a:r>
              <a:rPr kumimoji="1" lang="zh-TW" altLang="en-US" dirty="0"/>
              <a:t> （圖片檢索文字）。例如，要發到 </a:t>
            </a:r>
            <a:r>
              <a:rPr kumimoji="1" lang="en-US" altLang="zh-TW" dirty="0"/>
              <a:t>IG</a:t>
            </a:r>
            <a:r>
              <a:rPr kumimoji="1" lang="zh-TW" altLang="en-US" dirty="0"/>
              <a:t> 上的圖片會需要 </a:t>
            </a:r>
            <a:r>
              <a:rPr kumimoji="1" lang="en-US" altLang="zh-TW" dirty="0"/>
              <a:t>Hashtag</a:t>
            </a:r>
            <a:r>
              <a:rPr kumimoji="1" lang="zh-TW" altLang="en-US" dirty="0"/>
              <a:t> </a:t>
            </a:r>
            <a:r>
              <a:rPr kumimoji="1" lang="en-US" altLang="zh-TW" dirty="0"/>
              <a:t>Generation</a:t>
            </a:r>
            <a:r>
              <a:rPr kumimoji="1" lang="zh-TW" altLang="en-US" dirty="0"/>
              <a:t>。</a:t>
            </a:r>
            <a:endParaRPr kumimoji="1" lang="en-US" altLang="zh-TW" dirty="0"/>
          </a:p>
          <a:p>
            <a:r>
              <a:rPr kumimoji="1" lang="zh-TW" altLang="en-US" dirty="0"/>
              <a:t>做法：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蒐集常見的 </a:t>
            </a:r>
            <a:r>
              <a:rPr kumimoji="1" lang="en-US" altLang="zh-TW" dirty="0"/>
              <a:t>Hashtag</a:t>
            </a:r>
            <a:r>
              <a:rPr kumimoji="1" lang="zh-TW" altLang="en-US" dirty="0"/>
              <a:t> 標籤文字（例如今年最熱門的</a:t>
            </a:r>
            <a:r>
              <a:rPr kumimoji="1" lang="en-US" altLang="zh-TW" dirty="0"/>
              <a:t>5000</a:t>
            </a:r>
            <a:r>
              <a:rPr kumimoji="1" lang="zh-TW" altLang="en-US" dirty="0"/>
              <a:t>個標籤），全數放入 </a:t>
            </a:r>
            <a:r>
              <a:rPr kumimoji="1" lang="en-US" altLang="zh-TW" dirty="0"/>
              <a:t>Text</a:t>
            </a:r>
            <a:r>
              <a:rPr kumimoji="1" lang="zh-TW" altLang="en-US" dirty="0"/>
              <a:t> 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 生成向量，並且將這些向量儲存起來。</a:t>
            </a:r>
            <a:endParaRPr kumimoji="1" lang="en-US" altLang="zh-TW" dirty="0"/>
          </a:p>
          <a:p>
            <a:pPr marL="457200" indent="-457200">
              <a:buFont typeface="+mj-lt"/>
              <a:buAutoNum type="arabicPeriod"/>
            </a:pPr>
            <a:r>
              <a:rPr kumimoji="1" lang="zh-TW" altLang="en-US" dirty="0"/>
              <a:t>新圖片可放入 </a:t>
            </a:r>
            <a:r>
              <a:rPr kumimoji="1" lang="en-US" altLang="zh-TW" dirty="0"/>
              <a:t>Image</a:t>
            </a:r>
            <a:r>
              <a:rPr kumimoji="1" lang="zh-TW" altLang="en-US" dirty="0"/>
              <a:t> </a:t>
            </a:r>
            <a:r>
              <a:rPr kumimoji="1" lang="en-US" altLang="zh-TW" dirty="0"/>
              <a:t>Encoder</a:t>
            </a:r>
            <a:r>
              <a:rPr kumimoji="1" lang="zh-TW" altLang="en-US" dirty="0"/>
              <a:t> 生成向量，再與資料庫中圖片的向量比對相似度，找到最接近的幾段文字。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4E8869-9A86-1716-147C-E043920B3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B6190B-B9AC-473E-80AE-AC81C2458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  <p:pic>
        <p:nvPicPr>
          <p:cNvPr id="7" name="圖片 6" descr="一張含有 戶外, 樹狀, 雲, 植物 的圖片&#10;&#10;AI 產生的內容可能不正確。">
            <a:extLst>
              <a:ext uri="{FF2B5EF4-FFF2-40B4-BE49-F238E27FC236}">
                <a16:creationId xmlns:a16="http://schemas.microsoft.com/office/drawing/2014/main" id="{CAEC3132-D4BD-8901-8FE9-654313B8B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1959" y="2345303"/>
            <a:ext cx="4317783" cy="242981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BD66FF25-C52C-18A8-A554-361D31460E5B}"/>
              </a:ext>
            </a:extLst>
          </p:cNvPr>
          <p:cNvSpPr txBox="1"/>
          <p:nvPr/>
        </p:nvSpPr>
        <p:spPr>
          <a:xfrm>
            <a:off x="7543003" y="4964644"/>
            <a:ext cx="3935693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en-US" altLang="zh-TW" dirty="0"/>
              <a:t>#park</a:t>
            </a:r>
            <a:r>
              <a:rPr kumimoji="1" lang="zh-TW" altLang="en-US" dirty="0"/>
              <a:t> </a:t>
            </a:r>
            <a:r>
              <a:rPr kumimoji="1" lang="en-US" altLang="zh-TW" dirty="0"/>
              <a:t>#</a:t>
            </a:r>
            <a:r>
              <a:rPr kumimoji="1" lang="en-US" altLang="zh-TW" dirty="0" err="1"/>
              <a:t>citypark</a:t>
            </a:r>
            <a:r>
              <a:rPr kumimoji="1" lang="zh-TW" altLang="en-US" dirty="0"/>
              <a:t> </a:t>
            </a:r>
            <a:r>
              <a:rPr kumimoji="1" lang="en-US" altLang="zh-TW" dirty="0"/>
              <a:t>#</a:t>
            </a:r>
            <a:r>
              <a:rPr kumimoji="1" lang="en-US" altLang="zh-TW" dirty="0" err="1"/>
              <a:t>greenpark</a:t>
            </a:r>
            <a:r>
              <a:rPr kumimoji="1" lang="zh-TW" altLang="en-US" dirty="0"/>
              <a:t> </a:t>
            </a:r>
            <a:r>
              <a:rPr kumimoji="1" lang="en-US" altLang="zh-TW" dirty="0"/>
              <a:t>#</a:t>
            </a:r>
            <a:r>
              <a:rPr kumimoji="1" lang="en-US" altLang="zh-TW" dirty="0" err="1"/>
              <a:t>outdoorlife</a:t>
            </a:r>
            <a:endParaRPr kumimoji="1" lang="en-US" altLang="zh-TW" dirty="0"/>
          </a:p>
          <a:p>
            <a:r>
              <a:rPr kumimoji="1" lang="en-US" altLang="zh-TW" dirty="0"/>
              <a:t>#</a:t>
            </a:r>
            <a:r>
              <a:rPr kumimoji="1" lang="en-US" altLang="zh-TW" dirty="0" err="1"/>
              <a:t>urbanpark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515215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938ABC-536C-AFD1-9A8A-7D40EF1FE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Lab</a:t>
            </a:r>
            <a:r>
              <a:rPr kumimoji="1" lang="zh-TW" altLang="en-US" dirty="0"/>
              <a:t> </a:t>
            </a:r>
            <a:r>
              <a:rPr kumimoji="1" lang="en-US" altLang="zh-TW" dirty="0"/>
              <a:t>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805081-99C6-3C57-C3DA-6D5EC2AEE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Lab_6_Sequential_Data.ipynb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98AC4D9-92A8-FF5B-B7AA-423D68385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Wilson Ren</a:t>
            </a:r>
            <a:endParaRPr lang="en-US" altLang="zh-TW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9810AEE-91D8-6C54-15EF-4226B2D5A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TW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222961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自訂 2">
      <a:dk1>
        <a:srgbClr val="000000"/>
      </a:dk1>
      <a:lt1>
        <a:srgbClr val="FFFFFF"/>
      </a:lt1>
      <a:dk2>
        <a:srgbClr val="1C2031"/>
      </a:dk2>
      <a:lt2>
        <a:srgbClr val="F2F3F0"/>
      </a:lt2>
      <a:accent1>
        <a:srgbClr val="15C554"/>
      </a:accent1>
      <a:accent2>
        <a:srgbClr val="3732DA"/>
      </a:accent2>
      <a:accent3>
        <a:srgbClr val="2973E7"/>
      </a:accent3>
      <a:accent4>
        <a:srgbClr val="17B0D5"/>
      </a:accent4>
      <a:accent5>
        <a:srgbClr val="22C29E"/>
      </a:accent5>
      <a:accent6>
        <a:srgbClr val="16C655"/>
      </a:accent6>
      <a:hlink>
        <a:srgbClr val="339A95"/>
      </a:hlink>
      <a:folHlink>
        <a:srgbClr val="7F7F7F"/>
      </a:folHlink>
    </a:clrScheme>
    <a:fontScheme name="自訂 6">
      <a:majorFont>
        <a:latin typeface="Times New Roman"/>
        <a:ea typeface="Taipei Sans TC Beta"/>
        <a:cs typeface=""/>
      </a:majorFont>
      <a:minorFont>
        <a:latin typeface="Times New Roman"/>
        <a:ea typeface="Taipei Sans TC Beta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36263</TotalTime>
  <Words>6154</Words>
  <Application>Microsoft Macintosh PowerPoint</Application>
  <PresentationFormat>寬螢幕</PresentationFormat>
  <Paragraphs>519</Paragraphs>
  <Slides>63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63</vt:i4>
      </vt:variant>
    </vt:vector>
  </HeadingPairs>
  <TitlesOfParts>
    <vt:vector size="71" baseType="lpstr">
      <vt:lpstr>Google Sans Text</vt:lpstr>
      <vt:lpstr>Aptos</vt:lpstr>
      <vt:lpstr>Arial</vt:lpstr>
      <vt:lpstr>Calibri</vt:lpstr>
      <vt:lpstr>Cambria Math</vt:lpstr>
      <vt:lpstr>Times New Roman</vt:lpstr>
      <vt:lpstr>Wingdings</vt:lpstr>
      <vt:lpstr>RetrospectVTI</vt:lpstr>
      <vt:lpstr>Intro to NLP</vt:lpstr>
      <vt:lpstr>自然語言處理</vt:lpstr>
      <vt:lpstr>自然語言處理</vt:lpstr>
      <vt:lpstr>NLP 的特性</vt:lpstr>
      <vt:lpstr>NLP 的特性</vt:lpstr>
      <vt:lpstr>Bag of Words</vt:lpstr>
      <vt:lpstr>Bag of Words</vt:lpstr>
      <vt:lpstr>Bag of Words</vt:lpstr>
      <vt:lpstr>Bag of Words</vt:lpstr>
      <vt:lpstr>Bag of Words</vt:lpstr>
      <vt:lpstr>Bag of Words</vt:lpstr>
      <vt:lpstr>TF-IDF</vt:lpstr>
      <vt:lpstr>TF-IDF</vt:lpstr>
      <vt:lpstr>TF-IDF</vt:lpstr>
      <vt:lpstr>Word2Vec</vt:lpstr>
      <vt:lpstr>Word2Vec</vt:lpstr>
      <vt:lpstr>Word2Vec</vt:lpstr>
      <vt:lpstr>Word2Vec</vt:lpstr>
      <vt:lpstr>Word2Vec</vt:lpstr>
      <vt:lpstr>Word2Vec</vt:lpstr>
      <vt:lpstr>GloVe</vt:lpstr>
      <vt:lpstr>GloVe</vt:lpstr>
      <vt:lpstr>GloVe</vt:lpstr>
      <vt:lpstr>GloVe</vt:lpstr>
      <vt:lpstr>GloVe</vt:lpstr>
      <vt:lpstr>GloVe</vt:lpstr>
      <vt:lpstr>Embedding Layer of Transformer</vt:lpstr>
      <vt:lpstr>Embedding Layer of Transformer</vt:lpstr>
      <vt:lpstr>NLP 深度學習演算法</vt:lpstr>
      <vt:lpstr>NLP 深度學習演算法</vt:lpstr>
      <vt:lpstr>RNN</vt:lpstr>
      <vt:lpstr>RNN</vt:lpstr>
      <vt:lpstr>RNN</vt:lpstr>
      <vt:lpstr>LSTM</vt:lpstr>
      <vt:lpstr>LSTM</vt:lpstr>
      <vt:lpstr>LSTM</vt:lpstr>
      <vt:lpstr>LSTM</vt:lpstr>
      <vt:lpstr>LSTM</vt:lpstr>
      <vt:lpstr>GRU</vt:lpstr>
      <vt:lpstr>LSTM 與 GRU 程式碼範例</vt:lpstr>
      <vt:lpstr>Transformer</vt:lpstr>
      <vt:lpstr>Transformer</vt:lpstr>
      <vt:lpstr>Transformer</vt:lpstr>
      <vt:lpstr>BERT</vt:lpstr>
      <vt:lpstr>BERT</vt:lpstr>
      <vt:lpstr>BERT 的遷移學習</vt:lpstr>
      <vt:lpstr>BERT 的遷移學習</vt:lpstr>
      <vt:lpstr>GPT</vt:lpstr>
      <vt:lpstr>GPT</vt:lpstr>
      <vt:lpstr>GPT</vt:lpstr>
      <vt:lpstr>Transformer</vt:lpstr>
      <vt:lpstr>BERT 與 GPT 程式碼</vt:lpstr>
      <vt:lpstr>CLIP</vt:lpstr>
      <vt:lpstr>CLIP</vt:lpstr>
      <vt:lpstr>CLIP</vt:lpstr>
      <vt:lpstr>CLIP</vt:lpstr>
      <vt:lpstr>CLIP</vt:lpstr>
      <vt:lpstr>CLIP</vt:lpstr>
      <vt:lpstr>CLIP 應用場景</vt:lpstr>
      <vt:lpstr>CLIP 應用場景</vt:lpstr>
      <vt:lpstr>CLIP 應用場景</vt:lpstr>
      <vt:lpstr>CLIP 應用場景</vt:lpstr>
      <vt:lpstr>Lab 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Algorithm Design</dc:title>
  <dc:creator>Yu-Hsien Jen</dc:creator>
  <cp:lastModifiedBy>宇賢 任</cp:lastModifiedBy>
  <cp:revision>3616</cp:revision>
  <dcterms:created xsi:type="dcterms:W3CDTF">2021-02-23T11:38:50Z</dcterms:created>
  <dcterms:modified xsi:type="dcterms:W3CDTF">2026-04-21T03:30:16Z</dcterms:modified>
</cp:coreProperties>
</file>