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43"/>
  </p:notesMasterIdLst>
  <p:sldIdLst>
    <p:sldId id="256" r:id="rId2"/>
    <p:sldId id="262" r:id="rId3"/>
    <p:sldId id="263" r:id="rId4"/>
    <p:sldId id="264" r:id="rId5"/>
    <p:sldId id="266" r:id="rId6"/>
    <p:sldId id="267" r:id="rId7"/>
    <p:sldId id="268" r:id="rId8"/>
    <p:sldId id="269" r:id="rId9"/>
    <p:sldId id="273" r:id="rId10"/>
    <p:sldId id="274" r:id="rId11"/>
    <p:sldId id="279" r:id="rId12"/>
    <p:sldId id="280" r:id="rId13"/>
    <p:sldId id="281" r:id="rId14"/>
    <p:sldId id="284" r:id="rId15"/>
    <p:sldId id="285" r:id="rId16"/>
    <p:sldId id="283" r:id="rId17"/>
    <p:sldId id="286" r:id="rId18"/>
    <p:sldId id="276" r:id="rId19"/>
    <p:sldId id="288" r:id="rId20"/>
    <p:sldId id="287" r:id="rId21"/>
    <p:sldId id="289" r:id="rId22"/>
    <p:sldId id="290" r:id="rId23"/>
    <p:sldId id="291" r:id="rId24"/>
    <p:sldId id="275" r:id="rId25"/>
    <p:sldId id="292" r:id="rId26"/>
    <p:sldId id="293" r:id="rId27"/>
    <p:sldId id="294" r:id="rId28"/>
    <p:sldId id="295" r:id="rId29"/>
    <p:sldId id="298" r:id="rId30"/>
    <p:sldId id="299" r:id="rId31"/>
    <p:sldId id="301" r:id="rId32"/>
    <p:sldId id="302" r:id="rId33"/>
    <p:sldId id="303" r:id="rId34"/>
    <p:sldId id="304" r:id="rId35"/>
    <p:sldId id="305" r:id="rId36"/>
    <p:sldId id="306" r:id="rId37"/>
    <p:sldId id="310" r:id="rId38"/>
    <p:sldId id="309" r:id="rId39"/>
    <p:sldId id="308" r:id="rId40"/>
    <p:sldId id="311" r:id="rId41"/>
    <p:sldId id="307" r:id="rId4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3216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5E851-B301-8440-A31A-2666B5099906}" type="datetimeFigureOut">
              <a:rPr kumimoji="1" lang="zh-TW" altLang="en-US" smtClean="0"/>
              <a:t>2026/4/21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7913E7-7146-234E-81D5-B698B33CD06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25726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C3795BDB-1CA7-B881-D67A-FEC0E1955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960360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80696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109285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48508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114238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781294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407069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altLang="zh-TW"/>
              <a:t>Wilson Ren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Deep Learning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4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3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19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12.04378" TargetMode="External"/><Relationship Id="rId2" Type="http://schemas.openxmlformats.org/officeDocument/2006/relationships/hyperlink" Target="https://arxiv.org/abs/1512.03965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33428ACC-71EC-4171-9527-10983BA6B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5B19F76-33F3-4DB4-91A0-510A8FE2A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10" y="639098"/>
            <a:ext cx="3401961" cy="34947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深度學習入門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5262B4D-3674-44E6-AC6B-FAEDB090D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41110" y="4455621"/>
            <a:ext cx="3417990" cy="12386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Chapter 1</a:t>
            </a:r>
          </a:p>
          <a:p>
            <a:endParaRPr lang="en-US" altLang="zh-TW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1DC8EC7E-144C-860E-8F8B-B73DEEE7F5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3029" y="640081"/>
            <a:ext cx="5054156" cy="5054156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A22713B-ABB6-4391-97F9-0449A2B9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294754"/>
            <a:ext cx="32004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8D4480B4-953D-41FA-9052-09AB3A026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8" name="投影片編號版面配置區 4">
            <a:extLst>
              <a:ext uri="{FF2B5EF4-FFF2-40B4-BE49-F238E27FC236}">
                <a16:creationId xmlns:a16="http://schemas.microsoft.com/office/drawing/2014/main" id="{9918F90A-E918-55A6-FF90-3163BE918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75020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B767EC-625E-18E4-767B-9C1E4AA8D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Intro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Deep</a:t>
            </a:r>
            <a:r>
              <a:rPr kumimoji="1" lang="zh-TW" altLang="en-US" dirty="0"/>
              <a:t> </a:t>
            </a:r>
            <a:r>
              <a:rPr kumimoji="1" lang="en-US" altLang="zh-TW" dirty="0"/>
              <a:t>Learning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C5C2A8-A24D-1F1A-74AB-4E20A9E84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5575367" cy="3760891"/>
          </a:xfrm>
        </p:spPr>
        <p:txBody>
          <a:bodyPr>
            <a:normAutofit/>
          </a:bodyPr>
          <a:lstStyle/>
          <a:p>
            <a:r>
              <a:rPr kumimoji="1" lang="zh-TW" altLang="en-US" dirty="0"/>
              <a:t>單層感知器（</a:t>
            </a:r>
            <a:r>
              <a:rPr kumimoji="1" lang="en-US" altLang="zh-TW" dirty="0"/>
              <a:t>Single</a:t>
            </a:r>
            <a:r>
              <a:rPr kumimoji="1" lang="zh-TW" altLang="en-US" dirty="0"/>
              <a:t> </a:t>
            </a:r>
            <a:r>
              <a:rPr kumimoji="1" lang="en-US" altLang="zh-TW" dirty="0"/>
              <a:t>Layer</a:t>
            </a:r>
            <a:r>
              <a:rPr kumimoji="1" lang="zh-TW" altLang="en-US" dirty="0"/>
              <a:t> </a:t>
            </a:r>
            <a:r>
              <a:rPr kumimoji="1" lang="en-US" altLang="zh-TW" dirty="0"/>
              <a:t>Perceptron</a:t>
            </a:r>
            <a:r>
              <a:rPr kumimoji="1" lang="zh-TW" altLang="en-US" dirty="0"/>
              <a:t>）是一種最基本的人工神經網路模型，由 </a:t>
            </a:r>
            <a:r>
              <a:rPr kumimoji="1" lang="en-US" altLang="zh-TW" dirty="0"/>
              <a:t>Frank Rosenblatt</a:t>
            </a:r>
            <a:r>
              <a:rPr kumimoji="1" lang="zh-TW" altLang="en-US" dirty="0"/>
              <a:t> 在 </a:t>
            </a:r>
            <a:r>
              <a:rPr kumimoji="1" lang="en-US" altLang="zh-TW" dirty="0"/>
              <a:t>1957</a:t>
            </a:r>
            <a:r>
              <a:rPr kumimoji="1" lang="zh-TW" altLang="en-US" dirty="0"/>
              <a:t> 年提出，是最早的人工神經網路之一。它的目標是要模擬人腦的神經元。它的架構是：</a:t>
            </a:r>
            <a:endParaRPr kumimoji="1" lang="en-US" altLang="zh-TW" dirty="0"/>
          </a:p>
        </p:txBody>
      </p:sp>
      <p:pic>
        <p:nvPicPr>
          <p:cNvPr id="7" name="圖片 6" descr="一張含有 圖畫 的圖片&#10;&#10;AI 產生的內容可能不正確。">
            <a:extLst>
              <a:ext uri="{FF2B5EF4-FFF2-40B4-BE49-F238E27FC236}">
                <a16:creationId xmlns:a16="http://schemas.microsoft.com/office/drawing/2014/main" id="{86DA0356-5A9B-7586-1AF9-C4F3FD27FA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" b="569"/>
          <a:stretch>
            <a:fillRect/>
          </a:stretch>
        </p:blipFill>
        <p:spPr>
          <a:xfrm>
            <a:off x="7534656" y="2188763"/>
            <a:ext cx="3621024" cy="36006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32FBB3-AAE7-763C-244B-C0A952C0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TW"/>
              <a:t>Wilson Ren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359DD45-FF53-B3E9-3130-C1762F608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9" name="圖片 8" descr="一張含有 圓形, 月亮 的圖片&#10;&#10;AI 產生的內容可能不正確。">
            <a:extLst>
              <a:ext uri="{FF2B5EF4-FFF2-40B4-BE49-F238E27FC236}">
                <a16:creationId xmlns:a16="http://schemas.microsoft.com/office/drawing/2014/main" id="{D7B967FB-E779-1383-1C6D-259303D48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748" y="4152660"/>
            <a:ext cx="3440430" cy="208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663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13F5EC-F8C6-E0AC-411B-6EC2BC36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Intro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Deep</a:t>
            </a:r>
            <a:r>
              <a:rPr kumimoji="1" lang="zh-TW" altLang="en-US" dirty="0"/>
              <a:t> </a:t>
            </a:r>
            <a:r>
              <a:rPr kumimoji="1" lang="en-US" altLang="zh-TW" dirty="0"/>
              <a:t>Learning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AE4CA18-746F-4D9F-33B6-3433621381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108201"/>
                <a:ext cx="10058400" cy="4144009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kumimoji="1" lang="zh-TW" altLang="en-US" dirty="0"/>
                  <a:t>計算規則是：</a:t>
                </a:r>
                <a:endParaRPr kumimoji="1"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=(</m:t>
                      </m:r>
                      <m:nary>
                        <m:naryPr>
                          <m:chr m:val="∑"/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kumimoji="1" lang="en-US" altLang="zh-TW" dirty="0"/>
              </a:p>
              <a:p>
                <a:pPr marL="0" indent="0">
                  <a:buNone/>
                </a:pPr>
                <a:r>
                  <a:rPr kumimoji="1" lang="zh-TW" altLang="en-US" dirty="0"/>
                  <a:t>其中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zh-TW" altLang="en-US" dirty="0"/>
                  <a:t> 是特徵總數量。</a:t>
                </a:r>
                <a:endParaRPr kumimoji="1" lang="en-US" altLang="zh-TW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kumimoji="1" lang="zh-TW" altLang="en-US" dirty="0"/>
                  <a:t>若將 </a:t>
                </a:r>
                <a:r>
                  <a:rPr kumimoji="1" lang="en-US" altLang="zh-TW" dirty="0"/>
                  <a:t>Single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Layer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Perceptron</a:t>
                </a:r>
                <a:r>
                  <a:rPr kumimoji="1" lang="zh-TW" altLang="en-US" dirty="0"/>
                  <a:t> 用於 </a:t>
                </a:r>
                <a:r>
                  <a:rPr kumimoji="1" lang="en-US" altLang="zh-TW" dirty="0"/>
                  <a:t>Regression</a:t>
                </a:r>
                <a:r>
                  <a:rPr kumimoji="1" lang="zh-TW" altLang="en-US" dirty="0"/>
                  <a:t> 任務，則輸出值 </a:t>
                </a:r>
                <a:r>
                  <a:rPr kumimoji="1" lang="en-US" altLang="zh-TW" dirty="0"/>
                  <a:t>z</a:t>
                </a:r>
                <a:r>
                  <a:rPr kumimoji="1" lang="zh-TW" altLang="en-US" dirty="0"/>
                  <a:t> 可直接使用。</a:t>
                </a:r>
                <a:endParaRPr kumimoji="1" lang="en-US" altLang="zh-TW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kumimoji="1" lang="zh-TW" altLang="en-US" dirty="0"/>
                  <a:t>若將 </a:t>
                </a:r>
                <a:r>
                  <a:rPr kumimoji="1" lang="en-US" altLang="zh-TW" dirty="0"/>
                  <a:t>Single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Layer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Perceptron</a:t>
                </a:r>
                <a:r>
                  <a:rPr kumimoji="1" lang="zh-TW" altLang="en-US" dirty="0"/>
                  <a:t> 用於 </a:t>
                </a:r>
                <a:r>
                  <a:rPr kumimoji="1" lang="en-US" altLang="zh-TW" dirty="0"/>
                  <a:t>Classification</a:t>
                </a:r>
                <a:r>
                  <a:rPr kumimoji="1" lang="zh-TW" altLang="en-US" dirty="0"/>
                  <a:t> 任務，則輸出值需要先通過 </a:t>
                </a:r>
                <a:r>
                  <a:rPr kumimoji="1" lang="en-US" altLang="zh-TW" dirty="0"/>
                  <a:t>step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function</a:t>
                </a:r>
                <a:r>
                  <a:rPr kumimoji="1" lang="zh-TW" altLang="en-US" dirty="0"/>
                  <a:t>：</a:t>
                </a:r>
                <a:endParaRPr kumimoji="1"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kumimoji="1" lang="zh-TW" alt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nary>
                                <m:naryPr>
                                  <m:chr m:val="∑"/>
                                  <m:ctrlP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kumimoji="1"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TW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zh-TW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kumimoji="1"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TW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kumimoji="1" lang="en-US" altLang="zh-TW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  <m:t>)+</m:t>
                                  </m:r>
                                  <m: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nary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zh-TW" alt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nary>
                                <m:naryPr>
                                  <m:chr m:val="∑"/>
                                  <m:ctrlP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kumimoji="1"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TW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zh-TW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kumimoji="1"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TW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kumimoji="1" lang="en-US" altLang="zh-TW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zh-TW" i="1" smtClean="0">
                                      <a:latin typeface="Cambria Math" panose="02040503050406030204" pitchFamily="18" charset="0"/>
                                    </a:rPr>
                                    <m:t>)+</m:t>
                                  </m:r>
                                  <m:r>
                                    <a:rPr kumimoji="1" lang="en-US" altLang="zh-TW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  <m:t>&lt;0</m:t>
                                  </m:r>
                                </m:e>
                              </m:nary>
                            </m:e>
                          </m:eqArr>
                        </m:e>
                      </m:d>
                    </m:oMath>
                  </m:oMathPara>
                </a14:m>
                <a:endParaRPr kumimoji="1"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AE4CA18-746F-4D9F-33B6-3433621381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108201"/>
                <a:ext cx="10058400" cy="4144009"/>
              </a:xfrm>
              <a:blipFill>
                <a:blip r:embed="rId2"/>
                <a:stretch>
                  <a:fillRect l="-1513" t="-16208" b="-318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315521-6418-EFC9-7D60-40F7F9E94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2C3D6C4-F6E9-7002-64FF-7D1050E0A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823073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E40F85-0DA1-CC16-3950-96F7E9AA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Intro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Deep</a:t>
            </a:r>
            <a:r>
              <a:rPr kumimoji="1" lang="zh-TW" altLang="en-US" dirty="0"/>
              <a:t> </a:t>
            </a:r>
            <a:r>
              <a:rPr kumimoji="1" lang="en-US" altLang="zh-TW" dirty="0"/>
              <a:t>Learning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563969-D652-4D01-4A18-5B540141A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19056"/>
            <a:ext cx="10058399" cy="3760891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當 </a:t>
            </a:r>
            <a:r>
              <a:rPr kumimoji="1" lang="en-US" altLang="zh-TW" dirty="0"/>
              <a:t>Single</a:t>
            </a:r>
            <a:r>
              <a:rPr kumimoji="1" lang="zh-TW" altLang="en-US" dirty="0"/>
              <a:t> </a:t>
            </a:r>
            <a:r>
              <a:rPr kumimoji="1" lang="en-US" altLang="zh-TW" dirty="0"/>
              <a:t>Layer</a:t>
            </a:r>
            <a:r>
              <a:rPr kumimoji="1" lang="zh-TW" altLang="en-US" dirty="0"/>
              <a:t> </a:t>
            </a:r>
            <a:r>
              <a:rPr kumimoji="1" lang="en-US" altLang="zh-TW" dirty="0"/>
              <a:t>Perceptron</a:t>
            </a:r>
            <a:r>
              <a:rPr kumimoji="1" lang="zh-TW" altLang="en-US" dirty="0"/>
              <a:t> 用在 </a:t>
            </a:r>
            <a:r>
              <a:rPr kumimoji="1" lang="en-US" altLang="zh-TW" dirty="0"/>
              <a:t>Regression</a:t>
            </a:r>
            <a:r>
              <a:rPr kumimoji="1" lang="zh-TW" altLang="en-US" dirty="0"/>
              <a:t> 任務時，就等同於 </a:t>
            </a:r>
            <a:r>
              <a:rPr kumimoji="1" lang="en-US" altLang="zh-TW" dirty="0"/>
              <a:t>Linear</a:t>
            </a:r>
            <a:r>
              <a:rPr kumimoji="1" lang="zh-TW" altLang="en-US" dirty="0"/>
              <a:t> </a:t>
            </a:r>
            <a:r>
              <a:rPr kumimoji="1" lang="en-US" altLang="zh-TW" dirty="0"/>
              <a:t>Regression</a:t>
            </a:r>
            <a:r>
              <a:rPr kumimoji="1" lang="zh-TW" altLang="en-US" dirty="0"/>
              <a:t>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當 </a:t>
            </a:r>
            <a:r>
              <a:rPr kumimoji="1" lang="en-US" altLang="zh-TW" dirty="0"/>
              <a:t>Single</a:t>
            </a:r>
            <a:r>
              <a:rPr kumimoji="1" lang="zh-TW" altLang="en-US" dirty="0"/>
              <a:t> </a:t>
            </a:r>
            <a:r>
              <a:rPr kumimoji="1" lang="en-US" altLang="zh-TW" dirty="0"/>
              <a:t>Layer</a:t>
            </a:r>
            <a:r>
              <a:rPr kumimoji="1" lang="zh-TW" altLang="en-US" dirty="0"/>
              <a:t> </a:t>
            </a:r>
            <a:r>
              <a:rPr kumimoji="1" lang="en-US" altLang="zh-TW" dirty="0"/>
              <a:t>Perceptron</a:t>
            </a:r>
            <a:r>
              <a:rPr kumimoji="1" lang="zh-TW" altLang="en-US" dirty="0"/>
              <a:t> 用在 </a:t>
            </a:r>
            <a:r>
              <a:rPr kumimoji="1" lang="en-US" altLang="zh-TW" dirty="0"/>
              <a:t>Classification</a:t>
            </a:r>
            <a:r>
              <a:rPr kumimoji="1" lang="zh-TW" altLang="en-US" dirty="0"/>
              <a:t> 任務時，會找到的是一個「線性」的決策邊界。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這樣的 </a:t>
            </a:r>
            <a:r>
              <a:rPr kumimoji="1" lang="en-US" altLang="zh-TW" dirty="0"/>
              <a:t>Single</a:t>
            </a:r>
            <a:r>
              <a:rPr kumimoji="1" lang="zh-TW" altLang="en-US" dirty="0"/>
              <a:t> </a:t>
            </a:r>
            <a:r>
              <a:rPr kumimoji="1" lang="en-US" altLang="zh-TW" dirty="0"/>
              <a:t>Layer</a:t>
            </a:r>
            <a:r>
              <a:rPr kumimoji="1" lang="zh-TW" altLang="en-US" dirty="0"/>
              <a:t> </a:t>
            </a:r>
            <a:r>
              <a:rPr kumimoji="1" lang="en-US" altLang="zh-TW" dirty="0"/>
              <a:t>Perceptron</a:t>
            </a:r>
            <a:r>
              <a:rPr kumimoji="1" lang="zh-TW" altLang="en-US" dirty="0"/>
              <a:t> 無法處理任何線性不可分的資料集。例如：</a:t>
            </a:r>
            <a:r>
              <a:rPr kumimoji="1" lang="en-US" altLang="zh-TW" dirty="0"/>
              <a:t>XOR</a:t>
            </a:r>
            <a:r>
              <a:rPr kumimoji="1" lang="zh-TW" altLang="en-US" dirty="0"/>
              <a:t>。</a:t>
            </a:r>
            <a:endParaRPr kumimoji="1" lang="en-US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505CA4-9A7A-036E-FCC7-F7C8B4E60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A93D94B-247D-04A5-F3C2-244C3BA74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112059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64DA34-5D50-0C44-5918-D84012FDE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Intro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Deep</a:t>
            </a:r>
            <a:r>
              <a:rPr kumimoji="1" lang="zh-TW" altLang="en-US" dirty="0"/>
              <a:t> </a:t>
            </a:r>
            <a:r>
              <a:rPr kumimoji="1" lang="en-US" altLang="zh-TW" dirty="0"/>
              <a:t>Learning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8DB7EC-AA35-8227-12DA-F1107BD40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C7647A5-2014-DFA7-5481-200202FE8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75477F3-A097-33D9-E307-5C3F3C9E7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435141"/>
              </p:ext>
            </p:extLst>
          </p:nvPr>
        </p:nvGraphicFramePr>
        <p:xfrm>
          <a:off x="690882" y="2071878"/>
          <a:ext cx="420701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337">
                  <a:extLst>
                    <a:ext uri="{9D8B030D-6E8A-4147-A177-3AD203B41FA5}">
                      <a16:colId xmlns:a16="http://schemas.microsoft.com/office/drawing/2014/main" val="2874475561"/>
                    </a:ext>
                  </a:extLst>
                </a:gridCol>
                <a:gridCol w="1402337">
                  <a:extLst>
                    <a:ext uri="{9D8B030D-6E8A-4147-A177-3AD203B41FA5}">
                      <a16:colId xmlns:a16="http://schemas.microsoft.com/office/drawing/2014/main" val="3370513009"/>
                    </a:ext>
                  </a:extLst>
                </a:gridCol>
                <a:gridCol w="1402337">
                  <a:extLst>
                    <a:ext uri="{9D8B030D-6E8A-4147-A177-3AD203B41FA5}">
                      <a16:colId xmlns:a16="http://schemas.microsoft.com/office/drawing/2014/main" val="4095143030"/>
                    </a:ext>
                  </a:extLst>
                </a:gridCol>
              </a:tblGrid>
              <a:tr h="33566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x1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x2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label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2480748"/>
                  </a:ext>
                </a:extLst>
              </a:tr>
              <a:tr h="33566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725723"/>
                  </a:ext>
                </a:extLst>
              </a:tr>
              <a:tr h="33566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5197292"/>
                  </a:ext>
                </a:extLst>
              </a:tr>
              <a:tr h="33566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9253423"/>
                  </a:ext>
                </a:extLst>
              </a:tr>
              <a:tr h="33566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6999472"/>
                  </a:ext>
                </a:extLst>
              </a:tr>
            </a:tbl>
          </a:graphicData>
        </a:graphic>
      </p:graphicFrame>
      <p:pic>
        <p:nvPicPr>
          <p:cNvPr id="8" name="圖片 7" descr="一張含有 螢幕擷取畫面, 鮮豔, 黑暗, 圓形 的圖片&#10;&#10;AI 產生的內容可能不正確。">
            <a:extLst>
              <a:ext uri="{FF2B5EF4-FFF2-40B4-BE49-F238E27FC236}">
                <a16:creationId xmlns:a16="http://schemas.microsoft.com/office/drawing/2014/main" id="{C19D7B8B-E47F-29FC-3FED-A4EDED219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027" y="4110126"/>
            <a:ext cx="2556720" cy="2218082"/>
          </a:xfrm>
          <a:prstGeom prst="rect">
            <a:avLst/>
          </a:prstGeom>
        </p:spPr>
      </p:pic>
      <p:pic>
        <p:nvPicPr>
          <p:cNvPr id="9" name="圖形 8">
            <a:extLst>
              <a:ext uri="{FF2B5EF4-FFF2-40B4-BE49-F238E27FC236}">
                <a16:creationId xmlns:a16="http://schemas.microsoft.com/office/drawing/2014/main" id="{73BBFDC5-1D31-E398-63C8-6619FB926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32304" y="2814756"/>
            <a:ext cx="5941288" cy="2064797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4AB82085-9E5B-9C88-08EF-7B274415D26D}"/>
              </a:ext>
            </a:extLst>
          </p:cNvPr>
          <p:cNvSpPr txBox="1"/>
          <p:nvPr/>
        </p:nvSpPr>
        <p:spPr>
          <a:xfrm>
            <a:off x="6007261" y="5000110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Linear</a:t>
            </a:r>
            <a:r>
              <a:rPr kumimoji="1" lang="zh-TW" altLang="en-US" dirty="0"/>
              <a:t> </a:t>
            </a:r>
            <a:r>
              <a:rPr kumimoji="1" lang="en-US" altLang="zh-TW" dirty="0"/>
              <a:t>Separable</a:t>
            </a:r>
            <a:r>
              <a:rPr kumimoji="1" lang="zh-TW" altLang="en-US" dirty="0"/>
              <a:t> </a:t>
            </a:r>
            <a:r>
              <a:rPr kumimoji="1" lang="en-US" altLang="zh-TW" dirty="0"/>
              <a:t>Data</a:t>
            </a:r>
            <a:endParaRPr kumimoji="1"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B3271AF-071A-F8F6-813A-8B78FCDC02A9}"/>
              </a:ext>
            </a:extLst>
          </p:cNvPr>
          <p:cNvSpPr txBox="1"/>
          <p:nvPr/>
        </p:nvSpPr>
        <p:spPr>
          <a:xfrm>
            <a:off x="9049769" y="500011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Non-Linear</a:t>
            </a:r>
            <a:r>
              <a:rPr kumimoji="1" lang="zh-TW" altLang="en-US" dirty="0"/>
              <a:t> </a:t>
            </a:r>
            <a:r>
              <a:rPr kumimoji="1" lang="en-US" altLang="zh-TW" dirty="0"/>
              <a:t>Separable</a:t>
            </a:r>
            <a:r>
              <a:rPr kumimoji="1" lang="zh-TW" altLang="en-US" dirty="0"/>
              <a:t> </a:t>
            </a:r>
            <a:r>
              <a:rPr kumimoji="1" lang="en-US" altLang="zh-TW" dirty="0"/>
              <a:t>Data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52210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B0ED94-0C35-3B87-6FCE-3E5AF45FC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Intro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Deep</a:t>
            </a:r>
            <a:r>
              <a:rPr kumimoji="1" lang="zh-TW" altLang="en-US" dirty="0"/>
              <a:t> </a:t>
            </a:r>
            <a:r>
              <a:rPr kumimoji="1" lang="en-US" altLang="zh-TW" dirty="0"/>
              <a:t>Learning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A2B848-E8F7-C633-1612-44B429D1A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258309"/>
          </a:xfrm>
        </p:spPr>
        <p:txBody>
          <a:bodyPr>
            <a:normAutofit/>
          </a:bodyPr>
          <a:lstStyle/>
          <a:p>
            <a:r>
              <a:rPr kumimoji="1" lang="zh-TW" altLang="en-US" dirty="0"/>
              <a:t>因為</a:t>
            </a:r>
            <a:r>
              <a:rPr kumimoji="1" lang="en-US" altLang="zh-TW" dirty="0"/>
              <a:t> Single</a:t>
            </a:r>
            <a:r>
              <a:rPr kumimoji="1" lang="zh-TW" altLang="en-US" dirty="0"/>
              <a:t> </a:t>
            </a:r>
            <a:r>
              <a:rPr kumimoji="1" lang="en-US" altLang="zh-TW" dirty="0"/>
              <a:t>Layer</a:t>
            </a:r>
            <a:r>
              <a:rPr kumimoji="1" lang="zh-TW" altLang="en-US" dirty="0"/>
              <a:t> </a:t>
            </a:r>
            <a:r>
              <a:rPr kumimoji="1" lang="en-US" altLang="zh-TW" dirty="0"/>
              <a:t>Perceptron </a:t>
            </a:r>
            <a:r>
              <a:rPr kumimoji="1" lang="zh-TW" altLang="en-US" dirty="0"/>
              <a:t>無法處理線性不可分的資料，所以接下來，研究人員嘗試使用多層的神經網路。以下的架構被稱為 </a:t>
            </a:r>
            <a:r>
              <a:rPr kumimoji="1" lang="en-US" altLang="zh-TW" dirty="0"/>
              <a:t>Multi-Layer</a:t>
            </a:r>
            <a:r>
              <a:rPr kumimoji="1" lang="zh-TW" altLang="en-US" dirty="0"/>
              <a:t> </a:t>
            </a:r>
            <a:r>
              <a:rPr kumimoji="1" lang="en-US" altLang="zh-TW" dirty="0"/>
              <a:t>Perceptron</a:t>
            </a:r>
            <a:r>
              <a:rPr kumimoji="1" lang="zh-TW" altLang="en-US" dirty="0"/>
              <a:t>：</a:t>
            </a:r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C57036E-27B8-CA6A-D6D2-82C4D614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5A9DDD0-88DA-DF4E-9790-D1416CA76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7" name="圖片 6" descr="一張含有 月亮, 圓形, 黑暗 的圖片&#10;&#10;AI 產生的內容可能不正確。">
            <a:extLst>
              <a:ext uri="{FF2B5EF4-FFF2-40B4-BE49-F238E27FC236}">
                <a16:creationId xmlns:a16="http://schemas.microsoft.com/office/drawing/2014/main" id="{680CB787-6A7F-D8F4-8B93-1905A2056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555" y="3086100"/>
            <a:ext cx="6696889" cy="314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24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5BFC98-A69F-0BA9-62E0-FCB46FABE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Intro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Deep</a:t>
            </a:r>
            <a:r>
              <a:rPr kumimoji="1" lang="zh-TW" altLang="en-US" dirty="0"/>
              <a:t> </a:t>
            </a:r>
            <a:r>
              <a:rPr kumimoji="1" lang="en-US" altLang="zh-TW" dirty="0"/>
              <a:t>Learning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71CEA6-F552-9772-6B8F-01E505A31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37956"/>
          </a:xfrm>
        </p:spPr>
        <p:txBody>
          <a:bodyPr>
            <a:normAutofit/>
          </a:bodyPr>
          <a:lstStyle/>
          <a:p>
            <a:r>
              <a:rPr kumimoji="1" lang="zh-TW" altLang="en-US" dirty="0"/>
              <a:t>然而，如果只是使用很多層，最後再使用 </a:t>
            </a:r>
            <a:r>
              <a:rPr kumimoji="1" lang="en-US" altLang="zh-TW" dirty="0"/>
              <a:t>step function</a:t>
            </a:r>
            <a:r>
              <a:rPr kumimoji="1" lang="zh-TW" altLang="en-US" dirty="0"/>
              <a:t>，</a:t>
            </a:r>
            <a:r>
              <a:rPr kumimoji="1" lang="zh-TW" altLang="en-US" b="1" dirty="0"/>
              <a:t>決策邊界仍然是線性的，並沒有實質的差別。</a:t>
            </a:r>
            <a:endParaRPr kumimoji="1" lang="en-US" altLang="zh-TW" b="1" dirty="0"/>
          </a:p>
          <a:p>
            <a:r>
              <a:rPr kumimoji="1" lang="zh-TW" altLang="en-US" dirty="0"/>
              <a:t>如果在神經元中加入非線性的函數，就可以讓決策邊界變成非線性的。然而，當時的人們尚未發現如何訓練這樣的神經網路，因此研究一度停滯，人工智慧領域進入了寒冬。</a:t>
            </a:r>
            <a:endParaRPr kumimoji="1" lang="en-US" altLang="zh-TW" dirty="0"/>
          </a:p>
          <a:p>
            <a:r>
              <a:rPr kumimoji="1" lang="zh-TW" altLang="en-US" dirty="0"/>
              <a:t>直到</a:t>
            </a:r>
            <a:r>
              <a:rPr kumimoji="1" lang="en-US" altLang="zh-TW" dirty="0"/>
              <a:t>1980</a:t>
            </a:r>
            <a:r>
              <a:rPr kumimoji="1" lang="zh-TW" altLang="en-US" dirty="0"/>
              <a:t>年代，</a:t>
            </a:r>
            <a:r>
              <a:rPr kumimoji="1" lang="en-US" altLang="zh-TW" dirty="0"/>
              <a:t>Geoffrey Hinton</a:t>
            </a:r>
            <a:r>
              <a:rPr kumimoji="1" lang="zh-TW" altLang="en-US" dirty="0"/>
              <a:t> 等研究人員研究和推廣了反向傳播算法（</a:t>
            </a:r>
            <a:r>
              <a:rPr kumimoji="1" lang="en-US" altLang="zh-TW" dirty="0"/>
              <a:t>Back</a:t>
            </a:r>
            <a:r>
              <a:rPr kumimoji="1" lang="zh-TW" altLang="en-US" dirty="0"/>
              <a:t> </a:t>
            </a:r>
            <a:r>
              <a:rPr kumimoji="1" lang="en-US" altLang="zh-TW" dirty="0"/>
              <a:t>Propagation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Algorithm</a:t>
            </a:r>
            <a:r>
              <a:rPr kumimoji="1" lang="zh-TW" altLang="en-US" dirty="0"/>
              <a:t>），為訓練帶有非線性函數的 </a:t>
            </a:r>
            <a:r>
              <a:rPr kumimoji="1" lang="en-US" altLang="zh-TW" dirty="0"/>
              <a:t>Multi-Layer</a:t>
            </a:r>
            <a:r>
              <a:rPr kumimoji="1" lang="zh-TW" altLang="en-US" dirty="0"/>
              <a:t> </a:t>
            </a:r>
            <a:r>
              <a:rPr kumimoji="1" lang="en-US" altLang="zh-TW" dirty="0"/>
              <a:t>Perceptron</a:t>
            </a:r>
            <a:r>
              <a:rPr kumimoji="1" lang="zh-TW" altLang="en-US" dirty="0"/>
              <a:t> 提供了一種有效的訓練方法。這一突破讓 </a:t>
            </a:r>
            <a:r>
              <a:rPr kumimoji="1" lang="en-US" altLang="zh-TW" dirty="0"/>
              <a:t>Multi-Layer</a:t>
            </a:r>
            <a:r>
              <a:rPr kumimoji="1" lang="zh-TW" altLang="en-US" dirty="0"/>
              <a:t> </a:t>
            </a:r>
            <a:r>
              <a:rPr kumimoji="1" lang="en-US" altLang="zh-TW" dirty="0"/>
              <a:t>Perceptron</a:t>
            </a:r>
            <a:r>
              <a:rPr kumimoji="1" lang="zh-TW" altLang="en-US" dirty="0"/>
              <a:t> 終於具備了實用性，並促進了深度學習的發展。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159A86-D82D-E4F4-FA59-99B759E06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C7C2DCC-41E2-69FF-8428-D33ADB863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997440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FAAEAB-67A9-0A84-0BA4-AA08BCF9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Intro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Deep</a:t>
            </a:r>
            <a:r>
              <a:rPr kumimoji="1" lang="zh-TW" altLang="en-US" dirty="0"/>
              <a:t> </a:t>
            </a:r>
            <a:r>
              <a:rPr kumimoji="1" lang="en-US" altLang="zh-TW" dirty="0"/>
              <a:t>Learning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D96FBE-9A80-6632-3957-64B8FBF0B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1537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TW" altLang="en-US" dirty="0"/>
              <a:t>深度學習（</a:t>
            </a:r>
            <a:r>
              <a:rPr kumimoji="1" lang="en-US" altLang="zh-TW" dirty="0"/>
              <a:t>Deep</a:t>
            </a:r>
            <a:r>
              <a:rPr kumimoji="1" lang="zh-TW" altLang="en-US" dirty="0"/>
              <a:t> </a:t>
            </a:r>
            <a:r>
              <a:rPr kumimoji="1" lang="en-US" altLang="zh-TW" dirty="0"/>
              <a:t>Learning</a:t>
            </a:r>
            <a:r>
              <a:rPr kumimoji="1" lang="zh-TW" altLang="en-US" dirty="0"/>
              <a:t>）就是針對 </a:t>
            </a:r>
            <a:r>
              <a:rPr kumimoji="1" lang="en-US" altLang="zh-TW" dirty="0"/>
              <a:t>Multi-Layer Perceptron</a:t>
            </a:r>
            <a:r>
              <a:rPr kumimoji="1" lang="zh-TW" altLang="en-US" dirty="0"/>
              <a:t>（</a:t>
            </a:r>
            <a:r>
              <a:rPr kumimoji="1" lang="en-US" altLang="zh-TW" dirty="0"/>
              <a:t>MLP</a:t>
            </a:r>
            <a:r>
              <a:rPr kumimoji="1" lang="zh-TW" altLang="en-US" dirty="0"/>
              <a:t>）的訓練、應用與實踐。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在深度學習中，</a:t>
            </a:r>
            <a:r>
              <a:rPr kumimoji="1" lang="en-US" altLang="zh-TW" dirty="0"/>
              <a:t>MLP</a:t>
            </a:r>
            <a:r>
              <a:rPr kumimoji="1" lang="zh-TW" altLang="en-US" dirty="0"/>
              <a:t> 也有另一個名字，叫做</a:t>
            </a:r>
            <a:r>
              <a:rPr kumimoji="1" lang="zh-TW" altLang="en-US" b="1" dirty="0">
                <a:solidFill>
                  <a:srgbClr val="FF0000"/>
                </a:solidFill>
              </a:rPr>
              <a:t>人工神經網路（</a:t>
            </a:r>
            <a:r>
              <a:rPr kumimoji="1" lang="en-US" altLang="zh-TW" b="1" dirty="0">
                <a:solidFill>
                  <a:srgbClr val="FF0000"/>
                </a:solidFill>
              </a:rPr>
              <a:t>Artificial</a:t>
            </a:r>
            <a:r>
              <a:rPr kumimoji="1" lang="zh-TW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zh-TW" b="1" dirty="0">
                <a:solidFill>
                  <a:srgbClr val="FF0000"/>
                </a:solidFill>
              </a:rPr>
              <a:t> Neural Network,</a:t>
            </a:r>
            <a:r>
              <a:rPr kumimoji="1" lang="zh-TW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zh-TW" b="1" dirty="0">
                <a:solidFill>
                  <a:srgbClr val="FF0000"/>
                </a:solidFill>
              </a:rPr>
              <a:t>ANN</a:t>
            </a:r>
            <a:r>
              <a:rPr kumimoji="1" lang="zh-TW" altLang="en-US" b="1" dirty="0">
                <a:solidFill>
                  <a:srgbClr val="FF0000"/>
                </a:solidFill>
              </a:rPr>
              <a:t>）</a:t>
            </a:r>
            <a:r>
              <a:rPr kumimoji="1" lang="zh-TW" altLang="en-US" dirty="0"/>
              <a:t>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在深度學習中，我們通常會將神經網路設計得非常深層，這也是「深度學習」名稱的由來。為何？之後課程會說明。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目前研究員已經提出許多特殊架構的人工神經網路，可以在不同的任務上達成非常高的效能。例如：卷積神經網路（</a:t>
            </a:r>
            <a:r>
              <a:rPr kumimoji="1" lang="en-US" altLang="zh-TW" dirty="0"/>
              <a:t>Convolutional</a:t>
            </a:r>
            <a:r>
              <a:rPr kumimoji="1" lang="zh-TW" altLang="en-US" dirty="0"/>
              <a:t> </a:t>
            </a:r>
            <a:r>
              <a:rPr kumimoji="1" lang="en-US" altLang="zh-TW" dirty="0"/>
              <a:t>Neural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Network,</a:t>
            </a:r>
            <a:r>
              <a:rPr kumimoji="1" lang="zh-TW" altLang="en-US" dirty="0"/>
              <a:t> </a:t>
            </a:r>
            <a:r>
              <a:rPr kumimoji="1" lang="en-US" altLang="zh-TW" dirty="0"/>
              <a:t>CNN</a:t>
            </a:r>
            <a:r>
              <a:rPr kumimoji="1" lang="zh-TW" altLang="en-US" dirty="0"/>
              <a:t>）可以做圖片辨識、</a:t>
            </a:r>
            <a:r>
              <a:rPr kumimoji="1" lang="en-US" altLang="zh-TW" dirty="0"/>
              <a:t>Transformers</a:t>
            </a:r>
            <a:r>
              <a:rPr kumimoji="1" lang="zh-TW" altLang="en-US" dirty="0"/>
              <a:t> 可以用做大型語言模型。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C9841D-28B0-9B71-CDC2-C496989AD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050F4A-8F67-6BAB-0A04-41A04F7FA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803948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5EDF3F-A9BD-4055-B024-FEA85874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Intro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Deep</a:t>
            </a:r>
            <a:r>
              <a:rPr kumimoji="1" lang="zh-TW" altLang="en-US" dirty="0"/>
              <a:t> </a:t>
            </a:r>
            <a:r>
              <a:rPr kumimoji="1" lang="en-US" altLang="zh-TW" dirty="0"/>
              <a:t>Learning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B2BC4F-9DC3-C4DB-E05C-1876B92BD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5FB71D5-F73E-B701-2C81-F2BD122E5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6B8588-2D66-0CE0-F7F8-37E42E223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408" y="2194655"/>
            <a:ext cx="8143240" cy="4057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35FEB68-B107-6321-54DE-1E8C5FF34251}"/>
              </a:ext>
            </a:extLst>
          </p:cNvPr>
          <p:cNvSpPr txBox="1"/>
          <p:nvPr/>
        </p:nvSpPr>
        <p:spPr>
          <a:xfrm>
            <a:off x="8938261" y="3168769"/>
            <a:ext cx="28353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三層的神經網路，是非常非常簡單的模型。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/>
              <a:t>Credit:</a:t>
            </a:r>
            <a:r>
              <a:rPr kumimoji="1" lang="zh-TW" altLang="en-US" dirty="0"/>
              <a:t> </a:t>
            </a:r>
            <a:r>
              <a:rPr kumimoji="1" lang="en-US" altLang="zh-TW" dirty="0"/>
              <a:t>http://</a:t>
            </a:r>
            <a:r>
              <a:rPr kumimoji="1" lang="en-US" altLang="zh-TW" dirty="0" err="1"/>
              <a:t>neuralnetworksanddeeplearning.com</a:t>
            </a:r>
            <a:r>
              <a:rPr kumimoji="1" lang="en-US" altLang="zh-TW" dirty="0"/>
              <a:t>/chap5.html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3590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A2FA83-BC36-FCBC-62B3-F94C67FE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Shallow Neural Networks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EED1B9-DB92-22B3-6791-0DD6AE0A1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人工神經網路中的輸入層叫 </a:t>
            </a:r>
            <a:r>
              <a:rPr kumimoji="1" lang="en-US" altLang="zh-TW" dirty="0"/>
              <a:t>input layer</a:t>
            </a:r>
            <a:r>
              <a:rPr kumimoji="1" lang="zh-TW" altLang="en-US" dirty="0"/>
              <a:t>、輸出層叫 </a:t>
            </a:r>
            <a:r>
              <a:rPr kumimoji="1" lang="en-US" altLang="zh-TW" dirty="0"/>
              <a:t>output layer</a:t>
            </a:r>
            <a:r>
              <a:rPr kumimoji="1" lang="zh-TW" altLang="en-US" dirty="0"/>
              <a:t>，中間各層均被稱為 </a:t>
            </a:r>
            <a:r>
              <a:rPr kumimoji="1" lang="en-US" altLang="zh-TW" dirty="0"/>
              <a:t>hidden layer</a:t>
            </a:r>
            <a:r>
              <a:rPr kumimoji="1" lang="zh-TW" altLang="en-US" dirty="0"/>
              <a:t>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只有一個 </a:t>
            </a:r>
            <a:r>
              <a:rPr kumimoji="1" lang="en-US" altLang="zh-TW" dirty="0"/>
              <a:t>hidden layer </a:t>
            </a:r>
            <a:r>
              <a:rPr kumimoji="1" lang="zh-TW" altLang="en-US" dirty="0"/>
              <a:t>的人工神經網路被稱為 </a:t>
            </a:r>
            <a:r>
              <a:rPr kumimoji="1" lang="en-US" altLang="zh-TW" dirty="0"/>
              <a:t>Shallow Neural Network</a:t>
            </a:r>
            <a:r>
              <a:rPr kumimoji="1" lang="zh-TW" altLang="en-US" dirty="0"/>
              <a:t>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含兩個或兩個以上的 </a:t>
            </a:r>
            <a:r>
              <a:rPr kumimoji="1" lang="en-US" altLang="zh-TW" dirty="0"/>
              <a:t>hidden layers</a:t>
            </a:r>
            <a:r>
              <a:rPr kumimoji="1" lang="zh-TW" altLang="en-US" dirty="0"/>
              <a:t> 的人工神經網路被稱為 </a:t>
            </a:r>
            <a:r>
              <a:rPr kumimoji="1" lang="en-US" altLang="zh-TW" dirty="0"/>
              <a:t>Deep Neural Network</a:t>
            </a:r>
            <a:r>
              <a:rPr kumimoji="1" lang="zh-TW" altLang="en-US" dirty="0"/>
              <a:t>。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請考慮以下的 </a:t>
            </a:r>
            <a:r>
              <a:rPr kumimoji="1" lang="en-US" altLang="zh-TW" dirty="0"/>
              <a:t>shallow</a:t>
            </a:r>
            <a:r>
              <a:rPr kumimoji="1" lang="zh-TW" altLang="en-US" dirty="0"/>
              <a:t> </a:t>
            </a:r>
            <a:r>
              <a:rPr kumimoji="1" lang="en-US" altLang="zh-TW" dirty="0"/>
              <a:t>neural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network</a:t>
            </a:r>
            <a:r>
              <a:rPr kumimoji="1" lang="zh-TW" altLang="en-US" dirty="0"/>
              <a:t>：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AAB51C-AD6B-EF8A-E686-1C693F00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D18E847-AA13-62F5-1507-61C9AFDB3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888994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2257E3-4F6F-ADA9-A3E1-67EF630CA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Shallow Neural Networks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C3855EE-A2F7-531A-064F-C140AE092A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553" y="2108201"/>
                <a:ext cx="7239461" cy="4223151"/>
              </a:xfrm>
            </p:spPr>
            <p:txBody>
              <a:bodyPr>
                <a:noAutofit/>
              </a:bodyPr>
              <a:lstStyle/>
              <a:p>
                <a:r>
                  <a:rPr kumimoji="1" lang="zh-TW" altLang="en-US" dirty="0"/>
                  <a:t>假定不在 </a:t>
                </a:r>
                <a:r>
                  <a:rPr kumimoji="1" lang="en-US" altLang="zh-TW" dirty="0"/>
                  <a:t>hidden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layers</a:t>
                </a:r>
                <a:r>
                  <a:rPr kumimoji="1" lang="zh-TW" altLang="en-US" dirty="0"/>
                  <a:t> 中使用非線性的函數，則：</a:t>
                </a:r>
                <a:endParaRPr kumimoji="1" lang="en-US" altLang="zh-TW" dirty="0"/>
              </a:p>
              <a:p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kumimoji="1" lang="en-US" altLang="zh-TW" dirty="0"/>
              </a:p>
              <a:p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zh-TW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1" lang="en-US" altLang="zh-TW" dirty="0"/>
              </a:p>
              <a:p>
                <a:endParaRPr kumimoji="1" lang="en-US" altLang="zh-TW" dirty="0"/>
              </a:p>
              <a:p>
                <a:r>
                  <a:rPr kumimoji="1" lang="zh-TW" altLang="en-US" dirty="0"/>
                  <a:t>所以此神經網路的決策邊界為線性的。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TW" altLang="en-US" dirty="0"/>
                  <a:t> 與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zh-TW" altLang="en-US" dirty="0"/>
                  <a:t> 之間亦為線性函數。</a:t>
                </a:r>
                <a:endParaRPr kumimoji="1"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C3855EE-A2F7-531A-064F-C140AE092A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553" y="2108201"/>
                <a:ext cx="7239461" cy="4223151"/>
              </a:xfrm>
              <a:blipFill>
                <a:blip r:embed="rId2"/>
                <a:stretch>
                  <a:fillRect l="-2627" t="-12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C3A6C5-E61D-F86C-B041-7814532B4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82EF162-E5EF-EE9E-33CC-AFE953E5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7" name="內容版面配置區 10">
            <a:extLst>
              <a:ext uri="{FF2B5EF4-FFF2-40B4-BE49-F238E27FC236}">
                <a16:creationId xmlns:a16="http://schemas.microsoft.com/office/drawing/2014/main" id="{FE3627F8-6B01-18D5-6F0A-9B6360AD4C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9539" y="3009418"/>
            <a:ext cx="4980927" cy="2605407"/>
          </a:xfrm>
          <a:prstGeom prst="rect">
            <a:avLst/>
          </a:prstGeom>
        </p:spPr>
      </p:pic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83E511A9-EA3E-086C-6522-7F2FC888AE67}"/>
              </a:ext>
            </a:extLst>
          </p:cNvPr>
          <p:cNvCxnSpPr>
            <a:cxnSpLocks/>
          </p:cNvCxnSpPr>
          <p:nvPr/>
        </p:nvCxnSpPr>
        <p:spPr>
          <a:xfrm flipH="1" flipV="1">
            <a:off x="3923818" y="3889094"/>
            <a:ext cx="1574157" cy="99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BA6F7486-AC98-4F11-DC90-3CDF7106ACA6}"/>
              </a:ext>
            </a:extLst>
          </p:cNvPr>
          <p:cNvCxnSpPr>
            <a:cxnSpLocks/>
          </p:cNvCxnSpPr>
          <p:nvPr/>
        </p:nvCxnSpPr>
        <p:spPr>
          <a:xfrm flipH="1" flipV="1">
            <a:off x="3578428" y="4560043"/>
            <a:ext cx="877825" cy="204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A27991A-2A44-86CE-D85F-1D7BCA7734B4}"/>
              </a:ext>
            </a:extLst>
          </p:cNvPr>
          <p:cNvSpPr txBox="1"/>
          <p:nvPr/>
        </p:nvSpPr>
        <p:spPr>
          <a:xfrm>
            <a:off x="5445811" y="380397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常數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86D045C-93AA-AB4F-1060-156084360694}"/>
              </a:ext>
            </a:extLst>
          </p:cNvPr>
          <p:cNvSpPr txBox="1"/>
          <p:nvPr/>
        </p:nvSpPr>
        <p:spPr>
          <a:xfrm>
            <a:off x="4457178" y="458741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常數</a:t>
            </a:r>
          </a:p>
        </p:txBody>
      </p:sp>
    </p:spTree>
    <p:extLst>
      <p:ext uri="{BB962C8B-B14F-4D97-AF65-F5344CB8AC3E}">
        <p14:creationId xmlns:p14="http://schemas.microsoft.com/office/powerpoint/2010/main" val="4060158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85D428-5C48-A667-B0F5-8BEA04798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Shallow Neural Networks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411F9C1-2B4F-62F7-CB7E-1C21D35167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TW" dirty="0"/>
                  <a:t>ReLU</a:t>
                </a:r>
                <a:r>
                  <a:rPr kumimoji="1" lang="zh-TW" altLang="en-US" dirty="0"/>
                  <a:t>（</a:t>
                </a:r>
                <a:r>
                  <a:rPr kumimoji="1" lang="en-US" altLang="zh-TW" dirty="0"/>
                  <a:t>Rectified Linear Unit</a:t>
                </a:r>
                <a:r>
                  <a:rPr kumimoji="1" lang="zh-TW" altLang="en-US" dirty="0"/>
                  <a:t>）為深度學習中常用的非線性激活函數（</a:t>
                </a:r>
                <a:r>
                  <a:rPr kumimoji="1" lang="en-US" altLang="zh-TW" dirty="0"/>
                  <a:t>nonlinear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activation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function</a:t>
                </a:r>
                <a:r>
                  <a:rPr kumimoji="1" lang="zh-TW" altLang="en-US" dirty="0"/>
                  <a:t>）。</a:t>
                </a:r>
                <a:r>
                  <a:rPr kumimoji="1" lang="en-US" altLang="zh-TW" dirty="0" err="1"/>
                  <a:t>ReLU</a:t>
                </a:r>
                <a:r>
                  <a:rPr kumimoji="1" lang="zh-TW" altLang="en-US" dirty="0"/>
                  <a:t> 的定義如下：</a:t>
                </a:r>
                <a:endParaRPr kumimoji="1" lang="en-US" altLang="zh-TW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TW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kumimoji="1" lang="zh-TW" alt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zh-TW" altLang="en-US" b="0" dirty="0"/>
                  <a:t> </a:t>
                </a:r>
                <a:endParaRPr kumimoji="1" lang="en-US" altLang="zh-TW" b="0" dirty="0"/>
              </a:p>
              <a:p>
                <a:r>
                  <a:rPr kumimoji="1" lang="zh-TW" altLang="en-US" b="0" dirty="0"/>
                  <a:t>即是將所有負數改成 </a:t>
                </a:r>
                <a:r>
                  <a:rPr kumimoji="1" lang="en-US" altLang="zh-TW" b="0" dirty="0"/>
                  <a:t>0</a:t>
                </a:r>
                <a:r>
                  <a:rPr kumimoji="1" lang="zh-TW" altLang="en-US" b="0" dirty="0"/>
                  <a:t>。</a:t>
                </a:r>
                <a:endParaRPr kumimoji="1" lang="en-US" altLang="zh-TW" b="0" dirty="0"/>
              </a:p>
              <a:p>
                <a:pPr marL="0" indent="0">
                  <a:buNone/>
                </a:pPr>
                <a:endParaRPr kumimoji="1" lang="en-US" altLang="zh-TW" b="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411F9C1-2B4F-62F7-CB7E-1C21D35167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9" t="-13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8B4BAB-2EE4-1E5F-4820-CA1BE4A96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C69BDEA-4207-F70A-CE38-0EC3171A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7" name="圖形 6">
            <a:extLst>
              <a:ext uri="{FF2B5EF4-FFF2-40B4-BE49-F238E27FC236}">
                <a16:creationId xmlns:a16="http://schemas.microsoft.com/office/drawing/2014/main" id="{1E643E7E-7B0C-FBB2-E437-3A62903849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7345" y="3738686"/>
            <a:ext cx="4578270" cy="259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980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8D2F56-49AD-7224-752A-92F3C6388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Shallow Neural Networks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2A6FEA2-C99C-84C5-75DA-7DFAC71CC0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kumimoji="1" lang="zh-TW" altLang="en-US" dirty="0"/>
                  <a:t>令</a:t>
                </a:r>
                <a14:m>
                  <m:oMath xmlns:m="http://schemas.openxmlformats.org/officeDocument/2006/math">
                    <m:r>
                      <a:rPr kumimoji="1" lang="zh-TW" alt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TW" altLang="en-US" dirty="0"/>
                  <a:t>、</a:t>
                </a:r>
                <a:r>
                  <a:rPr kumimoji="1" lang="en-US" altLang="zh-TW" dirty="0"/>
                  <a:t>hidden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layers</a:t>
                </a:r>
                <a:r>
                  <a:rPr kumimoji="1" lang="zh-TW" altLang="en-US" dirty="0"/>
                  <a:t> 使用的激活函數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kumimoji="1" lang="zh-TW" altLang="en-US" dirty="0"/>
                  <a:t> 為 </a:t>
                </a:r>
                <a:r>
                  <a:rPr kumimoji="1" lang="en-US" altLang="zh-TW" dirty="0" err="1"/>
                  <a:t>ReLU</a:t>
                </a:r>
                <a:r>
                  <a:rPr kumimoji="1" lang="zh-TW" altLang="en-US" dirty="0"/>
                  <a:t>、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TW" altLang="en-US" dirty="0"/>
                  <a:t>，則 </a:t>
                </a:r>
                <a:r>
                  <a:rPr kumimoji="1" lang="en-US" altLang="zh-TW" dirty="0"/>
                  <a:t>output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layer</a:t>
                </a:r>
                <a:r>
                  <a:rPr kumimoji="1" lang="zh-TW" altLang="en-US" dirty="0"/>
                  <a:t> 輸出值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1" lang="zh-TW" altLang="en-US" dirty="0"/>
                  <a:t>。</a:t>
                </a:r>
                <a:endParaRPr kumimoji="1" lang="en-US" altLang="zh-TW" dirty="0"/>
              </a:p>
              <a:p>
                <a:r>
                  <a:rPr kumimoji="1" lang="zh-TW" altLang="en-US" dirty="0"/>
                  <a:t>設 </a:t>
                </a:r>
                <a:r>
                  <a:rPr kumimoji="1" lang="en-US" altLang="zh-TW" dirty="0"/>
                  <a:t>shallow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neural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network</a:t>
                </a:r>
                <a:r>
                  <a:rPr kumimoji="1" lang="zh-TW" altLang="en-US" dirty="0"/>
                  <a:t> 中的九個權重分別為：</a:t>
                </a:r>
                <a:endParaRPr kumimoji="1"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=−10,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=1.1,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=50,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=−1.8,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=14,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=−4</m:t>
                      </m:r>
                    </m:oMath>
                  </m:oMathPara>
                </a14:m>
                <a:endParaRPr kumimoji="1" lang="en-US" altLang="zh-TW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=1.5,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=−3,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kumimoji="1" lang="en-US" altLang="zh-TW" dirty="0"/>
              </a:p>
              <a:p>
                <a:r>
                  <a:rPr kumimoji="1" lang="zh-TW" altLang="en-US" dirty="0"/>
                  <a:t>則 </a:t>
                </a:r>
                <a:r>
                  <a:rPr kumimoji="1" lang="en-US" altLang="zh-TW" dirty="0"/>
                  <a:t>input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layer</a:t>
                </a:r>
                <a:r>
                  <a:rPr kumimoji="1" lang="zh-TW" altLang="en-US" dirty="0"/>
                  <a:t> 輸入值</a:t>
                </a:r>
                <a14:m>
                  <m:oMath xmlns:m="http://schemas.openxmlformats.org/officeDocument/2006/math">
                    <m:r>
                      <a:rPr kumimoji="1"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TW" altLang="en-US" dirty="0"/>
                  <a:t>與 </a:t>
                </a:r>
                <a:r>
                  <a:rPr kumimoji="1" lang="en-US" altLang="zh-TW" dirty="0"/>
                  <a:t>shallow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neural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network</a:t>
                </a:r>
                <a:r>
                  <a:rPr kumimoji="1" lang="zh-TW" altLang="en-US" dirty="0"/>
                  <a:t> 各層的輸出值的函數圖為：</a:t>
                </a:r>
                <a:endParaRPr kumimoji="1"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2A6FEA2-C99C-84C5-75DA-7DFAC71CC0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9" t="-1347" r="-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C67354-2E31-A1A2-D3A4-4AC54874D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43B5495-B1AE-E574-1D38-1B99AC354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498956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D77550F-64A1-92CC-E884-1A146CE24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C3907A3-56E5-1658-47AC-339C69C65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0BE53BBB-124C-2241-456F-87CAA00ED5A5}"/>
              </a:ext>
            </a:extLst>
          </p:cNvPr>
          <p:cNvCxnSpPr>
            <a:cxnSpLocks/>
          </p:cNvCxnSpPr>
          <p:nvPr/>
        </p:nvCxnSpPr>
        <p:spPr>
          <a:xfrm>
            <a:off x="3937328" y="2615879"/>
            <a:ext cx="983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82CE60B-66FD-B2AB-0AC0-CBD536A2BC08}"/>
              </a:ext>
            </a:extLst>
          </p:cNvPr>
          <p:cNvSpPr txBox="1"/>
          <p:nvPr/>
        </p:nvSpPr>
        <p:spPr>
          <a:xfrm>
            <a:off x="1390537" y="500436"/>
            <a:ext cx="2569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before</a:t>
            </a:r>
            <a:r>
              <a:rPr kumimoji="1" lang="zh-TW" altLang="en-US" dirty="0"/>
              <a:t> </a:t>
            </a:r>
            <a:r>
              <a:rPr kumimoji="1" lang="en-US" altLang="zh-TW" dirty="0"/>
              <a:t>activation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function</a:t>
            </a:r>
            <a:endParaRPr kumimoji="1" lang="zh-TW" altLang="en-US" dirty="0"/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540745DF-64A9-0F20-64B7-800049E2ED49}"/>
              </a:ext>
            </a:extLst>
          </p:cNvPr>
          <p:cNvCxnSpPr>
            <a:cxnSpLocks/>
          </p:cNvCxnSpPr>
          <p:nvPr/>
        </p:nvCxnSpPr>
        <p:spPr>
          <a:xfrm>
            <a:off x="3960471" y="731135"/>
            <a:ext cx="983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1BA2CA7-1903-A50A-37B2-0920D1302E02}"/>
              </a:ext>
            </a:extLst>
          </p:cNvPr>
          <p:cNvSpPr txBox="1"/>
          <p:nvPr/>
        </p:nvSpPr>
        <p:spPr>
          <a:xfrm>
            <a:off x="1547433" y="2397679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after</a:t>
            </a:r>
            <a:r>
              <a:rPr kumimoji="1" lang="zh-TW" altLang="en-US" dirty="0"/>
              <a:t> </a:t>
            </a:r>
            <a:r>
              <a:rPr kumimoji="1" lang="en-US" altLang="zh-TW" dirty="0"/>
              <a:t>activation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function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FBE3ECF-4AB6-9C71-BAA8-905D74CD4586}"/>
                  </a:ext>
                </a:extLst>
              </p:cNvPr>
              <p:cNvSpPr txBox="1"/>
              <p:nvPr/>
            </p:nvSpPr>
            <p:spPr>
              <a:xfrm>
                <a:off x="912611" y="4513122"/>
                <a:ext cx="345104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b="0" dirty="0"/>
                  <a:t>明顯可以看出，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與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zh-TW" altLang="en-US" dirty="0"/>
                  <a:t> 之間的函數關係為非線性的。另外，以此神經網路的決策邊界也是非線性的。</a:t>
                </a:r>
                <a:endParaRPr kumimoji="1" lang="en-US" altLang="zh-TW" dirty="0"/>
              </a:p>
              <a:p>
                <a:endParaRPr kumimoji="1" lang="en-US" altLang="zh-TW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FBE3ECF-4AB6-9C71-BAA8-905D74CD4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611" y="4513122"/>
                <a:ext cx="3451045" cy="1477328"/>
              </a:xfrm>
              <a:prstGeom prst="rect">
                <a:avLst/>
              </a:prstGeom>
              <a:blipFill>
                <a:blip r:embed="rId2"/>
                <a:stretch>
                  <a:fillRect l="-1838" t="-17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圖形 13">
            <a:extLst>
              <a:ext uri="{FF2B5EF4-FFF2-40B4-BE49-F238E27FC236}">
                <a16:creationId xmlns:a16="http://schemas.microsoft.com/office/drawing/2014/main" id="{3BF12079-3B14-A7C7-7E2E-FDA91711B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3378" y="79073"/>
            <a:ext cx="6588162" cy="625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15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6325DD-DD3F-0EC4-B9AC-4575BCB53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Shallow Neural Networks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0B573A5-8FE6-6A4F-9885-C7DEF5831B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966" y="2108201"/>
                <a:ext cx="5254906" cy="3760891"/>
              </a:xfrm>
            </p:spPr>
            <p:txBody>
              <a:bodyPr>
                <a:noAutofit/>
              </a:bodyPr>
              <a:lstStyle/>
              <a:p>
                <a:r>
                  <a:rPr kumimoji="1" lang="zh-TW" altLang="en-US" dirty="0"/>
                  <a:t>若將 </a:t>
                </a:r>
                <a:r>
                  <a:rPr kumimoji="1" lang="en-US" altLang="zh-TW" dirty="0"/>
                  <a:t>Shallow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Neural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 err="1"/>
                  <a:t>Netwok</a:t>
                </a:r>
                <a:r>
                  <a:rPr kumimoji="1" lang="zh-TW" altLang="en-US" dirty="0"/>
                  <a:t> 的 </a:t>
                </a:r>
                <a:r>
                  <a:rPr kumimoji="1" lang="en-US" altLang="zh-TW" dirty="0"/>
                  <a:t>input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layer</a:t>
                </a:r>
                <a:r>
                  <a:rPr kumimoji="1" lang="zh-TW" altLang="en-US" dirty="0"/>
                  <a:t> 改為有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TW" altLang="en-US" dirty="0"/>
                  <a:t> 與 </a:t>
                </a:r>
                <a:r>
                  <a:rPr kumimoji="1" lang="en-US" altLang="zh-TW" dirty="0"/>
                  <a:t>bias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term</a:t>
                </a:r>
                <a:r>
                  <a:rPr kumimoji="1" lang="zh-TW" altLang="en-US" dirty="0"/>
                  <a:t> 三個 </a:t>
                </a:r>
                <a:r>
                  <a:rPr kumimoji="1" lang="en-US" altLang="zh-TW" dirty="0"/>
                  <a:t>input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nodes</a:t>
                </a:r>
                <a:r>
                  <a:rPr kumimoji="1" lang="zh-TW" altLang="en-US" dirty="0"/>
                  <a:t>，其餘架構保持相同，則我們亦可畫出類似的函數圖形：</a:t>
                </a:r>
                <a:endParaRPr kumimoji="1" lang="en-US" altLang="zh-TW" dirty="0"/>
              </a:p>
              <a:p>
                <a:r>
                  <a:rPr kumimoji="1" lang="zh-TW" altLang="en-US" sz="1800" dirty="0"/>
                  <a:t>*</a:t>
                </a:r>
                <a:r>
                  <a:rPr kumimoji="1" lang="en-US" altLang="zh-TW" sz="1800" dirty="0"/>
                  <a:t>.</a:t>
                </a:r>
                <a:r>
                  <a:rPr kumimoji="1" lang="zh-TW" altLang="en-US" sz="1800" dirty="0"/>
                  <a:t> </a:t>
                </a:r>
                <a:r>
                  <a:rPr kumimoji="1" lang="en-US" altLang="zh-TW" sz="1800" dirty="0"/>
                  <a:t>Chapter_1_Shallow_NN.ipynb</a:t>
                </a:r>
                <a:endParaRPr kumimoji="1" lang="zh-TW" altLang="en-US" sz="18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0B573A5-8FE6-6A4F-9885-C7DEF5831B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966" y="2108201"/>
                <a:ext cx="5254906" cy="3760891"/>
              </a:xfrm>
              <a:blipFill>
                <a:blip r:embed="rId2"/>
                <a:stretch>
                  <a:fillRect l="-1928" t="-1347" r="-16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43B839-2ADA-EAA8-52E8-0A4073CD8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F38D0FC-D5C2-5E86-BF84-D6850D36A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7" name="圖片 6" descr="一張含有 螢幕擷取畫面, 平面設計, 圖形, 設計 的圖片&#10;&#10;AI 產生的內容可能不正確。">
            <a:extLst>
              <a:ext uri="{FF2B5EF4-FFF2-40B4-BE49-F238E27FC236}">
                <a16:creationId xmlns:a16="http://schemas.microsoft.com/office/drawing/2014/main" id="{07CEEAEC-1910-A64B-01DB-E3E9399E19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000" y="2459097"/>
            <a:ext cx="5105474" cy="306942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57640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94733F-31E6-18BF-EFC8-FD5D3D79F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Shallow Neural Networks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F6B278-6142-26F9-04CE-F94992782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由此可知：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在 </a:t>
            </a:r>
            <a:r>
              <a:rPr kumimoji="1" lang="en-US" altLang="zh-TW" dirty="0"/>
              <a:t>hidden layer </a:t>
            </a:r>
            <a:r>
              <a:rPr kumimoji="1" lang="zh-TW" altLang="en-US" dirty="0"/>
              <a:t>中引入非線性的激活函數，能使 </a:t>
            </a:r>
            <a:r>
              <a:rPr kumimoji="1" lang="en-US" altLang="zh-TW" dirty="0"/>
              <a:t>Shallow Neural Networks </a:t>
            </a:r>
            <a:r>
              <a:rPr kumimoji="1" lang="zh-TW" altLang="en-US" dirty="0"/>
              <a:t>不再只侷限於線性模型，而可以形成非線性的決策邊界。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進一步來看，當 </a:t>
            </a:r>
            <a:r>
              <a:rPr kumimoji="1" lang="en-US" altLang="zh-TW" dirty="0"/>
              <a:t>hidden layer </a:t>
            </a:r>
            <a:r>
              <a:rPr kumimoji="1" lang="zh-TW" altLang="en-US" dirty="0"/>
              <a:t>中的神經元（</a:t>
            </a:r>
            <a:r>
              <a:rPr kumimoji="1" lang="en-US" altLang="zh-TW" dirty="0"/>
              <a:t>neurons</a:t>
            </a:r>
            <a:r>
              <a:rPr kumimoji="1" lang="zh-TW" altLang="en-US" dirty="0"/>
              <a:t>）數量增加時，模型可以組合出更多不同形狀的非線性轉換，從而產生越來越複雜、彈性的決策邊界，以逼近各種非線性函數。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1EA9DE-9852-E273-1D10-9208CEF59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FEF6936-1A08-56E6-A56F-239C5ED40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837270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2671D1-1B5D-2B9A-6FB5-89799F40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Shallow Neural Networks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A1ABBD-1AEA-9D78-8423-56FD44E1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CAB02CA-A5DC-5B5C-674C-2114F47CF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7" name="圖片 6" descr="一張含有 行 的圖片&#10;&#10;AI 產生的內容可能不正確。">
            <a:extLst>
              <a:ext uri="{FF2B5EF4-FFF2-40B4-BE49-F238E27FC236}">
                <a16:creationId xmlns:a16="http://schemas.microsoft.com/office/drawing/2014/main" id="{298E9BCB-5525-F40D-FE24-E30DABBD2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65" y="2415067"/>
            <a:ext cx="10860269" cy="270557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A432616D-1734-9723-1F42-2391E5D06323}"/>
              </a:ext>
            </a:extLst>
          </p:cNvPr>
          <p:cNvSpPr txBox="1"/>
          <p:nvPr/>
        </p:nvSpPr>
        <p:spPr>
          <a:xfrm>
            <a:off x="925975" y="5509549"/>
            <a:ext cx="4730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*</a:t>
            </a:r>
            <a:r>
              <a:rPr kumimoji="1" lang="en-US" altLang="zh-TW" dirty="0"/>
              <a:t>.</a:t>
            </a:r>
            <a:r>
              <a:rPr kumimoji="1" lang="zh-TW" altLang="en-US" dirty="0"/>
              <a:t> </a:t>
            </a:r>
            <a:r>
              <a:rPr kumimoji="1" lang="en-US" altLang="zh-TW" dirty="0"/>
              <a:t>Chapter_1_Increasing_Hidden_Neurons.ipynb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3534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043557-00F0-1D86-9E21-AA446703F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Shallow Neural Networks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60F59A-460F-D082-D363-BABB4ADCA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69575"/>
          </a:xfrm>
        </p:spPr>
        <p:txBody>
          <a:bodyPr>
            <a:normAutofit/>
          </a:bodyPr>
          <a:lstStyle/>
          <a:p>
            <a:r>
              <a:rPr kumimoji="1" lang="zh-TW" altLang="en-US" dirty="0"/>
              <a:t>最後，我們可以將 </a:t>
            </a:r>
            <a:r>
              <a:rPr kumimoji="1" lang="en-US" altLang="zh-TW" dirty="0"/>
              <a:t>Shallow Neural Network </a:t>
            </a:r>
            <a:r>
              <a:rPr kumimoji="1" lang="zh-TW" altLang="en-US" dirty="0"/>
              <a:t>的概念推廣到更高維度，進而得到一個簡單且直覺的結論。 在 </a:t>
            </a:r>
            <a:r>
              <a:rPr kumimoji="1" lang="en-US" altLang="zh-TW" dirty="0"/>
              <a:t>hidden layer </a:t>
            </a:r>
            <a:r>
              <a:rPr kumimoji="1" lang="zh-TW" altLang="en-US" dirty="0"/>
              <a:t>中，只要使用非線性的激活函數，並且擁有足夠多的神經元，那麼 </a:t>
            </a:r>
            <a:r>
              <a:rPr kumimoji="1" lang="en-US" altLang="zh-TW" dirty="0"/>
              <a:t>Shallow Neural Network </a:t>
            </a:r>
            <a:r>
              <a:rPr kumimoji="1" lang="zh-TW" altLang="en-US" dirty="0"/>
              <a:t>就具備一個關鍵的能力： </a:t>
            </a:r>
            <a:endParaRPr kumimoji="1" lang="en-US" altLang="zh-TW" dirty="0"/>
          </a:p>
          <a:p>
            <a:pPr algn="ctr"/>
            <a:r>
              <a:rPr kumimoji="1" lang="zh-TW" altLang="en-US" b="1" i="1" dirty="0"/>
              <a:t>在有限維度的輸入空間內，</a:t>
            </a:r>
            <a:r>
              <a:rPr kumimoji="1" lang="en-US" altLang="zh-TW" b="1" i="1" dirty="0"/>
              <a:t> Shallow Neural Network</a:t>
            </a:r>
            <a:r>
              <a:rPr kumimoji="1" lang="zh-TW" altLang="en-US" b="1" i="1" dirty="0"/>
              <a:t> 可以以任意精度去逼近任何連續函數（無論該函數是線性或非線性）。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TW" altLang="en-US" sz="1800" dirty="0"/>
              <a:t>*</a:t>
            </a:r>
            <a:r>
              <a:rPr kumimoji="1" lang="en-US" altLang="zh-TW" sz="1800" dirty="0"/>
              <a:t>.</a:t>
            </a:r>
            <a:r>
              <a:rPr kumimoji="1" lang="zh-TW" altLang="en-US" sz="1800" dirty="0"/>
              <a:t> 這個性質有個正式名稱，叫做「</a:t>
            </a:r>
            <a:r>
              <a:rPr kumimoji="1" lang="en-US" altLang="zh-TW" sz="1800" dirty="0"/>
              <a:t>Universal</a:t>
            </a:r>
            <a:r>
              <a:rPr kumimoji="1" lang="zh-TW" altLang="en-US" sz="1800" dirty="0"/>
              <a:t> </a:t>
            </a:r>
            <a:r>
              <a:rPr kumimoji="1" lang="en-US" altLang="zh-TW" sz="1800" dirty="0"/>
              <a:t>Approximation</a:t>
            </a:r>
            <a:r>
              <a:rPr kumimoji="1" lang="zh-TW" altLang="en-US" sz="1800" dirty="0"/>
              <a:t> </a:t>
            </a:r>
            <a:r>
              <a:rPr kumimoji="1" lang="en-US" altLang="zh-TW" sz="1800" dirty="0"/>
              <a:t>Theorem</a:t>
            </a:r>
            <a:r>
              <a:rPr kumimoji="1" lang="zh-TW" altLang="en-US" sz="1800" dirty="0"/>
              <a:t>」。</a:t>
            </a:r>
            <a:endParaRPr kumimoji="1" lang="en-US" altLang="zh-TW" sz="18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E2C058-F6D3-5BD9-5252-BA66E8326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DE664A5-F174-CC86-E51B-1EB58012A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337564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EC92AB-F109-575F-F294-EAE281B5F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Shallow Neural Networks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701C5D-8186-A661-74D4-1C418C3BC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如果我們真的有一種方法能有效地找到這些權重值，神經網路便能用來近似各種現實世界中的複雜映射（函數）關係</a:t>
            </a:r>
            <a:r>
              <a:rPr lang="zh-TW" altLang="en-US" dirty="0"/>
              <a:t>，也包含我們過去無法想像可以找到的那些。例如：</a:t>
            </a:r>
            <a:endParaRPr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圖片分類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語音辨識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自動生成文字回覆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B4065F-B66F-823A-AF05-7180A087E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0239D1F-660C-69F0-8CC5-FBA999B4F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274222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B99B6-9E86-879F-2CF5-4E5643F27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Shallow Neural Networks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50C1E2-3B20-C09E-73F4-3BAB69ECC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D34108C-997B-D72D-3992-20B084BC9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7" name="圖片 6" descr="一張含有 哺乳動物, 大貓熊, 熊貓, 戶外 的圖片&#10;&#10;AI 產生的內容可能不正確。">
            <a:extLst>
              <a:ext uri="{FF2B5EF4-FFF2-40B4-BE49-F238E27FC236}">
                <a16:creationId xmlns:a16="http://schemas.microsoft.com/office/drawing/2014/main" id="{0478D73E-5D46-6D96-BF7F-BE189FF0A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95" y="2085278"/>
            <a:ext cx="1696770" cy="2120963"/>
          </a:xfrm>
          <a:prstGeom prst="rect">
            <a:avLst/>
          </a:prstGeom>
        </p:spPr>
      </p:pic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CE6F091A-AE05-9297-4A0F-BA1ABE32844E}"/>
              </a:ext>
            </a:extLst>
          </p:cNvPr>
          <p:cNvCxnSpPr>
            <a:cxnSpLocks/>
          </p:cNvCxnSpPr>
          <p:nvPr/>
        </p:nvCxnSpPr>
        <p:spPr>
          <a:xfrm>
            <a:off x="2085279" y="3169177"/>
            <a:ext cx="579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44AEF20-A5A0-3620-AE9F-0520D7891335}"/>
              </a:ext>
            </a:extLst>
          </p:cNvPr>
          <p:cNvSpPr txBox="1"/>
          <p:nvPr/>
        </p:nvSpPr>
        <p:spPr>
          <a:xfrm>
            <a:off x="2804756" y="1980934"/>
            <a:ext cx="24251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 err="1"/>
              <a:t>Numpy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Array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Format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(800,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640,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3)</a:t>
            </a:r>
          </a:p>
          <a:p>
            <a:r>
              <a:rPr lang="en-US" altLang="zh-TW" dirty="0"/>
              <a:t>array([[[ 42,  49,  41],</a:t>
            </a:r>
          </a:p>
          <a:p>
            <a:r>
              <a:rPr lang="en-US" altLang="zh-TW" dirty="0"/>
              <a:t>        [ 41,  48,  40],</a:t>
            </a:r>
          </a:p>
          <a:p>
            <a:r>
              <a:rPr lang="en-US" altLang="zh-TW" dirty="0"/>
              <a:t>        [ 41,  48,  40],</a:t>
            </a:r>
            <a:endParaRPr kumimoji="1" lang="en-US" altLang="zh-TW" dirty="0"/>
          </a:p>
          <a:p>
            <a:r>
              <a:rPr kumimoji="1" lang="zh-TW" altLang="en-US" dirty="0"/>
              <a:t>        </a:t>
            </a:r>
            <a:r>
              <a:rPr kumimoji="1" lang="en-US" altLang="zh-TW" dirty="0"/>
              <a:t>….,</a:t>
            </a:r>
          </a:p>
          <a:p>
            <a:r>
              <a:rPr lang="en-US" altLang="zh-TW" dirty="0"/>
              <a:t>        [178, 149, 117]]])</a:t>
            </a:r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890F9ADD-7B3E-00FB-FD92-3EA637F90987}"/>
              </a:ext>
            </a:extLst>
          </p:cNvPr>
          <p:cNvCxnSpPr>
            <a:cxnSpLocks/>
          </p:cNvCxnSpPr>
          <p:nvPr/>
        </p:nvCxnSpPr>
        <p:spPr>
          <a:xfrm>
            <a:off x="5015967" y="3147990"/>
            <a:ext cx="579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E18BB0D-28BD-4C2E-1B73-79E68D1EEDF4}"/>
              </a:ext>
            </a:extLst>
          </p:cNvPr>
          <p:cNvSpPr txBox="1"/>
          <p:nvPr/>
        </p:nvSpPr>
        <p:spPr>
          <a:xfrm>
            <a:off x="5666006" y="2407095"/>
            <a:ext cx="2141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Flatten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the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Array</a:t>
            </a:r>
          </a:p>
          <a:p>
            <a:r>
              <a:rPr kumimoji="1" lang="en-US" altLang="zh-TW" b="1" dirty="0"/>
              <a:t>(800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x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640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x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3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=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1536000)</a:t>
            </a:r>
          </a:p>
          <a:p>
            <a:r>
              <a:rPr kumimoji="1" lang="en-US" altLang="zh-TW" dirty="0"/>
              <a:t>[42,</a:t>
            </a:r>
            <a:r>
              <a:rPr kumimoji="1" lang="zh-TW" altLang="en-US" dirty="0"/>
              <a:t> </a:t>
            </a:r>
            <a:r>
              <a:rPr kumimoji="1" lang="en-US" altLang="zh-TW" dirty="0"/>
              <a:t>49,</a:t>
            </a:r>
            <a:r>
              <a:rPr kumimoji="1" lang="zh-TW" altLang="en-US" dirty="0"/>
              <a:t> </a:t>
            </a:r>
            <a:r>
              <a:rPr kumimoji="1" lang="en-US" altLang="zh-TW" dirty="0"/>
              <a:t>42,</a:t>
            </a:r>
            <a:r>
              <a:rPr kumimoji="1" lang="zh-TW" altLang="en-US" dirty="0"/>
              <a:t> </a:t>
            </a:r>
            <a:r>
              <a:rPr kumimoji="1" lang="en-US" altLang="zh-TW" dirty="0"/>
              <a:t>41,</a:t>
            </a:r>
            <a:r>
              <a:rPr kumimoji="1" lang="zh-TW" altLang="en-US" dirty="0"/>
              <a:t> </a:t>
            </a:r>
            <a:r>
              <a:rPr kumimoji="1" lang="en-US" altLang="zh-TW" dirty="0"/>
              <a:t>48,</a:t>
            </a:r>
            <a:r>
              <a:rPr kumimoji="1" lang="zh-TW" altLang="en-US" dirty="0"/>
              <a:t> </a:t>
            </a:r>
            <a:r>
              <a:rPr kumimoji="1" lang="en-US" altLang="zh-TW" dirty="0"/>
              <a:t>40,</a:t>
            </a:r>
            <a:r>
              <a:rPr kumimoji="1" lang="zh-TW" altLang="en-US" dirty="0"/>
              <a:t> </a:t>
            </a:r>
            <a:r>
              <a:rPr kumimoji="1" lang="en-US" altLang="zh-TW" dirty="0"/>
              <a:t>…,</a:t>
            </a:r>
            <a:r>
              <a:rPr kumimoji="1" lang="zh-TW" altLang="en-US" dirty="0"/>
              <a:t> </a:t>
            </a:r>
            <a:r>
              <a:rPr kumimoji="1" lang="en-US" altLang="zh-TW" dirty="0"/>
              <a:t>178,</a:t>
            </a:r>
            <a:r>
              <a:rPr kumimoji="1" lang="zh-TW" altLang="en-US" dirty="0"/>
              <a:t> </a:t>
            </a:r>
            <a:r>
              <a:rPr kumimoji="1" lang="en-US" altLang="zh-TW" dirty="0"/>
              <a:t>149,</a:t>
            </a:r>
            <a:r>
              <a:rPr kumimoji="1" lang="zh-TW" altLang="en-US" dirty="0"/>
              <a:t> </a:t>
            </a:r>
            <a:r>
              <a:rPr kumimoji="1" lang="en-US" altLang="zh-TW" dirty="0"/>
              <a:t>117]</a:t>
            </a:r>
            <a:endParaRPr kumimoji="1" lang="zh-TW" altLang="en-US" dirty="0"/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280C47CB-4F1B-B73C-D62D-AB0E3F0F7A14}"/>
              </a:ext>
            </a:extLst>
          </p:cNvPr>
          <p:cNvCxnSpPr>
            <a:cxnSpLocks/>
          </p:cNvCxnSpPr>
          <p:nvPr/>
        </p:nvCxnSpPr>
        <p:spPr>
          <a:xfrm>
            <a:off x="7638563" y="3145759"/>
            <a:ext cx="579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19754B0-AABC-42D8-CA9F-9D238521F874}"/>
              </a:ext>
            </a:extLst>
          </p:cNvPr>
          <p:cNvSpPr txBox="1"/>
          <p:nvPr/>
        </p:nvSpPr>
        <p:spPr>
          <a:xfrm>
            <a:off x="9927259" y="2961093"/>
            <a:ext cx="358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3</a:t>
            </a:r>
            <a:endParaRPr kumimoji="1" lang="zh-TW" altLang="en-US" dirty="0"/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3788C60E-FC77-6074-D6B1-487CA2A5819E}"/>
              </a:ext>
            </a:extLst>
          </p:cNvPr>
          <p:cNvCxnSpPr>
            <a:cxnSpLocks/>
          </p:cNvCxnSpPr>
          <p:nvPr/>
        </p:nvCxnSpPr>
        <p:spPr>
          <a:xfrm>
            <a:off x="10286182" y="3166575"/>
            <a:ext cx="579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E0A0CD5-000F-00EC-A209-6344318E061D}"/>
              </a:ext>
            </a:extLst>
          </p:cNvPr>
          <p:cNvSpPr txBox="1"/>
          <p:nvPr/>
        </p:nvSpPr>
        <p:spPr>
          <a:xfrm>
            <a:off x="10866045" y="2990757"/>
            <a:ext cx="85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panda</a:t>
            </a:r>
            <a:endParaRPr kumimoji="1"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F4281B3-341F-CC10-376C-FB2D922964E9}"/>
              </a:ext>
            </a:extLst>
          </p:cNvPr>
          <p:cNvSpPr txBox="1"/>
          <p:nvPr/>
        </p:nvSpPr>
        <p:spPr>
          <a:xfrm>
            <a:off x="8326053" y="2529092"/>
            <a:ext cx="1184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Neural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Network</a:t>
            </a:r>
            <a:endParaRPr kumimoji="1" lang="zh-TW" altLang="en-US" dirty="0"/>
          </a:p>
        </p:txBody>
      </p: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EBF020D9-23AB-85D1-4D44-9E7AD281D19B}"/>
              </a:ext>
            </a:extLst>
          </p:cNvPr>
          <p:cNvCxnSpPr>
            <a:cxnSpLocks/>
          </p:cNvCxnSpPr>
          <p:nvPr/>
        </p:nvCxnSpPr>
        <p:spPr>
          <a:xfrm>
            <a:off x="9347396" y="3166575"/>
            <a:ext cx="579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圖片 23" descr="一張含有 心臟, 粉紅色, 圖形, 洋紅色 的圖片&#10;&#10;AI 產生的內容可能不正確。">
            <a:extLst>
              <a:ext uri="{FF2B5EF4-FFF2-40B4-BE49-F238E27FC236}">
                <a16:creationId xmlns:a16="http://schemas.microsoft.com/office/drawing/2014/main" id="{CCF4B6A0-9AC5-1FE3-27D3-4476D4AA0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141" y="3145759"/>
            <a:ext cx="814784" cy="814784"/>
          </a:xfrm>
          <a:prstGeom prst="rect">
            <a:avLst/>
          </a:prstGeom>
        </p:spPr>
      </p:pic>
      <p:pic>
        <p:nvPicPr>
          <p:cNvPr id="26" name="圖片 25" descr="一張含有 哺乳動物, 貓, 家貓, 小型到中型大小的貓 的圖片&#10;&#10;AI 產生的內容可能不正確。">
            <a:extLst>
              <a:ext uri="{FF2B5EF4-FFF2-40B4-BE49-F238E27FC236}">
                <a16:creationId xmlns:a16="http://schemas.microsoft.com/office/drawing/2014/main" id="{A60382FC-C043-9AC0-9ECF-49A45AD16D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84" y="4600995"/>
            <a:ext cx="2453594" cy="1637007"/>
          </a:xfrm>
          <a:prstGeom prst="rect">
            <a:avLst/>
          </a:prstGeom>
        </p:spPr>
      </p:pic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60CEE434-1046-3462-459B-680E1B36D17C}"/>
              </a:ext>
            </a:extLst>
          </p:cNvPr>
          <p:cNvCxnSpPr>
            <a:cxnSpLocks/>
          </p:cNvCxnSpPr>
          <p:nvPr/>
        </p:nvCxnSpPr>
        <p:spPr>
          <a:xfrm>
            <a:off x="2665142" y="5410101"/>
            <a:ext cx="579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6F542CC-D513-FABF-68C6-7AF6C0C90882}"/>
              </a:ext>
            </a:extLst>
          </p:cNvPr>
          <p:cNvSpPr txBox="1"/>
          <p:nvPr/>
        </p:nvSpPr>
        <p:spPr>
          <a:xfrm>
            <a:off x="3102940" y="4255833"/>
            <a:ext cx="24251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 err="1"/>
              <a:t>Numpy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Array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Format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(427,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640,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3)</a:t>
            </a:r>
          </a:p>
          <a:p>
            <a:r>
              <a:rPr lang="en-US" altLang="zh-TW" dirty="0"/>
              <a:t>array([[[ 161,  145, 120],</a:t>
            </a:r>
          </a:p>
          <a:p>
            <a:r>
              <a:rPr lang="en-US" altLang="zh-TW" dirty="0"/>
              <a:t>        [ 161, 145, 120],</a:t>
            </a:r>
          </a:p>
          <a:p>
            <a:r>
              <a:rPr lang="en-US" altLang="zh-TW" dirty="0"/>
              <a:t>        [ 160,  144,  119],</a:t>
            </a:r>
            <a:endParaRPr kumimoji="1" lang="en-US" altLang="zh-TW" dirty="0"/>
          </a:p>
          <a:p>
            <a:r>
              <a:rPr kumimoji="1" lang="zh-TW" altLang="en-US" dirty="0"/>
              <a:t>        </a:t>
            </a:r>
            <a:r>
              <a:rPr kumimoji="1" lang="en-US" altLang="zh-TW" dirty="0"/>
              <a:t>….,</a:t>
            </a:r>
          </a:p>
          <a:p>
            <a:r>
              <a:rPr lang="en-US" altLang="zh-TW" dirty="0"/>
              <a:t>        [115, 102, 85]]])</a:t>
            </a:r>
          </a:p>
        </p:txBody>
      </p: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D9C8F0BF-B539-975D-4774-7DBF301AA783}"/>
              </a:ext>
            </a:extLst>
          </p:cNvPr>
          <p:cNvCxnSpPr>
            <a:cxnSpLocks/>
          </p:cNvCxnSpPr>
          <p:nvPr/>
        </p:nvCxnSpPr>
        <p:spPr>
          <a:xfrm>
            <a:off x="5386041" y="5390806"/>
            <a:ext cx="579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DD2F8275-FE10-89F0-FF37-0AC8C5F55B2F}"/>
              </a:ext>
            </a:extLst>
          </p:cNvPr>
          <p:cNvSpPr txBox="1"/>
          <p:nvPr/>
        </p:nvSpPr>
        <p:spPr>
          <a:xfrm>
            <a:off x="5965904" y="4532079"/>
            <a:ext cx="21410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Flatten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the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Array</a:t>
            </a:r>
          </a:p>
          <a:p>
            <a:r>
              <a:rPr kumimoji="1" lang="en-US" altLang="zh-TW" b="1" dirty="0"/>
              <a:t>(427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x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640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x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3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=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819840)</a:t>
            </a:r>
          </a:p>
          <a:p>
            <a:r>
              <a:rPr kumimoji="1" lang="en-US" altLang="zh-TW" dirty="0"/>
              <a:t>[161, 145, 120, 161, 145, 120, …, 115, 102, 85]</a:t>
            </a:r>
            <a:endParaRPr kumimoji="1" lang="zh-TW" altLang="en-US" dirty="0"/>
          </a:p>
        </p:txBody>
      </p: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4000F09E-5F1D-973E-BB49-A20F10BDB84C}"/>
              </a:ext>
            </a:extLst>
          </p:cNvPr>
          <p:cNvCxnSpPr>
            <a:cxnSpLocks/>
          </p:cNvCxnSpPr>
          <p:nvPr/>
        </p:nvCxnSpPr>
        <p:spPr>
          <a:xfrm>
            <a:off x="7974489" y="5376307"/>
            <a:ext cx="579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4E1C822-0D78-27B0-2670-5F169F33D836}"/>
              </a:ext>
            </a:extLst>
          </p:cNvPr>
          <p:cNvSpPr txBox="1"/>
          <p:nvPr/>
        </p:nvSpPr>
        <p:spPr>
          <a:xfrm>
            <a:off x="10263185" y="5191641"/>
            <a:ext cx="358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</a:t>
            </a:r>
            <a:endParaRPr kumimoji="1" lang="zh-TW" altLang="en-US" dirty="0"/>
          </a:p>
        </p:txBody>
      </p: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68D7D44A-929B-86FA-BD93-1C21A17B68A6}"/>
              </a:ext>
            </a:extLst>
          </p:cNvPr>
          <p:cNvCxnSpPr>
            <a:cxnSpLocks/>
          </p:cNvCxnSpPr>
          <p:nvPr/>
        </p:nvCxnSpPr>
        <p:spPr>
          <a:xfrm>
            <a:off x="10622108" y="5397123"/>
            <a:ext cx="579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314A9AB-8BA2-1C20-BBC4-F8309F64A4EF}"/>
              </a:ext>
            </a:extLst>
          </p:cNvPr>
          <p:cNvSpPr txBox="1"/>
          <p:nvPr/>
        </p:nvSpPr>
        <p:spPr>
          <a:xfrm>
            <a:off x="11201971" y="5221305"/>
            <a:ext cx="85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cat</a:t>
            </a:r>
            <a:endParaRPr kumimoji="1" lang="zh-TW" alt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9CDEE91C-44EF-ABE8-D2C4-6AB9CDAF42B9}"/>
              </a:ext>
            </a:extLst>
          </p:cNvPr>
          <p:cNvSpPr txBox="1"/>
          <p:nvPr/>
        </p:nvSpPr>
        <p:spPr>
          <a:xfrm>
            <a:off x="8661979" y="4759640"/>
            <a:ext cx="1184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Neural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Network</a:t>
            </a:r>
            <a:endParaRPr kumimoji="1" lang="zh-TW" altLang="en-US" dirty="0"/>
          </a:p>
        </p:txBody>
      </p: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5310289B-7738-8D12-996D-2E3AC9A60362}"/>
              </a:ext>
            </a:extLst>
          </p:cNvPr>
          <p:cNvCxnSpPr>
            <a:cxnSpLocks/>
          </p:cNvCxnSpPr>
          <p:nvPr/>
        </p:nvCxnSpPr>
        <p:spPr>
          <a:xfrm>
            <a:off x="9683322" y="5397123"/>
            <a:ext cx="579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圖片 36" descr="一張含有 心臟, 粉紅色, 圖形, 洋紅色 的圖片&#10;&#10;AI 產生的內容可能不正確。">
            <a:extLst>
              <a:ext uri="{FF2B5EF4-FFF2-40B4-BE49-F238E27FC236}">
                <a16:creationId xmlns:a16="http://schemas.microsoft.com/office/drawing/2014/main" id="{2171DC56-788E-4C40-4E52-1381C763B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067" y="5376307"/>
            <a:ext cx="814784" cy="81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768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0DAFB5-2F0B-2921-223F-267FB0DA9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Shallow Neural Networks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0F0888-F291-5C40-5CC0-5B8597A6E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圖片經過攤平成向量後，神經網路實際學習的是從高維數值空間（像素）映射到離散的類別標籤的函數。</a:t>
            </a:r>
            <a:endParaRPr kumimoji="1" lang="en-US" altLang="zh-TW" dirty="0"/>
          </a:p>
          <a:p>
            <a:r>
              <a:rPr kumimoji="1" lang="zh-TW" altLang="en-US" dirty="0"/>
              <a:t>同樣地，在大型語言模型中，輸入與輸出也都可以被表示為數值向量。因此，神經網路實際學習的是從高維數值空間（文字的數值向量表示）映射到另一個高維數值空間（下一個 </a:t>
            </a:r>
            <a:r>
              <a:rPr kumimoji="1" lang="en-US" altLang="zh-TW" dirty="0"/>
              <a:t>token </a:t>
            </a:r>
            <a:r>
              <a:rPr kumimoji="1" lang="zh-TW" altLang="en-US" dirty="0"/>
              <a:t>的機率分佈）的函數。</a:t>
            </a:r>
            <a:endParaRPr kumimoji="1" lang="en-US" altLang="zh-TW" dirty="0"/>
          </a:p>
          <a:p>
            <a:r>
              <a:rPr kumimoji="1" lang="zh-TW" altLang="en-US" b="1" dirty="0">
                <a:solidFill>
                  <a:srgbClr val="FF0000"/>
                </a:solidFill>
              </a:rPr>
              <a:t>從數學的角度來看，無論是圖片分類、語音辨識，或是文字生成，人工神經網路的本質都是在學習一個高維空間之間的複雜函數映射；不同任務之間的差異，主要來自於輸入與輸出資料的表示方式，而非模型本身的核心概念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6F0997-EE1C-48B8-7DBF-52B5F5B02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B2EC7EB-9FBB-0524-FCDA-88AC983FF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320385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3B22D9-462C-9854-DF55-C46FFE51A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Shallow Neural Networks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C94B96-4201-FCEF-2FB1-F61599595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1" y="2108201"/>
            <a:ext cx="5633155" cy="4213577"/>
          </a:xfrm>
        </p:spPr>
        <p:txBody>
          <a:bodyPr>
            <a:normAutofit fontScale="92500"/>
          </a:bodyPr>
          <a:lstStyle/>
          <a:p>
            <a:r>
              <a:rPr kumimoji="1" lang="zh-TW" altLang="en-US" dirty="0"/>
              <a:t>因此，人工神經網路本質上是一種</a:t>
            </a:r>
            <a:r>
              <a:rPr kumimoji="1" lang="zh-TW" altLang="en-US" b="1" dirty="0">
                <a:solidFill>
                  <a:srgbClr val="FF0000"/>
                </a:solidFill>
              </a:rPr>
              <a:t>通用函數近似器（</a:t>
            </a:r>
            <a:r>
              <a:rPr kumimoji="1" lang="en-US" altLang="zh-TW" b="1" dirty="0">
                <a:solidFill>
                  <a:srgbClr val="FF0000"/>
                </a:solidFill>
              </a:rPr>
              <a:t>universal</a:t>
            </a:r>
            <a:r>
              <a:rPr kumimoji="1" lang="zh-TW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zh-TW" b="1" dirty="0">
                <a:solidFill>
                  <a:srgbClr val="FF0000"/>
                </a:solidFill>
              </a:rPr>
              <a:t>function approximator</a:t>
            </a:r>
            <a:r>
              <a:rPr kumimoji="1" lang="zh-TW" altLang="en-US" b="1" dirty="0">
                <a:solidFill>
                  <a:srgbClr val="FF0000"/>
                </a:solidFill>
              </a:rPr>
              <a:t>）</a:t>
            </a:r>
            <a:r>
              <a:rPr kumimoji="1" lang="zh-TW" altLang="en-US" dirty="0"/>
              <a:t>：它透過給定的輸入和對應的輸出，自動學習一個能夠將輸入映射到輸出的函數。正因如此，</a:t>
            </a:r>
            <a:r>
              <a:rPr kumimoji="1" lang="en-US" altLang="zh-TW" dirty="0"/>
              <a:t>ANN </a:t>
            </a:r>
            <a:r>
              <a:rPr kumimoji="1" lang="zh-TW" altLang="en-US" dirty="0"/>
              <a:t>可以被應用在各種 </a:t>
            </a:r>
            <a:r>
              <a:rPr kumimoji="1" lang="en-US" altLang="zh-TW" dirty="0"/>
              <a:t>AI </a:t>
            </a:r>
            <a:r>
              <a:rPr kumimoji="1" lang="zh-TW" altLang="en-US" dirty="0"/>
              <a:t>任務上。</a:t>
            </a:r>
            <a:endParaRPr kumimoji="1" lang="en-US" altLang="zh-TW" dirty="0"/>
          </a:p>
          <a:p>
            <a:r>
              <a:rPr kumimoji="1" lang="zh-TW" altLang="en-US" dirty="0"/>
              <a:t>然而，需要注意的是，</a:t>
            </a:r>
            <a:r>
              <a:rPr kumimoji="1" lang="en-US" altLang="zh-TW" dirty="0"/>
              <a:t>ANN </a:t>
            </a:r>
            <a:r>
              <a:rPr kumimoji="1" lang="zh-TW" altLang="en-US" dirty="0"/>
              <a:t>並不是在「思考」或「理解」資料，它只是根據已有的輸入與輸出資料調整內部的權重來近似函數。因此，當面對新的（與訓練資料不同的）輸入時，人工神經網路無法保證做出正確的判斷。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7D9D82-F697-E96A-C137-9D5A904F8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AE5E212-F4E2-3FA3-B7C2-ABD628D3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6" name="圖片 5" descr="一張含有 哺乳動物, 大貓熊, 熊貓, 戶外 的圖片&#10;&#10;AI 產生的內容可能不正確。">
            <a:extLst>
              <a:ext uri="{FF2B5EF4-FFF2-40B4-BE49-F238E27FC236}">
                <a16:creationId xmlns:a16="http://schemas.microsoft.com/office/drawing/2014/main" id="{A38B512E-E2CD-6A17-B198-DCC850E53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862" y="2394620"/>
            <a:ext cx="848701" cy="1060876"/>
          </a:xfrm>
          <a:prstGeom prst="rect">
            <a:avLst/>
          </a:prstGeom>
        </p:spPr>
      </p:pic>
      <p:pic>
        <p:nvPicPr>
          <p:cNvPr id="7" name="圖片 6" descr="一張含有 哺乳動物, 貓, 家貓, 小型到中型大小的貓 的圖片&#10;&#10;AI 產生的內容可能不正確。">
            <a:extLst>
              <a:ext uri="{FF2B5EF4-FFF2-40B4-BE49-F238E27FC236}">
                <a16:creationId xmlns:a16="http://schemas.microsoft.com/office/drawing/2014/main" id="{D039B72A-11E5-5B85-DC8E-861C1C76C4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446" y="3589166"/>
            <a:ext cx="1011319" cy="674739"/>
          </a:xfrm>
          <a:prstGeom prst="rect">
            <a:avLst/>
          </a:prstGeom>
        </p:spPr>
      </p:pic>
      <p:pic>
        <p:nvPicPr>
          <p:cNvPr id="9" name="圖片 8" descr="一張含有 狗飼養, 寵物, 哺乳動物, 狗 的圖片&#10;&#10;AI 產生的內容可能不正確。">
            <a:extLst>
              <a:ext uri="{FF2B5EF4-FFF2-40B4-BE49-F238E27FC236}">
                <a16:creationId xmlns:a16="http://schemas.microsoft.com/office/drawing/2014/main" id="{540084B9-6681-D432-241A-FC95EFCFE7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883" y="2394620"/>
            <a:ext cx="696071" cy="1048457"/>
          </a:xfrm>
          <a:prstGeom prst="rect">
            <a:avLst/>
          </a:prstGeom>
        </p:spPr>
      </p:pic>
      <p:pic>
        <p:nvPicPr>
          <p:cNvPr id="11" name="圖片 10" descr="一張含有 貓, 配件, 風鏡, 眼鏡 的圖片&#10;&#10;AI 產生的內容可能不正確。">
            <a:extLst>
              <a:ext uri="{FF2B5EF4-FFF2-40B4-BE49-F238E27FC236}">
                <a16:creationId xmlns:a16="http://schemas.microsoft.com/office/drawing/2014/main" id="{27281B7A-3482-3077-D275-678F6EEF90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876" y="3634653"/>
            <a:ext cx="698799" cy="93136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3FA84935-B4C6-6276-78F9-CB8A1E05F401}"/>
              </a:ext>
            </a:extLst>
          </p:cNvPr>
          <p:cNvSpPr txBox="1"/>
          <p:nvPr/>
        </p:nvSpPr>
        <p:spPr>
          <a:xfrm>
            <a:off x="8699796" y="2606001"/>
            <a:ext cx="1184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Neural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Network</a:t>
            </a:r>
            <a:endParaRPr kumimoji="1" lang="zh-TW" altLang="en-US" dirty="0"/>
          </a:p>
        </p:txBody>
      </p:sp>
      <p:pic>
        <p:nvPicPr>
          <p:cNvPr id="13" name="圖片 12" descr="一張含有 心臟, 粉紅色, 圖形, 洋紅色 的圖片&#10;&#10;AI 產生的內容可能不正確。">
            <a:extLst>
              <a:ext uri="{FF2B5EF4-FFF2-40B4-BE49-F238E27FC236}">
                <a16:creationId xmlns:a16="http://schemas.microsoft.com/office/drawing/2014/main" id="{DA1527EE-D768-BD0B-BD2E-C0E5F20564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3884" y="3222668"/>
            <a:ext cx="814784" cy="814784"/>
          </a:xfrm>
          <a:prstGeom prst="rect">
            <a:avLst/>
          </a:prstGeom>
        </p:spPr>
      </p:pic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10ADAE08-E8C8-6E8A-E499-023A165AA9DE}"/>
              </a:ext>
            </a:extLst>
          </p:cNvPr>
          <p:cNvCxnSpPr>
            <a:cxnSpLocks/>
          </p:cNvCxnSpPr>
          <p:nvPr/>
        </p:nvCxnSpPr>
        <p:spPr>
          <a:xfrm>
            <a:off x="8047151" y="3443077"/>
            <a:ext cx="579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43E24020-8A6A-FED4-DAD3-6D1D87EE8C33}"/>
              </a:ext>
            </a:extLst>
          </p:cNvPr>
          <p:cNvCxnSpPr>
            <a:cxnSpLocks/>
          </p:cNvCxnSpPr>
          <p:nvPr/>
        </p:nvCxnSpPr>
        <p:spPr>
          <a:xfrm>
            <a:off x="9741656" y="3443077"/>
            <a:ext cx="579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BEE1F7F-6997-9502-0729-517A6B408B27}"/>
              </a:ext>
            </a:extLst>
          </p:cNvPr>
          <p:cNvSpPr txBox="1"/>
          <p:nvPr/>
        </p:nvSpPr>
        <p:spPr>
          <a:xfrm>
            <a:off x="10321519" y="2983729"/>
            <a:ext cx="1513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panda,</a:t>
            </a:r>
            <a:r>
              <a:rPr kumimoji="1" lang="zh-TW" altLang="en-US" dirty="0"/>
              <a:t> </a:t>
            </a:r>
            <a:r>
              <a:rPr kumimoji="1" lang="en-US" altLang="zh-TW" dirty="0"/>
              <a:t>dog</a:t>
            </a:r>
          </a:p>
          <a:p>
            <a:r>
              <a:rPr kumimoji="1" lang="en-US" altLang="zh-TW" dirty="0"/>
              <a:t>cat,</a:t>
            </a:r>
            <a:r>
              <a:rPr kumimoji="1" lang="zh-TW" altLang="en-US" dirty="0"/>
              <a:t> </a:t>
            </a:r>
            <a:r>
              <a:rPr kumimoji="1" lang="en-US" altLang="zh-TW" dirty="0"/>
              <a:t>cat</a:t>
            </a:r>
            <a:endParaRPr kumimoji="1" lang="zh-TW" altLang="en-US" dirty="0"/>
          </a:p>
        </p:txBody>
      </p:sp>
      <p:pic>
        <p:nvPicPr>
          <p:cNvPr id="23" name="圖片 22" descr="一張含有 室內, 狗飼養, 哺乳動物, 圖書 的圖片&#10;&#10;AI 產生的內容可能不正確。">
            <a:extLst>
              <a:ext uri="{FF2B5EF4-FFF2-40B4-BE49-F238E27FC236}">
                <a16:creationId xmlns:a16="http://schemas.microsoft.com/office/drawing/2014/main" id="{2A33552A-6CED-D6C3-4AB4-D5EA790678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105" y="4837289"/>
            <a:ext cx="1113802" cy="1484489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387714CA-1A3C-C8D0-A786-62E38E27DBA5}"/>
              </a:ext>
            </a:extLst>
          </p:cNvPr>
          <p:cNvSpPr txBox="1"/>
          <p:nvPr/>
        </p:nvSpPr>
        <p:spPr>
          <a:xfrm>
            <a:off x="8699796" y="4731143"/>
            <a:ext cx="1184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Neural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Network</a:t>
            </a:r>
            <a:endParaRPr kumimoji="1" lang="zh-TW" altLang="en-US" dirty="0"/>
          </a:p>
        </p:txBody>
      </p:sp>
      <p:pic>
        <p:nvPicPr>
          <p:cNvPr id="25" name="圖片 24" descr="一張含有 心臟, 粉紅色, 圖形, 洋紅色 的圖片&#10;&#10;AI 產生的內容可能不正確。">
            <a:extLst>
              <a:ext uri="{FF2B5EF4-FFF2-40B4-BE49-F238E27FC236}">
                <a16:creationId xmlns:a16="http://schemas.microsoft.com/office/drawing/2014/main" id="{47B2BA13-0BD6-8F52-670C-CA078585AE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3884" y="5347810"/>
            <a:ext cx="814784" cy="814784"/>
          </a:xfrm>
          <a:prstGeom prst="rect">
            <a:avLst/>
          </a:prstGeom>
        </p:spPr>
      </p:pic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451F4D6F-CF11-F683-7625-2FDC51F26BFB}"/>
              </a:ext>
            </a:extLst>
          </p:cNvPr>
          <p:cNvCxnSpPr>
            <a:cxnSpLocks/>
          </p:cNvCxnSpPr>
          <p:nvPr/>
        </p:nvCxnSpPr>
        <p:spPr>
          <a:xfrm>
            <a:off x="8047151" y="5568219"/>
            <a:ext cx="579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07D3B057-50E3-2D17-A910-E6AD43FD45AC}"/>
              </a:ext>
            </a:extLst>
          </p:cNvPr>
          <p:cNvCxnSpPr>
            <a:cxnSpLocks/>
          </p:cNvCxnSpPr>
          <p:nvPr/>
        </p:nvCxnSpPr>
        <p:spPr>
          <a:xfrm>
            <a:off x="9741656" y="5568219"/>
            <a:ext cx="579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9FCFF25-C790-F098-4D17-B1439A8EE694}"/>
              </a:ext>
            </a:extLst>
          </p:cNvPr>
          <p:cNvSpPr txBox="1"/>
          <p:nvPr/>
        </p:nvSpPr>
        <p:spPr>
          <a:xfrm>
            <a:off x="10401183" y="5245053"/>
            <a:ext cx="1184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dirty="0"/>
              <a:t>It’s</a:t>
            </a:r>
            <a:r>
              <a:rPr kumimoji="1" lang="zh-TW" altLang="en-US" dirty="0"/>
              <a:t> </a:t>
            </a:r>
            <a:r>
              <a:rPr kumimoji="1" lang="en-US" altLang="zh-TW" dirty="0"/>
              <a:t>a</a:t>
            </a:r>
            <a:r>
              <a:rPr kumimoji="1" lang="zh-TW" altLang="en-US" dirty="0"/>
              <a:t> </a:t>
            </a:r>
            <a:r>
              <a:rPr kumimoji="1" lang="en-US" altLang="zh-TW" dirty="0"/>
              <a:t>cat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8676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A36242-6CFE-C083-5EAB-F10401989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Universal Approximation Theorem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B47E081-276D-2D45-2FD3-DF5DF56BB5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108201"/>
                <a:ext cx="10058400" cy="4190999"/>
              </a:xfrm>
            </p:spPr>
            <p:txBody>
              <a:bodyPr>
                <a:normAutofit lnSpcReduction="10000"/>
              </a:bodyPr>
              <a:lstStyle/>
              <a:p>
                <a:r>
                  <a:rPr kumimoji="1" lang="en-US" altLang="zh-TW" dirty="0"/>
                  <a:t>Let</a:t>
                </a:r>
                <a:r>
                  <a:rPr kumimoji="1" lang="zh-TW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be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the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space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of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continuous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functions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on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a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compact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set</a:t>
                </a:r>
                <a:r>
                  <a:rPr kumimoji="1" lang="zh-TW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zh-TW" altLang="en-US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1" lang="en-US" altLang="zh-TW" dirty="0"/>
                  <a:t>.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For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any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continuous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function</a:t>
                </a:r>
                <a:r>
                  <a:rPr kumimoji="1" lang="zh-TW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and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for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any</a:t>
                </a:r>
                <a:r>
                  <a:rPr kumimoji="1" lang="zh-TW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TW" altLang="en-US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kumimoji="1" lang="en-US" altLang="zh-TW" dirty="0"/>
                  <a:t>,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there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exists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a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feedforward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neural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network</a:t>
                </a:r>
                <a:r>
                  <a:rPr kumimoji="1" lang="zh-TW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with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a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single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hidden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layer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such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that</a:t>
                </a:r>
                <a:r>
                  <a:rPr kumimoji="1" lang="zh-TW" altLang="en-US" dirty="0"/>
                  <a:t> </a:t>
                </a:r>
                <a:endParaRPr kumimoji="1" lang="en-US" altLang="zh-TW" dirty="0"/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kumimoji="1" lang="zh-TW" alt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for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all</a:t>
                </a:r>
                <a:r>
                  <a:rPr kumimoji="1" lang="zh-TW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kumimoji="1" lang="en-US" altLang="zh-TW" dirty="0"/>
                  <a:t>.</a:t>
                </a:r>
              </a:p>
              <a:p>
                <a:r>
                  <a:rPr kumimoji="1" lang="en-US" altLang="zh-TW" dirty="0"/>
                  <a:t>That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means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that</a:t>
                </a:r>
                <a:r>
                  <a:rPr kumimoji="1" lang="zh-TW" altLang="en-US" dirty="0"/>
                  <a:t> </a:t>
                </a:r>
                <a:r>
                  <a:rPr lang="en-US" altLang="zh-TW" dirty="0"/>
                  <a:t>Shallow Neural Networks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can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approximate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the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function</a:t>
                </a:r>
                <a:r>
                  <a:rPr kumimoji="1" lang="zh-TW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to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within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any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arbitrary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degree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of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accuracy</a:t>
                </a:r>
                <a:r>
                  <a:rPr kumimoji="1" lang="zh-TW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TW" alt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kumimoji="1" lang="en-US" altLang="zh-TW" dirty="0"/>
                  <a:t>,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given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a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sufficient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number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of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neurons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in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the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hidden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layer.</a:t>
                </a:r>
              </a:p>
              <a:p>
                <a:endParaRPr kumimoji="1" lang="en-US" altLang="zh-TW" dirty="0"/>
              </a:p>
              <a:p>
                <a:r>
                  <a:rPr kumimoji="1" lang="zh-TW" altLang="en-US" sz="1800" dirty="0"/>
                  <a:t>*</a:t>
                </a:r>
                <a:r>
                  <a:rPr kumimoji="1" lang="en-US" altLang="zh-TW" sz="1800" dirty="0"/>
                  <a:t>.</a:t>
                </a:r>
                <a:r>
                  <a:rPr kumimoji="1" lang="zh-TW" altLang="en-US" sz="1800" dirty="0"/>
                  <a:t> 注意，這是定理而非推論。另外，證明中亦可找到深度神經網路（</a:t>
                </a:r>
                <a:r>
                  <a:rPr kumimoji="1" lang="en-US" altLang="zh-TW" sz="1800" dirty="0"/>
                  <a:t>DNN</a:t>
                </a:r>
                <a:r>
                  <a:rPr kumimoji="1" lang="zh-TW" altLang="en-US" sz="1800" dirty="0"/>
                  <a:t>）可近似任意連續函數的部分。</a:t>
                </a:r>
                <a:r>
                  <a:rPr kumimoji="1" lang="en-US" altLang="zh-TW" sz="1800" dirty="0"/>
                  <a:t>https://</a:t>
                </a:r>
                <a:r>
                  <a:rPr kumimoji="1" lang="en-US" altLang="zh-TW" sz="1800" dirty="0" err="1"/>
                  <a:t>en.wikipedia.org</a:t>
                </a:r>
                <a:r>
                  <a:rPr kumimoji="1" lang="en-US" altLang="zh-TW" sz="1800" dirty="0"/>
                  <a:t>/wiki/</a:t>
                </a:r>
                <a:r>
                  <a:rPr kumimoji="1" lang="en-US" altLang="zh-TW" sz="1800" dirty="0" err="1"/>
                  <a:t>Universal_approximation_theorem</a:t>
                </a:r>
                <a:endParaRPr kumimoji="1" lang="en-US" altLang="zh-TW" sz="18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B47E081-276D-2D45-2FD3-DF5DF56BB5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108201"/>
                <a:ext cx="10058400" cy="4190999"/>
              </a:xfrm>
              <a:blipFill>
                <a:blip r:embed="rId2"/>
                <a:stretch>
                  <a:fillRect l="-1009" t="-2424" r="-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25E411-D351-AEB6-ECA3-03EC820B8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162D337-37CE-9758-EC3E-D044317FD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4668952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E6799D-D0D9-2A05-1C77-7E1669DA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Why</a:t>
            </a:r>
            <a:r>
              <a:rPr kumimoji="1" lang="zh-TW" altLang="en-US" dirty="0"/>
              <a:t> </a:t>
            </a:r>
            <a:r>
              <a:rPr kumimoji="1" lang="en-US" altLang="zh-TW" dirty="0"/>
              <a:t>Deep</a:t>
            </a:r>
            <a:r>
              <a:rPr kumimoji="1" lang="zh-TW" altLang="en-US" dirty="0"/>
              <a:t> </a:t>
            </a:r>
            <a:r>
              <a:rPr kumimoji="1" lang="en-US" altLang="zh-TW" dirty="0"/>
              <a:t>Neural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Network?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4B594A-D481-D590-FBDF-2661F09E2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根據 </a:t>
            </a:r>
            <a:r>
              <a:rPr kumimoji="1" lang="en-US" altLang="zh-TW" dirty="0"/>
              <a:t>Universal Approximation Theorem</a:t>
            </a:r>
            <a:r>
              <a:rPr kumimoji="1" lang="zh-TW" altLang="en-US" dirty="0"/>
              <a:t> 我們知道</a:t>
            </a:r>
            <a:r>
              <a:rPr kumimoji="1" lang="zh-TW" altLang="en-US" b="1" dirty="0"/>
              <a:t>理論上來說</a:t>
            </a:r>
            <a:r>
              <a:rPr kumimoji="1" lang="zh-TW" altLang="en-US" dirty="0"/>
              <a:t>，</a:t>
            </a:r>
            <a:r>
              <a:rPr kumimoji="1" lang="en-US" altLang="zh-TW" dirty="0"/>
              <a:t> Shallow Neural Network</a:t>
            </a:r>
            <a:r>
              <a:rPr kumimoji="1" lang="zh-TW" altLang="en-US" dirty="0"/>
              <a:t> 即可做到 </a:t>
            </a:r>
            <a:r>
              <a:rPr kumimoji="1" lang="en-US" altLang="zh-TW" dirty="0"/>
              <a:t>Deep Neural Network</a:t>
            </a:r>
            <a:r>
              <a:rPr kumimoji="1" lang="zh-TW" altLang="en-US" dirty="0"/>
              <a:t>（</a:t>
            </a:r>
            <a:r>
              <a:rPr kumimoji="1" lang="en-US" altLang="zh-TW" dirty="0"/>
              <a:t>DNN</a:t>
            </a:r>
            <a:r>
              <a:rPr kumimoji="1" lang="zh-TW" altLang="en-US" dirty="0"/>
              <a:t>）能做的任何事情。但為何現代人總是將神經網路設計的非常深？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B5AF6E-FBED-5A68-7459-6E27995AC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EB44C5D-0D66-E66F-15B6-AE1ED6B65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152741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82E611-F3B6-2F90-FA99-A80F0DE46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AlexNet</a:t>
            </a:r>
            <a:r>
              <a:rPr lang="zh-TW" altLang="en-US" dirty="0"/>
              <a:t> </a:t>
            </a:r>
            <a:r>
              <a:rPr lang="en-US" altLang="zh-TW" dirty="0"/>
              <a:t>(2012)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5A75BF-273C-26F6-45AC-723776A5F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E20FCF7-51AB-665A-E8EA-08613CC01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6" name="圖片 5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FDCB2912-F8B7-F26A-55B5-0F8B00DA7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106" y="2067108"/>
            <a:ext cx="9299787" cy="4082514"/>
          </a:xfrm>
          <a:prstGeom prst="rect">
            <a:avLst/>
          </a:prstGeom>
        </p:spPr>
      </p:pic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E6E9BA78-11AA-8D74-BAD4-21E4E2EC8474}"/>
              </a:ext>
            </a:extLst>
          </p:cNvPr>
          <p:cNvCxnSpPr>
            <a:cxnSpLocks/>
          </p:cNvCxnSpPr>
          <p:nvPr/>
        </p:nvCxnSpPr>
        <p:spPr>
          <a:xfrm flipH="1">
            <a:off x="6615289" y="1230828"/>
            <a:ext cx="1986844" cy="1772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90F4E3D-5A20-7655-A11C-B8F06B728DA0}"/>
              </a:ext>
            </a:extLst>
          </p:cNvPr>
          <p:cNvSpPr txBox="1"/>
          <p:nvPr/>
        </p:nvSpPr>
        <p:spPr>
          <a:xfrm>
            <a:off x="8326054" y="861496"/>
            <a:ext cx="1184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8</a:t>
            </a:r>
            <a:r>
              <a:rPr lang="zh-TW" altLang="en-US" b="1" dirty="0"/>
              <a:t> </a:t>
            </a:r>
            <a:r>
              <a:rPr lang="en-US" altLang="zh-TW" b="1" dirty="0"/>
              <a:t>Layers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4202181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991001-8821-50AF-D1FF-1087AC9A6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VGG-16</a:t>
            </a:r>
            <a:r>
              <a:rPr kumimoji="1" lang="zh-TW" altLang="en-US" dirty="0"/>
              <a:t> </a:t>
            </a:r>
            <a:r>
              <a:rPr kumimoji="1" lang="en-US" altLang="zh-TW" dirty="0"/>
              <a:t>(2014)</a:t>
            </a:r>
            <a:endParaRPr kumimoji="1" lang="zh-TW" altLang="en-US" dirty="0"/>
          </a:p>
        </p:txBody>
      </p:sp>
      <p:pic>
        <p:nvPicPr>
          <p:cNvPr id="7" name="內容版面配置區 6" descr="一張含有 螢幕擷取畫面, 文字, 圖表 的圖片&#10;&#10;AI 產生的內容可能不正確。">
            <a:extLst>
              <a:ext uri="{FF2B5EF4-FFF2-40B4-BE49-F238E27FC236}">
                <a16:creationId xmlns:a16="http://schemas.microsoft.com/office/drawing/2014/main" id="{5297BB6F-0D84-1448-3AC4-4BC0C9541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169" y="2108200"/>
            <a:ext cx="8567987" cy="3760788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9914277-F161-AC5A-6FBE-660E56700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034411F-4464-5EEA-1603-9C0056B4D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02EF2EE-2E56-1664-2A57-8C202F401B2D}"/>
              </a:ext>
            </a:extLst>
          </p:cNvPr>
          <p:cNvSpPr txBox="1"/>
          <p:nvPr/>
        </p:nvSpPr>
        <p:spPr>
          <a:xfrm>
            <a:off x="18874" y="5800507"/>
            <a:ext cx="6107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Credits:</a:t>
            </a:r>
            <a:r>
              <a:rPr lang="zh-TW" altLang="en-US" dirty="0"/>
              <a:t> https://www.geeksforgeeks.org/computer-vision/vgg-16-cnn-model/</a:t>
            </a: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831A35CB-A78B-651A-E915-B44D6827D092}"/>
              </a:ext>
            </a:extLst>
          </p:cNvPr>
          <p:cNvCxnSpPr>
            <a:cxnSpLocks/>
          </p:cNvCxnSpPr>
          <p:nvPr/>
        </p:nvCxnSpPr>
        <p:spPr>
          <a:xfrm flipH="1">
            <a:off x="6660444" y="1174044"/>
            <a:ext cx="1320800" cy="2353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57A8B7B-91EF-C456-6EE3-D9D90A671FC2}"/>
              </a:ext>
            </a:extLst>
          </p:cNvPr>
          <p:cNvSpPr txBox="1"/>
          <p:nvPr/>
        </p:nvSpPr>
        <p:spPr>
          <a:xfrm>
            <a:off x="7501965" y="769337"/>
            <a:ext cx="1184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16</a:t>
            </a:r>
            <a:r>
              <a:rPr lang="zh-TW" altLang="en-US" b="1" dirty="0"/>
              <a:t> </a:t>
            </a:r>
            <a:r>
              <a:rPr lang="en-US" altLang="zh-TW" b="1" dirty="0"/>
              <a:t>Layers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8342654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8A5438-FA0F-5EB8-7F14-6AB99634A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ResNet34</a:t>
            </a:r>
            <a:r>
              <a:rPr kumimoji="1" lang="zh-TW" altLang="en-US" dirty="0"/>
              <a:t> </a:t>
            </a:r>
            <a:r>
              <a:rPr kumimoji="1" lang="en-US" altLang="zh-TW" dirty="0"/>
              <a:t>(2015)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88963A-CA60-C597-5B4B-39BA04202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C082882-224F-444D-B0A7-078ADC0EF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17" name="內容版面配置區 16" descr="一張含有 行 的圖片&#10;&#10;AI 產生的內容可能不正確。">
            <a:extLst>
              <a:ext uri="{FF2B5EF4-FFF2-40B4-BE49-F238E27FC236}">
                <a16:creationId xmlns:a16="http://schemas.microsoft.com/office/drawing/2014/main" id="{396CDC11-23CA-D93F-7FD9-5AD32A5851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62" y="2456833"/>
            <a:ext cx="8115476" cy="3515260"/>
          </a:xfrm>
        </p:spPr>
      </p:pic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B6404F7E-E161-B44F-AE3F-AC7CDE8C961E}"/>
              </a:ext>
            </a:extLst>
          </p:cNvPr>
          <p:cNvCxnSpPr>
            <a:cxnSpLocks/>
          </p:cNvCxnSpPr>
          <p:nvPr/>
        </p:nvCxnSpPr>
        <p:spPr>
          <a:xfrm flipH="1">
            <a:off x="7563556" y="1320800"/>
            <a:ext cx="1885244" cy="3510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D098038-8B2C-8B33-A79E-FF01F0200094}"/>
              </a:ext>
            </a:extLst>
          </p:cNvPr>
          <p:cNvSpPr txBox="1"/>
          <p:nvPr/>
        </p:nvSpPr>
        <p:spPr>
          <a:xfrm>
            <a:off x="8968941" y="898762"/>
            <a:ext cx="1184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34</a:t>
            </a:r>
            <a:r>
              <a:rPr lang="zh-TW" altLang="en-US" b="1" dirty="0"/>
              <a:t> </a:t>
            </a:r>
            <a:r>
              <a:rPr lang="en-US" altLang="zh-TW" b="1" dirty="0"/>
              <a:t>Layers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6470624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8EF7BA-6B2E-9C0C-C6F2-CD1A2F253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Why</a:t>
            </a:r>
            <a:r>
              <a:rPr kumimoji="1" lang="zh-TW" altLang="en-US" dirty="0"/>
              <a:t> </a:t>
            </a:r>
            <a:r>
              <a:rPr kumimoji="1" lang="en-US" altLang="zh-TW" dirty="0"/>
              <a:t>Deep</a:t>
            </a:r>
            <a:r>
              <a:rPr kumimoji="1" lang="zh-TW" altLang="en-US" dirty="0"/>
              <a:t> </a:t>
            </a:r>
            <a:r>
              <a:rPr kumimoji="1" lang="en-US" altLang="zh-TW" dirty="0"/>
              <a:t>Neural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Network?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4853EB-F95F-AC68-5627-07DD68410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雖然淺層網路理論上可以逼近任意函數，但實際上要逼近複雜函數時，所需的神經元數量可能極其龐大，導致計算量與記憶體需求難以承受。</a:t>
            </a:r>
            <a:endParaRPr lang="en-US" altLang="zh-TW" dirty="0"/>
          </a:p>
          <a:p>
            <a:r>
              <a:rPr lang="zh-TW" altLang="en-US" dirty="0"/>
              <a:t>相比之下，深度網路透過多層的結構，可以用較少的神經元分層表示複雜的特徵，讓學習與表示變得更有效率，也更容易捕捉資料中的抽象模式。</a:t>
            </a:r>
            <a:r>
              <a:rPr lang="zh-TW" altLang="en-US" b="1" i="1" dirty="0">
                <a:solidFill>
                  <a:srgbClr val="FF0000"/>
                </a:solidFill>
              </a:rPr>
              <a:t>換句話說，「深」不是為了增加理論能力，而是為了在有限的資源下更高效、更可有效率地逼近複雜函數</a:t>
            </a:r>
            <a:r>
              <a:rPr lang="zh-TW" altLang="en-US" dirty="0"/>
              <a:t>。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8B6231-326B-469C-3A19-FEA1CE8A5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2222A1B-E1FD-D520-FFA6-1B9432656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2542000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57B05B-EDA7-8BB0-6CC3-004926A4E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Why</a:t>
            </a:r>
            <a:r>
              <a:rPr kumimoji="1" lang="zh-TW" altLang="en-US" dirty="0"/>
              <a:t> </a:t>
            </a:r>
            <a:r>
              <a:rPr kumimoji="1" lang="en-US" altLang="zh-TW" dirty="0"/>
              <a:t>Deep</a:t>
            </a:r>
            <a:r>
              <a:rPr kumimoji="1" lang="zh-TW" altLang="en-US" dirty="0"/>
              <a:t> </a:t>
            </a:r>
            <a:r>
              <a:rPr kumimoji="1" lang="en-US" altLang="zh-TW" dirty="0"/>
              <a:t>Neural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Network?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E62797C-ADB2-AD13-2D26-97173483C1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108200"/>
                <a:ext cx="10058400" cy="4338637"/>
              </a:xfrm>
            </p:spPr>
            <p:txBody>
              <a:bodyPr>
                <a:normAutofit/>
              </a:bodyPr>
              <a:lstStyle/>
              <a:p>
                <a:r>
                  <a:rPr kumimoji="1" lang="zh-TW" altLang="en-US" dirty="0"/>
                  <a:t>深度神經網路更有效率？數學上的證明：</a:t>
                </a:r>
                <a:endParaRPr kumimoji="1" lang="en-US" altLang="zh-TW" dirty="0"/>
              </a:p>
              <a:p>
                <a:r>
                  <a:rPr kumimoji="1" lang="zh-TW" altLang="en-US" dirty="0"/>
                  <a:t>使用 </a:t>
                </a:r>
                <a:r>
                  <a:rPr kumimoji="1" lang="en-US" altLang="zh-TW" dirty="0" err="1"/>
                  <a:t>ReLU</a:t>
                </a:r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激活函數的人工神經網路在本質上是一個分段線性函數（</a:t>
                </a:r>
                <a:r>
                  <a:rPr kumimoji="1" lang="en-US" altLang="zh-TW" dirty="0"/>
                  <a:t>Piecewise Linear Function</a:t>
                </a:r>
                <a:r>
                  <a:rPr kumimoji="1" lang="zh-TW" altLang="en-US" dirty="0"/>
                  <a:t>）。它看起來可以擬合平滑的曲線，但如果我們把圖像無限放大，你會發現它其實是由無數個「小平面」拼接而成的。</a:t>
                </a:r>
                <a:endParaRPr kumimoji="1" lang="en-US" altLang="zh-TW" dirty="0"/>
              </a:p>
              <a:p>
                <a:r>
                  <a:rPr kumimoji="1" lang="en-US" altLang="zh-TW" dirty="0"/>
                  <a:t>Linear Region</a:t>
                </a:r>
                <a:r>
                  <a:rPr kumimoji="1" lang="zh-TW" altLang="en-US" dirty="0"/>
                  <a:t>（線性區域） 指的是輸入空間中，神經網路的輸出表現為單一線性函數的範圍。</a:t>
                </a:r>
                <a:endParaRPr kumimoji="1" lang="en-US" altLang="zh-TW" dirty="0"/>
              </a:p>
              <a:p>
                <a:r>
                  <a:rPr kumimoji="1" lang="zh-TW" altLang="en-US" dirty="0"/>
                  <a:t>假定 </a:t>
                </a:r>
                <a:r>
                  <a:rPr kumimoji="1" lang="en-US" altLang="zh-TW" dirty="0"/>
                  <a:t>input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layer</a:t>
                </a:r>
                <a:r>
                  <a:rPr kumimoji="1" lang="zh-TW" altLang="en-US" dirty="0"/>
                  <a:t> 只有一個神經元與一個 </a:t>
                </a:r>
                <a:r>
                  <a:rPr kumimoji="1" lang="en-US" altLang="zh-TW" dirty="0"/>
                  <a:t>bias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term</a:t>
                </a:r>
                <a:r>
                  <a:rPr kumimoji="1" lang="zh-TW" altLang="en-US" dirty="0"/>
                  <a:t>，</a:t>
                </a:r>
                <a:r>
                  <a:rPr kumimoji="1" lang="en-US" altLang="zh-TW" dirty="0"/>
                  <a:t>output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layer</a:t>
                </a:r>
                <a:r>
                  <a:rPr kumimoji="1" lang="zh-TW" altLang="en-US" dirty="0"/>
                  <a:t> 也是。對於 </a:t>
                </a:r>
                <a:r>
                  <a:rPr kumimoji="1" lang="en-US" altLang="zh-TW" dirty="0"/>
                  <a:t>hidden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layer</a:t>
                </a:r>
                <a:r>
                  <a:rPr kumimoji="1" lang="zh-TW" altLang="en-US" dirty="0"/>
                  <a:t> 中有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kumimoji="1" lang="zh-TW" altLang="en-US" dirty="0"/>
                  <a:t> 個神經元與一個 </a:t>
                </a:r>
                <a:r>
                  <a:rPr kumimoji="1" lang="en-US" altLang="zh-TW" dirty="0"/>
                  <a:t>bias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term</a:t>
                </a:r>
                <a:r>
                  <a:rPr kumimoji="1" lang="zh-TW" altLang="en-US" dirty="0"/>
                  <a:t> 的 </a:t>
                </a:r>
                <a:r>
                  <a:rPr kumimoji="1" lang="en-US" altLang="zh-TW" dirty="0"/>
                  <a:t>Shallow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Neural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Network</a:t>
                </a:r>
                <a:r>
                  <a:rPr kumimoji="1" lang="zh-TW" altLang="en-US" dirty="0"/>
                  <a:t> 來說，內部共有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3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kumimoji="1" lang="zh-TW" altLang="en-US" dirty="0"/>
                  <a:t> 個權重，並最多可產生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kumimoji="1" lang="zh-TW" altLang="en-US" dirty="0"/>
                  <a:t> 個 </a:t>
                </a:r>
                <a:r>
                  <a:rPr kumimoji="1" lang="en-US" altLang="zh-TW" dirty="0"/>
                  <a:t>linear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regions</a:t>
                </a:r>
                <a:r>
                  <a:rPr kumimoji="1" lang="zh-TW" altLang="en-US" dirty="0"/>
                  <a:t>。 （因為 </a:t>
                </a:r>
                <a:r>
                  <a:rPr kumimoji="1" lang="en-US" altLang="zh-TW" dirty="0"/>
                  <a:t>D </a:t>
                </a:r>
                <a:r>
                  <a:rPr kumimoji="1" lang="zh-TW" altLang="en-US" dirty="0"/>
                  <a:t>個 </a:t>
                </a:r>
                <a:r>
                  <a:rPr kumimoji="1" lang="en-US" altLang="zh-TW" dirty="0" err="1"/>
                  <a:t>ReLU</a:t>
                </a:r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最多可產生 </a:t>
                </a:r>
                <a:r>
                  <a:rPr kumimoji="1" lang="en-US" altLang="zh-TW" dirty="0"/>
                  <a:t>D </a:t>
                </a:r>
                <a:r>
                  <a:rPr kumimoji="1" lang="zh-TW" altLang="en-US" dirty="0"/>
                  <a:t>個折點）</a:t>
                </a:r>
                <a:endParaRPr kumimoji="1" lang="en-US" altLang="zh-TW" dirty="0"/>
              </a:p>
              <a:p>
                <a:endParaRPr kumimoji="1"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E62797C-ADB2-AD13-2D26-97173483C1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108200"/>
                <a:ext cx="10058400" cy="4338637"/>
              </a:xfrm>
              <a:blipFill>
                <a:blip r:embed="rId2"/>
                <a:stretch>
                  <a:fillRect l="-1009" t="-1170" r="-1639" b="-20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BA03CE-9AA9-C614-AF51-433D5B83A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33536A6-E35A-8DF1-978C-110C59F33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42141782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4484E9-4F07-84CA-DC6D-E1DEF7B71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Why</a:t>
            </a:r>
            <a:r>
              <a:rPr kumimoji="1" lang="zh-TW" altLang="en-US" dirty="0"/>
              <a:t> </a:t>
            </a:r>
            <a:r>
              <a:rPr kumimoji="1" lang="en-US" altLang="zh-TW" dirty="0"/>
              <a:t>Deep</a:t>
            </a:r>
            <a:r>
              <a:rPr kumimoji="1" lang="zh-TW" altLang="en-US" dirty="0"/>
              <a:t> </a:t>
            </a:r>
            <a:r>
              <a:rPr kumimoji="1" lang="en-US" altLang="zh-TW" dirty="0"/>
              <a:t>Neural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Network?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B65E35B-F613-CE69-680A-E4397961B1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kumimoji="1" lang="zh-TW" altLang="en-US" dirty="0"/>
                  <a:t>對於相同架構但有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kumimoji="1" lang="zh-TW" altLang="en-US" dirty="0"/>
                  <a:t> 個 </a:t>
                </a:r>
                <a:r>
                  <a:rPr kumimoji="1" lang="en-US" altLang="zh-TW" dirty="0"/>
                  <a:t>hidden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layers</a:t>
                </a:r>
                <a:r>
                  <a:rPr kumimoji="1" lang="zh-TW" altLang="en-US" dirty="0"/>
                  <a:t> 的 </a:t>
                </a:r>
                <a:r>
                  <a:rPr kumimoji="1" lang="en-US" altLang="zh-TW" dirty="0"/>
                  <a:t>Deep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Neural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Network</a:t>
                </a:r>
                <a:r>
                  <a:rPr kumimoji="1" lang="zh-TW" altLang="en-US" dirty="0"/>
                  <a:t> 來說，內部共有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3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+1+</m:t>
                    </m:r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kumimoji="1" lang="zh-TW" altLang="en-US" dirty="0"/>
                  <a:t> 個權重，並最多可產生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TW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+1)</m:t>
                        </m:r>
                      </m:e>
                      <m:sup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kumimoji="1" lang="zh-TW" altLang="en-US" dirty="0"/>
                  <a:t>個 </a:t>
                </a:r>
                <a:r>
                  <a:rPr kumimoji="1" lang="en-US" altLang="zh-TW" dirty="0"/>
                  <a:t>linear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regions</a:t>
                </a:r>
                <a:r>
                  <a:rPr kumimoji="1" lang="zh-TW" altLang="en-US" dirty="0"/>
                  <a:t>。 </a:t>
                </a:r>
                <a:endParaRPr kumimoji="1" lang="en-US" altLang="zh-TW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kumimoji="1" lang="zh-TW" altLang="en-US" dirty="0"/>
                  <a:t>假設第一層將輸入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TW" altLang="en-US" dirty="0"/>
                  <a:t> 分成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kumimoji="1" lang="zh-TW" altLang="en-US" dirty="0"/>
                  <a:t> 個 </a:t>
                </a:r>
                <a:r>
                  <a:rPr kumimoji="1" lang="en-US" altLang="zh-TW" dirty="0"/>
                  <a:t>linear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region</a:t>
                </a:r>
                <a:r>
                  <a:rPr kumimoji="1" lang="zh-TW" altLang="en-US" dirty="0"/>
                  <a:t>，第二層每個 </a:t>
                </a:r>
                <a:r>
                  <a:rPr kumimoji="1" lang="en-US" altLang="zh-TW" dirty="0" err="1"/>
                  <a:t>ReLU</a:t>
                </a:r>
                <a:r>
                  <a:rPr kumimoji="1" lang="zh-TW" altLang="en-US" dirty="0"/>
                  <a:t> 可對前一層的每個 </a:t>
                </a:r>
                <a:r>
                  <a:rPr kumimoji="1" lang="en-US" altLang="zh-TW" dirty="0"/>
                  <a:t>linear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region</a:t>
                </a:r>
                <a:r>
                  <a:rPr kumimoji="1" lang="zh-TW" altLang="en-US" dirty="0"/>
                  <a:t> 再做折疊，分成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kumimoji="1" lang="zh-TW" altLang="en-US" dirty="0"/>
                  <a:t>個 </a:t>
                </a:r>
                <a:r>
                  <a:rPr kumimoji="1" lang="en-US" altLang="zh-TW" dirty="0"/>
                  <a:t>linear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region</a:t>
                </a:r>
                <a:r>
                  <a:rPr kumimoji="1" lang="zh-TW" altLang="en-US" dirty="0"/>
                  <a:t>。因此，第二層的最大 </a:t>
                </a:r>
                <a:r>
                  <a:rPr kumimoji="1" lang="en-US" altLang="zh-TW" dirty="0"/>
                  <a:t>linear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region</a:t>
                </a:r>
                <a:r>
                  <a:rPr kumimoji="1" lang="zh-TW" altLang="en-US" dirty="0"/>
                  <a:t> 數量為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TW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+1)</m:t>
                        </m:r>
                      </m:e>
                      <m:sup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zh-TW" altLang="en-US" i="1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kumimoji="1" lang="zh-TW" altLang="en-US" dirty="0"/>
                  <a:t>以此類推。</a:t>
                </a:r>
                <a:endParaRPr kumimoji="1" lang="en-US" altLang="zh-TW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kumimoji="1" lang="zh-TW" altLang="en-US" dirty="0"/>
                  <a:t>從第二層到第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kumimoji="1" lang="zh-TW" altLang="en-US" dirty="0"/>
                  <a:t> 層，每個 </a:t>
                </a:r>
                <a:r>
                  <a:rPr kumimoji="1" lang="en-US" altLang="zh-TW" dirty="0"/>
                  <a:t>hidden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layer</a:t>
                </a:r>
                <a:r>
                  <a:rPr kumimoji="1" lang="zh-TW" altLang="en-US" dirty="0"/>
                  <a:t> 的神經元均接收前一層的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kumimoji="1" lang="zh-TW" altLang="en-US" dirty="0"/>
                  <a:t> 個輸入與一個 </a:t>
                </a:r>
                <a:r>
                  <a:rPr kumimoji="1" lang="en-US" altLang="zh-TW" dirty="0"/>
                  <a:t>bias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term</a:t>
                </a:r>
                <a:r>
                  <a:rPr kumimoji="1" lang="zh-TW" altLang="en-US" dirty="0"/>
                  <a:t>。每層有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kumimoji="1" lang="zh-TW" altLang="en-US" dirty="0"/>
                  <a:t> 個神經元，所以每層的權重總數量為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kumimoji="1" lang="zh-TW" altLang="en-US" dirty="0"/>
                  <a:t>。因第二層到第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kumimoji="1" lang="zh-TW" altLang="en-US" dirty="0"/>
                  <a:t> 層共有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kumimoji="1" lang="zh-TW" altLang="en-US" dirty="0"/>
                  <a:t> 層，所以共有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kumimoji="1" lang="zh-TW" altLang="en-US" dirty="0"/>
                  <a:t> 個權重。</a:t>
                </a:r>
                <a:endParaRPr kumimoji="1"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B65E35B-F613-CE69-680A-E4397961B1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65" t="-1347" r="-4918" b="-127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9204D5-7663-30CA-0F1B-84A7CBF11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C097EC4-BF3C-1266-8BFC-4E3725652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998042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B1E8F77-D972-AD86-83B1-A9B958FAC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D6530FF-6C24-5DBB-65F3-582F82AC3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4" name="內容版面配置區 6" descr="一張含有 文字, 螢幕擷取畫面, 行, 繪圖 的圖片&#10;&#10;AI 產生的內容可能不正確。">
            <a:extLst>
              <a:ext uri="{FF2B5EF4-FFF2-40B4-BE49-F238E27FC236}">
                <a16:creationId xmlns:a16="http://schemas.microsoft.com/office/drawing/2014/main" id="{7F2BD581-2C0B-543F-68EC-07F5A3561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79" y="46037"/>
            <a:ext cx="8602133" cy="627373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84DF0A10-5BB5-A906-F8B1-F3AA5F4A74B5}"/>
              </a:ext>
            </a:extLst>
          </p:cNvPr>
          <p:cNvSpPr txBox="1"/>
          <p:nvPr/>
        </p:nvSpPr>
        <p:spPr>
          <a:xfrm>
            <a:off x="8735803" y="2305742"/>
            <a:ext cx="319475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此圖可以看出，在使用同樣數量權重的情況下，</a:t>
            </a:r>
            <a:r>
              <a:rPr lang="en-US" altLang="zh-TW" dirty="0"/>
              <a:t>DNN </a:t>
            </a:r>
            <a:r>
              <a:rPr lang="zh-TW" altLang="en-US" dirty="0"/>
              <a:t>生成的 </a:t>
            </a:r>
            <a:r>
              <a:rPr lang="en-US" altLang="zh-TW" dirty="0"/>
              <a:t>linear region </a:t>
            </a:r>
            <a:r>
              <a:rPr lang="zh-TW" altLang="en-US" dirty="0"/>
              <a:t>更多（指數級）。因此，我們可以用更少數量的權重去做近似更複雜的函數。所以 </a:t>
            </a:r>
            <a:r>
              <a:rPr lang="en-US" altLang="zh-TW" dirty="0"/>
              <a:t>DNN </a:t>
            </a:r>
            <a:r>
              <a:rPr lang="zh-TW" altLang="en-US" dirty="0"/>
              <a:t>是更好的選擇。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*</a:t>
            </a:r>
            <a:r>
              <a:rPr lang="en-US" altLang="zh-TW" dirty="0"/>
              <a:t>.</a:t>
            </a:r>
            <a:r>
              <a:rPr lang="zh-TW" altLang="en-US" dirty="0"/>
              <a:t> Chapter_1_Comparison.ipynb</a:t>
            </a:r>
          </a:p>
        </p:txBody>
      </p:sp>
    </p:spTree>
    <p:extLst>
      <p:ext uri="{BB962C8B-B14F-4D97-AF65-F5344CB8AC3E}">
        <p14:creationId xmlns:p14="http://schemas.microsoft.com/office/powerpoint/2010/main" val="36387304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8D876E-0EE2-C19A-0837-D4AD4008B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Why</a:t>
            </a:r>
            <a:r>
              <a:rPr kumimoji="1" lang="zh-TW" altLang="en-US" dirty="0"/>
              <a:t> </a:t>
            </a:r>
            <a:r>
              <a:rPr kumimoji="1" lang="en-US" altLang="zh-TW" dirty="0"/>
              <a:t>Deep</a:t>
            </a:r>
            <a:r>
              <a:rPr kumimoji="1" lang="zh-TW" altLang="en-US" dirty="0"/>
              <a:t> </a:t>
            </a:r>
            <a:r>
              <a:rPr kumimoji="1" lang="en-US" altLang="zh-TW" dirty="0"/>
              <a:t>Neural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Network?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0E40DE-BF85-2D15-8D98-B7039CD76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931355"/>
          </a:xfrm>
        </p:spPr>
        <p:txBody>
          <a:bodyPr>
            <a:normAutofit/>
          </a:bodyPr>
          <a:lstStyle/>
          <a:p>
            <a:r>
              <a:rPr kumimoji="1" lang="zh-TW" altLang="en-US" dirty="0"/>
              <a:t>其他使用 </a:t>
            </a:r>
            <a:r>
              <a:rPr kumimoji="1" lang="en-US" altLang="zh-TW" dirty="0"/>
              <a:t>Deep</a:t>
            </a:r>
            <a:r>
              <a:rPr kumimoji="1" lang="zh-TW" altLang="en-US" dirty="0"/>
              <a:t> </a:t>
            </a:r>
            <a:r>
              <a:rPr kumimoji="1" lang="en-US" altLang="zh-TW" dirty="0"/>
              <a:t>Neural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Network</a:t>
            </a:r>
            <a:r>
              <a:rPr kumimoji="1" lang="zh-TW" altLang="en-US" dirty="0"/>
              <a:t> 而非 </a:t>
            </a:r>
            <a:r>
              <a:rPr kumimoji="1" lang="en-US" altLang="zh-TW" dirty="0"/>
              <a:t>Shallow</a:t>
            </a:r>
            <a:r>
              <a:rPr kumimoji="1" lang="zh-TW" altLang="en-US" dirty="0"/>
              <a:t> </a:t>
            </a:r>
            <a:r>
              <a:rPr kumimoji="1" lang="en-US" altLang="zh-TW" dirty="0"/>
              <a:t>Neural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Network</a:t>
            </a:r>
            <a:r>
              <a:rPr kumimoji="1" lang="zh-TW" altLang="en-US" dirty="0"/>
              <a:t> 的原因：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根據 </a:t>
            </a:r>
            <a:r>
              <a:rPr lang="en-US" altLang="zh-TW" dirty="0"/>
              <a:t>Universal Approximation Theorem</a:t>
            </a:r>
            <a:r>
              <a:rPr lang="zh-TW" altLang="en-US" dirty="0"/>
              <a:t>，</a:t>
            </a:r>
            <a:r>
              <a:rPr lang="en-US" altLang="zh-TW" dirty="0"/>
              <a:t>DNN </a:t>
            </a:r>
            <a:r>
              <a:rPr lang="zh-TW" altLang="en-US" dirty="0"/>
              <a:t>也能夠近似任何函數，所以選用 </a:t>
            </a:r>
            <a:r>
              <a:rPr lang="en-US" altLang="zh-TW" dirty="0"/>
              <a:t>DNN </a:t>
            </a:r>
            <a:r>
              <a:rPr lang="zh-TW" altLang="en-US" dirty="0"/>
              <a:t>不會比較差。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不只是 </a:t>
            </a:r>
            <a:r>
              <a:rPr lang="en-US" altLang="zh-TW" dirty="0"/>
              <a:t>linear</a:t>
            </a:r>
            <a:r>
              <a:rPr lang="zh-TW" altLang="en-US" dirty="0"/>
              <a:t> </a:t>
            </a:r>
            <a:r>
              <a:rPr lang="en-US" altLang="zh-TW" dirty="0"/>
              <a:t>regions</a:t>
            </a:r>
            <a:r>
              <a:rPr lang="zh-TW" altLang="en-US" dirty="0"/>
              <a:t> 數量的差別。電腦科學家也發現使用 </a:t>
            </a:r>
            <a:r>
              <a:rPr lang="en-US" altLang="zh-TW" dirty="0"/>
              <a:t>DNN</a:t>
            </a:r>
            <a:r>
              <a:rPr lang="zh-TW" altLang="en-US" dirty="0"/>
              <a:t> 可以更有效地逼近某些函數。研究顯示對於許多函數，若使用 </a:t>
            </a:r>
            <a:r>
              <a:rPr lang="en-US" altLang="zh-TW" dirty="0"/>
              <a:t>Shallow Neural Network</a:t>
            </a:r>
            <a:r>
              <a:rPr lang="zh-TW" altLang="en-US" dirty="0"/>
              <a:t> 則需要指數級增加 </a:t>
            </a:r>
            <a:r>
              <a:rPr lang="en-US" altLang="zh-TW" dirty="0"/>
              <a:t>hidden layer </a:t>
            </a:r>
            <a:r>
              <a:rPr lang="zh-TW" altLang="en-US" dirty="0"/>
              <a:t>神經元數量才能達到與 </a:t>
            </a:r>
            <a:r>
              <a:rPr lang="en-US" altLang="zh-TW" dirty="0"/>
              <a:t>DNN </a:t>
            </a:r>
            <a:r>
              <a:rPr lang="zh-TW" altLang="en-US" dirty="0"/>
              <a:t>相同的近似效果。這種現象被稱為神經網路的「深度效率」。</a:t>
            </a:r>
            <a:endParaRPr lang="en-US" altLang="zh-TW" dirty="0"/>
          </a:p>
          <a:p>
            <a:pPr marL="0" indent="0">
              <a:buNone/>
            </a:pPr>
            <a:r>
              <a:rPr kumimoji="1" lang="zh-TW" altLang="en-US" sz="1800" dirty="0"/>
              <a:t>*</a:t>
            </a:r>
            <a:r>
              <a:rPr kumimoji="1" lang="en-US" altLang="zh-TW" sz="1800" dirty="0"/>
              <a:t>.</a:t>
            </a:r>
            <a:r>
              <a:rPr kumimoji="1" lang="zh-TW" altLang="en-US" sz="1800" dirty="0"/>
              <a:t> </a:t>
            </a:r>
            <a:r>
              <a:rPr kumimoji="1" lang="en-US" altLang="zh-TW" sz="1800" dirty="0">
                <a:hlinkClick r:id="rId2"/>
              </a:rPr>
              <a:t>https://arxiv.org/abs/1512.03965</a:t>
            </a:r>
            <a:r>
              <a:rPr kumimoji="1" lang="en-US" altLang="zh-TW" sz="1800" dirty="0"/>
              <a:t>,</a:t>
            </a:r>
            <a:r>
              <a:rPr kumimoji="1" lang="zh-TW" altLang="en-US" sz="1800" dirty="0"/>
              <a:t> </a:t>
            </a:r>
            <a:r>
              <a:rPr kumimoji="1" lang="en-US" altLang="zh-TW" sz="1800" dirty="0">
                <a:hlinkClick r:id="rId3"/>
              </a:rPr>
              <a:t>https://arxiv.org/abs/1912.04378</a:t>
            </a:r>
            <a:endParaRPr kumimoji="1" lang="en-US" altLang="zh-TW" sz="18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878C69-ED87-F087-FD05-8F2375BE5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D14977A-2B41-76B0-0319-4B493630E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6816439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9919" cy="6858000"/>
          </a:xfrm>
          <a:prstGeom prst="rect">
            <a:avLst/>
          </a:prstGeom>
          <a:solidFill>
            <a:srgbClr val="3A4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B9E068F-3615-2ADE-44C9-973E76E5A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6"/>
            <a:ext cx="3084844" cy="1961086"/>
          </a:xfrm>
        </p:spPr>
        <p:txBody>
          <a:bodyPr>
            <a:normAutofit/>
          </a:bodyPr>
          <a:lstStyle/>
          <a:p>
            <a:r>
              <a:rPr kumimoji="1" lang="en-US" altLang="zh-TW" sz="4000" dirty="0">
                <a:solidFill>
                  <a:srgbClr val="FFFFFF"/>
                </a:solidFill>
              </a:rPr>
              <a:t>Why</a:t>
            </a:r>
            <a:r>
              <a:rPr kumimoji="1" lang="zh-TW" altLang="en-US" sz="4000" dirty="0">
                <a:solidFill>
                  <a:srgbClr val="FFFFFF"/>
                </a:solidFill>
              </a:rPr>
              <a:t> </a:t>
            </a:r>
            <a:r>
              <a:rPr kumimoji="1" lang="en-US" altLang="zh-TW" sz="4000" dirty="0">
                <a:solidFill>
                  <a:srgbClr val="FFFFFF"/>
                </a:solidFill>
              </a:rPr>
              <a:t>Deep</a:t>
            </a:r>
            <a:r>
              <a:rPr kumimoji="1" lang="zh-TW" altLang="en-US" sz="4000" dirty="0">
                <a:solidFill>
                  <a:srgbClr val="FFFFFF"/>
                </a:solidFill>
              </a:rPr>
              <a:t> </a:t>
            </a:r>
            <a:r>
              <a:rPr kumimoji="1" lang="en-US" altLang="zh-TW" sz="4000" dirty="0">
                <a:solidFill>
                  <a:srgbClr val="FFFFFF"/>
                </a:solidFill>
              </a:rPr>
              <a:t>Neural</a:t>
            </a:r>
            <a:r>
              <a:rPr kumimoji="1" lang="zh-TW" altLang="en-US" sz="4000" dirty="0">
                <a:solidFill>
                  <a:srgbClr val="FFFFFF"/>
                </a:solidFill>
              </a:rPr>
              <a:t> </a:t>
            </a:r>
            <a:r>
              <a:rPr kumimoji="1" lang="en-US" altLang="zh-TW" sz="4000" dirty="0">
                <a:solidFill>
                  <a:srgbClr val="FFFFFF"/>
                </a:solidFill>
              </a:rPr>
              <a:t>Network?</a:t>
            </a:r>
            <a:endParaRPr kumimoji="1" lang="zh-TW" altLang="en-US" sz="4000" dirty="0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4A321A-A039-4720-87B4-66A4210E0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752" y="2638787"/>
            <a:ext cx="274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57AA51-91FC-180C-C328-15D24C114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752" y="2799654"/>
            <a:ext cx="3005462" cy="318966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kumimoji="1" lang="zh-TW" altLang="en-US" sz="2000" dirty="0">
                <a:solidFill>
                  <a:srgbClr val="FFFFFF"/>
                </a:solidFill>
              </a:rPr>
              <a:t>電腦科學家也發現，在權重數量相近的情況下，層數越多則模型訓練的速度越快。</a:t>
            </a:r>
          </a:p>
        </p:txBody>
      </p:sp>
      <p:pic>
        <p:nvPicPr>
          <p:cNvPr id="7" name="圖片 6" descr="一張含有 繪圖, 行, 文字, 圖表 的圖片&#10;&#10;AI 產生的內容可能不正確。">
            <a:extLst>
              <a:ext uri="{FF2B5EF4-FFF2-40B4-BE49-F238E27FC236}">
                <a16:creationId xmlns:a16="http://schemas.microsoft.com/office/drawing/2014/main" id="{29B26DAA-3190-2B5A-853F-30506129D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017" y="1219622"/>
            <a:ext cx="6798082" cy="44187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2ED2FEA-9953-53C3-FF50-BFF073886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Deep Learning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376FCA5-BBB2-D492-8A9C-F9365CFC9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811831"/>
              </p:ext>
            </p:extLst>
          </p:nvPr>
        </p:nvGraphicFramePr>
        <p:xfrm>
          <a:off x="122504" y="4251960"/>
          <a:ext cx="376087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705">
                  <a:extLst>
                    <a:ext uri="{9D8B030D-6E8A-4147-A177-3AD203B41FA5}">
                      <a16:colId xmlns:a16="http://schemas.microsoft.com/office/drawing/2014/main" val="494465298"/>
                    </a:ext>
                  </a:extLst>
                </a:gridCol>
                <a:gridCol w="876969">
                  <a:extLst>
                    <a:ext uri="{9D8B030D-6E8A-4147-A177-3AD203B41FA5}">
                      <a16:colId xmlns:a16="http://schemas.microsoft.com/office/drawing/2014/main" val="1119500968"/>
                    </a:ext>
                  </a:extLst>
                </a:gridCol>
                <a:gridCol w="1197811">
                  <a:extLst>
                    <a:ext uri="{9D8B030D-6E8A-4147-A177-3AD203B41FA5}">
                      <a16:colId xmlns:a16="http://schemas.microsoft.com/office/drawing/2014/main" val="908678003"/>
                    </a:ext>
                  </a:extLst>
                </a:gridCol>
                <a:gridCol w="1037390">
                  <a:extLst>
                    <a:ext uri="{9D8B030D-6E8A-4147-A177-3AD203B41FA5}">
                      <a16:colId xmlns:a16="http://schemas.microsoft.com/office/drawing/2014/main" val="3446223621"/>
                    </a:ext>
                  </a:extLst>
                </a:gridCol>
              </a:tblGrid>
              <a:tr h="513687">
                <a:tc>
                  <a:txBody>
                    <a:bodyPr/>
                    <a:lstStyle/>
                    <a:p>
                      <a:r>
                        <a:rPr lang="zh-TW" altLang="en-US" dirty="0"/>
                        <a:t>層數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每層神經元數量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可訓練權重之數量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收斂所需</a:t>
                      </a:r>
                      <a:r>
                        <a:rPr lang="en-US" altLang="zh-TW" dirty="0"/>
                        <a:t>epoch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054624"/>
                  </a:ext>
                </a:extLst>
              </a:tr>
              <a:tr h="293535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298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15208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5923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3822521"/>
                  </a:ext>
                </a:extLst>
              </a:tr>
              <a:tr h="293535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100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15210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4779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088968"/>
                  </a:ext>
                </a:extLst>
              </a:tr>
              <a:tr h="293535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15235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4149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187506"/>
                  </a:ext>
                </a:extLst>
              </a:tr>
              <a:tr h="293535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63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15319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3639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164128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EA04F236-E79A-30B6-60E9-DA884F42BF78}"/>
              </a:ext>
            </a:extLst>
          </p:cNvPr>
          <p:cNvSpPr txBox="1"/>
          <p:nvPr/>
        </p:nvSpPr>
        <p:spPr>
          <a:xfrm>
            <a:off x="6111098" y="6063523"/>
            <a:ext cx="4059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*</a:t>
            </a:r>
            <a:r>
              <a:rPr lang="en-US" altLang="zh-TW" dirty="0"/>
              <a:t>.</a:t>
            </a:r>
            <a:r>
              <a:rPr lang="zh-TW" altLang="en-US" dirty="0"/>
              <a:t> Chapter_1_Speed_Comparison.ipynb</a:t>
            </a:r>
          </a:p>
        </p:txBody>
      </p:sp>
    </p:spTree>
    <p:extLst>
      <p:ext uri="{BB962C8B-B14F-4D97-AF65-F5344CB8AC3E}">
        <p14:creationId xmlns:p14="http://schemas.microsoft.com/office/powerpoint/2010/main" val="4220149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66B3CE-DD21-94B8-362E-82CC70515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Why</a:t>
            </a:r>
            <a:r>
              <a:rPr kumimoji="1" lang="zh-TW" altLang="en-US" dirty="0"/>
              <a:t> </a:t>
            </a:r>
            <a:r>
              <a:rPr kumimoji="1" lang="en-US" altLang="zh-TW" dirty="0"/>
              <a:t>Deep</a:t>
            </a:r>
            <a:r>
              <a:rPr kumimoji="1" lang="zh-TW" altLang="en-US" dirty="0"/>
              <a:t> </a:t>
            </a:r>
            <a:r>
              <a:rPr kumimoji="1" lang="en-US" altLang="zh-TW" dirty="0"/>
              <a:t>Neural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Network?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B7FE1A-EFFD-095A-0EE8-62640A191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13455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kumimoji="1" lang="zh-TW" altLang="en-US" dirty="0"/>
              <a:t>全連接網路（</a:t>
            </a:r>
            <a:r>
              <a:rPr kumimoji="1" lang="en-US" altLang="zh-TW" dirty="0"/>
              <a:t>Fully Connected Network</a:t>
            </a:r>
            <a:r>
              <a:rPr kumimoji="1" lang="zh-TW" altLang="en-US" dirty="0"/>
              <a:t>）是指每一層的每個神經元都和下一層的每個神經元相連。理論上這樣很強大，但對於像影像這樣的「大規模、有結構」的輸入來說，實務上不太可行。</a:t>
            </a:r>
            <a:endParaRPr kumimoji="1" lang="en-US" altLang="zh-TW" dirty="0"/>
          </a:p>
          <a:p>
            <a:pPr marL="749808" lvl="1" indent="-457200"/>
            <a:r>
              <a:rPr kumimoji="1" lang="zh-TW" altLang="en-US" dirty="0"/>
              <a:t>比如一張影像可能有上百萬個像素，如果每個像素都和下一層全部連接，參數量會非常龐大，模型的訓練和儲存都會變得很困難。</a:t>
            </a:r>
            <a:endParaRPr kumimoji="1" lang="en-US" altLang="zh-TW" dirty="0"/>
          </a:p>
          <a:p>
            <a:pPr marL="749808" lvl="1" indent="-457200"/>
            <a:r>
              <a:rPr kumimoji="1" lang="zh-TW" altLang="en-US" dirty="0"/>
              <a:t>此外，影像中不同位置可能有相同的物體，我們不希望網路在每個位置都重新學一次相同的東西，這樣既浪費又沒效率。</a:t>
            </a:r>
            <a:endParaRPr kumimoji="1" lang="en-US" altLang="zh-TW" dirty="0"/>
          </a:p>
          <a:p>
            <a:pPr marL="749808" lvl="1" indent="-457200"/>
            <a:r>
              <a:rPr kumimoji="1" lang="zh-TW" altLang="en-US" dirty="0"/>
              <a:t>更合理的做法是：先平行地處理影像中的「局部區域」，然後逐漸將來自不同區域的信息整合，形成對整張影像的理解。這種「從局部到全局」的處理方式，可以捕捉複雜結構，同時保持參數量可控。</a:t>
            </a:r>
            <a:r>
              <a:rPr kumimoji="1" lang="en-US" altLang="zh-TW" dirty="0"/>
              <a:t>Shallow</a:t>
            </a:r>
            <a:r>
              <a:rPr kumimoji="1" lang="zh-TW" altLang="en-US" dirty="0"/>
              <a:t> </a:t>
            </a:r>
            <a:r>
              <a:rPr kumimoji="1" lang="en-US" altLang="zh-TW" dirty="0"/>
              <a:t>Neural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Network</a:t>
            </a:r>
            <a:r>
              <a:rPr kumimoji="1" lang="zh-TW" altLang="en-US" dirty="0"/>
              <a:t> 很難完成這種分層整合，因此通常需要多層來實現局部特徵到全局特徵的逐步整合。（</a:t>
            </a:r>
            <a:r>
              <a:rPr kumimoji="1" lang="en-US" altLang="zh-TW" dirty="0"/>
              <a:t>CNN</a:t>
            </a:r>
            <a:r>
              <a:rPr kumimoji="1" lang="zh-TW" altLang="en-US" dirty="0"/>
              <a:t> 的概念基礎）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EA27D9-94AC-80F9-3FCB-BFAB9074C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A6A75F8-2501-9326-D558-5F5DB49D0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5695051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D8BDD0-A3C1-5F57-D2E3-E95731DC8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Why</a:t>
            </a:r>
            <a:r>
              <a:rPr kumimoji="1" lang="zh-TW" altLang="en-US" dirty="0"/>
              <a:t> </a:t>
            </a:r>
            <a:r>
              <a:rPr kumimoji="1" lang="en-US" altLang="zh-TW" dirty="0"/>
              <a:t>Deep</a:t>
            </a:r>
            <a:r>
              <a:rPr kumimoji="1" lang="zh-TW" altLang="en-US" dirty="0"/>
              <a:t> </a:t>
            </a:r>
            <a:r>
              <a:rPr kumimoji="1" lang="en-US" altLang="zh-TW" dirty="0"/>
              <a:t>Neural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Network?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C3C2C1-25CE-307D-6827-7642E58A1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32955"/>
          </a:xfrm>
        </p:spPr>
        <p:txBody>
          <a:bodyPr>
            <a:normAutofit/>
          </a:bodyPr>
          <a:lstStyle/>
          <a:p>
            <a:r>
              <a:rPr kumimoji="1" lang="zh-TW" altLang="en-US" dirty="0"/>
              <a:t>使用 </a:t>
            </a:r>
            <a:r>
              <a:rPr kumimoji="1" lang="en-US" altLang="zh-TW" dirty="0"/>
              <a:t>DNN</a:t>
            </a:r>
            <a:r>
              <a:rPr kumimoji="1" lang="zh-TW" altLang="en-US" dirty="0"/>
              <a:t> 的原因整理：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UAT</a:t>
            </a:r>
            <a:r>
              <a:rPr kumimoji="1" lang="zh-TW" altLang="en-US" dirty="0"/>
              <a:t> </a:t>
            </a:r>
            <a:r>
              <a:rPr kumimoji="1" lang="en-US" altLang="zh-TW" dirty="0"/>
              <a:t>–</a:t>
            </a:r>
            <a:r>
              <a:rPr kumimoji="1" lang="zh-TW" altLang="en-US" dirty="0"/>
              <a:t> </a:t>
            </a:r>
            <a:r>
              <a:rPr kumimoji="1" lang="en-US" altLang="zh-TW" dirty="0"/>
              <a:t>DNN</a:t>
            </a:r>
            <a:r>
              <a:rPr kumimoji="1" lang="zh-TW" altLang="en-US" dirty="0"/>
              <a:t> 亦可近似任意連續函數。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More</a:t>
            </a:r>
            <a:r>
              <a:rPr kumimoji="1" lang="zh-TW" altLang="en-US" dirty="0"/>
              <a:t> </a:t>
            </a:r>
            <a:r>
              <a:rPr kumimoji="1" lang="en-US" altLang="zh-TW" dirty="0"/>
              <a:t>Expressive</a:t>
            </a:r>
            <a:r>
              <a:rPr kumimoji="1" lang="zh-TW" altLang="en-US" dirty="0"/>
              <a:t> </a:t>
            </a:r>
            <a:r>
              <a:rPr kumimoji="1" lang="en-US" altLang="zh-TW" dirty="0"/>
              <a:t>Power</a:t>
            </a:r>
            <a:r>
              <a:rPr kumimoji="1" lang="zh-TW" altLang="en-US" dirty="0"/>
              <a:t> </a:t>
            </a:r>
            <a:r>
              <a:rPr kumimoji="1" lang="en-US" altLang="zh-TW" dirty="0"/>
              <a:t>–</a:t>
            </a:r>
            <a:r>
              <a:rPr kumimoji="1" lang="zh-TW" altLang="en-US" dirty="0"/>
              <a:t> 相同權重數量的情況下，</a:t>
            </a:r>
            <a:r>
              <a:rPr kumimoji="1" lang="en-US" altLang="zh-TW" dirty="0"/>
              <a:t>DNN</a:t>
            </a:r>
            <a:r>
              <a:rPr kumimoji="1" lang="zh-TW" altLang="en-US" dirty="0"/>
              <a:t> 的 </a:t>
            </a:r>
            <a:r>
              <a:rPr kumimoji="1" lang="en-US" altLang="zh-TW" dirty="0"/>
              <a:t>linear</a:t>
            </a:r>
            <a:r>
              <a:rPr kumimoji="1" lang="zh-TW" altLang="en-US" dirty="0"/>
              <a:t> </a:t>
            </a:r>
            <a:r>
              <a:rPr kumimoji="1" lang="en-US" altLang="zh-TW" dirty="0"/>
              <a:t>regions</a:t>
            </a:r>
            <a:r>
              <a:rPr kumimoji="1" lang="zh-TW" altLang="en-US" dirty="0"/>
              <a:t> 指數級的更多。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Depth</a:t>
            </a:r>
            <a:r>
              <a:rPr kumimoji="1" lang="zh-TW" altLang="en-US" dirty="0"/>
              <a:t> </a:t>
            </a:r>
            <a:r>
              <a:rPr kumimoji="1" lang="en-US" altLang="zh-TW" dirty="0"/>
              <a:t>Efficiency</a:t>
            </a:r>
            <a:r>
              <a:rPr kumimoji="1" lang="zh-TW" altLang="en-US" dirty="0"/>
              <a:t> </a:t>
            </a:r>
            <a:r>
              <a:rPr kumimoji="1" lang="en-US" altLang="zh-TW" dirty="0"/>
              <a:t>–</a:t>
            </a:r>
            <a:r>
              <a:rPr kumimoji="1" lang="zh-TW" altLang="en-US" dirty="0"/>
              <a:t> </a:t>
            </a:r>
            <a:r>
              <a:rPr kumimoji="1" lang="en-US" altLang="zh-TW" dirty="0"/>
              <a:t>DNN</a:t>
            </a:r>
            <a:r>
              <a:rPr kumimoji="1" lang="zh-TW" altLang="en-US" dirty="0"/>
              <a:t> 可用指數級的更少的神經元近似連續函數。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Faster</a:t>
            </a:r>
            <a:r>
              <a:rPr kumimoji="1" lang="zh-TW" altLang="en-US" dirty="0"/>
              <a:t> </a:t>
            </a:r>
            <a:r>
              <a:rPr kumimoji="1" lang="en-US" altLang="zh-TW" dirty="0"/>
              <a:t>Training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–</a:t>
            </a:r>
            <a:r>
              <a:rPr kumimoji="1" lang="zh-TW" altLang="en-US" dirty="0"/>
              <a:t> 相同權重數量的情況下，</a:t>
            </a:r>
            <a:r>
              <a:rPr kumimoji="1" lang="en-US" altLang="zh-TW" dirty="0"/>
              <a:t>DNN</a:t>
            </a:r>
            <a:r>
              <a:rPr kumimoji="1" lang="zh-TW" altLang="en-US" dirty="0"/>
              <a:t> 收斂速度更快。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Hierarchical Feature Learning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–</a:t>
            </a:r>
            <a:r>
              <a:rPr kumimoji="1" lang="zh-TW" altLang="en-US" dirty="0"/>
              <a:t> </a:t>
            </a:r>
            <a:r>
              <a:rPr kumimoji="1" lang="en-US" altLang="zh-TW" dirty="0"/>
              <a:t>DNN </a:t>
            </a:r>
            <a:r>
              <a:rPr kumimoji="1" lang="zh-TW" altLang="en-US" dirty="0"/>
              <a:t>可以處理局部模式並逐步將其整合到全局結構中，這對於像圖片這樣的大型資料非常重要（</a:t>
            </a:r>
            <a:r>
              <a:rPr kumimoji="1" lang="en-US" altLang="zh-TW" dirty="0"/>
              <a:t>CNN </a:t>
            </a:r>
            <a:r>
              <a:rPr kumimoji="1" lang="zh-TW" altLang="en-US" dirty="0"/>
              <a:t>的基礎）。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4367AF-FA9B-E7A8-DF25-DFC67F16A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4343988-15BA-82A4-E0B5-9AB71C059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9294385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650080-A1CC-77A6-7E00-3284E147F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Tensorflow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29DB83-DD66-C246-0F98-406BCC7EF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TensorFlow </a:t>
            </a:r>
            <a:r>
              <a:rPr lang="zh-TW" altLang="en-US" dirty="0"/>
              <a:t>是由 </a:t>
            </a:r>
            <a:r>
              <a:rPr lang="en-US" altLang="zh-TW" dirty="0"/>
              <a:t>Google </a:t>
            </a:r>
            <a:r>
              <a:rPr lang="zh-TW" altLang="en-US" dirty="0"/>
              <a:t>開發的深度學習框架，提供自動微分、自動求梯度以及模型訓練等功能。它可以幫助我們快速建立、訓練並部署神經網路模型，因此在深度學習的應用中非常廣泛。</a:t>
            </a:r>
            <a:endParaRPr lang="en-US" altLang="zh-TW" dirty="0"/>
          </a:p>
          <a:p>
            <a:r>
              <a:rPr lang="en-US" altLang="zh-TW" dirty="0" err="1"/>
              <a:t>Keras</a:t>
            </a:r>
            <a:r>
              <a:rPr lang="en-US" altLang="zh-TW" dirty="0"/>
              <a:t> </a:t>
            </a:r>
            <a:r>
              <a:rPr lang="zh-TW" altLang="en-US" dirty="0"/>
              <a:t>原本是由 </a:t>
            </a:r>
            <a:r>
              <a:rPr lang="en-US" altLang="zh-TW" dirty="0"/>
              <a:t>François Chollet</a:t>
            </a:r>
            <a:r>
              <a:rPr lang="zh-TW" altLang="en-US" dirty="0"/>
              <a:t> 開發出的高階深度學習函式庫，主打簡潔好用。後來 </a:t>
            </a:r>
            <a:r>
              <a:rPr lang="en-US" altLang="zh-TW" dirty="0"/>
              <a:t>TensorFlow </a:t>
            </a:r>
            <a:r>
              <a:rPr lang="zh-TW" altLang="en-US" dirty="0"/>
              <a:t>把 </a:t>
            </a:r>
            <a:r>
              <a:rPr lang="en-US" altLang="zh-TW" dirty="0" err="1"/>
              <a:t>Keras</a:t>
            </a:r>
            <a:r>
              <a:rPr lang="en-US" altLang="zh-TW" dirty="0"/>
              <a:t> </a:t>
            </a:r>
            <a:r>
              <a:rPr lang="zh-TW" altLang="en-US" dirty="0"/>
              <a:t>整合進官方 </a:t>
            </a:r>
            <a:r>
              <a:rPr lang="en-US" altLang="zh-TW" dirty="0"/>
              <a:t>API</a:t>
            </a:r>
            <a:r>
              <a:rPr lang="zh-TW" altLang="en-US" dirty="0"/>
              <a:t>，這也是此堂課程中主要會使用的深度學習開發工具。</a:t>
            </a:r>
          </a:p>
          <a:p>
            <a:r>
              <a:rPr lang="zh-TW" altLang="en-US" dirty="0"/>
              <a:t>除了 </a:t>
            </a:r>
            <a:r>
              <a:rPr lang="en-US" altLang="zh-TW" dirty="0"/>
              <a:t>TensorFlow</a:t>
            </a:r>
            <a:r>
              <a:rPr lang="zh-TW" altLang="en-US" dirty="0"/>
              <a:t> 之外，</a:t>
            </a:r>
            <a:r>
              <a:rPr lang="en-US" altLang="zh-TW" dirty="0" err="1"/>
              <a:t>Pytorch</a:t>
            </a:r>
            <a:r>
              <a:rPr lang="zh-TW" altLang="en-US" dirty="0"/>
              <a:t>         也是另一個熱門的深度學習框架，由 </a:t>
            </a:r>
            <a:r>
              <a:rPr lang="en-US" altLang="zh-TW" dirty="0"/>
              <a:t>Facebook </a:t>
            </a:r>
            <a:r>
              <a:rPr lang="zh-TW" altLang="en-US" dirty="0"/>
              <a:t>（現再的 </a:t>
            </a:r>
            <a:r>
              <a:rPr lang="en-US" altLang="zh-TW" dirty="0"/>
              <a:t>Meta</a:t>
            </a:r>
            <a:r>
              <a:rPr lang="zh-TW" altLang="en-US" dirty="0"/>
              <a:t>）開發。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0D7F7A-F336-4733-6944-6606176BC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6A88AFF-2F89-958F-F388-6FDF35D6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7" name="圖片 6" descr="一張含有 圖形, 符號 的圖片&#10;&#10;AI 產生的內容可能不正確。">
            <a:extLst>
              <a:ext uri="{FF2B5EF4-FFF2-40B4-BE49-F238E27FC236}">
                <a16:creationId xmlns:a16="http://schemas.microsoft.com/office/drawing/2014/main" id="{C032CA19-0FE1-E590-2FB1-858609EE6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056" y="4553436"/>
            <a:ext cx="630000" cy="630000"/>
          </a:xfrm>
          <a:prstGeom prst="rect">
            <a:avLst/>
          </a:prstGeom>
        </p:spPr>
      </p:pic>
      <p:pic>
        <p:nvPicPr>
          <p:cNvPr id="9" name="圖片 8" descr="一張含有 標誌, 符號, 黃色, 圖形 的圖片&#10;&#10;AI 產生的內容可能不正確。">
            <a:extLst>
              <a:ext uri="{FF2B5EF4-FFF2-40B4-BE49-F238E27FC236}">
                <a16:creationId xmlns:a16="http://schemas.microsoft.com/office/drawing/2014/main" id="{6E90AD52-70EC-D610-AE58-5F126505D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476" y="976849"/>
            <a:ext cx="630000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2972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98C3FF-5B73-F29F-A13C-5E2DDD26E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Tensorflow</a:t>
            </a:r>
            <a:endParaRPr kumimoji="1" lang="zh-TW" altLang="en-US" dirty="0"/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C7C1E1E2-218C-4ED9-3A65-9FAEC76BA7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2146407"/>
              </p:ext>
            </p:extLst>
          </p:nvPr>
        </p:nvGraphicFramePr>
        <p:xfrm>
          <a:off x="836623" y="2013353"/>
          <a:ext cx="10518753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1049">
                  <a:extLst>
                    <a:ext uri="{9D8B030D-6E8A-4147-A177-3AD203B41FA5}">
                      <a16:colId xmlns:a16="http://schemas.microsoft.com/office/drawing/2014/main" val="2870380248"/>
                    </a:ext>
                  </a:extLst>
                </a:gridCol>
                <a:gridCol w="2882333">
                  <a:extLst>
                    <a:ext uri="{9D8B030D-6E8A-4147-A177-3AD203B41FA5}">
                      <a16:colId xmlns:a16="http://schemas.microsoft.com/office/drawing/2014/main" val="1233235467"/>
                    </a:ext>
                  </a:extLst>
                </a:gridCol>
                <a:gridCol w="2882333">
                  <a:extLst>
                    <a:ext uri="{9D8B030D-6E8A-4147-A177-3AD203B41FA5}">
                      <a16:colId xmlns:a16="http://schemas.microsoft.com/office/drawing/2014/main" val="175612562"/>
                    </a:ext>
                  </a:extLst>
                </a:gridCol>
                <a:gridCol w="3513038">
                  <a:extLst>
                    <a:ext uri="{9D8B030D-6E8A-4147-A177-3AD203B41FA5}">
                      <a16:colId xmlns:a16="http://schemas.microsoft.com/office/drawing/2014/main" val="3798348386"/>
                    </a:ext>
                  </a:extLst>
                </a:gridCol>
              </a:tblGrid>
              <a:tr h="35783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Tensorflow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Keras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Pytorch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896962"/>
                  </a:ext>
                </a:extLst>
              </a:tr>
              <a:tr h="357833">
                <a:tc>
                  <a:txBody>
                    <a:bodyPr/>
                    <a:lstStyle/>
                    <a:p>
                      <a:r>
                        <a:rPr lang="zh-TW" altLang="en-US" dirty="0"/>
                        <a:t>發佈年份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2016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120341"/>
                  </a:ext>
                </a:extLst>
              </a:tr>
              <a:tr h="357833">
                <a:tc>
                  <a:txBody>
                    <a:bodyPr/>
                    <a:lstStyle/>
                    <a:p>
                      <a:r>
                        <a:rPr lang="zh-TW" altLang="en-US" dirty="0"/>
                        <a:t>開發者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Google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François Chollet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Facebook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(Meta)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197637"/>
                  </a:ext>
                </a:extLst>
              </a:tr>
              <a:tr h="617629">
                <a:tc>
                  <a:txBody>
                    <a:bodyPr/>
                    <a:lstStyle/>
                    <a:p>
                      <a:r>
                        <a:rPr lang="zh-TW" altLang="en-US" dirty="0"/>
                        <a:t>類型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Low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and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High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Level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API</a:t>
                      </a:r>
                      <a:r>
                        <a:rPr lang="zh-TW" altLang="en-US" dirty="0"/>
                        <a:t> 並存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極簡易用的 </a:t>
                      </a:r>
                      <a:r>
                        <a:rPr lang="en-US" altLang="zh-TW" dirty="0"/>
                        <a:t>High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Level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API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有非常高度靈活性的 </a:t>
                      </a:r>
                      <a:r>
                        <a:rPr lang="en-US" altLang="zh-TW" dirty="0"/>
                        <a:t>Low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Level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API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44108"/>
                  </a:ext>
                </a:extLst>
              </a:tr>
              <a:tr h="882327">
                <a:tc>
                  <a:txBody>
                    <a:bodyPr/>
                    <a:lstStyle/>
                    <a:p>
                      <a:r>
                        <a:rPr lang="zh-TW" altLang="en-US" dirty="0"/>
                        <a:t>初學者友好度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Low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Level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API</a:t>
                      </a:r>
                      <a:r>
                        <a:rPr lang="zh-TW" altLang="en-US" dirty="0"/>
                        <a:t> 學習曲線陡峭，</a:t>
                      </a:r>
                      <a:r>
                        <a:rPr lang="en-US" altLang="zh-TW" dirty="0"/>
                        <a:t>High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Level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API</a:t>
                      </a:r>
                      <a:r>
                        <a:rPr lang="zh-TW" altLang="en-US" dirty="0"/>
                        <a:t> 則較友好。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非常友好，程式碼就像在堆積木一樣簡單。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適合有一定程度經驗的開發者。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3556"/>
                  </a:ext>
                </a:extLst>
              </a:tr>
              <a:tr h="617629">
                <a:tc>
                  <a:txBody>
                    <a:bodyPr/>
                    <a:lstStyle/>
                    <a:p>
                      <a:r>
                        <a:rPr lang="zh-TW" altLang="en-US" dirty="0"/>
                        <a:t>流行度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zh-TW" altLang="en-US" dirty="0"/>
                        <a:t>初學者中流行，也被廣泛應用於業界。</a:t>
                      </a:r>
                      <a:endParaRPr lang="en-US" altLang="zh-TW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學術界非常流行，業界中也被廣泛採納</a:t>
                      </a:r>
                      <a:r>
                        <a:rPr lang="zh-TW" altLang="en-US" dirty="0"/>
                        <a:t>。</a:t>
                      </a:r>
                      <a:endParaRPr lang="en-US" altLang="zh-TW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041853"/>
                  </a:ext>
                </a:extLst>
              </a:tr>
              <a:tr h="617629">
                <a:tc>
                  <a:txBody>
                    <a:bodyPr/>
                    <a:lstStyle/>
                    <a:p>
                      <a:r>
                        <a:rPr lang="zh-TW" altLang="en-US" dirty="0"/>
                        <a:t>適合對象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zh-TW" altLang="en-US" dirty="0"/>
                        <a:t>初學者、對於使用標準模型有快速開發需求者、對模型使用與部署有高度需求者。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對於深度學習模型有自訂邏輯、自訂架構需求的開發者。</a:t>
                      </a:r>
                      <a:endParaRPr lang="en-US" altLang="zh-TW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66888"/>
                  </a:ext>
                </a:extLst>
              </a:tr>
            </a:tbl>
          </a:graphicData>
        </a:graphic>
      </p:graphicFrame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EB8C63-CAD6-FE30-C677-935AF5495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0D9070E-161A-97AF-A884-6F3D978C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E5E9D95-1892-4C88-02C0-272FC9CA23B0}"/>
              </a:ext>
            </a:extLst>
          </p:cNvPr>
          <p:cNvSpPr txBox="1"/>
          <p:nvPr/>
        </p:nvSpPr>
        <p:spPr>
          <a:xfrm>
            <a:off x="7963382" y="6011389"/>
            <a:ext cx="4115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*</a:t>
            </a:r>
            <a:r>
              <a:rPr kumimoji="1" lang="en-US" altLang="zh-TW" dirty="0"/>
              <a:t>.</a:t>
            </a:r>
            <a:r>
              <a:rPr kumimoji="1" lang="zh-TW" altLang="en-US" dirty="0"/>
              <a:t> </a:t>
            </a:r>
            <a:r>
              <a:rPr kumimoji="1" lang="en-US" altLang="zh-TW" dirty="0"/>
              <a:t>https://</a:t>
            </a:r>
            <a:r>
              <a:rPr kumimoji="1" lang="en-US" altLang="zh-TW" dirty="0" err="1"/>
              <a:t>arxiv.org</a:t>
            </a:r>
            <a:r>
              <a:rPr kumimoji="1" lang="en-US" altLang="zh-TW" dirty="0"/>
              <a:t>/html/2508.04035v1#S5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736523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EE84A7-89BB-ED29-7290-B23D805C1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Tensorflow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1B52AA-EA26-06B1-848E-328E387E4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067" y="2108201"/>
            <a:ext cx="6238755" cy="3760891"/>
          </a:xfrm>
        </p:spPr>
        <p:txBody>
          <a:bodyPr/>
          <a:lstStyle/>
          <a:p>
            <a:r>
              <a:rPr lang="en-US" altLang="zh-TW" dirty="0"/>
              <a:t>TensorFlow </a:t>
            </a:r>
            <a:r>
              <a:rPr lang="zh-TW" altLang="en-US" dirty="0"/>
              <a:t>使用張量（</a:t>
            </a:r>
            <a:r>
              <a:rPr lang="en-US" altLang="zh-TW" dirty="0"/>
              <a:t>Tensor</a:t>
            </a:r>
            <a:r>
              <a:rPr lang="zh-TW" altLang="en-US" dirty="0"/>
              <a:t>） 作為資料的基本單位。 在概念上，</a:t>
            </a:r>
            <a:r>
              <a:rPr lang="en-US" altLang="zh-TW" dirty="0"/>
              <a:t>TensorFlow </a:t>
            </a:r>
            <a:r>
              <a:rPr lang="zh-TW" altLang="en-US" dirty="0"/>
              <a:t>的張量等同於多維陣列（</a:t>
            </a:r>
            <a:r>
              <a:rPr lang="en-US" altLang="zh-TW" dirty="0"/>
              <a:t>multi-dimensional array</a:t>
            </a:r>
            <a:r>
              <a:rPr lang="zh-TW" altLang="en-US" dirty="0"/>
              <a:t>），可用來表示各種數學物件，例如：</a:t>
            </a:r>
            <a:endParaRPr lang="en-US" altLang="zh-TW" dirty="0"/>
          </a:p>
          <a:p>
            <a:pPr>
              <a:buFont typeface="Wingdings" pitchFamily="2" charset="2"/>
              <a:buChar char="p"/>
            </a:pPr>
            <a:r>
              <a:rPr lang="zh-TW" altLang="en-US" dirty="0"/>
              <a:t> 純量（</a:t>
            </a:r>
            <a:r>
              <a:rPr lang="en-US" altLang="zh-TW" dirty="0"/>
              <a:t>0 </a:t>
            </a:r>
            <a:r>
              <a:rPr lang="zh-TW" altLang="en-US" dirty="0"/>
              <a:t>維張量）</a:t>
            </a:r>
            <a:endParaRPr lang="en-US" altLang="zh-TW" dirty="0"/>
          </a:p>
          <a:p>
            <a:pPr>
              <a:buFont typeface="Wingdings" pitchFamily="2" charset="2"/>
              <a:buChar char="p"/>
            </a:pPr>
            <a:r>
              <a:rPr lang="zh-TW" altLang="en-US" dirty="0"/>
              <a:t> 向量（</a:t>
            </a:r>
            <a:r>
              <a:rPr lang="en-US" altLang="zh-TW" dirty="0"/>
              <a:t>1 </a:t>
            </a:r>
            <a:r>
              <a:rPr lang="zh-TW" altLang="en-US" dirty="0"/>
              <a:t>維張量）</a:t>
            </a:r>
            <a:endParaRPr lang="en-US" altLang="zh-TW" dirty="0"/>
          </a:p>
          <a:p>
            <a:pPr>
              <a:buFont typeface="Wingdings" pitchFamily="2" charset="2"/>
              <a:buChar char="p"/>
            </a:pPr>
            <a:r>
              <a:rPr lang="zh-TW" altLang="en-US" dirty="0"/>
              <a:t> 矩陣（</a:t>
            </a:r>
            <a:r>
              <a:rPr lang="en-US" altLang="zh-TW" dirty="0"/>
              <a:t>2 </a:t>
            </a:r>
            <a:r>
              <a:rPr lang="zh-TW" altLang="en-US" dirty="0"/>
              <a:t>維張量）</a:t>
            </a:r>
            <a:endParaRPr lang="en-US" altLang="zh-TW" dirty="0"/>
          </a:p>
          <a:p>
            <a:pPr>
              <a:buFont typeface="Wingdings" pitchFamily="2" charset="2"/>
              <a:buChar char="p"/>
            </a:pPr>
            <a:r>
              <a:rPr lang="zh-TW" altLang="en-US" dirty="0"/>
              <a:t> 張量（</a:t>
            </a:r>
            <a:r>
              <a:rPr lang="en-US" altLang="zh-TW" dirty="0"/>
              <a:t> 3 </a:t>
            </a:r>
            <a:r>
              <a:rPr lang="zh-TW" altLang="en-US" dirty="0"/>
              <a:t>維以上均統稱為張量）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2C130F-0E76-0E8E-BE40-6812B819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0FB5A80-8900-B3CB-3B43-315D32E5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8" name="內容版面配置區 4" descr="一張含有 狗, 寫生 的圖片&#10;&#10;AI 產生的內容可能不正確。">
            <a:extLst>
              <a:ext uri="{FF2B5EF4-FFF2-40B4-BE49-F238E27FC236}">
                <a16:creationId xmlns:a16="http://schemas.microsoft.com/office/drawing/2014/main" id="{D8DBE027-E117-0D06-E497-6E794ADA0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165" y="2598628"/>
            <a:ext cx="4976168" cy="27997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746722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33BFB9-415E-17BC-A6AC-4FB954B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GPUs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72ACCC-E812-53D7-A817-AFF4888B8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當我們作為程式設計師時，通常會習慣讓所有程式在 </a:t>
            </a:r>
            <a:r>
              <a:rPr kumimoji="1" lang="en-US" altLang="zh-TW" dirty="0"/>
              <a:t>CPU </a:t>
            </a:r>
            <a:r>
              <a:rPr kumimoji="1" lang="zh-TW" altLang="en-US" dirty="0"/>
              <a:t>上執行。</a:t>
            </a:r>
            <a:r>
              <a:rPr kumimoji="1" lang="en-US" altLang="zh-TW" dirty="0"/>
              <a:t>CPU </a:t>
            </a:r>
            <a:r>
              <a:rPr kumimoji="1" lang="zh-TW" altLang="en-US" dirty="0"/>
              <a:t>的設計目標是處理各式各樣的計算任務，具有高度的</a:t>
            </a:r>
            <a:r>
              <a:rPr kumimoji="1" lang="zh-TW" altLang="en-US" dirty="0">
                <a:solidFill>
                  <a:srgbClr val="FF0000"/>
                </a:solidFill>
              </a:rPr>
              <a:t>通用性</a:t>
            </a:r>
            <a:r>
              <a:rPr kumimoji="1" lang="zh-TW" altLang="en-US" dirty="0"/>
              <a:t>；然而，對於以線性代數為核心、需要大量平行運算的張量計算而言，</a:t>
            </a:r>
            <a:r>
              <a:rPr kumimoji="1" lang="en-US" altLang="zh-TW" dirty="0"/>
              <a:t>CPU </a:t>
            </a:r>
            <a:r>
              <a:rPr kumimoji="1" lang="zh-TW" altLang="en-US" dirty="0"/>
              <a:t>的效率並不理想。</a:t>
            </a:r>
            <a:endParaRPr kumimoji="1" lang="en-US" altLang="zh-TW" dirty="0"/>
          </a:p>
          <a:p>
            <a:r>
              <a:rPr kumimoji="1" lang="zh-TW" altLang="en-US" dirty="0"/>
              <a:t>相較之下，</a:t>
            </a:r>
            <a:r>
              <a:rPr kumimoji="1" lang="en-US" altLang="zh-TW" dirty="0"/>
              <a:t>GPU </a:t>
            </a:r>
            <a:r>
              <a:rPr kumimoji="1" lang="zh-TW" altLang="en-US" dirty="0"/>
              <a:t>最初是為了圖形渲染而設計，</a:t>
            </a:r>
            <a:r>
              <a:rPr kumimoji="1" lang="zh-TW" altLang="en-US" dirty="0">
                <a:solidFill>
                  <a:srgbClr val="FF0000"/>
                </a:solidFill>
              </a:rPr>
              <a:t>擅長同時處理大量結構相同的數值運算</a:t>
            </a:r>
            <a:r>
              <a:rPr kumimoji="1" lang="zh-TW" altLang="en-US" dirty="0"/>
              <a:t>，因此在大型張量與矩陣運算上具有壓倒性的速度優勢。由於深度學習的本質正是由大量張量運算所構成，將神經網路的訓練交由 </a:t>
            </a:r>
            <a:r>
              <a:rPr kumimoji="1" lang="en-US" altLang="zh-TW" dirty="0"/>
              <a:t>GPU </a:t>
            </a:r>
            <a:r>
              <a:rPr kumimoji="1" lang="zh-TW" altLang="en-US" dirty="0"/>
              <a:t>執行，就能夠大幅提升訓練效率。 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E5F619-D655-14DF-A253-32DCFE6A1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636A4B0-B5E2-F7E1-800E-967762305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7574271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957F5F-DB9F-D267-DACE-D6FA9079E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GPUs</a:t>
            </a:r>
            <a:r>
              <a:rPr kumimoji="1" lang="zh-TW" altLang="en-US" dirty="0"/>
              <a:t> </a:t>
            </a:r>
            <a:r>
              <a:rPr kumimoji="1" lang="en-US" altLang="zh-TW" dirty="0"/>
              <a:t>and</a:t>
            </a:r>
            <a:r>
              <a:rPr kumimoji="1" lang="zh-TW" altLang="en-US" dirty="0"/>
              <a:t> </a:t>
            </a:r>
            <a:r>
              <a:rPr kumimoji="1" lang="en-US" altLang="zh-TW" dirty="0"/>
              <a:t>CUDA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99D096-F726-C815-AC21-3F93EC9D0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雖然這堂課程中的大多數程式碼，理論上皆可在 </a:t>
            </a:r>
            <a:r>
              <a:rPr kumimoji="1" lang="en-US" altLang="zh-TW" dirty="0"/>
              <a:t>CPU </a:t>
            </a:r>
            <a:r>
              <a:rPr kumimoji="1" lang="zh-TW" altLang="en-US" dirty="0"/>
              <a:t>上完成，但實際訓練時間會非常久（甚至可能需要數個天或數月才能完成），因此強烈建議使用 </a:t>
            </a:r>
            <a:r>
              <a:rPr kumimoji="1" lang="en-US" altLang="zh-TW" dirty="0"/>
              <a:t>GPU</a:t>
            </a:r>
            <a:r>
              <a:rPr kumimoji="1" lang="zh-TW" altLang="en-US" dirty="0"/>
              <a:t>。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TW" altLang="en-US" sz="1800" dirty="0"/>
              <a:t>*</a:t>
            </a:r>
            <a:r>
              <a:rPr kumimoji="1" lang="en-US" altLang="zh-TW" sz="1800" dirty="0"/>
              <a:t>.</a:t>
            </a:r>
            <a:r>
              <a:rPr kumimoji="1" lang="zh-TW" altLang="en-US" sz="1800" dirty="0"/>
              <a:t> </a:t>
            </a:r>
            <a:r>
              <a:rPr kumimoji="1" lang="en-US" altLang="zh-TW" sz="1800" dirty="0"/>
              <a:t>CUDA </a:t>
            </a:r>
            <a:r>
              <a:rPr kumimoji="1" lang="zh-TW" altLang="en-US" sz="1800" dirty="0"/>
              <a:t>則是用來與 </a:t>
            </a:r>
            <a:r>
              <a:rPr kumimoji="1" lang="en-US" altLang="zh-TW" sz="1800" dirty="0"/>
              <a:t>NVIDIA GPU </a:t>
            </a:r>
            <a:r>
              <a:rPr kumimoji="1" lang="zh-TW" altLang="en-US" sz="1800" dirty="0"/>
              <a:t>溝通與進行平行運算的程式庫。</a:t>
            </a:r>
            <a:endParaRPr kumimoji="1" lang="en-US" altLang="zh-TW" sz="1800" dirty="0"/>
          </a:p>
          <a:p>
            <a:r>
              <a:rPr kumimoji="1" lang="zh-TW" altLang="en-US" sz="1800" dirty="0"/>
              <a:t>*</a:t>
            </a:r>
            <a:r>
              <a:rPr kumimoji="1" lang="en-US" altLang="zh-TW" sz="1800" dirty="0"/>
              <a:t>.</a:t>
            </a:r>
            <a:r>
              <a:rPr kumimoji="1" lang="zh-TW" altLang="en-US" sz="1800" dirty="0"/>
              <a:t> </a:t>
            </a:r>
            <a:r>
              <a:rPr kumimoji="1" lang="en-US" altLang="zh-TW" sz="1800" dirty="0"/>
              <a:t>Google</a:t>
            </a:r>
            <a:r>
              <a:rPr kumimoji="1" lang="zh-TW" altLang="en-US" sz="1800" dirty="0"/>
              <a:t> 自行開發的 </a:t>
            </a:r>
            <a:r>
              <a:rPr kumimoji="1" lang="en-US" altLang="zh-TW" sz="1800" dirty="0"/>
              <a:t>TPU</a:t>
            </a:r>
            <a:r>
              <a:rPr kumimoji="1" lang="zh-TW" altLang="en-US" sz="1800" dirty="0"/>
              <a:t> 是一種專用加速器。本身專為深度學習設計，高效、穩定、省電，像專門的高速生產線。相較之下，</a:t>
            </a:r>
            <a:r>
              <a:rPr kumimoji="1" lang="en-US" altLang="zh-TW" sz="1800" dirty="0"/>
              <a:t>NVIDIA</a:t>
            </a:r>
            <a:r>
              <a:rPr kumimoji="1" lang="zh-TW" altLang="en-US" sz="1800" dirty="0"/>
              <a:t> 的 </a:t>
            </a:r>
            <a:r>
              <a:rPr kumimoji="1" lang="en-US" altLang="zh-TW" sz="1800" dirty="0"/>
              <a:t>GPU</a:t>
            </a:r>
            <a:r>
              <a:rPr kumimoji="1" lang="zh-TW" altLang="en-US" sz="1800" dirty="0"/>
              <a:t> 則是通用並行處理器，起源於圖形處理，後來可用於科學、視覺影像渲染、計算與深度學習。像多功能工廠，什麼任務都能接。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D01215-5529-D01B-0D0F-B778A1403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9A0F720-B90C-A3D2-AA18-90189E30F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5236446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19A269-7564-13E6-831B-7CAABCC3C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程式碼示範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925F86-0546-E0E8-F183-A6E60B169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*</a:t>
            </a:r>
            <a:r>
              <a:rPr kumimoji="1" lang="en-US" altLang="zh-TW" dirty="0"/>
              <a:t>.</a:t>
            </a:r>
            <a:r>
              <a:rPr kumimoji="1" lang="zh-TW" altLang="en-US" dirty="0"/>
              <a:t> </a:t>
            </a:r>
            <a:r>
              <a:rPr kumimoji="1" lang="en-US" altLang="zh-TW" dirty="0"/>
              <a:t>Chapter_1_MNIST.ipynb</a:t>
            </a:r>
          </a:p>
          <a:p>
            <a:r>
              <a:rPr kumimoji="1" lang="zh-TW" altLang="en-US" dirty="0"/>
              <a:t>*</a:t>
            </a:r>
            <a:r>
              <a:rPr kumimoji="1" lang="en-US" altLang="zh-TW" dirty="0"/>
              <a:t>.</a:t>
            </a:r>
            <a:r>
              <a:rPr kumimoji="1" lang="zh-TW" altLang="en-US" dirty="0"/>
              <a:t> </a:t>
            </a:r>
            <a:r>
              <a:rPr kumimoji="1" lang="en-US" altLang="zh-TW" dirty="0"/>
              <a:t>Chapter_1_Tensorflow_Intro.ipynb</a:t>
            </a:r>
          </a:p>
          <a:p>
            <a:r>
              <a:rPr kumimoji="1" lang="en-US" altLang="zh-TW" dirty="0"/>
              <a:t>*. Lab_1_Nonlinearity.ipynb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ACC1AC-C9BE-0B2B-2C4F-9D3F0FB00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122D595-E069-0584-020A-62750753F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87123753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自訂 2">
      <a:dk1>
        <a:srgbClr val="000000"/>
      </a:dk1>
      <a:lt1>
        <a:srgbClr val="FFFFFF"/>
      </a:lt1>
      <a:dk2>
        <a:srgbClr val="1C2031"/>
      </a:dk2>
      <a:lt2>
        <a:srgbClr val="F2F3F0"/>
      </a:lt2>
      <a:accent1>
        <a:srgbClr val="15C554"/>
      </a:accent1>
      <a:accent2>
        <a:srgbClr val="3732DA"/>
      </a:accent2>
      <a:accent3>
        <a:srgbClr val="2973E7"/>
      </a:accent3>
      <a:accent4>
        <a:srgbClr val="17B0D5"/>
      </a:accent4>
      <a:accent5>
        <a:srgbClr val="22C29E"/>
      </a:accent5>
      <a:accent6>
        <a:srgbClr val="16C655"/>
      </a:accent6>
      <a:hlink>
        <a:srgbClr val="339A95"/>
      </a:hlink>
      <a:folHlink>
        <a:srgbClr val="7F7F7F"/>
      </a:folHlink>
    </a:clrScheme>
    <a:fontScheme name="自訂 6">
      <a:majorFont>
        <a:latin typeface="Times New Roman"/>
        <a:ea typeface="Taipei Sans TC Beta"/>
        <a:cs typeface=""/>
      </a:majorFont>
      <a:minorFont>
        <a:latin typeface="Times New Roman"/>
        <a:ea typeface="Taipei Sans TC Beta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17773</TotalTime>
  <Words>3780</Words>
  <Application>Microsoft Macintosh PowerPoint</Application>
  <PresentationFormat>寬螢幕</PresentationFormat>
  <Paragraphs>334</Paragraphs>
  <Slides>41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41</vt:i4>
      </vt:variant>
    </vt:vector>
  </HeadingPairs>
  <TitlesOfParts>
    <vt:vector size="47" baseType="lpstr">
      <vt:lpstr>Aptos</vt:lpstr>
      <vt:lpstr>Calibri</vt:lpstr>
      <vt:lpstr>Cambria Math</vt:lpstr>
      <vt:lpstr>Times New Roman</vt:lpstr>
      <vt:lpstr>Wingdings</vt:lpstr>
      <vt:lpstr>RetrospectVTI</vt:lpstr>
      <vt:lpstr>深度學習入門</vt:lpstr>
      <vt:lpstr>Intro to Deep Learning</vt:lpstr>
      <vt:lpstr>Intro to Deep Learning</vt:lpstr>
      <vt:lpstr>Intro to Deep Learning</vt:lpstr>
      <vt:lpstr>Intro to Deep Learning</vt:lpstr>
      <vt:lpstr>Intro to Deep Learning</vt:lpstr>
      <vt:lpstr>Intro to Deep Learning</vt:lpstr>
      <vt:lpstr>Intro to Deep Learning</vt:lpstr>
      <vt:lpstr>Intro to Deep Learning</vt:lpstr>
      <vt:lpstr>Shallow Neural Networks</vt:lpstr>
      <vt:lpstr>Shallow Neural Networks</vt:lpstr>
      <vt:lpstr>Shallow Neural Networks</vt:lpstr>
      <vt:lpstr>Shallow Neural Networks</vt:lpstr>
      <vt:lpstr>PowerPoint 簡報</vt:lpstr>
      <vt:lpstr>Shallow Neural Networks</vt:lpstr>
      <vt:lpstr>Shallow Neural Networks</vt:lpstr>
      <vt:lpstr>Shallow Neural Networks</vt:lpstr>
      <vt:lpstr>Shallow Neural Networks</vt:lpstr>
      <vt:lpstr>Shallow Neural Networks</vt:lpstr>
      <vt:lpstr>Shallow Neural Networks</vt:lpstr>
      <vt:lpstr>Shallow Neural Networks</vt:lpstr>
      <vt:lpstr>Shallow Neural Networks</vt:lpstr>
      <vt:lpstr>Universal Approximation Theorem</vt:lpstr>
      <vt:lpstr>Why Deep Neural Network?</vt:lpstr>
      <vt:lpstr>AlexNet (2012)</vt:lpstr>
      <vt:lpstr>VGG-16 (2014)</vt:lpstr>
      <vt:lpstr>ResNet34 (2015)</vt:lpstr>
      <vt:lpstr>Why Deep Neural Network?</vt:lpstr>
      <vt:lpstr>Why Deep Neural Network?</vt:lpstr>
      <vt:lpstr>Why Deep Neural Network?</vt:lpstr>
      <vt:lpstr>PowerPoint 簡報</vt:lpstr>
      <vt:lpstr>Why Deep Neural Network?</vt:lpstr>
      <vt:lpstr>Why Deep Neural Network?</vt:lpstr>
      <vt:lpstr>Why Deep Neural Network?</vt:lpstr>
      <vt:lpstr>Why Deep Neural Network?</vt:lpstr>
      <vt:lpstr>Tensorflow</vt:lpstr>
      <vt:lpstr>Tensorflow</vt:lpstr>
      <vt:lpstr>Tensorflow</vt:lpstr>
      <vt:lpstr>GPUs</vt:lpstr>
      <vt:lpstr>GPUs and CUDA</vt:lpstr>
      <vt:lpstr>程式碼示範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Algorithm Design</dc:title>
  <dc:creator>Yu-Hsien Jen</dc:creator>
  <cp:lastModifiedBy>宇賢 任</cp:lastModifiedBy>
  <cp:revision>2629</cp:revision>
  <dcterms:created xsi:type="dcterms:W3CDTF">2021-02-23T11:38:50Z</dcterms:created>
  <dcterms:modified xsi:type="dcterms:W3CDTF">2026-04-21T03:27:38Z</dcterms:modified>
</cp:coreProperties>
</file>