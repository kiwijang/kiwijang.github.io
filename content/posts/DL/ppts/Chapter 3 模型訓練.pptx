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75"/>
  </p:notes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91" r:id="rId19"/>
    <p:sldId id="292" r:id="rId20"/>
    <p:sldId id="293" r:id="rId21"/>
    <p:sldId id="290" r:id="rId22"/>
    <p:sldId id="297" r:id="rId23"/>
    <p:sldId id="298" r:id="rId24"/>
    <p:sldId id="299" r:id="rId25"/>
    <p:sldId id="300" r:id="rId26"/>
    <p:sldId id="305" r:id="rId27"/>
    <p:sldId id="302" r:id="rId28"/>
    <p:sldId id="306" r:id="rId29"/>
    <p:sldId id="307" r:id="rId30"/>
    <p:sldId id="308" r:id="rId31"/>
    <p:sldId id="309" r:id="rId32"/>
    <p:sldId id="310" r:id="rId33"/>
    <p:sldId id="295" r:id="rId34"/>
    <p:sldId id="311" r:id="rId35"/>
    <p:sldId id="312" r:id="rId36"/>
    <p:sldId id="314" r:id="rId37"/>
    <p:sldId id="316" r:id="rId38"/>
    <p:sldId id="318" r:id="rId39"/>
    <p:sldId id="319" r:id="rId40"/>
    <p:sldId id="320" r:id="rId41"/>
    <p:sldId id="321" r:id="rId42"/>
    <p:sldId id="324" r:id="rId43"/>
    <p:sldId id="326" r:id="rId44"/>
    <p:sldId id="327" r:id="rId45"/>
    <p:sldId id="328" r:id="rId46"/>
    <p:sldId id="329" r:id="rId47"/>
    <p:sldId id="330" r:id="rId48"/>
    <p:sldId id="331" r:id="rId49"/>
    <p:sldId id="265" r:id="rId50"/>
    <p:sldId id="332" r:id="rId51"/>
    <p:sldId id="334" r:id="rId52"/>
    <p:sldId id="337" r:id="rId53"/>
    <p:sldId id="338" r:id="rId54"/>
    <p:sldId id="341" r:id="rId55"/>
    <p:sldId id="340" r:id="rId56"/>
    <p:sldId id="343" r:id="rId57"/>
    <p:sldId id="349" r:id="rId58"/>
    <p:sldId id="342" r:id="rId59"/>
    <p:sldId id="350" r:id="rId60"/>
    <p:sldId id="352" r:id="rId61"/>
    <p:sldId id="353" r:id="rId62"/>
    <p:sldId id="354" r:id="rId63"/>
    <p:sldId id="355" r:id="rId64"/>
    <p:sldId id="351" r:id="rId65"/>
    <p:sldId id="356" r:id="rId66"/>
    <p:sldId id="358" r:id="rId67"/>
    <p:sldId id="361" r:id="rId68"/>
    <p:sldId id="357" r:id="rId69"/>
    <p:sldId id="362" r:id="rId70"/>
    <p:sldId id="363" r:id="rId71"/>
    <p:sldId id="365" r:id="rId72"/>
    <p:sldId id="364" r:id="rId73"/>
    <p:sldId id="366" r:id="rId7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61" autoAdjust="0"/>
    <p:restoredTop sz="94660"/>
  </p:normalViewPr>
  <p:slideViewPr>
    <p:cSldViewPr snapToGrid="0">
      <p:cViewPr varScale="1">
        <p:scale>
          <a:sx n="109" d="100"/>
          <a:sy n="109" d="100"/>
        </p:scale>
        <p:origin x="192" y="240"/>
      </p:cViewPr>
      <p:guideLst/>
    </p:cSldViewPr>
  </p:slideViewPr>
  <p:notesTextViewPr>
    <p:cViewPr>
      <p:scale>
        <a:sx n="1" d="1"/>
        <a:sy n="1" d="1"/>
      </p:scale>
      <p:origin x="0" y="0"/>
    </p:cViewPr>
  </p:notesTextViewPr>
  <p:notesViewPr>
    <p:cSldViewPr snapToGrid="0">
      <p:cViewPr varScale="1">
        <p:scale>
          <a:sx n="73" d="100"/>
          <a:sy n="73" d="100"/>
        </p:scale>
        <p:origin x="3216" y="1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D5E851-B301-8440-A31A-2666B5099906}" type="datetimeFigureOut">
              <a:rPr kumimoji="1" lang="zh-TW" altLang="en-US" smtClean="0"/>
              <a:t>2026/4/24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7913E7-7146-234E-81D5-B698B33CD06E}" type="slidenum">
              <a:rPr kumimoji="1" lang="zh-TW" altLang="en-US" smtClean="0"/>
              <a:t>‹#›</a:t>
            </a:fld>
            <a:endParaRPr kumimoji="1" lang="zh-TW" altLang="en-US"/>
          </a:p>
        </p:txBody>
      </p:sp>
    </p:spTree>
    <p:extLst>
      <p:ext uri="{BB962C8B-B14F-4D97-AF65-F5344CB8AC3E}">
        <p14:creationId xmlns:p14="http://schemas.microsoft.com/office/powerpoint/2010/main" val="82572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ltLang="zh-TW"/>
              <a:t>Wilson Ren</a:t>
            </a:r>
            <a:endParaRPr lang="en-US" altLang="zh-TW"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
        <p:nvSpPr>
          <p:cNvPr id="7" name="標題 6">
            <a:extLst>
              <a:ext uri="{FF2B5EF4-FFF2-40B4-BE49-F238E27FC236}">
                <a16:creationId xmlns:a16="http://schemas.microsoft.com/office/drawing/2014/main" id="{C3795BDB-1CA7-B881-D67A-FEC0E195553F}"/>
              </a:ext>
            </a:extLst>
          </p:cNvPr>
          <p:cNvSpPr>
            <a:spLocks noGrp="1"/>
          </p:cNvSpPr>
          <p:nvPr>
            <p:ph type="title"/>
          </p:nvPr>
        </p:nvSpPr>
        <p:spPr/>
        <p:txBody>
          <a:bodyPr/>
          <a:lstStyle/>
          <a:p>
            <a:r>
              <a:rPr kumimoji="1" lang="zh-TW" altLang="en-US"/>
              <a:t>按一下以編輯母片標題樣式</a:t>
            </a:r>
          </a:p>
        </p:txBody>
      </p:sp>
    </p:spTree>
    <p:extLst>
      <p:ext uri="{BB962C8B-B14F-4D97-AF65-F5344CB8AC3E}">
        <p14:creationId xmlns:p14="http://schemas.microsoft.com/office/powerpoint/2010/main" val="3960360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80696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1109285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ltLang="zh-TW"/>
              <a:t>Wilson Ren</a:t>
            </a:r>
            <a:endParaRPr lang="en-US" altLang="zh-TW"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48508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ltLang="zh-TW"/>
              <a:t>Wilson Ren</a:t>
            </a:r>
            <a:endParaRPr lang="en-US" altLang="zh-TW"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2114238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ltLang="zh-TW"/>
              <a:t>Wilson Ren</a:t>
            </a:r>
            <a:endParaRPr lang="en-US" altLang="zh-TW"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781294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ltLang="zh-TW"/>
              <a:t>Wilson Ren</a:t>
            </a:r>
            <a:endParaRPr lang="en-US" altLang="zh-TW"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40706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chemeClr val="tx1"/>
                </a:solidFill>
              </a:defRPr>
            </a:lvl1pPr>
          </a:lstStyle>
          <a:p>
            <a:r>
              <a:rPr lang="en-US" altLang="zh-TW"/>
              <a:t>Wilson Ren</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r>
              <a:rPr lang="en-US" dirty="0"/>
              <a:t>Deep Learning</a:t>
            </a:r>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24993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Lst>
  <p:hf hdr="0" ftr="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6.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tensorflow.org/api_docs/python/tf/keras/initializers/HeNorma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github.com/openai/gpt-2/blob/master/src/model.py" TargetMode="External"/><Relationship Id="rId13" Type="http://schemas.openxmlformats.org/officeDocument/2006/relationships/image" Target="../media/image51.png"/><Relationship Id="rId3" Type="http://schemas.openxmlformats.org/officeDocument/2006/relationships/hyperlink" Target="https://arxiv.org/abs/1810.04805" TargetMode="External"/><Relationship Id="rId7" Type="http://schemas.openxmlformats.org/officeDocument/2006/relationships/hyperlink" Target="https://arxiv.org/abs/1810.04805" TargetMode="External"/><Relationship Id="rId12" Type="http://schemas.openxmlformats.org/officeDocument/2006/relationships/image" Target="../media/image49.svg"/><Relationship Id="rId2" Type="http://schemas.openxmlformats.org/officeDocument/2006/relationships/hyperlink" Target="https://arxiv.org/abs/2207.02696" TargetMode="External"/><Relationship Id="rId1" Type="http://schemas.openxmlformats.org/officeDocument/2006/relationships/slideLayout" Target="../slideLayouts/slideLayout7.xml"/><Relationship Id="rId6" Type="http://schemas.openxmlformats.org/officeDocument/2006/relationships/hyperlink" Target="https://arxiv.org/abs/2207.02696" TargetMode="External"/><Relationship Id="rId11" Type="http://schemas.openxmlformats.org/officeDocument/2006/relationships/image" Target="../media/image48.svg"/><Relationship Id="rId5" Type="http://schemas.openxmlformats.org/officeDocument/2006/relationships/image" Target="../media/image50.png"/><Relationship Id="rId10" Type="http://schemas.openxmlformats.org/officeDocument/2006/relationships/image" Target="../media/image47.svg"/><Relationship Id="rId4" Type="http://schemas.openxmlformats.org/officeDocument/2006/relationships/hyperlink" Target="https://github.com/openai/gpt-2/blob/master/src/model.py" TargetMode="External"/><Relationship Id="rId9" Type="http://schemas.openxmlformats.org/officeDocument/2006/relationships/image" Target="../media/image46.svg"/><Relationship Id="rId14" Type="http://schemas.openxmlformats.org/officeDocument/2006/relationships/image" Target="../media/image52.png"/></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arxiv.org/abs/1706.02677"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tensorflow.org/api_docs/python/tf/keras/optimizers/schedules/CosineDecay" TargetMode="External"/><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60.xml.rels><?xml version="1.0" encoding="UTF-8" standalone="yes"?>
<Relationships xmlns="http://schemas.openxmlformats.org/package/2006/relationships"><Relationship Id="rId3" Type="http://schemas.openxmlformats.org/officeDocument/2006/relationships/image" Target="../media/image67.jpg"/><Relationship Id="rId7" Type="http://schemas.openxmlformats.org/officeDocument/2006/relationships/image" Target="../media/image71.jpg"/><Relationship Id="rId2" Type="http://schemas.openxmlformats.org/officeDocument/2006/relationships/image" Target="../media/image66.jpg"/><Relationship Id="rId1" Type="http://schemas.openxmlformats.org/officeDocument/2006/relationships/slideLayout" Target="../slideLayouts/slideLayout2.xml"/><Relationship Id="rId6" Type="http://schemas.openxmlformats.org/officeDocument/2006/relationships/image" Target="../media/image70.jpg"/><Relationship Id="rId5" Type="http://schemas.openxmlformats.org/officeDocument/2006/relationships/image" Target="../media/image69.jpg"/><Relationship Id="rId4" Type="http://schemas.openxmlformats.org/officeDocument/2006/relationships/image" Target="../media/image68.jpg"/></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arxiv.org/abs/1207.0580"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arxiv.org/abs/1906.02629" TargetMode="External"/><Relationship Id="rId2" Type="http://schemas.openxmlformats.org/officeDocument/2006/relationships/hyperlink" Target="https://arxiv.org/pdf/1512.00567" TargetMode="Externa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86" name="Straight Connector 85">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88" name="Rectangle 87">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85B19F76-33F3-4DB4-91A0-510A8FE2A916}"/>
              </a:ext>
            </a:extLst>
          </p:cNvPr>
          <p:cNvSpPr>
            <a:spLocks noGrp="1"/>
          </p:cNvSpPr>
          <p:nvPr>
            <p:ph type="ctrTitle"/>
          </p:nvPr>
        </p:nvSpPr>
        <p:spPr>
          <a:xfrm>
            <a:off x="8141110" y="639098"/>
            <a:ext cx="3401961" cy="3494790"/>
          </a:xfrm>
        </p:spPr>
        <p:txBody>
          <a:bodyPr vert="horz" lIns="91440" tIns="45720" rIns="91440" bIns="45720" rtlCol="0" anchor="b">
            <a:normAutofit/>
          </a:bodyPr>
          <a:lstStyle/>
          <a:p>
            <a:r>
              <a:rPr lang="zh-TW" altLang="en-US" sz="5400" dirty="0">
                <a:solidFill>
                  <a:schemeClr val="tx1">
                    <a:lumMod val="85000"/>
                    <a:lumOff val="15000"/>
                  </a:schemeClr>
                </a:solidFill>
              </a:rPr>
              <a:t>模型訓練</a:t>
            </a:r>
          </a:p>
        </p:txBody>
      </p:sp>
      <p:sp>
        <p:nvSpPr>
          <p:cNvPr id="3" name="副標題 2">
            <a:extLst>
              <a:ext uri="{FF2B5EF4-FFF2-40B4-BE49-F238E27FC236}">
                <a16:creationId xmlns:a16="http://schemas.microsoft.com/office/drawing/2014/main" id="{35262B4D-3674-44E6-AC6B-FAEDB090D61E}"/>
              </a:ext>
            </a:extLst>
          </p:cNvPr>
          <p:cNvSpPr>
            <a:spLocks noGrp="1"/>
          </p:cNvSpPr>
          <p:nvPr>
            <p:ph type="subTitle" idx="1"/>
          </p:nvPr>
        </p:nvSpPr>
        <p:spPr>
          <a:xfrm>
            <a:off x="8141110" y="4455621"/>
            <a:ext cx="3417990" cy="1238616"/>
          </a:xfrm>
        </p:spPr>
        <p:txBody>
          <a:bodyPr vert="horz" lIns="91440" tIns="45720" rIns="91440" bIns="45720" rtlCol="0">
            <a:normAutofit/>
          </a:bodyPr>
          <a:lstStyle/>
          <a:p>
            <a:r>
              <a:rPr lang="en-US" altLang="zh-TW" sz="2000" dirty="0">
                <a:solidFill>
                  <a:schemeClr val="tx1">
                    <a:lumMod val="85000"/>
                    <a:lumOff val="15000"/>
                  </a:schemeClr>
                </a:solidFill>
              </a:rPr>
              <a:t>Chapter 3</a:t>
            </a:r>
          </a:p>
        </p:txBody>
      </p:sp>
      <p:pic>
        <p:nvPicPr>
          <p:cNvPr id="5" name="圖形 4">
            <a:extLst>
              <a:ext uri="{FF2B5EF4-FFF2-40B4-BE49-F238E27FC236}">
                <a16:creationId xmlns:a16="http://schemas.microsoft.com/office/drawing/2014/main" id="{23EC38AA-7624-AB8B-D742-8CABC23F53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3029" y="640081"/>
            <a:ext cx="5054156" cy="5054156"/>
          </a:xfrm>
          <a:prstGeom prst="rect">
            <a:avLst/>
          </a:prstGeom>
        </p:spPr>
      </p:pic>
      <p:cxnSp>
        <p:nvCxnSpPr>
          <p:cNvPr id="90" name="Straight Connector 89">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8" name="投影片編號版面配置區 4">
            <a:extLst>
              <a:ext uri="{FF2B5EF4-FFF2-40B4-BE49-F238E27FC236}">
                <a16:creationId xmlns:a16="http://schemas.microsoft.com/office/drawing/2014/main" id="{9918F90A-E918-55A6-FF90-3163BE918873}"/>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lnSpc>
                <a:spcPct val="90000"/>
              </a:lnSpc>
              <a:spcAft>
                <a:spcPts val="600"/>
              </a:spcAft>
            </a:pPr>
            <a:r>
              <a:rPr lang="en-US" altLang="zh-TW" dirty="0"/>
              <a:t>Deep Learning</a:t>
            </a:r>
          </a:p>
        </p:txBody>
      </p:sp>
    </p:spTree>
    <p:extLst>
      <p:ext uri="{BB962C8B-B14F-4D97-AF65-F5344CB8AC3E}">
        <p14:creationId xmlns:p14="http://schemas.microsoft.com/office/powerpoint/2010/main" val="7502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7D51A3-0D76-9DBB-F15D-5AC79E7AEF99}"/>
              </a:ext>
            </a:extLst>
          </p:cNvPr>
          <p:cNvSpPr>
            <a:spLocks noGrp="1"/>
          </p:cNvSpPr>
          <p:nvPr>
            <p:ph type="title"/>
          </p:nvPr>
        </p:nvSpPr>
        <p:spPr/>
        <p:txBody>
          <a:bodyPr/>
          <a:lstStyle/>
          <a:p>
            <a:r>
              <a:rPr lang="zh-TW" altLang="en-US" sz="4800" dirty="0">
                <a:solidFill>
                  <a:schemeClr val="tx1">
                    <a:lumMod val="85000"/>
                    <a:lumOff val="15000"/>
                  </a:schemeClr>
                </a:solidFill>
              </a:rPr>
              <a:t>模型訓練</a:t>
            </a:r>
            <a:endParaRPr kumimoji="1" lang="zh-TW" altLang="en-US" dirty="0"/>
          </a:p>
        </p:txBody>
      </p:sp>
      <p:sp>
        <p:nvSpPr>
          <p:cNvPr id="3" name="內容版面配置區 2">
            <a:extLst>
              <a:ext uri="{FF2B5EF4-FFF2-40B4-BE49-F238E27FC236}">
                <a16:creationId xmlns:a16="http://schemas.microsoft.com/office/drawing/2014/main" id="{B84A136A-AFA8-AE24-E0C4-CCA2BE5E2D06}"/>
              </a:ext>
            </a:extLst>
          </p:cNvPr>
          <p:cNvSpPr>
            <a:spLocks noGrp="1"/>
          </p:cNvSpPr>
          <p:nvPr>
            <p:ph idx="1"/>
          </p:nvPr>
        </p:nvSpPr>
        <p:spPr>
          <a:xfrm>
            <a:off x="1097280" y="2108201"/>
            <a:ext cx="10058400" cy="3956933"/>
          </a:xfrm>
        </p:spPr>
        <p:txBody>
          <a:bodyPr>
            <a:noAutofit/>
          </a:bodyPr>
          <a:lstStyle/>
          <a:p>
            <a:r>
              <a:rPr kumimoji="1" lang="zh-TW" altLang="en-US" dirty="0"/>
              <a:t>當我們進行深度學習模型的訓練時，涉及的因素非常多。除了模型架構本身的設計，我們還需要考慮：</a:t>
            </a:r>
            <a:endParaRPr kumimoji="1" lang="en-US" altLang="zh-TW" dirty="0"/>
          </a:p>
          <a:p>
            <a:pPr>
              <a:buFont typeface="Wingdings" pitchFamily="2" charset="2"/>
              <a:buChar char="p"/>
            </a:pPr>
            <a:r>
              <a:rPr kumimoji="1" lang="zh-TW" altLang="en-US" dirty="0"/>
              <a:t> 損失函數與輸出層的激活函數的選擇</a:t>
            </a:r>
            <a:endParaRPr kumimoji="1" lang="en-US" altLang="zh-TW" dirty="0"/>
          </a:p>
          <a:p>
            <a:pPr>
              <a:buFont typeface="Wingdings" pitchFamily="2" charset="2"/>
              <a:buChar char="p"/>
            </a:pPr>
            <a:r>
              <a:rPr kumimoji="1" lang="zh-TW" altLang="en-US" dirty="0"/>
              <a:t> 梯度下降的細節、如何避免收斂到局部極小值</a:t>
            </a:r>
            <a:endParaRPr kumimoji="1" lang="en-US" altLang="zh-TW" dirty="0"/>
          </a:p>
          <a:p>
            <a:pPr>
              <a:buFont typeface="Wingdings" pitchFamily="2" charset="2"/>
              <a:buChar char="p"/>
            </a:pPr>
            <a:r>
              <a:rPr kumimoji="1" lang="zh-TW" altLang="en-US" dirty="0"/>
              <a:t> 權重初始化的方法</a:t>
            </a:r>
            <a:endParaRPr kumimoji="1" lang="en-US" altLang="zh-TW" dirty="0"/>
          </a:p>
          <a:p>
            <a:pPr>
              <a:buFont typeface="Wingdings" pitchFamily="2" charset="2"/>
              <a:buChar char="p"/>
            </a:pPr>
            <a:r>
              <a:rPr kumimoji="1" lang="zh-TW" altLang="en-US" dirty="0"/>
              <a:t> 隱藏層的激活函數</a:t>
            </a:r>
            <a:endParaRPr kumimoji="1" lang="en-US" altLang="zh-TW" dirty="0"/>
          </a:p>
          <a:p>
            <a:pPr marL="0" indent="0">
              <a:buNone/>
            </a:pPr>
            <a:r>
              <a:rPr kumimoji="1" lang="zh-TW" altLang="en-US" dirty="0"/>
              <a:t>每一個決策都可能直接影響模型的收斂速度、準確率以及最終的效能。因此，此章節將著重在這些訓練模型過程中需要注意的各項關鍵因素。</a:t>
            </a:r>
          </a:p>
        </p:txBody>
      </p:sp>
      <p:sp>
        <p:nvSpPr>
          <p:cNvPr id="4" name="日期版面配置區 3">
            <a:extLst>
              <a:ext uri="{FF2B5EF4-FFF2-40B4-BE49-F238E27FC236}">
                <a16:creationId xmlns:a16="http://schemas.microsoft.com/office/drawing/2014/main" id="{227898AF-6607-1034-8D3C-55ACF91AED0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3B1C74C-B3D7-3779-A22D-708E35C1BD8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3978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00C7C5-4756-1AEE-5F52-68072B51941A}"/>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p:sp>
        <p:nvSpPr>
          <p:cNvPr id="3" name="內容版面配置區 2">
            <a:extLst>
              <a:ext uri="{FF2B5EF4-FFF2-40B4-BE49-F238E27FC236}">
                <a16:creationId xmlns:a16="http://schemas.microsoft.com/office/drawing/2014/main" id="{6BCC998D-687F-EA02-A4C0-72EB02E737BB}"/>
              </a:ext>
            </a:extLst>
          </p:cNvPr>
          <p:cNvSpPr>
            <a:spLocks noGrp="1"/>
          </p:cNvSpPr>
          <p:nvPr>
            <p:ph idx="1"/>
          </p:nvPr>
        </p:nvSpPr>
        <p:spPr>
          <a:xfrm>
            <a:off x="1097280" y="2108201"/>
            <a:ext cx="10058400" cy="4188427"/>
          </a:xfrm>
        </p:spPr>
        <p:txBody>
          <a:bodyPr>
            <a:normAutofit lnSpcReduction="10000"/>
          </a:bodyPr>
          <a:lstStyle/>
          <a:p>
            <a:r>
              <a:rPr kumimoji="1" lang="zh-TW" altLang="en-US" dirty="0"/>
              <a:t>當你在設計深度神經網路的架構時，第一個需要思考的就是任務的類型。不同的任務會對應到不同的損失函數，以及 </a:t>
            </a:r>
            <a:r>
              <a:rPr kumimoji="1" lang="en-US" altLang="zh-TW" dirty="0"/>
              <a:t>output layer </a:t>
            </a:r>
            <a:r>
              <a:rPr kumimoji="1" lang="zh-TW" altLang="en-US" dirty="0"/>
              <a:t>所使用的激活函數。</a:t>
            </a:r>
            <a:endParaRPr kumimoji="1" lang="en-US" altLang="zh-TW" dirty="0"/>
          </a:p>
          <a:p>
            <a:pPr marL="457200" indent="-457200">
              <a:buFont typeface="+mj-lt"/>
              <a:buAutoNum type="arabicPeriod"/>
            </a:pPr>
            <a:r>
              <a:rPr kumimoji="1" lang="zh-TW" altLang="en-US" dirty="0"/>
              <a:t>回歸任務（</a:t>
            </a:r>
            <a:r>
              <a:rPr kumimoji="1" lang="en-US" altLang="zh-TW" dirty="0"/>
              <a:t>Regression</a:t>
            </a:r>
            <a:r>
              <a:rPr kumimoji="1" lang="zh-TW" altLang="en-US" dirty="0"/>
              <a:t>）：目標是預測連續數值，例如房價、溫度或股價等。</a:t>
            </a:r>
            <a:endParaRPr kumimoji="1" lang="en-US" altLang="zh-TW" dirty="0"/>
          </a:p>
          <a:p>
            <a:pPr marL="457200" indent="-457200">
              <a:buFont typeface="+mj-lt"/>
              <a:buAutoNum type="arabicPeriod"/>
            </a:pPr>
            <a:r>
              <a:rPr kumimoji="1" lang="zh-TW" altLang="en-US" dirty="0"/>
              <a:t>二元分類（</a:t>
            </a:r>
            <a:r>
              <a:rPr kumimoji="1" lang="en-US" altLang="zh-TW" dirty="0"/>
              <a:t>Binary Classification</a:t>
            </a:r>
            <a:r>
              <a:rPr kumimoji="1" lang="zh-TW" altLang="en-US" dirty="0"/>
              <a:t>）：目標是將資料分成兩個類別，例如某封信件是否是垃圾郵件。</a:t>
            </a:r>
            <a:endParaRPr kumimoji="1" lang="en-US" altLang="zh-TW" dirty="0"/>
          </a:p>
          <a:p>
            <a:pPr marL="457200" indent="-457200">
              <a:buFont typeface="+mj-lt"/>
              <a:buAutoNum type="arabicPeriod"/>
            </a:pPr>
            <a:r>
              <a:rPr kumimoji="1" lang="zh-TW" altLang="en-US" dirty="0"/>
              <a:t>多元分類（</a:t>
            </a:r>
            <a:r>
              <a:rPr kumimoji="1" lang="en-US" altLang="zh-TW" dirty="0"/>
              <a:t>Multi-class Classification</a:t>
            </a:r>
            <a:r>
              <a:rPr kumimoji="1" lang="zh-TW" altLang="en-US" dirty="0"/>
              <a:t>）：此類的任務中，每筆資料只會屬於多種類別的其中一個類別，例如手寫數字辨識（</a:t>
            </a:r>
            <a:r>
              <a:rPr kumimoji="1" lang="en-US" altLang="zh-TW" dirty="0"/>
              <a:t>0~9</a:t>
            </a:r>
            <a:r>
              <a:rPr kumimoji="1" lang="zh-TW" altLang="en-US" dirty="0"/>
              <a:t>）。</a:t>
            </a:r>
            <a:endParaRPr kumimoji="1" lang="en-US" altLang="zh-TW" dirty="0"/>
          </a:p>
          <a:p>
            <a:pPr marL="457200" indent="-457200">
              <a:buFont typeface="+mj-lt"/>
              <a:buAutoNum type="arabicPeriod"/>
            </a:pPr>
            <a:r>
              <a:rPr kumimoji="1" lang="zh-TW" altLang="en-US" dirty="0"/>
              <a:t>多標籤分類（</a:t>
            </a:r>
            <a:r>
              <a:rPr kumimoji="1" lang="en-US" altLang="zh-TW" dirty="0"/>
              <a:t>Multi-label Classification</a:t>
            </a:r>
            <a:r>
              <a:rPr kumimoji="1" lang="zh-TW" altLang="en-US" dirty="0"/>
              <a:t>）：此類的任務中，一筆資料可以同時屬於多個類別，例如一張圖片同時包含「人、車、動物」。</a:t>
            </a:r>
            <a:endParaRPr kumimoji="1" lang="en-US" altLang="zh-TW" dirty="0"/>
          </a:p>
          <a:p>
            <a:pPr marL="457200" indent="-457200">
              <a:buFont typeface="+mj-lt"/>
              <a:buAutoNum type="arabicPeriod"/>
            </a:pPr>
            <a:endParaRPr kumimoji="1" lang="en-US" altLang="zh-TW" dirty="0"/>
          </a:p>
          <a:p>
            <a:endParaRPr kumimoji="1" lang="en-US" altLang="zh-TW" dirty="0"/>
          </a:p>
          <a:p>
            <a:endParaRPr kumimoji="1" lang="zh-TW" altLang="en-US" dirty="0"/>
          </a:p>
        </p:txBody>
      </p:sp>
      <p:sp>
        <p:nvSpPr>
          <p:cNvPr id="4" name="日期版面配置區 3">
            <a:extLst>
              <a:ext uri="{FF2B5EF4-FFF2-40B4-BE49-F238E27FC236}">
                <a16:creationId xmlns:a16="http://schemas.microsoft.com/office/drawing/2014/main" id="{2A6CBD89-4F45-2E12-4A9F-CDCED772535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64EFF69-C57E-5C25-C80F-A4B346EBAA02}"/>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311463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9F1D06-58D7-E28F-B58A-CA52743D814A}"/>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BF2B25B-0085-29A5-6895-08C444A0F4CE}"/>
                  </a:ext>
                </a:extLst>
              </p:cNvPr>
              <p:cNvSpPr>
                <a:spLocks noGrp="1"/>
              </p:cNvSpPr>
              <p:nvPr>
                <p:ph idx="1"/>
              </p:nvPr>
            </p:nvSpPr>
            <p:spPr/>
            <p:txBody>
              <a:bodyPr>
                <a:normAutofit/>
              </a:bodyPr>
              <a:lstStyle/>
              <a:p>
                <a:r>
                  <a:rPr kumimoji="1" lang="zh-TW" altLang="en-US" dirty="0"/>
                  <a:t>回歸任務常見的損失函數有：</a:t>
                </a:r>
                <a:endParaRPr kumimoji="1" lang="en-US" altLang="zh-TW" dirty="0"/>
              </a:p>
              <a:p>
                <a:pPr>
                  <a:buFont typeface="Wingdings" pitchFamily="2" charset="2"/>
                  <a:buChar char="n"/>
                </a:pPr>
                <a:r>
                  <a:rPr kumimoji="1" lang="zh-TW" altLang="en-US" dirty="0"/>
                  <a:t> </a:t>
                </a:r>
                <a:r>
                  <a:rPr kumimoji="1" lang="en-US" altLang="zh-TW" dirty="0"/>
                  <a:t>MAE</a:t>
                </a:r>
                <a:r>
                  <a:rPr kumimoji="1" lang="zh-TW" altLang="en-US" dirty="0"/>
                  <a:t>（</a:t>
                </a:r>
                <a:r>
                  <a:rPr kumimoji="1" lang="en-US" altLang="zh-TW" dirty="0"/>
                  <a:t>Mean</a:t>
                </a:r>
                <a:r>
                  <a:rPr kumimoji="1" lang="zh-TW" altLang="en-US" dirty="0"/>
                  <a:t> </a:t>
                </a:r>
                <a:r>
                  <a:rPr kumimoji="1" lang="en-US" altLang="zh-TW" dirty="0"/>
                  <a:t>Absolute</a:t>
                </a:r>
                <a:r>
                  <a:rPr kumimoji="1" lang="zh-TW" altLang="en-US" dirty="0"/>
                  <a:t> </a:t>
                </a:r>
                <a:r>
                  <a:rPr kumimoji="1" lang="en-US" altLang="zh-TW" dirty="0"/>
                  <a:t>Error</a:t>
                </a:r>
                <a:r>
                  <a:rPr kumimoji="1" lang="zh-TW" altLang="en-US" dirty="0"/>
                  <a:t>）</a:t>
                </a:r>
                <a:r>
                  <a:rPr kumimoji="1" lang="en-US" altLang="zh-TW" dirty="0"/>
                  <a:t> </a:t>
                </a:r>
                <a14:m>
                  <m:oMath xmlns:m="http://schemas.openxmlformats.org/officeDocument/2006/math">
                    <m:r>
                      <a:rPr kumimoji="1" lang="en-US" altLang="zh-TW" b="0" i="0"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𝑛</m:t>
                        </m:r>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acc>
                          <m:accPr>
                            <m:chr m:val="̂"/>
                            <m:ctrlPr>
                              <a:rPr kumimoji="1" lang="en-US" altLang="zh-TW"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nary>
                  </m:oMath>
                </a14:m>
                <a:endParaRPr lang="zh-TW" altLang="en-US" dirty="0"/>
              </a:p>
              <a:p>
                <a:pPr>
                  <a:buFont typeface="Wingdings" pitchFamily="2" charset="2"/>
                  <a:buChar char="n"/>
                </a:pPr>
                <a:r>
                  <a:rPr kumimoji="1" lang="zh-TW" altLang="en-US" dirty="0"/>
                  <a:t> </a:t>
                </a:r>
                <a:r>
                  <a:rPr lang="en-US" altLang="zh-TW" dirty="0"/>
                  <a:t>MSE</a:t>
                </a:r>
                <a:r>
                  <a:rPr lang="zh-TW" altLang="en-US" dirty="0"/>
                  <a:t>（</a:t>
                </a:r>
                <a:r>
                  <a:rPr lang="en-US" altLang="zh-TW" dirty="0"/>
                  <a:t>Mean</a:t>
                </a:r>
                <a:r>
                  <a:rPr lang="zh-TW" altLang="en-US" dirty="0"/>
                  <a:t> </a:t>
                </a:r>
                <a:r>
                  <a:rPr lang="en-US" altLang="zh-TW" dirty="0"/>
                  <a:t>Squared</a:t>
                </a:r>
                <a:r>
                  <a:rPr lang="zh-TW" altLang="en-US" dirty="0"/>
                  <a:t> </a:t>
                </a:r>
                <a:r>
                  <a:rPr lang="en-US" altLang="zh-TW" dirty="0"/>
                  <a:t>Error</a:t>
                </a:r>
                <a:r>
                  <a:rPr lang="zh-TW" altLang="en-US" dirty="0"/>
                  <a:t>）</a:t>
                </a:r>
                <a14:m>
                  <m:oMath xmlns:m="http://schemas.openxmlformats.org/officeDocument/2006/math">
                    <m:r>
                      <a:rPr kumimoji="1" lang="en-US" altLang="zh-TW" b="0" i="0"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𝑛</m:t>
                        </m:r>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acc>
                              <m:accPr>
                                <m:chr m:val="̂"/>
                                <m:ctrlPr>
                                  <a:rPr kumimoji="1" lang="en-US" altLang="zh-TW"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sup>
                            <m:r>
                              <a:rPr kumimoji="1" lang="en-US" altLang="zh-TW" i="1">
                                <a:latin typeface="Cambria Math" panose="02040503050406030204" pitchFamily="18" charset="0"/>
                              </a:rPr>
                              <m:t>2</m:t>
                            </m:r>
                          </m:sup>
                        </m:sSup>
                      </m:e>
                    </m:nary>
                  </m:oMath>
                </a14:m>
                <a:endParaRPr lang="en-US" altLang="zh-TW" dirty="0"/>
              </a:p>
              <a:p>
                <a:pPr>
                  <a:buFont typeface="Wingdings" pitchFamily="2" charset="2"/>
                  <a:buChar char="n"/>
                </a:pPr>
                <a:r>
                  <a:rPr lang="zh-TW" altLang="en-US" dirty="0"/>
                  <a:t> </a:t>
                </a:r>
                <a:r>
                  <a:rPr lang="en-US" altLang="zh-TW" dirty="0"/>
                  <a:t>RMSE</a:t>
                </a:r>
                <a:r>
                  <a:rPr lang="zh-TW" altLang="en-US" dirty="0"/>
                  <a:t>（</a:t>
                </a:r>
                <a:r>
                  <a:rPr lang="en-US" altLang="zh-TW" dirty="0"/>
                  <a:t>Root Mean Squared Error</a:t>
                </a:r>
                <a:r>
                  <a:rPr lang="zh-TW" altLang="en-US" dirty="0"/>
                  <a:t>） </a:t>
                </a:r>
                <a14:m>
                  <m:oMath xmlns:m="http://schemas.openxmlformats.org/officeDocument/2006/math">
                    <m:r>
                      <a:rPr lang="en-US" altLang="zh-TW" i="1" dirty="0">
                        <a:latin typeface="Cambria Math" panose="02040503050406030204" pitchFamily="18" charset="0"/>
                      </a:rPr>
                      <m:t>=</m:t>
                    </m:r>
                    <m:rad>
                      <m:radPr>
                        <m:degHide m:val="on"/>
                        <m:ctrlPr>
                          <a:rPr lang="zh-TW" altLang="en-US" i="1">
                            <a:latin typeface="Cambria Math" panose="02040503050406030204" pitchFamily="18" charset="0"/>
                          </a:rPr>
                        </m:ctrlPr>
                      </m:radPr>
                      <m:deg/>
                      <m:e>
                        <m:r>
                          <a:rPr lang="en-US" altLang="zh-TW" i="1">
                            <a:latin typeface="Cambria Math" panose="02040503050406030204" pitchFamily="18" charset="0"/>
                          </a:rPr>
                          <m:t>𝑀𝑆𝐸</m:t>
                        </m:r>
                      </m:e>
                    </m:rad>
                  </m:oMath>
                </a14:m>
                <a:endParaRPr lang="zh-TW" altLang="en-US" dirty="0"/>
              </a:p>
              <a:p>
                <a:pPr marL="0" indent="0">
                  <a:buNone/>
                </a:pPr>
                <a:r>
                  <a:rPr kumimoji="1" lang="zh-TW" altLang="en-US" dirty="0"/>
                  <a:t>此外，回歸任務需要的輸出值通常是一個實數，因此 </a:t>
                </a:r>
                <a:r>
                  <a:rPr kumimoji="1" lang="en-US" altLang="zh-TW" dirty="0"/>
                  <a:t>output layer </a:t>
                </a:r>
                <a:r>
                  <a:rPr kumimoji="1" lang="zh-TW" altLang="en-US" dirty="0"/>
                  <a:t>通常只有一個神經元，並且不使用激活函數（或視為 </a:t>
                </a:r>
                <a:r>
                  <a:rPr kumimoji="1" lang="en-US" altLang="zh-TW" dirty="0"/>
                  <a:t>linear activation</a:t>
                </a:r>
                <a:r>
                  <a:rPr kumimoji="1" lang="zh-TW" altLang="en-US" dirty="0"/>
                  <a:t>）。</a:t>
                </a:r>
              </a:p>
            </p:txBody>
          </p:sp>
        </mc:Choice>
        <mc:Fallback xmlns="">
          <p:sp>
            <p:nvSpPr>
              <p:cNvPr id="3" name="內容版面配置區 2">
                <a:extLst>
                  <a:ext uri="{FF2B5EF4-FFF2-40B4-BE49-F238E27FC236}">
                    <a16:creationId xmlns:a16="http://schemas.microsoft.com/office/drawing/2014/main" id="{8BF2B25B-0085-29A5-6895-08C444A0F4CE}"/>
                  </a:ext>
                </a:extLst>
              </p:cNvPr>
              <p:cNvSpPr>
                <a:spLocks noGrp="1" noRot="1" noChangeAspect="1" noMove="1" noResize="1" noEditPoints="1" noAdjustHandles="1" noChangeArrowheads="1" noChangeShapeType="1" noTextEdit="1"/>
              </p:cNvSpPr>
              <p:nvPr>
                <p:ph idx="1"/>
              </p:nvPr>
            </p:nvSpPr>
            <p:spPr>
              <a:blipFill>
                <a:blip r:embed="rId2"/>
                <a:stretch>
                  <a:fillRect l="-1892" t="-134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A674AA2-6D6D-D7C1-BC5E-572940045FC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D714447-1C51-3CEE-B21E-FA0248563C1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396519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281B9A-EDBE-B6D2-AB4D-8128F855C876}"/>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3932F85-6E27-A0AE-EBCE-0B8FF8303B3D}"/>
                  </a:ext>
                </a:extLst>
              </p:cNvPr>
              <p:cNvSpPr>
                <a:spLocks noGrp="1"/>
              </p:cNvSpPr>
              <p:nvPr>
                <p:ph idx="1"/>
              </p:nvPr>
            </p:nvSpPr>
            <p:spPr>
              <a:xfrm>
                <a:off x="1097280" y="2004029"/>
                <a:ext cx="10058400" cy="4200002"/>
              </a:xfrm>
            </p:spPr>
            <p:txBody>
              <a:bodyPr>
                <a:noAutofit/>
              </a:bodyPr>
              <a:lstStyle/>
              <a:p>
                <a:r>
                  <a:rPr kumimoji="1" lang="zh-TW" altLang="en-US" dirty="0"/>
                  <a:t>二元分類任務中，最常見的損失函數 </a:t>
                </a:r>
                <a:r>
                  <a:rPr kumimoji="1" lang="en-US" altLang="zh-TW" b="1" dirty="0">
                    <a:solidFill>
                      <a:srgbClr val="FF0000"/>
                    </a:solidFill>
                  </a:rPr>
                  <a:t>Binary</a:t>
                </a:r>
                <a:r>
                  <a:rPr kumimoji="1" lang="zh-TW" altLang="en-US" b="1" dirty="0">
                    <a:solidFill>
                      <a:srgbClr val="FF0000"/>
                    </a:solidFill>
                  </a:rPr>
                  <a:t> </a:t>
                </a:r>
                <a:r>
                  <a:rPr kumimoji="1" lang="en-US" altLang="zh-TW" b="1" dirty="0">
                    <a:solidFill>
                      <a:srgbClr val="FF0000"/>
                    </a:solidFill>
                  </a:rPr>
                  <a:t>Cross-Entropy Loss, BCE</a:t>
                </a:r>
                <a:r>
                  <a:rPr kumimoji="1" lang="zh-TW" altLang="en-US" dirty="0"/>
                  <a:t>。若 </a:t>
                </a:r>
                <a:r>
                  <a:rPr kumimoji="1" lang="en-US" altLang="zh-TW" dirty="0"/>
                  <a:t>Binary</a:t>
                </a:r>
                <a:r>
                  <a:rPr kumimoji="1" lang="zh-TW" altLang="en-US" dirty="0"/>
                  <a:t> </a:t>
                </a:r>
                <a:r>
                  <a:rPr kumimoji="1" lang="en-US" altLang="zh-TW" dirty="0"/>
                  <a:t>Classification</a:t>
                </a:r>
                <a:r>
                  <a:rPr kumimoji="1" lang="zh-TW" altLang="en-US" dirty="0"/>
                  <a:t> 任務中訓練的資料是</a:t>
                </a:r>
                <a:endParaRPr kumimoji="1" lang="en-US" altLang="zh-TW" dirty="0"/>
              </a:p>
              <a:p>
                <a:pPr algn="ctr"/>
                <a:r>
                  <a:rPr kumimoji="1" lang="zh-TW" altLang="en-US" dirty="0"/>
                  <a:t> </a:t>
                </a:r>
                <a14:m>
                  <m:oMath xmlns:m="http://schemas.openxmlformats.org/officeDocument/2006/math">
                    <m:d>
                      <m:dPr>
                        <m:begChr m:val="{"/>
                        <m:endChr m:val="}"/>
                        <m:ctrlPr>
                          <a:rPr kumimoji="1" lang="en-US" altLang="zh-TW" i="1">
                            <a:latin typeface="Cambria Math" panose="02040503050406030204" pitchFamily="18" charset="0"/>
                          </a:rPr>
                        </m:ctrlPr>
                      </m:dPr>
                      <m:e>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1,</m:t>
                                </m:r>
                                <m:r>
                                  <a:rPr kumimoji="1" lang="zh-TW" altLang="en-US" i="1">
                                    <a:latin typeface="Cambria Math" panose="02040503050406030204" pitchFamily="18" charset="0"/>
                                  </a:rPr>
                                  <m:t> </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d>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2,</m:t>
                                </m:r>
                                <m:r>
                                  <a:rPr kumimoji="1" lang="zh-TW" altLang="en-US" i="1">
                                    <a:latin typeface="Cambria Math" panose="02040503050406030204" pitchFamily="18" charset="0"/>
                                  </a:rPr>
                                  <m:t> </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2</m:t>
                                </m:r>
                              </m:sub>
                            </m:sSub>
                          </m:e>
                        </m:d>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𝑛</m:t>
                                </m:r>
                                <m:r>
                                  <a:rPr kumimoji="1" lang="zh-TW" altLang="en-US" i="1">
                                    <a:latin typeface="Cambria Math" panose="02040503050406030204" pitchFamily="18" charset="0"/>
                                  </a:rPr>
                                  <m:t> </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d>
                      </m:e>
                    </m:d>
                  </m:oMath>
                </a14:m>
                <a:endParaRPr kumimoji="1" lang="en-US" altLang="zh-TW" dirty="0"/>
              </a:p>
              <a:p>
                <a:r>
                  <a:rPr kumimoji="1" lang="zh-TW" altLang="en-US" dirty="0"/>
                  <a:t>其中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ea typeface="Cambria Math" panose="02040503050406030204" pitchFamily="18" charset="0"/>
                      </a:rPr>
                      <m:t>∈{0,</m:t>
                    </m:r>
                    <m:r>
                      <a:rPr kumimoji="1" lang="zh-TW" altLang="en-US" i="1">
                        <a:latin typeface="Cambria Math" panose="02040503050406030204" pitchFamily="18" charset="0"/>
                        <a:ea typeface="Cambria Math" panose="02040503050406030204" pitchFamily="18" charset="0"/>
                      </a:rPr>
                      <m:t> </m:t>
                    </m:r>
                    <m:r>
                      <a:rPr kumimoji="1" lang="en-US" altLang="zh-TW" i="1">
                        <a:latin typeface="Cambria Math" panose="02040503050406030204" pitchFamily="18" charset="0"/>
                        <a:ea typeface="Cambria Math" panose="02040503050406030204" pitchFamily="18" charset="0"/>
                      </a:rPr>
                      <m:t>1}</m:t>
                    </m:r>
                  </m:oMath>
                </a14:m>
                <a:r>
                  <a:rPr kumimoji="1" lang="zh-TW" altLang="en-US" dirty="0"/>
                  <a:t>，且模型對每筆資料的輸出值是機率值 </a:t>
                </a:r>
                <a14:m>
                  <m:oMath xmlns:m="http://schemas.openxmlformats.org/officeDocument/2006/math">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oMath>
                </a14:m>
                <a:r>
                  <a:rPr kumimoji="1" lang="zh-TW" altLang="en-US" dirty="0"/>
                  <a:t>。則我們</a:t>
                </a:r>
                <a:r>
                  <a:rPr lang="zh-TW" altLang="en-US" dirty="0"/>
                  <a:t>可以使用以下的式子來衡量此模型的預測結果好壞：</a:t>
                </a:r>
                <a:endParaRPr lang="en-US" altLang="zh-TW" dirty="0"/>
              </a:p>
              <a:p>
                <a:pPr algn="ctr"/>
                <a14:m>
                  <m:oMath xmlns:m="http://schemas.openxmlformats.org/officeDocument/2006/math">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oMath>
                </a14:m>
                <a:r>
                  <a:rPr kumimoji="1" lang="en-US" altLang="zh-TW" dirty="0"/>
                  <a:t> </a:t>
                </a:r>
              </a:p>
              <a:p>
                <a:pPr marL="457200" indent="-457200">
                  <a:buFont typeface="+mj-lt"/>
                  <a:buAutoNum type="arabicPeriod"/>
                </a:pPr>
                <a:r>
                  <a:rPr kumimoji="1" lang="zh-TW" altLang="en-US" dirty="0"/>
                  <a:t>若</a:t>
                </a:r>
                <a14:m>
                  <m:oMath xmlns:m="http://schemas.openxmlformats.org/officeDocument/2006/math">
                    <m:r>
                      <a:rPr kumimoji="1" lang="zh-TW" altLang="en-US">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=1</m:t>
                    </m:r>
                  </m:oMath>
                </a14:m>
                <a:r>
                  <a:rPr kumimoji="1" lang="zh-TW" altLang="en-US" dirty="0"/>
                  <a:t>，則以上式子會變成 </a:t>
                </a:r>
                <a14:m>
                  <m:oMath xmlns:m="http://schemas.openxmlformats.org/officeDocument/2006/math">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oMath>
                </a14:m>
                <a:r>
                  <a:rPr kumimoji="1" lang="zh-TW" altLang="en-US" dirty="0"/>
                  <a:t>。</a:t>
                </a:r>
                <a:r>
                  <a:rPr lang="zh-TW" altLang="en-US" dirty="0"/>
                  <a:t>也就是說，此時機率輸出值越高越好。</a:t>
                </a:r>
                <a:endParaRPr lang="en-US" altLang="zh-TW" dirty="0"/>
              </a:p>
              <a:p>
                <a:pPr marL="457200" indent="-457200">
                  <a:buFont typeface="+mj-lt"/>
                  <a:buAutoNum type="arabicPeriod"/>
                </a:pPr>
                <a:r>
                  <a:rPr kumimoji="1" lang="zh-TW" altLang="en-US" dirty="0"/>
                  <a:t>若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=0</m:t>
                    </m:r>
                  </m:oMath>
                </a14:m>
                <a:r>
                  <a:rPr kumimoji="1" lang="zh-TW" altLang="en-US" dirty="0"/>
                  <a:t>，則以上式子會變成 </a:t>
                </a:r>
                <a14:m>
                  <m:oMath xmlns:m="http://schemas.openxmlformats.org/officeDocument/2006/math">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 </m:t>
                    </m:r>
                  </m:oMath>
                </a14:m>
                <a:r>
                  <a:rPr kumimoji="1" lang="zh-TW" altLang="en-US" dirty="0"/>
                  <a:t>。</a:t>
                </a:r>
                <a:r>
                  <a:rPr lang="zh-TW" altLang="en-US" dirty="0"/>
                  <a:t>也就是說，此時機率輸出值越低越好。</a:t>
                </a:r>
                <a:endParaRPr lang="en-US" altLang="zh-TW" dirty="0"/>
              </a:p>
            </p:txBody>
          </p:sp>
        </mc:Choice>
        <mc:Fallback xmlns="">
          <p:sp>
            <p:nvSpPr>
              <p:cNvPr id="3" name="內容版面配置區 2">
                <a:extLst>
                  <a:ext uri="{FF2B5EF4-FFF2-40B4-BE49-F238E27FC236}">
                    <a16:creationId xmlns:a16="http://schemas.microsoft.com/office/drawing/2014/main" id="{43932F85-6E27-A0AE-EBCE-0B8FF8303B3D}"/>
                  </a:ext>
                </a:extLst>
              </p:cNvPr>
              <p:cNvSpPr>
                <a:spLocks noGrp="1" noRot="1" noChangeAspect="1" noMove="1" noResize="1" noEditPoints="1" noAdjustHandles="1" noChangeArrowheads="1" noChangeShapeType="1" noTextEdit="1"/>
              </p:cNvSpPr>
              <p:nvPr>
                <p:ph idx="1"/>
              </p:nvPr>
            </p:nvSpPr>
            <p:spPr>
              <a:xfrm>
                <a:off x="1097280" y="2004029"/>
                <a:ext cx="10058400" cy="4200002"/>
              </a:xfrm>
              <a:blipFill>
                <a:blip r:embed="rId2"/>
                <a:stretch>
                  <a:fillRect l="-1765" t="-904" r="-4918" b="-662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33EBD64B-CA2B-C50C-AFEC-BA8E7F99B3F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B4E965A-04A4-1852-9CD0-12FB399E267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845303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E31DCF-6ED6-6C9C-E8A7-3029D36A2417}"/>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ED66E7D-1639-08F1-89BF-10978BE9C368}"/>
                  </a:ext>
                </a:extLst>
              </p:cNvPr>
              <p:cNvSpPr>
                <a:spLocks noGrp="1"/>
              </p:cNvSpPr>
              <p:nvPr>
                <p:ph idx="1"/>
              </p:nvPr>
            </p:nvSpPr>
            <p:spPr/>
            <p:txBody>
              <a:bodyPr>
                <a:normAutofit lnSpcReduction="10000"/>
              </a:bodyPr>
              <a:lstStyle/>
              <a:p>
                <a:r>
                  <a:rPr lang="zh-TW" altLang="en-US" dirty="0"/>
                  <a:t>對於整個資料集來說，我們希望：</a:t>
                </a:r>
                <a:endParaRPr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e>
                      </m:nary>
                      <m:r>
                        <a:rPr lang="en-US" altLang="zh-TW" i="1">
                          <a:latin typeface="Cambria Math" panose="02040503050406030204" pitchFamily="18" charset="0"/>
                        </a:rPr>
                        <m:t>)</m:t>
                      </m:r>
                    </m:oMath>
                  </m:oMathPara>
                </a14:m>
                <a:endParaRPr kumimoji="1" lang="en-US" altLang="zh-TW" dirty="0"/>
              </a:p>
              <a:p>
                <a:r>
                  <a:rPr kumimoji="1" lang="zh-TW" altLang="en-US" dirty="0"/>
                  <a:t>越大越好。</a:t>
                </a:r>
                <a:r>
                  <a:rPr lang="zh-TW" altLang="en-US" dirty="0"/>
                  <a:t>因為多個介於 </a:t>
                </a:r>
                <a:r>
                  <a:rPr lang="en-US" altLang="zh-TW" dirty="0"/>
                  <a:t>0,</a:t>
                </a:r>
                <a:r>
                  <a:rPr lang="zh-TW" altLang="en-US" dirty="0"/>
                  <a:t> </a:t>
                </a:r>
                <a:r>
                  <a:rPr lang="en-US" altLang="zh-TW" dirty="0"/>
                  <a:t>1</a:t>
                </a:r>
                <a:r>
                  <a:rPr lang="zh-TW" altLang="en-US" dirty="0"/>
                  <a:t> 之間的數的乘積會越乘越小，造成電腦無法計算。所以我們可以取 </a:t>
                </a:r>
                <a:r>
                  <a:rPr lang="en-US" altLang="zh-TW" dirty="0"/>
                  <a:t>log</a:t>
                </a:r>
                <a:r>
                  <a:rPr lang="zh-TW" altLang="en-US" dirty="0"/>
                  <a:t>（取 </a:t>
                </a:r>
                <a:r>
                  <a:rPr lang="en-US" altLang="zh-TW" dirty="0"/>
                  <a:t>log</a:t>
                </a:r>
                <a:r>
                  <a:rPr lang="zh-TW" altLang="en-US" dirty="0"/>
                  <a:t> 前後的相對大小不會改變），將上面的式子變成：</a:t>
                </a:r>
                <a:endParaRPr lang="en-US" altLang="zh-TW" dirty="0"/>
              </a:p>
              <a:p>
                <a14:m>
                  <m:oMath xmlns:m="http://schemas.openxmlformats.org/officeDocument/2006/math">
                    <m:r>
                      <m:rPr>
                        <m:sty m:val="p"/>
                      </m:rPr>
                      <a:rPr kumimoji="1" lang="en-US" altLang="zh-TW">
                        <a:latin typeface="Cambria Math" panose="02040503050406030204" pitchFamily="18" charset="0"/>
                      </a:rPr>
                      <m:t>log</m:t>
                    </m:r>
                    <m:r>
                      <a:rPr kumimoji="1" lang="en-US" altLang="zh-TW" i="1">
                        <a:latin typeface="Cambria Math" panose="02040503050406030204" pitchFamily="18" charset="0"/>
                      </a:rPr>
                      <m:t>⁡(</m:t>
                    </m:r>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d>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sup>
                        </m:sSup>
                      </m:e>
                    </m:nary>
                    <m:r>
                      <a:rPr lang="en-US" altLang="zh-TW" i="1">
                        <a:latin typeface="Cambria Math" panose="02040503050406030204" pitchFamily="18" charset="0"/>
                      </a:rPr>
                      <m:t>)</m:t>
                    </m:r>
                    <m:r>
                      <a:rPr kumimoji="1" lang="en-US" altLang="zh-TW" i="1">
                        <a:latin typeface="Cambria Math" panose="02040503050406030204" pitchFamily="18" charset="0"/>
                      </a:rPr>
                      <m:t>)</m:t>
                    </m:r>
                  </m:oMath>
                </a14:m>
                <a:endParaRPr kumimoji="1" lang="en-US" altLang="zh-TW" i="1" dirty="0">
                  <a:latin typeface="Cambria Math" panose="02040503050406030204" pitchFamily="18" charset="0"/>
                </a:endParaRPr>
              </a:p>
              <a:p>
                <a14:m>
                  <m:oMath xmlns:m="http://schemas.openxmlformats.org/officeDocument/2006/math">
                    <m:r>
                      <a:rPr kumimoji="1" lang="en-US" altLang="zh-TW" i="1">
                        <a:latin typeface="Cambria Math" panose="02040503050406030204" pitchFamily="18" charset="0"/>
                      </a:rPr>
                      <m:t>=</m:t>
                    </m:r>
                    <m:r>
                      <m:rPr>
                        <m:sty m:val="p"/>
                      </m:rPr>
                      <a:rPr kumimoji="1" lang="en-US" altLang="zh-TW">
                        <a:latin typeface="Cambria Math" panose="02040503050406030204" pitchFamily="18" charset="0"/>
                      </a:rPr>
                      <m:t>log</m:t>
                    </m:r>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sup>
                    </m:sSup>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e>
                        </m:d>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sup>
                    </m:sSup>
                    <m:r>
                      <a:rPr kumimoji="1" lang="en-US" altLang="zh-TW" i="1">
                        <a:latin typeface="Cambria Math" panose="02040503050406030204" pitchFamily="18" charset="0"/>
                      </a:rPr>
                      <m:t>)+…+</m:t>
                    </m:r>
                    <m:r>
                      <m:rPr>
                        <m:sty m:val="p"/>
                      </m:rPr>
                      <a:rPr kumimoji="1" lang="en-US" altLang="zh-TW">
                        <a:latin typeface="Cambria Math" panose="02040503050406030204" pitchFamily="18" charset="0"/>
                      </a:rPr>
                      <m:t>log</m:t>
                    </m:r>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sup>
                    </m:sSup>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d>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sup>
                    </m:sSup>
                    <m:r>
                      <a:rPr kumimoji="1" lang="en-US" altLang="zh-TW" i="1">
                        <a:latin typeface="Cambria Math" panose="02040503050406030204" pitchFamily="18" charset="0"/>
                      </a:rPr>
                      <m:t>)</m:t>
                    </m:r>
                  </m:oMath>
                </a14:m>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AED66E7D-1639-08F1-89BF-10978BE9C368}"/>
                  </a:ext>
                </a:extLst>
              </p:cNvPr>
              <p:cNvSpPr>
                <a:spLocks noGrp="1" noRot="1" noChangeAspect="1" noMove="1" noResize="1" noEditPoints="1" noAdjustHandles="1" noChangeArrowheads="1" noChangeShapeType="1" noTextEdit="1"/>
              </p:cNvSpPr>
              <p:nvPr>
                <p:ph idx="1"/>
              </p:nvPr>
            </p:nvSpPr>
            <p:spPr>
              <a:blipFill>
                <a:blip r:embed="rId2"/>
                <a:stretch>
                  <a:fillRect l="-1892" t="-22222" r="-631" b="-808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3CBC1D3-4C79-38DE-9C5C-A4907916CBD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17E99C3-8418-B74A-B9B5-DE861D51BA2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935881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2F8BBB-4CEC-BE8B-A7EA-0392848E870B}"/>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2D0D92E-11FE-9B62-9B60-3FF4E0943455}"/>
                  </a:ext>
                </a:extLst>
              </p:cNvPr>
              <p:cNvSpPr>
                <a:spLocks noGrp="1"/>
              </p:cNvSpPr>
              <p:nvPr>
                <p:ph idx="1"/>
              </p:nvPr>
            </p:nvSpPr>
            <p:spPr>
              <a:xfrm>
                <a:off x="1097280" y="2108201"/>
                <a:ext cx="10058400" cy="4118979"/>
              </a:xfrm>
            </p:spPr>
            <p:txBody>
              <a:bodyPr>
                <a:normAutofit/>
              </a:bodyPr>
              <a:lstStyle/>
              <a:p>
                <a14:m>
                  <m:oMath xmlns:m="http://schemas.openxmlformats.org/officeDocument/2006/math">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sup>
                        </m:sSup>
                      </m:e>
                    </m:func>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e>
                            </m:d>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sup>
                        </m:sSup>
                      </m:e>
                    </m:func>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sup>
                        </m:sSup>
                      </m:e>
                    </m:func>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d>
                          </m:e>
                          <m:sup>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sup>
                        </m:sSup>
                      </m:e>
                    </m:func>
                  </m:oMath>
                </a14:m>
                <a:endParaRPr kumimoji="1" lang="en-US" altLang="zh-TW" dirty="0"/>
              </a:p>
              <a:p>
                <a14:m>
                  <m:oMath xmlns:m="http://schemas.openxmlformats.org/officeDocument/2006/math">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1</m:t>
                                </m:r>
                              </m:sub>
                            </m:sSub>
                          </m:e>
                        </m:acc>
                        <m:r>
                          <a:rPr kumimoji="1" lang="en-US" altLang="zh-TW" i="1">
                            <a:latin typeface="Cambria Math" panose="02040503050406030204" pitchFamily="18" charset="0"/>
                          </a:rPr>
                          <m:t>)</m:t>
                        </m:r>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𝑛</m:t>
                                    </m:r>
                                  </m:sub>
                                </m:sSub>
                              </m:e>
                            </m:acc>
                          </m:e>
                        </m:d>
                      </m:e>
                    </m:func>
                  </m:oMath>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rPr>
                        <m:t>=</m:t>
                      </m:r>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func>
                          <m:r>
                            <a:rPr kumimoji="1" lang="en-US" altLang="zh-TW" i="1">
                              <a:latin typeface="Cambria Math" panose="02040503050406030204" pitchFamily="18" charset="0"/>
                            </a:rPr>
                            <m:t>)</m:t>
                          </m:r>
                        </m:e>
                      </m:nary>
                    </m:oMath>
                  </m:oMathPara>
                </a14:m>
                <a:endParaRPr kumimoji="1" lang="en-US" altLang="zh-TW" dirty="0"/>
              </a:p>
              <a:p>
                <a:r>
                  <a:rPr kumimoji="1" lang="zh-TW" altLang="en-US" dirty="0"/>
                  <a:t>這個公式被稱為 </a:t>
                </a:r>
                <a:r>
                  <a:rPr kumimoji="1" lang="en-US" altLang="zh-TW" dirty="0"/>
                  <a:t>Binary</a:t>
                </a:r>
                <a:r>
                  <a:rPr kumimoji="1" lang="zh-TW" altLang="en-US" dirty="0"/>
                  <a:t> </a:t>
                </a:r>
                <a:r>
                  <a:rPr kumimoji="1" lang="en-US" altLang="zh-TW" dirty="0"/>
                  <a:t>Cross</a:t>
                </a:r>
                <a:r>
                  <a:rPr kumimoji="1" lang="zh-TW" altLang="en-US" dirty="0"/>
                  <a:t> </a:t>
                </a:r>
                <a:r>
                  <a:rPr kumimoji="1" lang="en-US" altLang="zh-TW" dirty="0"/>
                  <a:t>Entropy</a:t>
                </a:r>
                <a:r>
                  <a:rPr kumimoji="1" lang="zh-TW" altLang="en-US" dirty="0"/>
                  <a:t>。另外，因為機器學習的演算法通常是 </a:t>
                </a:r>
                <a:r>
                  <a:rPr kumimoji="1" lang="en-US" altLang="zh-TW" dirty="0"/>
                  <a:t>minimize</a:t>
                </a:r>
                <a:r>
                  <a:rPr kumimoji="1" lang="zh-TW" altLang="en-US" dirty="0"/>
                  <a:t> </a:t>
                </a:r>
                <a:r>
                  <a:rPr kumimoji="1" lang="en-US" altLang="zh-TW" dirty="0"/>
                  <a:t>loss</a:t>
                </a:r>
                <a:r>
                  <a:rPr kumimoji="1" lang="zh-TW" altLang="en-US" dirty="0"/>
                  <a:t>，所以我們會在此公式前加上一個負號。最後公式：</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rPr>
                        <m:t>−</m:t>
                      </m:r>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func>
                          <m:r>
                            <a:rPr kumimoji="1" lang="en-US" altLang="zh-TW" i="1">
                              <a:latin typeface="Cambria Math" panose="02040503050406030204" pitchFamily="18" charset="0"/>
                            </a:rPr>
                            <m:t>)</m:t>
                          </m:r>
                        </m:e>
                      </m:nary>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72D0D92E-11FE-9B62-9B60-3FF4E0943455}"/>
                  </a:ext>
                </a:extLst>
              </p:cNvPr>
              <p:cNvSpPr>
                <a:spLocks noGrp="1" noRot="1" noChangeAspect="1" noMove="1" noResize="1" noEditPoints="1" noAdjustHandles="1" noChangeArrowheads="1" noChangeShapeType="1" noTextEdit="1"/>
              </p:cNvSpPr>
              <p:nvPr>
                <p:ph idx="1"/>
              </p:nvPr>
            </p:nvSpPr>
            <p:spPr>
              <a:xfrm>
                <a:off x="1097280" y="2108201"/>
                <a:ext cx="10058400" cy="4118979"/>
              </a:xfrm>
              <a:blipFill>
                <a:blip r:embed="rId2"/>
                <a:stretch>
                  <a:fillRect l="-8575" t="-6154" b="-4000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E360C61-F178-F2F5-48EB-EE5CDAF1ECB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6FF592A-3609-9513-7BD4-8577B9063C0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12831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ED9890-AF08-1795-799C-9DF367329384}"/>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p:sp>
        <p:nvSpPr>
          <p:cNvPr id="3" name="內容版面配置區 2">
            <a:extLst>
              <a:ext uri="{FF2B5EF4-FFF2-40B4-BE49-F238E27FC236}">
                <a16:creationId xmlns:a16="http://schemas.microsoft.com/office/drawing/2014/main" id="{9E22541A-2E89-E359-6AEE-63D404B713EE}"/>
              </a:ext>
            </a:extLst>
          </p:cNvPr>
          <p:cNvSpPr>
            <a:spLocks noGrp="1"/>
          </p:cNvSpPr>
          <p:nvPr>
            <p:ph idx="1"/>
          </p:nvPr>
        </p:nvSpPr>
        <p:spPr/>
        <p:txBody>
          <a:bodyPr/>
          <a:lstStyle/>
          <a:p>
            <a:r>
              <a:rPr kumimoji="1" lang="zh-TW" altLang="en-US" dirty="0"/>
              <a:t>此外，二元分類任務需要的輸出值是一個介於 </a:t>
            </a:r>
            <a:r>
              <a:rPr kumimoji="1" lang="en-US" altLang="zh-TW" dirty="0"/>
              <a:t>0 </a:t>
            </a:r>
            <a:r>
              <a:rPr kumimoji="1" lang="zh-TW" altLang="en-US" dirty="0"/>
              <a:t>與 </a:t>
            </a:r>
            <a:r>
              <a:rPr kumimoji="1" lang="en-US" altLang="zh-TW" dirty="0"/>
              <a:t>1 </a:t>
            </a:r>
            <a:r>
              <a:rPr kumimoji="1" lang="zh-TW" altLang="en-US" dirty="0"/>
              <a:t>之間的機率值，代表屬於正類的機率。因此 </a:t>
            </a:r>
            <a:r>
              <a:rPr kumimoji="1" lang="en-US" altLang="zh-TW" dirty="0"/>
              <a:t>output layer </a:t>
            </a:r>
            <a:r>
              <a:rPr kumimoji="1" lang="zh-TW" altLang="en-US" dirty="0"/>
              <a:t>通常只有一個神經元，並且使用 </a:t>
            </a:r>
            <a:r>
              <a:rPr kumimoji="1" lang="en-US" altLang="zh-TW" dirty="0"/>
              <a:t>sigmoid</a:t>
            </a:r>
            <a:r>
              <a:rPr kumimoji="1" lang="zh-TW" altLang="en-US" dirty="0"/>
              <a:t> </a:t>
            </a:r>
            <a:r>
              <a:rPr kumimoji="1" lang="en-US" altLang="zh-TW" dirty="0"/>
              <a:t>activation</a:t>
            </a:r>
            <a:r>
              <a:rPr kumimoji="1" lang="zh-TW" altLang="en-US" dirty="0"/>
              <a:t> </a:t>
            </a:r>
            <a:r>
              <a:rPr kumimoji="1" lang="en-US" altLang="zh-TW" dirty="0"/>
              <a:t>function</a:t>
            </a:r>
            <a:r>
              <a:rPr kumimoji="1" lang="zh-TW" altLang="en-US" dirty="0"/>
              <a:t>。</a:t>
            </a:r>
          </a:p>
        </p:txBody>
      </p:sp>
      <p:sp>
        <p:nvSpPr>
          <p:cNvPr id="4" name="日期版面配置區 3">
            <a:extLst>
              <a:ext uri="{FF2B5EF4-FFF2-40B4-BE49-F238E27FC236}">
                <a16:creationId xmlns:a16="http://schemas.microsoft.com/office/drawing/2014/main" id="{0A800A39-F8CA-2E87-4B77-61CBA0BC7BB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62D256A-3E58-8396-8681-8B32B29C198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664813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796D1-1A77-1254-648D-225CF240D242}"/>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05BFDEC-A2E8-64D1-BF27-D69D7E4E1039}"/>
                  </a:ext>
                </a:extLst>
              </p:cNvPr>
              <p:cNvSpPr>
                <a:spLocks noGrp="1"/>
              </p:cNvSpPr>
              <p:nvPr>
                <p:ph idx="1"/>
              </p:nvPr>
            </p:nvSpPr>
            <p:spPr>
              <a:xfrm>
                <a:off x="1097280" y="2108201"/>
                <a:ext cx="10058400" cy="4072680"/>
              </a:xfrm>
            </p:spPr>
            <p:txBody>
              <a:bodyPr>
                <a:normAutofit/>
              </a:bodyPr>
              <a:lstStyle/>
              <a:p>
                <a:r>
                  <a:rPr kumimoji="1" lang="zh-TW" altLang="en-US" dirty="0"/>
                  <a:t>對於多元分類問題，損失函數的推導過程如下。首先，模型對第 </a:t>
                </a:r>
                <a14:m>
                  <m:oMath xmlns:m="http://schemas.openxmlformats.org/officeDocument/2006/math">
                    <m:r>
                      <a:rPr kumimoji="1" lang="en-US" altLang="zh-TW" b="0" i="1" smtClean="0">
                        <a:latin typeface="Cambria Math" panose="02040503050406030204" pitchFamily="18" charset="0"/>
                      </a:rPr>
                      <m:t>𝑗</m:t>
                    </m:r>
                  </m:oMath>
                </a14:m>
                <a:r>
                  <a:rPr kumimoji="1" lang="zh-TW" altLang="en-US" dirty="0"/>
                  <a:t> 筆資料的輸出值 </a:t>
                </a:r>
                <a14:m>
                  <m:oMath xmlns:m="http://schemas.openxmlformats.org/officeDocument/2006/math">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e>
                    </m:acc>
                  </m:oMath>
                </a14:m>
                <a:r>
                  <a:rPr kumimoji="1" lang="zh-TW" altLang="en-US" dirty="0"/>
                  <a:t> 是一個機率向量，其中每個元素代表對一個類別的預測機率，且向量內的所有元素和為 </a:t>
                </a:r>
                <a:r>
                  <a:rPr kumimoji="1" lang="en-US" altLang="zh-TW" dirty="0"/>
                  <a:t>1</a:t>
                </a:r>
                <a:r>
                  <a:rPr kumimoji="1" lang="zh-TW" altLang="en-US" dirty="0"/>
                  <a:t>（通常透過 </a:t>
                </a:r>
                <a:r>
                  <a:rPr kumimoji="1" lang="en-US" altLang="zh-TW" dirty="0" err="1"/>
                  <a:t>Softmax</a:t>
                </a:r>
                <a:r>
                  <a:rPr kumimoji="1" lang="zh-TW" altLang="en-US" dirty="0"/>
                  <a:t> 等方式生成機率向量）。例如</a:t>
                </a:r>
                <a14:m>
                  <m:oMath xmlns:m="http://schemas.openxmlformats.org/officeDocument/2006/math">
                    <m:acc>
                      <m:accPr>
                        <m:chr m:val="̂"/>
                        <m:ctrlPr>
                          <a:rPr kumimoji="1" lang="zh-TW" altLang="en-US" i="1">
                            <a:latin typeface="Cambria Math" panose="02040503050406030204" pitchFamily="18" charset="0"/>
                          </a:rPr>
                        </m:ctrlPr>
                      </m:accPr>
                      <m:e>
                        <m:r>
                          <a:rPr kumimoji="1" lang="zh-TW" altLang="en-US" i="1">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e>
                    </m:acc>
                    <m:r>
                      <a:rPr kumimoji="1" lang="en-US" altLang="zh-TW" i="1">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acc>
                              <m:accPr>
                                <m:chr m:val="̂"/>
                                <m:ctrlPr>
                                  <a:rPr kumimoji="1" lang="zh-TW" altLang="en-US" i="1">
                                    <a:latin typeface="Cambria Math" panose="02040503050406030204" pitchFamily="18" charset="0"/>
                                  </a:rPr>
                                </m:ctrlPr>
                              </m:accPr>
                              <m:e>
                                <m:r>
                                  <a:rPr kumimoji="1" lang="zh-TW" altLang="en-US" i="1">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 </m:t>
                                    </m:r>
                                    <m:r>
                                      <a:rPr kumimoji="1" lang="en-US" altLang="zh-TW" i="1">
                                        <a:latin typeface="Cambria Math" panose="02040503050406030204" pitchFamily="18" charset="0"/>
                                      </a:rPr>
                                      <m:t>𝑑𝑜𝑔</m:t>
                                    </m:r>
                                  </m:sub>
                                </m:sSub>
                              </m:e>
                            </m:acc>
                          </m:e>
                          <m:e>
                            <m:acc>
                              <m:accPr>
                                <m:chr m:val="̂"/>
                                <m:ctrlPr>
                                  <a:rPr kumimoji="1" lang="zh-TW" altLang="en-US" i="1">
                                    <a:latin typeface="Cambria Math" panose="02040503050406030204" pitchFamily="18" charset="0"/>
                                  </a:rPr>
                                </m:ctrlPr>
                              </m:accPr>
                              <m:e>
                                <m:r>
                                  <a:rPr kumimoji="1" lang="zh-TW" altLang="en-US" i="1">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 </m:t>
                                    </m:r>
                                    <m:r>
                                      <a:rPr kumimoji="1" lang="en-US" altLang="zh-TW" i="1">
                                        <a:latin typeface="Cambria Math" panose="02040503050406030204" pitchFamily="18" charset="0"/>
                                      </a:rPr>
                                      <m:t>𝑐𝑎𝑡</m:t>
                                    </m:r>
                                  </m:sub>
                                </m:sSub>
                              </m:e>
                            </m:acc>
                          </m:e>
                          <m:e>
                            <m:acc>
                              <m:accPr>
                                <m:chr m:val="̂"/>
                                <m:ctrlPr>
                                  <a:rPr kumimoji="1" lang="zh-TW" altLang="en-US" i="1">
                                    <a:latin typeface="Cambria Math" panose="02040503050406030204" pitchFamily="18" charset="0"/>
                                  </a:rPr>
                                </m:ctrlPr>
                              </m:accPr>
                              <m:e>
                                <m:r>
                                  <a:rPr kumimoji="1" lang="zh-TW" altLang="en-US" i="1">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 </m:t>
                                    </m:r>
                                    <m:r>
                                      <a:rPr kumimoji="1" lang="en-US" altLang="zh-TW" i="1">
                                        <a:latin typeface="Cambria Math" panose="02040503050406030204" pitchFamily="18" charset="0"/>
                                      </a:rPr>
                                      <m:t>𝑏𝑖𝑟𝑑</m:t>
                                    </m:r>
                                  </m:sub>
                                </m:sSub>
                              </m:e>
                            </m:acc>
                          </m:e>
                        </m:eqArr>
                      </m:e>
                    </m:d>
                    <m:r>
                      <a:rPr kumimoji="1" lang="en-US" altLang="zh-TW" i="1">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r>
                              <a:rPr kumimoji="1" lang="en-US" altLang="zh-TW" i="1">
                                <a:latin typeface="Cambria Math" panose="02040503050406030204" pitchFamily="18" charset="0"/>
                              </a:rPr>
                              <m:t>0.5</m:t>
                            </m:r>
                          </m:e>
                          <m:e>
                            <m:r>
                              <a:rPr kumimoji="1" lang="en-US" altLang="zh-TW" i="1">
                                <a:latin typeface="Cambria Math" panose="02040503050406030204" pitchFamily="18" charset="0"/>
                              </a:rPr>
                              <m:t>0.3</m:t>
                            </m:r>
                          </m:e>
                          <m:e>
                            <m:r>
                              <a:rPr kumimoji="1" lang="en-US" altLang="zh-TW" i="1">
                                <a:latin typeface="Cambria Math" panose="02040503050406030204" pitchFamily="18" charset="0"/>
                              </a:rPr>
                              <m:t>0.2</m:t>
                            </m:r>
                          </m:e>
                        </m:eqArr>
                      </m:e>
                    </m:d>
                    <m:r>
                      <a:rPr kumimoji="1" lang="zh-TW" altLang="en-US" i="1">
                        <a:latin typeface="Cambria Math" panose="02040503050406030204" pitchFamily="18" charset="0"/>
                      </a:rPr>
                      <m:t>。</m:t>
                    </m:r>
                  </m:oMath>
                </a14:m>
                <a:r>
                  <a:rPr kumimoji="1" lang="zh-TW" altLang="en-US" dirty="0"/>
                  <a:t>而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oMath>
                </a14:m>
                <a:r>
                  <a:rPr kumimoji="1" lang="zh-TW" altLang="en-US" dirty="0"/>
                  <a:t> 則是一個 </a:t>
                </a:r>
                <a:r>
                  <a:rPr kumimoji="1" lang="en-US" altLang="zh-TW" dirty="0"/>
                  <a:t>one-hot</a:t>
                </a:r>
                <a:r>
                  <a:rPr kumimoji="1" lang="zh-TW" altLang="en-US" dirty="0"/>
                  <a:t> </a:t>
                </a:r>
                <a:r>
                  <a:rPr kumimoji="1" lang="en-US" altLang="zh-TW" dirty="0"/>
                  <a:t>vector</a:t>
                </a:r>
                <a:r>
                  <a:rPr kumimoji="1" lang="zh-TW" altLang="en-US" dirty="0"/>
                  <a:t>，</a:t>
                </a:r>
                <a:r>
                  <a:rPr lang="zh-TW" altLang="en-US" dirty="0"/>
                  <a:t>也就是只有一個值是 </a:t>
                </a:r>
                <a:r>
                  <a:rPr lang="en-US" altLang="zh-TW" dirty="0"/>
                  <a:t>1</a:t>
                </a:r>
                <a:r>
                  <a:rPr lang="zh-TW" altLang="en-US" dirty="0"/>
                  <a:t>，其餘值都是 </a:t>
                </a:r>
                <a:r>
                  <a:rPr lang="en-US" altLang="zh-TW" dirty="0"/>
                  <a:t>0 </a:t>
                </a:r>
                <a:r>
                  <a:rPr lang="zh-TW" altLang="en-US" dirty="0"/>
                  <a:t>的向量。例如，</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r>
                      <a:rPr kumimoji="1" lang="en-US" altLang="zh-TW" i="1">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𝑑𝑜𝑔</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𝑐𝑎𝑡</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𝑏𝑖𝑟𝑑</m:t>
                                </m:r>
                              </m:sub>
                            </m:sSub>
                          </m:e>
                        </m:eqArr>
                      </m:e>
                    </m:d>
                    <m:r>
                      <a:rPr kumimoji="1" lang="en-US" altLang="zh-TW" i="1">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r>
                              <a:rPr kumimoji="1" lang="en-US" altLang="zh-TW" i="1">
                                <a:latin typeface="Cambria Math" panose="02040503050406030204" pitchFamily="18" charset="0"/>
                              </a:rPr>
                              <m:t>0</m:t>
                            </m:r>
                          </m:e>
                          <m:e>
                            <m:r>
                              <a:rPr kumimoji="1" lang="en-US" altLang="zh-TW" i="1">
                                <a:latin typeface="Cambria Math" panose="02040503050406030204" pitchFamily="18" charset="0"/>
                              </a:rPr>
                              <m:t>1</m:t>
                            </m:r>
                          </m:e>
                          <m:e>
                            <m:r>
                              <a:rPr kumimoji="1" lang="en-US" altLang="zh-TW" i="1">
                                <a:latin typeface="Cambria Math" panose="02040503050406030204" pitchFamily="18" charset="0"/>
                              </a:rPr>
                              <m:t>0</m:t>
                            </m:r>
                          </m:e>
                        </m:eqArr>
                      </m:e>
                    </m:d>
                  </m:oMath>
                </a14:m>
                <a:r>
                  <a:rPr kumimoji="1" lang="zh-TW" altLang="en-US" dirty="0"/>
                  <a:t>。</a:t>
                </a:r>
                <a:endParaRPr kumimoji="1" lang="en-US" altLang="zh-TW" dirty="0"/>
              </a:p>
            </p:txBody>
          </p:sp>
        </mc:Choice>
        <mc:Fallback xmlns="">
          <p:sp>
            <p:nvSpPr>
              <p:cNvPr id="3" name="內容版面配置區 2">
                <a:extLst>
                  <a:ext uri="{FF2B5EF4-FFF2-40B4-BE49-F238E27FC236}">
                    <a16:creationId xmlns:a16="http://schemas.microsoft.com/office/drawing/2014/main" id="{A05BFDEC-A2E8-64D1-BF27-D69D7E4E1039}"/>
                  </a:ext>
                </a:extLst>
              </p:cNvPr>
              <p:cNvSpPr>
                <a:spLocks noGrp="1" noRot="1" noChangeAspect="1" noMove="1" noResize="1" noEditPoints="1" noAdjustHandles="1" noChangeArrowheads="1" noChangeShapeType="1" noTextEdit="1"/>
              </p:cNvSpPr>
              <p:nvPr>
                <p:ph idx="1"/>
              </p:nvPr>
            </p:nvSpPr>
            <p:spPr>
              <a:xfrm>
                <a:off x="1097280" y="2108201"/>
                <a:ext cx="10058400" cy="4072680"/>
              </a:xfrm>
              <a:blipFill>
                <a:blip r:embed="rId2"/>
                <a:stretch>
                  <a:fillRect l="-1009" t="-1246" r="-163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2E3C842-D0E2-9F78-4C7B-8A50C0070DA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5BA7CAF-F17B-FD7B-0FC4-692AB4AA55C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136695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7C9113-0462-EC10-913F-793645F0BEBA}"/>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E812489-FA76-9569-CD4E-EB252DAA15FC}"/>
                  </a:ext>
                </a:extLst>
              </p:cNvPr>
              <p:cNvSpPr>
                <a:spLocks noGrp="1"/>
              </p:cNvSpPr>
              <p:nvPr>
                <p:ph idx="1"/>
              </p:nvPr>
            </p:nvSpPr>
            <p:spPr/>
            <p:txBody>
              <a:bodyPr/>
              <a:lstStyle/>
              <a:p>
                <a:r>
                  <a:rPr lang="zh-TW" altLang="en-US" dirty="0"/>
                  <a:t>我們希望 </a:t>
                </a:r>
                <a14:m>
                  <m:oMath xmlns:m="http://schemas.openxmlformats.org/officeDocument/2006/math">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e>
                    </m:acc>
                  </m:oMath>
                </a14:m>
                <a:r>
                  <a:rPr kumimoji="1" lang="zh-TW" altLang="en-US" dirty="0"/>
                  <a:t> 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sub>
                    </m:sSub>
                  </m:oMath>
                </a14:m>
                <a:r>
                  <a:rPr kumimoji="1" lang="zh-TW" altLang="en-US" dirty="0"/>
                  <a:t> 越相似越好。</a:t>
                </a:r>
                <a:r>
                  <a:rPr lang="zh-TW" altLang="en-US" dirty="0"/>
                  <a:t>用數學描述的話就是要希望以下的值越大越好：</a:t>
                </a:r>
                <a:endParaRPr lang="en-US" altLang="zh-TW" dirty="0"/>
              </a:p>
              <a:p>
                <a:pPr marL="0" indent="0">
                  <a:buNone/>
                </a:pPr>
                <a14:m>
                  <m:oMathPara xmlns:m="http://schemas.openxmlformats.org/officeDocument/2006/math">
                    <m:oMathParaPr>
                      <m:jc m:val="centerGroup"/>
                    </m:oMathParaPr>
                    <m:oMath xmlns:m="http://schemas.openxmlformats.org/officeDocument/2006/math">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𝐶</m:t>
                          </m:r>
                        </m:sup>
                        <m:e>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sup>
                          </m:sSup>
                        </m:e>
                      </m:nary>
                    </m:oMath>
                  </m:oMathPara>
                </a14:m>
                <a:endParaRPr kumimoji="1" lang="en-US" altLang="zh-TW" dirty="0"/>
              </a:p>
              <a:p>
                <a:pPr marL="457200" indent="-457200">
                  <a:buFont typeface="+mj-lt"/>
                  <a:buAutoNum type="arabicPeriod"/>
                </a:pPr>
                <a:r>
                  <a:rPr kumimoji="1" lang="zh-TW" altLang="en-US" dirty="0"/>
                  <a:t>當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r>
                      <a:rPr kumimoji="1" lang="en-US" altLang="zh-TW" i="1">
                        <a:latin typeface="Cambria Math" panose="02040503050406030204" pitchFamily="18" charset="0"/>
                      </a:rPr>
                      <m:t>=0</m:t>
                    </m:r>
                  </m:oMath>
                </a14:m>
                <a:r>
                  <a:rPr kumimoji="1" lang="zh-TW" altLang="en-US" dirty="0"/>
                  <a:t> 時，</a:t>
                </a:r>
                <a:r>
                  <a:rPr lang="zh-TW" altLang="en-US" dirty="0"/>
                  <a:t>計算上述式子只需要乘上 </a:t>
                </a:r>
                <a:r>
                  <a:rPr lang="en-US" altLang="zh-TW" dirty="0"/>
                  <a:t>1</a:t>
                </a:r>
                <a:r>
                  <a:rPr lang="zh-TW" altLang="en-US" dirty="0"/>
                  <a:t>。</a:t>
                </a:r>
                <a:endParaRPr lang="en-US" altLang="zh-TW" dirty="0"/>
              </a:p>
              <a:p>
                <a:pPr marL="457200" indent="-457200">
                  <a:buFont typeface="+mj-lt"/>
                  <a:buAutoNum type="arabicPeriod"/>
                </a:pPr>
                <a:r>
                  <a:rPr kumimoji="1" lang="zh-TW" altLang="en-US" dirty="0"/>
                  <a:t>當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r>
                      <a:rPr kumimoji="1" lang="en-US" altLang="zh-TW" i="1">
                        <a:latin typeface="Cambria Math" panose="02040503050406030204" pitchFamily="18" charset="0"/>
                      </a:rPr>
                      <m:t>=1</m:t>
                    </m:r>
                  </m:oMath>
                </a14:m>
                <a:r>
                  <a:rPr kumimoji="1" lang="zh-TW" altLang="en-US" dirty="0"/>
                  <a:t> 時，</a:t>
                </a:r>
                <a:r>
                  <a:rPr lang="zh-TW" altLang="en-US" dirty="0"/>
                  <a:t>計算上述式子只需要乘上模型輸出的機率值 。</a:t>
                </a:r>
                <a:endParaRPr lang="en-US" altLang="zh-TW" dirty="0"/>
              </a:p>
              <a:p>
                <a:pPr marL="0" indent="0">
                  <a:buNone/>
                </a:pPr>
                <a:r>
                  <a:rPr lang="zh-TW" altLang="en-US" dirty="0"/>
                  <a:t>例如，上面的例子中 </a:t>
                </a:r>
                <a14:m>
                  <m:oMath xmlns:m="http://schemas.openxmlformats.org/officeDocument/2006/math">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𝐶</m:t>
                        </m:r>
                      </m:sup>
                      <m:e>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sup>
                        </m:sSup>
                      </m:e>
                    </m:nary>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0.5</m:t>
                        </m:r>
                      </m:e>
                      <m:sup>
                        <m:r>
                          <a:rPr kumimoji="1" lang="en-US" altLang="zh-TW" i="1">
                            <a:latin typeface="Cambria Math" panose="02040503050406030204" pitchFamily="18" charset="0"/>
                          </a:rPr>
                          <m:t>0</m:t>
                        </m:r>
                      </m:sup>
                    </m:sSup>
                    <m:r>
                      <a:rPr kumimoji="1" lang="zh-TW" altLang="en-US"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0.3</m:t>
                        </m:r>
                      </m:e>
                      <m:sup>
                        <m:r>
                          <a:rPr kumimoji="1" lang="en-US" altLang="zh-TW" i="1">
                            <a:latin typeface="Cambria Math" panose="02040503050406030204" pitchFamily="18" charset="0"/>
                          </a:rPr>
                          <m:t>1</m:t>
                        </m:r>
                      </m:sup>
                    </m:sSup>
                    <m:r>
                      <a:rPr kumimoji="1" lang="zh-TW" altLang="en-US"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0.2</m:t>
                        </m:r>
                      </m:e>
                      <m:sup>
                        <m:r>
                          <a:rPr kumimoji="1" lang="en-US" altLang="zh-TW" i="1">
                            <a:latin typeface="Cambria Math" panose="02040503050406030204" pitchFamily="18" charset="0"/>
                          </a:rPr>
                          <m:t>0</m:t>
                        </m:r>
                      </m:sup>
                    </m:sSup>
                    <m:r>
                      <a:rPr kumimoji="1" lang="en-US" altLang="zh-TW" i="1">
                        <a:latin typeface="Cambria Math" panose="02040503050406030204" pitchFamily="18" charset="0"/>
                      </a:rPr>
                      <m:t>=0.3</m:t>
                    </m:r>
                  </m:oMath>
                </a14:m>
                <a:r>
                  <a:rPr kumimoji="1" lang="zh-TW" altLang="en-US" dirty="0"/>
                  <a:t>。</a:t>
                </a:r>
                <a:endParaRPr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3E812489-FA76-9569-CD4E-EB252DAA15FC}"/>
                  </a:ext>
                </a:extLst>
              </p:cNvPr>
              <p:cNvSpPr>
                <a:spLocks noGrp="1" noRot="1" noChangeAspect="1" noMove="1" noResize="1" noEditPoints="1" noAdjustHandles="1" noChangeArrowheads="1" noChangeShapeType="1" noTextEdit="1"/>
              </p:cNvSpPr>
              <p:nvPr>
                <p:ph idx="1"/>
              </p:nvPr>
            </p:nvSpPr>
            <p:spPr>
              <a:blipFill>
                <a:blip r:embed="rId2"/>
                <a:stretch>
                  <a:fillRect l="-1892" t="-10101" b="-2020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814436A-6B0A-6B4E-D6B1-22CB0FC86B3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39CB383-BF4F-D511-036A-DB5B9825893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75186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6227B1-2079-CAF8-D297-BE82E345CA23}"/>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4E90099-61D6-B244-84E4-7781E03ECFB3}"/>
                  </a:ext>
                </a:extLst>
              </p:cNvPr>
              <p:cNvSpPr>
                <a:spLocks noGrp="1"/>
              </p:cNvSpPr>
              <p:nvPr>
                <p:ph idx="1"/>
              </p:nvPr>
            </p:nvSpPr>
            <p:spPr>
              <a:xfrm>
                <a:off x="1097280" y="2108201"/>
                <a:ext cx="10058400" cy="3991657"/>
              </a:xfrm>
            </p:spPr>
            <p:txBody>
              <a:bodyPr>
                <a:normAutofit fontScale="92500" lnSpcReduction="20000"/>
              </a:bodyPr>
              <a:lstStyle/>
              <a:p>
                <a:r>
                  <a:rPr lang="zh-TW" altLang="en-US" dirty="0"/>
                  <a:t>對於所有的資料點來說，我們希望上述式子的值相乘後可以越大越好。因此，我們要最大化的值變成了：</a:t>
                </a:r>
                <a:endParaRPr kumimoji="1" lang="en-US" altLang="zh-TW" dirty="0"/>
              </a:p>
              <a:p>
                <a:pPr marL="0" indent="0">
                  <a:buNone/>
                </a:pPr>
                <a14:m>
                  <m:oMathPara xmlns:m="http://schemas.openxmlformats.org/officeDocument/2006/math">
                    <m:oMathParaPr>
                      <m:jc m:val="centerGroup"/>
                    </m:oMathParaPr>
                    <m:oMath xmlns:m="http://schemas.openxmlformats.org/officeDocument/2006/math">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𝑗</m:t>
                          </m:r>
                          <m:r>
                            <a:rPr lang="en-US" altLang="zh-TW" i="1">
                              <a:latin typeface="Cambria Math" panose="02040503050406030204" pitchFamily="18" charset="0"/>
                            </a:rPr>
                            <m:t>=1</m:t>
                          </m:r>
                        </m:sub>
                        <m:sup>
                          <m:r>
                            <a:rPr lang="en-US" altLang="zh-TW" i="1">
                              <a:latin typeface="Cambria Math" panose="02040503050406030204" pitchFamily="18" charset="0"/>
                            </a:rPr>
                            <m:t>𝑛</m:t>
                          </m:r>
                        </m:sup>
                        <m:e>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𝐶</m:t>
                              </m:r>
                            </m:sup>
                            <m:e>
                              <m:sSup>
                                <m:sSupPr>
                                  <m:ctrlPr>
                                    <a:rPr kumimoji="1" lang="en-US" altLang="zh-TW" i="1">
                                      <a:latin typeface="Cambria Math" panose="02040503050406030204" pitchFamily="18" charset="0"/>
                                    </a:rPr>
                                  </m:ctrlPr>
                                </m:sSupPr>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𝑖</m:t>
                                          </m:r>
                                        </m:sub>
                                      </m:sSub>
                                    </m:e>
                                  </m:acc>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sup>
                              </m:sSup>
                            </m:e>
                          </m:nary>
                        </m:e>
                      </m:nary>
                    </m:oMath>
                  </m:oMathPara>
                </a14:m>
                <a:endParaRPr lang="en-US" altLang="zh-TW" dirty="0"/>
              </a:p>
              <a:p>
                <a:pPr marL="0" indent="0">
                  <a:buNone/>
                </a:pPr>
                <a:r>
                  <a:rPr lang="zh-TW" altLang="en-US" dirty="0"/>
                  <a:t>這裡計算也需要取 </a:t>
                </a:r>
                <a:r>
                  <a:rPr lang="en-US" altLang="zh-TW" dirty="0"/>
                  <a:t>log</a:t>
                </a:r>
                <a:r>
                  <a:rPr lang="zh-TW" altLang="en-US" dirty="0"/>
                  <a:t> 和乘上 </a:t>
                </a:r>
                <a:r>
                  <a:rPr lang="en-US" altLang="zh-TW" dirty="0"/>
                  <a:t>-1</a:t>
                </a:r>
                <a:r>
                  <a:rPr lang="zh-TW" altLang="en-US" dirty="0"/>
                  <a:t>，原因與 </a:t>
                </a:r>
                <a:r>
                  <a:rPr lang="en-US" altLang="zh-TW" dirty="0"/>
                  <a:t>Binary</a:t>
                </a:r>
                <a:r>
                  <a:rPr lang="zh-TW" altLang="en-US" dirty="0"/>
                  <a:t> </a:t>
                </a:r>
                <a:r>
                  <a:rPr lang="en-US" altLang="zh-TW" dirty="0"/>
                  <a:t>Cross</a:t>
                </a:r>
                <a:r>
                  <a:rPr lang="zh-TW" altLang="en-US" dirty="0"/>
                  <a:t> </a:t>
                </a:r>
                <a:r>
                  <a:rPr lang="en-US" altLang="zh-TW" dirty="0"/>
                  <a:t>Entropy</a:t>
                </a:r>
                <a:r>
                  <a:rPr lang="zh-TW" altLang="en-US" dirty="0"/>
                  <a:t> 推導過程相同。於是，最後的公式就是：</a:t>
                </a:r>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nary>
                        <m:naryPr>
                          <m:chr m:val="∑"/>
                          <m:ctrlPr>
                            <a:rPr kumimoji="1" lang="en-US" altLang="zh-TW" i="1">
                              <a:latin typeface="Cambria Math" panose="02040503050406030204" pitchFamily="18" charset="0"/>
                            </a:rPr>
                          </m:ctrlPr>
                        </m:naryPr>
                        <m:sub>
                          <m:r>
                            <a:rPr kumimoji="1" lang="en-US" altLang="zh-TW" i="1">
                              <a:latin typeface="Cambria Math" panose="02040503050406030204" pitchFamily="18" charset="0"/>
                            </a:rPr>
                            <m:t>𝑗</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nary>
                            <m:naryPr>
                              <m:chr m:val="∑"/>
                              <m:ctrlPr>
                                <a:rPr kumimoji="1" lang="en-US" altLang="zh-TW" i="1">
                                  <a:latin typeface="Cambria Math" panose="02040503050406030204" pitchFamily="18" charset="0"/>
                                </a:rPr>
                              </m:ctrlPr>
                            </m:naryPr>
                            <m:sub>
                              <m: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𝐶</m:t>
                              </m:r>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func>
                                <m:funcPr>
                                  <m:ctrlPr>
                                    <a:rPr kumimoji="1" lang="zh-TW" altLang="en-US"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𝑖</m:t>
                                          </m:r>
                                        </m:sub>
                                      </m:sSub>
                                    </m:e>
                                  </m:acc>
                                </m:e>
                              </m:func>
                            </m:e>
                          </m:nary>
                        </m:e>
                      </m:nary>
                    </m:oMath>
                  </m:oMathPara>
                </a14:m>
                <a:endParaRPr lang="en-US" altLang="zh-TW" dirty="0"/>
              </a:p>
              <a:p>
                <a:pPr marL="0" indent="0">
                  <a:buNone/>
                </a:pPr>
                <a:r>
                  <a:rPr lang="zh-TW" altLang="en-US" dirty="0"/>
                  <a:t>這個公式被稱為 </a:t>
                </a:r>
                <a:r>
                  <a:rPr lang="en-US" altLang="zh-TW" dirty="0"/>
                  <a:t>Categorical Cross-Entropy</a:t>
                </a:r>
                <a:r>
                  <a:rPr lang="zh-TW" altLang="en-US" dirty="0"/>
                  <a:t>。</a:t>
                </a:r>
                <a:endParaRPr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E4E90099-61D6-B244-84E4-7781E03ECFB3}"/>
                  </a:ext>
                </a:extLst>
              </p:cNvPr>
              <p:cNvSpPr>
                <a:spLocks noGrp="1" noRot="1" noChangeAspect="1" noMove="1" noResize="1" noEditPoints="1" noAdjustHandles="1" noChangeArrowheads="1" noChangeShapeType="1" noTextEdit="1"/>
              </p:cNvSpPr>
              <p:nvPr>
                <p:ph idx="1"/>
              </p:nvPr>
            </p:nvSpPr>
            <p:spPr>
              <a:xfrm>
                <a:off x="1097280" y="2108201"/>
                <a:ext cx="10058400" cy="3991657"/>
              </a:xfrm>
              <a:blipFill>
                <a:blip r:embed="rId2"/>
                <a:stretch>
                  <a:fillRect l="-1765" t="-12381" b="-2444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F125358-D543-180F-703D-4ECD592D6A8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183C47A-A586-DA71-5151-3564AC1C108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740884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075E1B-A6F1-9B3F-6884-4A2E5A2E7D96}"/>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EBB2132-E7D5-353E-5019-1DCCB58E25EE}"/>
                  </a:ext>
                </a:extLst>
              </p:cNvPr>
              <p:cNvSpPr>
                <a:spLocks noGrp="1"/>
              </p:cNvSpPr>
              <p:nvPr>
                <p:ph idx="1"/>
              </p:nvPr>
            </p:nvSpPr>
            <p:spPr/>
            <p:txBody>
              <a:bodyPr>
                <a:normAutofit/>
              </a:bodyPr>
              <a:lstStyle/>
              <a:p>
                <a:r>
                  <a:rPr kumimoji="1" lang="zh-TW" altLang="en-US" dirty="0"/>
                  <a:t>在多元分類任務中，神經網路模型需要輸出該筆資料分別屬於每一個類別的機率，且所有類別的機率總和必須為 </a:t>
                </a:r>
                <a:r>
                  <a:rPr kumimoji="1" lang="en-US" altLang="zh-TW" dirty="0"/>
                  <a:t>1</a:t>
                </a:r>
                <a:r>
                  <a:rPr kumimoji="1" lang="zh-TW" altLang="en-US" dirty="0"/>
                  <a:t>。 因此，資料集的標籤中有多少個類別，</a:t>
                </a:r>
                <a:r>
                  <a:rPr kumimoji="1" lang="en-US" altLang="zh-TW" dirty="0"/>
                  <a:t>output layer </a:t>
                </a:r>
                <a:r>
                  <a:rPr kumimoji="1" lang="zh-TW" altLang="en-US" dirty="0"/>
                  <a:t>就需要對應設計多少個神經元。 </a:t>
                </a:r>
                <a:endParaRPr kumimoji="1" lang="en-US" altLang="zh-TW" dirty="0"/>
              </a:p>
              <a:p>
                <a:r>
                  <a:rPr kumimoji="1" lang="zh-TW" altLang="en-US" dirty="0"/>
                  <a:t>此外，為了確保所有輸出機率的總和為 </a:t>
                </a:r>
                <a:r>
                  <a:rPr kumimoji="1" lang="en-US" altLang="zh-TW" dirty="0"/>
                  <a:t>1</a:t>
                </a:r>
                <a:r>
                  <a:rPr kumimoji="1" lang="zh-TW" altLang="en-US" dirty="0"/>
                  <a:t>，</a:t>
                </a:r>
                <a:r>
                  <a:rPr kumimoji="1" lang="en-US" altLang="zh-TW" dirty="0"/>
                  <a:t>output layer </a:t>
                </a:r>
                <a:r>
                  <a:rPr kumimoji="1" lang="zh-TW" altLang="en-US" dirty="0"/>
                  <a:t>的所有神經元必須共同經過 </a:t>
                </a:r>
                <a:r>
                  <a:rPr kumimoji="1" lang="en-US" altLang="zh-TW" dirty="0" err="1"/>
                  <a:t>softmax</a:t>
                </a:r>
                <a:r>
                  <a:rPr kumimoji="1" lang="en-US" altLang="zh-TW" dirty="0"/>
                  <a:t> activation function </a:t>
                </a:r>
                <a:r>
                  <a:rPr kumimoji="1" lang="zh-TW" altLang="en-US" dirty="0"/>
                  <a:t>進行計算。</a:t>
                </a:r>
                <a:r>
                  <a:rPr kumimoji="1" lang="en-US" altLang="zh-TW" dirty="0" err="1"/>
                  <a:t>Softmax</a:t>
                </a:r>
                <a:r>
                  <a:rPr kumimoji="1" lang="zh-TW" altLang="en-US" dirty="0"/>
                  <a:t> 的公式如下：</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rPr>
                        <m:t>𝑠𝑜𝑓𝑡𝑚𝑎𝑥</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sup>
                          </m:sSup>
                        </m:num>
                        <m:den>
                          <m:nary>
                            <m:naryPr>
                              <m:chr m:val="∑"/>
                              <m:limLoc m:val="subSup"/>
                              <m:supHide m:val="on"/>
                              <m:ctrlPr>
                                <a:rPr kumimoji="1" lang="en-US" altLang="zh-TW" i="1">
                                  <a:latin typeface="Cambria Math" panose="02040503050406030204" pitchFamily="18" charset="0"/>
                                </a:rPr>
                              </m:ctrlPr>
                            </m:naryPr>
                            <m:sub>
                              <m:r>
                                <m:rPr>
                                  <m:brk m:alnAt="9"/>
                                </m:rPr>
                                <a:rPr kumimoji="1" lang="en-US" altLang="zh-TW" i="1">
                                  <a:latin typeface="Cambria Math" panose="02040503050406030204" pitchFamily="18" charset="0"/>
                                </a:rPr>
                                <m:t>𝑗</m:t>
                              </m:r>
                            </m:sub>
                            <m:sup/>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𝑗</m:t>
                                      </m:r>
                                    </m:sub>
                                  </m:sSub>
                                </m:sup>
                              </m:sSup>
                            </m:e>
                          </m:nary>
                        </m:den>
                      </m:f>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4EBB2132-E7D5-353E-5019-1DCCB58E25EE}"/>
                  </a:ext>
                </a:extLst>
              </p:cNvPr>
              <p:cNvSpPr>
                <a:spLocks noGrp="1" noRot="1" noChangeAspect="1" noMove="1" noResize="1" noEditPoints="1" noAdjustHandles="1" noChangeArrowheads="1" noChangeShapeType="1" noTextEdit="1"/>
              </p:cNvSpPr>
              <p:nvPr>
                <p:ph idx="1"/>
              </p:nvPr>
            </p:nvSpPr>
            <p:spPr>
              <a:blipFill>
                <a:blip r:embed="rId2"/>
                <a:stretch>
                  <a:fillRect l="-1009" t="-1347" b="-134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93F0C331-1018-C40D-458B-66090E267FF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64AD1F1-70B3-5753-26AD-B5CE81FB147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31366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0E3D42-5B32-1703-0D5C-256C673C8AB8}"/>
              </a:ext>
            </a:extLst>
          </p:cNvPr>
          <p:cNvSpPr>
            <a:spLocks noGrp="1"/>
          </p:cNvSpPr>
          <p:nvPr>
            <p:ph type="title"/>
          </p:nvPr>
        </p:nvSpPr>
        <p:spPr/>
        <p:txBody>
          <a:bodyPr>
            <a:normAutofit fontScale="90000"/>
          </a:bodyPr>
          <a:lstStyle/>
          <a:p>
            <a:r>
              <a:rPr kumimoji="1" lang="zh-TW" altLang="en-US"/>
              <a:t>損失函數與 </a:t>
            </a:r>
            <a:r>
              <a:rPr kumimoji="1" lang="en-US" altLang="zh-TW"/>
              <a:t>output</a:t>
            </a:r>
            <a:r>
              <a:rPr kumimoji="1" lang="zh-TW" altLang="en-US"/>
              <a:t> </a:t>
            </a:r>
            <a:r>
              <a:rPr kumimoji="1" lang="en-US" altLang="zh-TW"/>
              <a:t>layer</a:t>
            </a:r>
            <a:r>
              <a:rPr kumimoji="1" lang="zh-TW" altLang="en-US"/>
              <a:t> 的激活函數</a:t>
            </a:r>
            <a:endParaRPr kumimoji="1" lang="zh-TW" altLang="en-US" dirty="0"/>
          </a:p>
        </p:txBody>
      </p:sp>
      <p:sp>
        <p:nvSpPr>
          <p:cNvPr id="4" name="日期版面配置區 3">
            <a:extLst>
              <a:ext uri="{FF2B5EF4-FFF2-40B4-BE49-F238E27FC236}">
                <a16:creationId xmlns:a16="http://schemas.microsoft.com/office/drawing/2014/main" id="{43AC3C57-8040-A389-E25A-9A3204BA8C6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EBF9B8E-3C22-491F-0A55-200570A914F5}"/>
              </a:ext>
            </a:extLst>
          </p:cNvPr>
          <p:cNvSpPr>
            <a:spLocks noGrp="1"/>
          </p:cNvSpPr>
          <p:nvPr>
            <p:ph type="sldNum" sz="quarter" idx="12"/>
          </p:nvPr>
        </p:nvSpPr>
        <p:spPr/>
        <p:txBody>
          <a:bodyPr/>
          <a:lstStyle/>
          <a:p>
            <a:r>
              <a:rPr lang="en-US" altLang="zh-TW" dirty="0"/>
              <a:t>Deep Learning</a:t>
            </a:r>
          </a:p>
        </p:txBody>
      </p:sp>
      <p:sp>
        <p:nvSpPr>
          <p:cNvPr id="6" name="內容版面配置區 2">
            <a:extLst>
              <a:ext uri="{FF2B5EF4-FFF2-40B4-BE49-F238E27FC236}">
                <a16:creationId xmlns:a16="http://schemas.microsoft.com/office/drawing/2014/main" id="{741403BE-2B60-39C3-7FCE-E5651BBF26EB}"/>
              </a:ext>
            </a:extLst>
          </p:cNvPr>
          <p:cNvSpPr txBox="1">
            <a:spLocks/>
          </p:cNvSpPr>
          <p:nvPr/>
        </p:nvSpPr>
        <p:spPr>
          <a:xfrm>
            <a:off x="358815" y="2108201"/>
            <a:ext cx="7153155" cy="4234726"/>
          </a:xfrm>
          <a:prstGeom prst="rect">
            <a:avLst/>
          </a:prstGeom>
        </p:spPr>
        <p:txBody>
          <a:bodyPr vert="horz" lIns="0" tIns="45720" rIns="0" bIns="45720" rtlCol="0">
            <a:normAutofit lnSpcReduction="10000"/>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kumimoji="1" lang="zh-TW" altLang="en-US"/>
              <a:t>使用指數計算的原因是因為，指數函數的增長速度非常快，這會放大輸入值之間的差異。較大的輸入值經過指數運算後會變得更大，而較小的輸入值會變得更小，從而使得 </a:t>
            </a:r>
            <a:r>
              <a:rPr kumimoji="1" lang="en-US" altLang="zh-TW"/>
              <a:t>Softmax </a:t>
            </a:r>
            <a:r>
              <a:rPr kumimoji="1" lang="zh-TW" altLang="en-US"/>
              <a:t>更能突出最大的輸入值。</a:t>
            </a:r>
            <a:endParaRPr kumimoji="1" lang="en-US" altLang="zh-TW"/>
          </a:p>
          <a:p>
            <a:r>
              <a:rPr kumimoji="1" lang="zh-TW" altLang="en-US"/>
              <a:t>例如，將 </a:t>
            </a:r>
            <a:r>
              <a:rPr kumimoji="1" lang="en-US" altLang="zh-TW"/>
              <a:t>[2,</a:t>
            </a:r>
            <a:r>
              <a:rPr kumimoji="1" lang="zh-TW" altLang="en-US"/>
              <a:t> </a:t>
            </a:r>
            <a:r>
              <a:rPr kumimoji="1" lang="en-US" altLang="zh-TW"/>
              <a:t>4,</a:t>
            </a:r>
            <a:r>
              <a:rPr kumimoji="1" lang="zh-TW" altLang="en-US"/>
              <a:t> </a:t>
            </a:r>
            <a:r>
              <a:rPr kumimoji="1" lang="en-US" altLang="zh-TW"/>
              <a:t>2,</a:t>
            </a:r>
            <a:r>
              <a:rPr kumimoji="1" lang="zh-TW" altLang="en-US"/>
              <a:t> </a:t>
            </a:r>
            <a:r>
              <a:rPr kumimoji="1" lang="en-US" altLang="zh-TW"/>
              <a:t>1]</a:t>
            </a:r>
            <a:r>
              <a:rPr kumimoji="1" lang="zh-TW" altLang="en-US"/>
              <a:t> 的每個元素範圍轉換至 </a:t>
            </a:r>
            <a:r>
              <a:rPr kumimoji="1" lang="en-US" altLang="zh-TW"/>
              <a:t>[0,</a:t>
            </a:r>
            <a:r>
              <a:rPr kumimoji="1" lang="zh-TW" altLang="en-US"/>
              <a:t> </a:t>
            </a:r>
            <a:r>
              <a:rPr kumimoji="1" lang="en-US" altLang="zh-TW"/>
              <a:t>1]</a:t>
            </a:r>
            <a:r>
              <a:rPr kumimoji="1" lang="zh-TW" altLang="en-US"/>
              <a:t> 且所有的元素總和為 </a:t>
            </a:r>
            <a:r>
              <a:rPr kumimoji="1" lang="en-US" altLang="zh-TW"/>
              <a:t>1</a:t>
            </a:r>
            <a:r>
              <a:rPr kumimoji="1" lang="zh-TW" altLang="en-US"/>
              <a:t>，且不使用指數函數的話，我們可以將每個元素除以元素和，即可得到：</a:t>
            </a:r>
            <a:endParaRPr kumimoji="1" lang="en-US" altLang="zh-TW"/>
          </a:p>
          <a:p>
            <a:r>
              <a:rPr kumimoji="1" lang="en-US" altLang="zh-TW"/>
              <a:t>[0.222,</a:t>
            </a:r>
            <a:r>
              <a:rPr kumimoji="1" lang="zh-TW" altLang="en-US"/>
              <a:t> </a:t>
            </a:r>
            <a:r>
              <a:rPr kumimoji="1" lang="en-US" altLang="zh-TW" b="1">
                <a:solidFill>
                  <a:srgbClr val="FF0000"/>
                </a:solidFill>
              </a:rPr>
              <a:t>0.444</a:t>
            </a:r>
            <a:r>
              <a:rPr kumimoji="1" lang="en-US" altLang="zh-TW"/>
              <a:t>,</a:t>
            </a:r>
            <a:r>
              <a:rPr kumimoji="1" lang="zh-TW" altLang="en-US"/>
              <a:t> </a:t>
            </a:r>
            <a:r>
              <a:rPr kumimoji="1" lang="en-US" altLang="zh-TW"/>
              <a:t>0.222,</a:t>
            </a:r>
            <a:r>
              <a:rPr kumimoji="1" lang="zh-TW" altLang="en-US"/>
              <a:t> </a:t>
            </a:r>
            <a:r>
              <a:rPr kumimoji="1" lang="en-US" altLang="zh-TW"/>
              <a:t>0.111]</a:t>
            </a:r>
          </a:p>
          <a:p>
            <a:r>
              <a:rPr kumimoji="1" lang="zh-TW" altLang="en-US"/>
              <a:t>如果使用 </a:t>
            </a:r>
            <a:r>
              <a:rPr kumimoji="1" lang="en-US" altLang="zh-TW"/>
              <a:t>Softmax</a:t>
            </a:r>
            <a:r>
              <a:rPr kumimoji="1" lang="zh-TW" altLang="en-US"/>
              <a:t> 的話，可以得到： </a:t>
            </a:r>
            <a:endParaRPr kumimoji="1" lang="en-US" altLang="zh-TW"/>
          </a:p>
          <a:p>
            <a:r>
              <a:rPr kumimoji="1" lang="en-US" altLang="zh-TW"/>
              <a:t>[0.1025,</a:t>
            </a:r>
            <a:r>
              <a:rPr kumimoji="1" lang="zh-TW" altLang="en-US"/>
              <a:t> </a:t>
            </a:r>
            <a:r>
              <a:rPr kumimoji="1" lang="en-US" altLang="zh-TW" b="1">
                <a:solidFill>
                  <a:srgbClr val="FF0000"/>
                </a:solidFill>
              </a:rPr>
              <a:t>0.7573</a:t>
            </a:r>
            <a:r>
              <a:rPr kumimoji="1" lang="en-US" altLang="zh-TW"/>
              <a:t>,</a:t>
            </a:r>
            <a:r>
              <a:rPr kumimoji="1" lang="zh-TW" altLang="en-US"/>
              <a:t> </a:t>
            </a:r>
            <a:r>
              <a:rPr kumimoji="1" lang="en-US" altLang="zh-TW"/>
              <a:t>0.1025,</a:t>
            </a:r>
            <a:r>
              <a:rPr kumimoji="1" lang="zh-TW" altLang="en-US"/>
              <a:t> </a:t>
            </a:r>
            <a:r>
              <a:rPr kumimoji="1" lang="en-US" altLang="zh-TW"/>
              <a:t>0.0377]</a:t>
            </a:r>
            <a:r>
              <a:rPr kumimoji="1" lang="zh-TW" altLang="en-US"/>
              <a:t>。</a:t>
            </a:r>
            <a:endParaRPr kumimoji="1" lang="en-US" altLang="zh-TW" dirty="0"/>
          </a:p>
        </p:txBody>
      </p:sp>
      <p:pic>
        <p:nvPicPr>
          <p:cNvPr id="7" name="圖片 6" descr="一張含有 行, 繪圖, 圖表, 數字 的圖片&#10;&#10;AI 產生的內容可能不正確。">
            <a:extLst>
              <a:ext uri="{FF2B5EF4-FFF2-40B4-BE49-F238E27FC236}">
                <a16:creationId xmlns:a16="http://schemas.microsoft.com/office/drawing/2014/main" id="{0C1C98F7-CF85-872E-006B-7E4D39FF0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739" y="2583290"/>
            <a:ext cx="4251767" cy="31599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5606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6EDD51-FD80-506C-175F-E821A1F1C390}"/>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E6751CB-51AB-7772-ECE0-CA46CD308471}"/>
                  </a:ext>
                </a:extLst>
              </p:cNvPr>
              <p:cNvSpPr>
                <a:spLocks noGrp="1"/>
              </p:cNvSpPr>
              <p:nvPr>
                <p:ph idx="1"/>
              </p:nvPr>
            </p:nvSpPr>
            <p:spPr>
              <a:xfrm>
                <a:off x="1097280" y="2108201"/>
                <a:ext cx="10058400" cy="4095829"/>
              </a:xfrm>
            </p:spPr>
            <p:txBody>
              <a:bodyPr>
                <a:normAutofit/>
              </a:bodyPr>
              <a:lstStyle/>
              <a:p>
                <a:r>
                  <a:rPr kumimoji="1" lang="zh-TW" altLang="en-US" dirty="0"/>
                  <a:t>多標籤分類的損失函數概念其實相當直觀。由於每個輸出類別之間彼此獨立（可視為一個合理的假設），因此可以將每一個類別是否被正確預測視為一個獨立的二元分類問題。 </a:t>
                </a:r>
                <a:endParaRPr kumimoji="1" lang="en-US" altLang="zh-TW" dirty="0"/>
              </a:p>
              <a:p>
                <a:r>
                  <a:rPr kumimoji="1" lang="zh-TW" altLang="en-US" dirty="0"/>
                  <a:t>基於這樣的設定，多標籤分類的損失函數會對每一個類別分別計算 </a:t>
                </a:r>
                <a:r>
                  <a:rPr kumimoji="1" lang="en-US" altLang="zh-TW" dirty="0"/>
                  <a:t>binary cross-entropy</a:t>
                </a:r>
                <a:r>
                  <a:rPr kumimoji="1" lang="zh-TW" altLang="en-US" dirty="0"/>
                  <a:t>，最後再將所有類別的損失加總（或取平均）。因此，多標籤分類的損失函數為：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rPr>
                        <m:t>−</m:t>
                      </m:r>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nary>
                            <m:naryPr>
                              <m:chr m:val="∑"/>
                              <m:supHide m:val="on"/>
                              <m:ctrlPr>
                                <a:rPr kumimoji="1" lang="en-US" altLang="zh-TW"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𝑐</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e>
                                      </m:acc>
                                    </m:e>
                                  </m:d>
                                </m:e>
                              </m:func>
                            </m:e>
                          </m:nary>
                        </m:e>
                      </m:nary>
                      <m:r>
                        <a:rPr kumimoji="1" lang="en-US" altLang="zh-TW" b="0" i="1" smtClean="0">
                          <a:latin typeface="Cambria Math" panose="02040503050406030204" pitchFamily="18" charset="0"/>
                        </a:rPr>
                        <m:t>)</m:t>
                      </m:r>
                    </m:oMath>
                  </m:oMathPara>
                </a14:m>
                <a:endParaRPr kumimoji="1" lang="en-US" altLang="zh-TW" dirty="0"/>
              </a:p>
              <a:p>
                <a:r>
                  <a:rPr kumimoji="1" lang="zh-TW" altLang="en-US" dirty="0"/>
                  <a:t>其中 </a:t>
                </a:r>
                <a14:m>
                  <m:oMath xmlns:m="http://schemas.openxmlformats.org/officeDocument/2006/math">
                    <m:r>
                      <a:rPr kumimoji="1" lang="en-US" altLang="zh-TW" b="0" i="1" smtClean="0">
                        <a:latin typeface="Cambria Math" panose="02040503050406030204" pitchFamily="18" charset="0"/>
                      </a:rPr>
                      <m:t>𝑖</m:t>
                    </m:r>
                  </m:oMath>
                </a14:m>
                <a:r>
                  <a:rPr kumimoji="1" lang="zh-TW" altLang="en-US" dirty="0"/>
                  <a:t> 代表資料點，</a:t>
                </a:r>
                <a14:m>
                  <m:oMath xmlns:m="http://schemas.openxmlformats.org/officeDocument/2006/math">
                    <m:r>
                      <a:rPr kumimoji="1" lang="en-US" altLang="zh-TW" b="0" i="1" smtClean="0">
                        <a:latin typeface="Cambria Math" panose="02040503050406030204" pitchFamily="18" charset="0"/>
                      </a:rPr>
                      <m:t>𝑐</m:t>
                    </m:r>
                  </m:oMath>
                </a14:m>
                <a:r>
                  <a:rPr kumimoji="1" lang="zh-TW" altLang="en-US" dirty="0"/>
                  <a:t> 代表類別。</a:t>
                </a:r>
                <a:endParaRPr kumimoji="1" lang="en-US" altLang="zh-TW" dirty="0"/>
              </a:p>
            </p:txBody>
          </p:sp>
        </mc:Choice>
        <mc:Fallback xmlns="">
          <p:sp>
            <p:nvSpPr>
              <p:cNvPr id="3" name="內容版面配置區 2">
                <a:extLst>
                  <a:ext uri="{FF2B5EF4-FFF2-40B4-BE49-F238E27FC236}">
                    <a16:creationId xmlns:a16="http://schemas.microsoft.com/office/drawing/2014/main" id="{4E6751CB-51AB-7772-ECE0-CA46CD308471}"/>
                  </a:ext>
                </a:extLst>
              </p:cNvPr>
              <p:cNvSpPr>
                <a:spLocks noGrp="1" noRot="1" noChangeAspect="1" noMove="1" noResize="1" noEditPoints="1" noAdjustHandles="1" noChangeArrowheads="1" noChangeShapeType="1" noTextEdit="1"/>
              </p:cNvSpPr>
              <p:nvPr>
                <p:ph idx="1"/>
              </p:nvPr>
            </p:nvSpPr>
            <p:spPr>
              <a:xfrm>
                <a:off x="1097280" y="2108201"/>
                <a:ext cx="10058400" cy="4095829"/>
              </a:xfrm>
              <a:blipFill>
                <a:blip r:embed="rId2"/>
                <a:stretch>
                  <a:fillRect l="-1009" t="-1238" r="-1135" b="-2941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C86EFB30-37C0-9493-A840-6CBFF8DC3324}"/>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36514F1-4973-83CE-E8CF-12336AB6D90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877245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090EBA-31AF-2047-403F-1A22044EA74D}"/>
              </a:ext>
            </a:extLst>
          </p:cNvPr>
          <p:cNvSpPr>
            <a:spLocks noGrp="1"/>
          </p:cNvSpPr>
          <p:nvPr>
            <p:ph type="title"/>
          </p:nvPr>
        </p:nvSpPr>
        <p:spPr/>
        <p:txBody>
          <a:bodyPr>
            <a:normAutofit fontScale="90000"/>
          </a:bodyPr>
          <a:lstStyle/>
          <a:p>
            <a:r>
              <a:rPr kumimoji="1" lang="zh-TW" altLang="en-US" dirty="0"/>
              <a:t>損失函數與 </a:t>
            </a:r>
            <a:r>
              <a:rPr kumimoji="1" lang="en-US" altLang="zh-TW" dirty="0"/>
              <a:t>output</a:t>
            </a:r>
            <a:r>
              <a:rPr kumimoji="1" lang="zh-TW" altLang="en-US" dirty="0"/>
              <a:t> </a:t>
            </a:r>
            <a:r>
              <a:rPr kumimoji="1" lang="en-US" altLang="zh-TW" dirty="0"/>
              <a:t>layer</a:t>
            </a:r>
            <a:r>
              <a:rPr kumimoji="1" lang="zh-TW" altLang="en-US" dirty="0"/>
              <a:t> 的激活函數</a:t>
            </a:r>
          </a:p>
        </p:txBody>
      </p:sp>
      <p:sp>
        <p:nvSpPr>
          <p:cNvPr id="3" name="內容版面配置區 2">
            <a:extLst>
              <a:ext uri="{FF2B5EF4-FFF2-40B4-BE49-F238E27FC236}">
                <a16:creationId xmlns:a16="http://schemas.microsoft.com/office/drawing/2014/main" id="{F2B8D759-287A-D57A-36E2-6ACCCDE6DCBA}"/>
              </a:ext>
            </a:extLst>
          </p:cNvPr>
          <p:cNvSpPr>
            <a:spLocks noGrp="1"/>
          </p:cNvSpPr>
          <p:nvPr>
            <p:ph idx="1"/>
          </p:nvPr>
        </p:nvSpPr>
        <p:spPr/>
        <p:txBody>
          <a:bodyPr/>
          <a:lstStyle/>
          <a:p>
            <a:r>
              <a:rPr kumimoji="1" lang="zh-TW" altLang="en-US" dirty="0"/>
              <a:t>在多標籤分類任務中，神經網路模型需要分別且獨立地輸出該筆資料屬於每一個類別的機率。由於各類別彼此獨立，因此所有輸出機率的總和不需要等於 </a:t>
            </a:r>
            <a:r>
              <a:rPr kumimoji="1" lang="en-US" altLang="zh-TW" dirty="0"/>
              <a:t>1</a:t>
            </a:r>
            <a:r>
              <a:rPr kumimoji="1" lang="zh-TW" altLang="en-US" dirty="0"/>
              <a:t>。 </a:t>
            </a:r>
            <a:endParaRPr kumimoji="1" lang="en-US" altLang="zh-TW" dirty="0"/>
          </a:p>
          <a:p>
            <a:r>
              <a:rPr kumimoji="1" lang="zh-TW" altLang="en-US" dirty="0"/>
              <a:t>此外，資料集的標籤中包含多少個類別，模型的 </a:t>
            </a:r>
            <a:r>
              <a:rPr kumimoji="1" lang="en-US" altLang="zh-TW" dirty="0"/>
              <a:t>output layer</a:t>
            </a:r>
            <a:r>
              <a:rPr kumimoji="1" lang="zh-TW" altLang="en-US" dirty="0"/>
              <a:t> 就必須對應設計多少個神經元，每一個神經元負責預測該資料是否屬於某一特定類別。每個 </a:t>
            </a:r>
            <a:r>
              <a:rPr kumimoji="1" lang="en-US" altLang="zh-TW" dirty="0"/>
              <a:t>output</a:t>
            </a:r>
            <a:r>
              <a:rPr kumimoji="1" lang="zh-TW" altLang="en-US" dirty="0"/>
              <a:t> </a:t>
            </a:r>
            <a:r>
              <a:rPr kumimoji="1" lang="en-US" altLang="zh-TW" dirty="0"/>
              <a:t>layer</a:t>
            </a:r>
            <a:r>
              <a:rPr kumimoji="1" lang="zh-TW" altLang="en-US" dirty="0"/>
              <a:t> 中的神經元應使用一個 </a:t>
            </a:r>
            <a:r>
              <a:rPr kumimoji="1" lang="en-US" altLang="zh-TW" dirty="0"/>
              <a:t>sigmoid</a:t>
            </a:r>
            <a:r>
              <a:rPr kumimoji="1" lang="zh-TW" altLang="en-US" dirty="0"/>
              <a:t> </a:t>
            </a:r>
            <a:r>
              <a:rPr kumimoji="1" lang="en-US" altLang="zh-TW" dirty="0"/>
              <a:t>activation</a:t>
            </a:r>
            <a:r>
              <a:rPr kumimoji="1" lang="zh-TW" altLang="en-US" dirty="0"/>
              <a:t> </a:t>
            </a:r>
            <a:r>
              <a:rPr kumimoji="1" lang="en-US" altLang="zh-TW" dirty="0"/>
              <a:t>function</a:t>
            </a:r>
            <a:r>
              <a:rPr kumimoji="1" lang="zh-TW" altLang="en-US" dirty="0"/>
              <a:t> 來輸出機率值。</a:t>
            </a:r>
            <a:endParaRPr kumimoji="1" lang="en-US" altLang="zh-TW" dirty="0"/>
          </a:p>
        </p:txBody>
      </p:sp>
      <p:sp>
        <p:nvSpPr>
          <p:cNvPr id="4" name="日期版面配置區 3">
            <a:extLst>
              <a:ext uri="{FF2B5EF4-FFF2-40B4-BE49-F238E27FC236}">
                <a16:creationId xmlns:a16="http://schemas.microsoft.com/office/drawing/2014/main" id="{55A9D13B-FCDC-3554-DD1C-46CDB308FB7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721D9DA-FC0B-1A51-16D4-DEF95B9168B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560827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0D0049-24A7-9458-038E-DB6B995B8B20}"/>
              </a:ext>
            </a:extLst>
          </p:cNvPr>
          <p:cNvSpPr>
            <a:spLocks noGrp="1"/>
          </p:cNvSpPr>
          <p:nvPr>
            <p:ph type="title"/>
          </p:nvPr>
        </p:nvSpPr>
        <p:spPr/>
        <p:txBody>
          <a:bodyPr>
            <a:normAutofit fontScale="90000"/>
          </a:bodyPr>
          <a:lstStyle/>
          <a:p>
            <a:r>
              <a:rPr kumimoji="1" lang="zh-TW" altLang="en-US" dirty="0"/>
              <a:t>損失函數與輸出層激活函數的總整理</a:t>
            </a:r>
          </a:p>
        </p:txBody>
      </p:sp>
      <mc:AlternateContent xmlns:mc="http://schemas.openxmlformats.org/markup-compatibility/2006" xmlns:a14="http://schemas.microsoft.com/office/drawing/2010/main">
        <mc:Choice Requires="a14">
          <p:graphicFrame>
            <p:nvGraphicFramePr>
              <p:cNvPr id="6" name="內容版面配置區 5">
                <a:extLst>
                  <a:ext uri="{FF2B5EF4-FFF2-40B4-BE49-F238E27FC236}">
                    <a16:creationId xmlns:a16="http://schemas.microsoft.com/office/drawing/2014/main" id="{2464AE57-F8DC-D180-9F02-707032DC5E9D}"/>
                  </a:ext>
                </a:extLst>
              </p:cNvPr>
              <p:cNvGraphicFramePr>
                <a:graphicFrameLocks noGrp="1"/>
              </p:cNvGraphicFramePr>
              <p:nvPr>
                <p:ph idx="1"/>
                <p:extLst>
                  <p:ext uri="{D42A27DB-BD31-4B8C-83A1-F6EECF244321}">
                    <p14:modId xmlns:p14="http://schemas.microsoft.com/office/powerpoint/2010/main" val="4264208015"/>
                  </p:ext>
                </p:extLst>
              </p:nvPr>
            </p:nvGraphicFramePr>
            <p:xfrm>
              <a:off x="123463" y="1974278"/>
              <a:ext cx="11945073" cy="4235642"/>
            </p:xfrm>
            <a:graphic>
              <a:graphicData uri="http://schemas.openxmlformats.org/drawingml/2006/table">
                <a:tbl>
                  <a:tblPr firstRow="1" bandRow="1">
                    <a:tableStyleId>{5C22544A-7EE6-4342-B048-85BDC9FD1C3A}</a:tableStyleId>
                  </a:tblPr>
                  <a:tblGrid>
                    <a:gridCol w="2092141">
                      <a:extLst>
                        <a:ext uri="{9D8B030D-6E8A-4147-A177-3AD203B41FA5}">
                          <a16:colId xmlns:a16="http://schemas.microsoft.com/office/drawing/2014/main" val="1649407356"/>
                        </a:ext>
                      </a:extLst>
                    </a:gridCol>
                    <a:gridCol w="1773803">
                      <a:extLst>
                        <a:ext uri="{9D8B030D-6E8A-4147-A177-3AD203B41FA5}">
                          <a16:colId xmlns:a16="http://schemas.microsoft.com/office/drawing/2014/main" val="3632951960"/>
                        </a:ext>
                      </a:extLst>
                    </a:gridCol>
                    <a:gridCol w="1635889">
                      <a:extLst>
                        <a:ext uri="{9D8B030D-6E8A-4147-A177-3AD203B41FA5}">
                          <a16:colId xmlns:a16="http://schemas.microsoft.com/office/drawing/2014/main" val="2542243842"/>
                        </a:ext>
                      </a:extLst>
                    </a:gridCol>
                    <a:gridCol w="1778642">
                      <a:extLst>
                        <a:ext uri="{9D8B030D-6E8A-4147-A177-3AD203B41FA5}">
                          <a16:colId xmlns:a16="http://schemas.microsoft.com/office/drawing/2014/main" val="4241272456"/>
                        </a:ext>
                      </a:extLst>
                    </a:gridCol>
                    <a:gridCol w="4664598">
                      <a:extLst>
                        <a:ext uri="{9D8B030D-6E8A-4147-A177-3AD203B41FA5}">
                          <a16:colId xmlns:a16="http://schemas.microsoft.com/office/drawing/2014/main" val="3061981105"/>
                        </a:ext>
                      </a:extLst>
                    </a:gridCol>
                  </a:tblGrid>
                  <a:tr h="809313">
                    <a:tc>
                      <a:txBody>
                        <a:bodyPr/>
                        <a:lstStyle/>
                        <a:p>
                          <a:pPr algn="ctr"/>
                          <a:r>
                            <a:rPr lang="zh-TW" altLang="en-US" dirty="0"/>
                            <a:t>任務類型</a:t>
                          </a:r>
                        </a:p>
                      </a:txBody>
                      <a:tcPr anchor="ctr"/>
                    </a:tc>
                    <a:tc>
                      <a:txBody>
                        <a:bodyPr/>
                        <a:lstStyle/>
                        <a:p>
                          <a:pPr algn="ctr"/>
                          <a:r>
                            <a:rPr lang="zh-TW" altLang="en-US" dirty="0"/>
                            <a:t>舉例</a:t>
                          </a:r>
                        </a:p>
                      </a:txBody>
                      <a:tcPr anchor="ctr"/>
                    </a:tc>
                    <a:tc>
                      <a:txBody>
                        <a:bodyPr/>
                        <a:lstStyle/>
                        <a:p>
                          <a:pPr algn="ctr"/>
                          <a:r>
                            <a:rPr lang="zh-TW" altLang="en-US" dirty="0"/>
                            <a:t>輸出層的神經元數量</a:t>
                          </a:r>
                        </a:p>
                      </a:txBody>
                      <a:tcPr anchor="ctr"/>
                    </a:tc>
                    <a:tc>
                      <a:txBody>
                        <a:bodyPr/>
                        <a:lstStyle/>
                        <a:p>
                          <a:pPr algn="ctr"/>
                          <a:r>
                            <a:rPr lang="zh-TW" altLang="en-US" dirty="0"/>
                            <a:t>輸出層的激活函數</a:t>
                          </a:r>
                        </a:p>
                      </a:txBody>
                      <a:tcPr anchor="ctr"/>
                    </a:tc>
                    <a:tc>
                      <a:txBody>
                        <a:bodyPr/>
                        <a:lstStyle/>
                        <a:p>
                          <a:pPr algn="ctr"/>
                          <a:r>
                            <a:rPr lang="zh-TW" altLang="en-US" dirty="0"/>
                            <a:t>損失函數（分類任務都是顯示單筆資料的）</a:t>
                          </a:r>
                        </a:p>
                      </a:txBody>
                      <a:tcPr anchor="ctr"/>
                    </a:tc>
                    <a:extLst>
                      <a:ext uri="{0D108BD9-81ED-4DB2-BD59-A6C34878D82A}">
                        <a16:rowId xmlns:a16="http://schemas.microsoft.com/office/drawing/2014/main" val="723336190"/>
                      </a:ext>
                    </a:extLst>
                  </a:tr>
                  <a:tr h="809313">
                    <a:tc>
                      <a:txBody>
                        <a:bodyPr/>
                        <a:lstStyle/>
                        <a:p>
                          <a:pPr algn="ctr"/>
                          <a:r>
                            <a:rPr kumimoji="1" lang="zh-TW" altLang="en-US" dirty="0"/>
                            <a:t>回歸任務（</a:t>
                          </a:r>
                          <a:r>
                            <a:rPr kumimoji="1" lang="en-US" altLang="zh-TW" dirty="0"/>
                            <a:t>Regression</a:t>
                          </a:r>
                          <a:r>
                            <a:rPr kumimoji="1" lang="zh-TW" altLang="en-US" dirty="0"/>
                            <a:t>）</a:t>
                          </a:r>
                          <a:endParaRPr lang="zh-TW" altLang="en-US" dirty="0"/>
                        </a:p>
                      </a:txBody>
                      <a:tcPr anchor="ctr"/>
                    </a:tc>
                    <a:tc>
                      <a:txBody>
                        <a:bodyPr/>
                        <a:lstStyle/>
                        <a:p>
                          <a:pPr algn="ctr"/>
                          <a:r>
                            <a:rPr lang="zh-TW" altLang="en-US" dirty="0"/>
                            <a:t>房價或股價預測</a:t>
                          </a:r>
                        </a:p>
                      </a:txBody>
                      <a:tcPr anchor="ctr"/>
                    </a:tc>
                    <a:tc>
                      <a:txBody>
                        <a:bodyPr/>
                        <a:lstStyle/>
                        <a:p>
                          <a:pPr algn="ctr"/>
                          <a:r>
                            <a:rPr lang="en-US" altLang="zh-TW" dirty="0"/>
                            <a:t>1</a:t>
                          </a:r>
                          <a:r>
                            <a:rPr lang="zh-TW" altLang="en-US" dirty="0"/>
                            <a:t>（通常是）</a:t>
                          </a:r>
                        </a:p>
                      </a:txBody>
                      <a:tcPr anchor="ctr"/>
                    </a:tc>
                    <a:tc>
                      <a:txBody>
                        <a:bodyPr/>
                        <a:lstStyle/>
                        <a:p>
                          <a:pPr algn="ctr"/>
                          <a:r>
                            <a:rPr lang="en-US" altLang="zh-TW" dirty="0"/>
                            <a:t>None</a:t>
                          </a:r>
                          <a:r>
                            <a:rPr lang="zh-TW" altLang="en-US" dirty="0"/>
                            <a:t>（或 </a:t>
                          </a:r>
                          <a:r>
                            <a:rPr lang="en-US" altLang="zh-TW" dirty="0"/>
                            <a:t>Linear</a:t>
                          </a:r>
                          <a:r>
                            <a:rPr lang="zh-TW" altLang="en-US" dirty="0"/>
                            <a:t>）</a:t>
                          </a:r>
                        </a:p>
                      </a:txBody>
                      <a:tcPr anchor="ctr"/>
                    </a:tc>
                    <a:tc>
                      <a:txBody>
                        <a:bodyPr/>
                        <a:lstStyle/>
                        <a:p>
                          <a:pPr algn="ctr"/>
                          <a:r>
                            <a:rPr lang="en-US" altLang="zh-TW" dirty="0"/>
                            <a:t>MAE,</a:t>
                          </a:r>
                          <a:r>
                            <a:rPr lang="zh-TW" altLang="en-US" dirty="0"/>
                            <a:t> </a:t>
                          </a:r>
                          <a:r>
                            <a:rPr lang="en-US" altLang="zh-TW" dirty="0"/>
                            <a:t>MSE,</a:t>
                          </a:r>
                          <a:r>
                            <a:rPr lang="zh-TW" altLang="en-US" dirty="0"/>
                            <a:t> </a:t>
                          </a:r>
                          <a:r>
                            <a:rPr lang="en-US" altLang="zh-TW" dirty="0"/>
                            <a:t>RMSE</a:t>
                          </a:r>
                          <a:endParaRPr lang="zh-TW" altLang="en-US" dirty="0"/>
                        </a:p>
                      </a:txBody>
                      <a:tcPr anchor="ctr"/>
                    </a:tc>
                    <a:extLst>
                      <a:ext uri="{0D108BD9-81ED-4DB2-BD59-A6C34878D82A}">
                        <a16:rowId xmlns:a16="http://schemas.microsoft.com/office/drawing/2014/main" val="880411681"/>
                      </a:ext>
                    </a:extLst>
                  </a:tr>
                  <a:tr h="809313">
                    <a:tc>
                      <a:txBody>
                        <a:bodyPr/>
                        <a:lstStyle/>
                        <a:p>
                          <a:pPr algn="ctr"/>
                          <a:r>
                            <a:rPr kumimoji="1" lang="zh-TW" altLang="en-US" dirty="0"/>
                            <a:t>二元分類（</a:t>
                          </a:r>
                          <a:r>
                            <a:rPr kumimoji="1" lang="en-US" altLang="zh-TW" dirty="0"/>
                            <a:t>Binary Classification</a:t>
                          </a:r>
                          <a:r>
                            <a:rPr kumimoji="1" lang="zh-TW" altLang="en-US" dirty="0"/>
                            <a:t>）</a:t>
                          </a: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垃圾郵件分類</a:t>
                          </a:r>
                        </a:p>
                      </a:txBody>
                      <a:tcPr anchor="ctr"/>
                    </a:tc>
                    <a:tc>
                      <a:txBody>
                        <a:bodyPr/>
                        <a:lstStyle/>
                        <a:p>
                          <a:pPr algn="ctr"/>
                          <a:r>
                            <a:rPr lang="en-US" altLang="zh-TW" dirty="0"/>
                            <a:t>1</a:t>
                          </a:r>
                          <a:endParaRPr lang="zh-TW" altLang="en-US" dirty="0"/>
                        </a:p>
                      </a:txBody>
                      <a:tcPr anchor="ctr"/>
                    </a:tc>
                    <a:tc>
                      <a:txBody>
                        <a:bodyPr/>
                        <a:lstStyle/>
                        <a:p>
                          <a:pPr algn="ctr"/>
                          <a:r>
                            <a:rPr lang="en-US" altLang="zh-TW" dirty="0"/>
                            <a:t>Sigmoid</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m:t>
                                </m:r>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func>
                                <m:r>
                                  <a:rPr kumimoji="1" lang="en-US" altLang="zh-TW" b="0" i="1" smtClean="0">
                                    <a:latin typeface="Cambria Math" panose="02040503050406030204" pitchFamily="18" charset="0"/>
                                  </a:rPr>
                                  <m:t>]</m:t>
                                </m:r>
                              </m:oMath>
                            </m:oMathPara>
                          </a14:m>
                          <a:endParaRPr lang="zh-TW" altLang="en-US" dirty="0"/>
                        </a:p>
                      </a:txBody>
                      <a:tcPr anchor="ctr"/>
                    </a:tc>
                    <a:extLst>
                      <a:ext uri="{0D108BD9-81ED-4DB2-BD59-A6C34878D82A}">
                        <a16:rowId xmlns:a16="http://schemas.microsoft.com/office/drawing/2014/main" val="2697227649"/>
                      </a:ext>
                    </a:extLst>
                  </a:tr>
                  <a:tr h="893303">
                    <a:tc>
                      <a:txBody>
                        <a:bodyPr/>
                        <a:lstStyle/>
                        <a:p>
                          <a:pPr algn="ctr"/>
                          <a:r>
                            <a:rPr kumimoji="1" lang="zh-TW" altLang="en-US" dirty="0"/>
                            <a:t>多元分類（</a:t>
                          </a:r>
                          <a:r>
                            <a:rPr kumimoji="1" lang="en-US" altLang="zh-TW" dirty="0"/>
                            <a:t>Multi-class Classification</a:t>
                          </a:r>
                          <a:r>
                            <a:rPr kumimoji="1" lang="zh-TW" altLang="en-US" dirty="0"/>
                            <a:t>）</a:t>
                          </a: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零到九的手寫數字辨識</a:t>
                          </a:r>
                        </a:p>
                      </a:txBody>
                      <a:tcPr anchor="ctr"/>
                    </a:tc>
                    <a:tc>
                      <a:txBody>
                        <a:bodyPr/>
                        <a:lstStyle/>
                        <a:p>
                          <a:pPr algn="ctr"/>
                          <a:r>
                            <a:rPr lang="en-US" altLang="zh-TW" dirty="0"/>
                            <a:t>C</a:t>
                          </a:r>
                          <a:r>
                            <a:rPr lang="zh-TW" altLang="en-US" dirty="0"/>
                            <a:t>（類別數量）</a:t>
                          </a:r>
                        </a:p>
                      </a:txBody>
                      <a:tcPr anchor="ctr"/>
                    </a:tc>
                    <a:tc>
                      <a:txBody>
                        <a:bodyPr/>
                        <a:lstStyle/>
                        <a:p>
                          <a:pPr algn="ctr"/>
                          <a:r>
                            <a:rPr lang="en-US" altLang="zh-TW" dirty="0" err="1"/>
                            <a:t>Softmax</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m:t>
                                </m:r>
                                <m:nary>
                                  <m:naryPr>
                                    <m:chr m:val="∑"/>
                                    <m:ctrlPr>
                                      <a:rPr kumimoji="1" lang="en-US" altLang="zh-TW" i="1" smtClean="0">
                                        <a:latin typeface="Cambria Math" panose="02040503050406030204" pitchFamily="18" charset="0"/>
                                      </a:rPr>
                                    </m:ctrlPr>
                                  </m:naryPr>
                                  <m:sub>
                                    <m: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𝐶</m:t>
                                    </m:r>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en-US" altLang="zh-TW" i="1">
                                            <a:latin typeface="Cambria Math" panose="02040503050406030204" pitchFamily="18" charset="0"/>
                                          </a:rPr>
                                          <m:t>𝑖</m:t>
                                        </m:r>
                                      </m:sub>
                                    </m:sSub>
                                    <m:func>
                                      <m:funcPr>
                                        <m:ctrlPr>
                                          <a:rPr kumimoji="1" lang="zh-TW" altLang="en-US"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𝑗</m:t>
                                                </m:r>
                                                <m:r>
                                                  <a:rPr kumimoji="1" lang="en-US" altLang="zh-TW" i="1">
                                                    <a:latin typeface="Cambria Math" panose="02040503050406030204" pitchFamily="18" charset="0"/>
                                                  </a:rPr>
                                                  <m:t>,</m:t>
                                                </m:r>
                                                <m:r>
                                                  <a:rPr kumimoji="1" lang="zh-TW" altLang="en-US" i="1">
                                                    <a:latin typeface="Cambria Math" panose="02040503050406030204" pitchFamily="18" charset="0"/>
                                                  </a:rPr>
                                                  <m:t> </m:t>
                                                </m:r>
                                                <m:r>
                                                  <a:rPr kumimoji="1" lang="en-US" altLang="zh-TW" i="1">
                                                    <a:latin typeface="Cambria Math" panose="02040503050406030204" pitchFamily="18" charset="0"/>
                                                  </a:rPr>
                                                  <m:t>𝑖</m:t>
                                                </m:r>
                                              </m:sub>
                                            </m:sSub>
                                          </m:e>
                                        </m:acc>
                                      </m:e>
                                    </m:func>
                                  </m:e>
                                </m:nary>
                              </m:oMath>
                            </m:oMathPara>
                          </a14:m>
                          <a:endParaRPr lang="zh-TW" altLang="en-US" dirty="0"/>
                        </a:p>
                      </a:txBody>
                      <a:tcPr anchor="ctr"/>
                    </a:tc>
                    <a:extLst>
                      <a:ext uri="{0D108BD9-81ED-4DB2-BD59-A6C34878D82A}">
                        <a16:rowId xmlns:a16="http://schemas.microsoft.com/office/drawing/2014/main" val="3476087873"/>
                      </a:ext>
                    </a:extLst>
                  </a:tr>
                  <a:tr h="809313">
                    <a:tc>
                      <a:txBody>
                        <a:bodyPr/>
                        <a:lstStyle/>
                        <a:p>
                          <a:pPr algn="ctr"/>
                          <a:r>
                            <a:rPr kumimoji="1" lang="zh-TW" altLang="en-US" dirty="0"/>
                            <a:t>多標籤分類（</a:t>
                          </a:r>
                          <a:r>
                            <a:rPr kumimoji="1" lang="en-US" altLang="zh-TW" dirty="0"/>
                            <a:t>Multi-label Classification</a:t>
                          </a:r>
                          <a:r>
                            <a:rPr kumimoji="1" lang="zh-TW" altLang="en-US" dirty="0"/>
                            <a:t>）</a:t>
                          </a:r>
                          <a:endParaRPr lang="zh-TW" altLang="en-US" dirty="0"/>
                        </a:p>
                      </a:txBody>
                      <a:tcPr anchor="ctr"/>
                    </a:tc>
                    <a:tc>
                      <a:txBody>
                        <a:bodyPr/>
                        <a:lstStyle/>
                        <a:p>
                          <a:pPr algn="ctr"/>
                          <a:r>
                            <a:rPr lang="zh-TW" altLang="en-US" dirty="0"/>
                            <a:t>照片標籤</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C</a:t>
                          </a:r>
                          <a:r>
                            <a:rPr lang="zh-TW" altLang="en-US" dirty="0"/>
                            <a:t>（類別數量）</a:t>
                          </a:r>
                        </a:p>
                      </a:txBody>
                      <a:tcPr anchor="ctr"/>
                    </a:tc>
                    <a:tc>
                      <a:txBody>
                        <a:bodyPr/>
                        <a:lstStyle/>
                        <a:p>
                          <a:pPr algn="ctr"/>
                          <a:r>
                            <a:rPr lang="en-US" altLang="zh-TW" dirty="0"/>
                            <a:t>Sigmoid</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m:t>
                                </m:r>
                                <m:nary>
                                  <m:naryPr>
                                    <m:chr m:val="∑"/>
                                    <m:supHide m:val="on"/>
                                    <m:ctrlPr>
                                      <a:rPr kumimoji="1" lang="en-US" altLang="zh-TW"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𝑐</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e>
                                        </m:acc>
                                      </m:e>
                                    </m:func>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(1−</m:t>
                                        </m:r>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r>
                                      <a:rPr kumimoji="1" lang="en-US" altLang="zh-TW" i="1">
                                        <a:latin typeface="Cambria Math" panose="02040503050406030204" pitchFamily="18" charset="0"/>
                                      </a:rPr>
                                      <m:t>)</m:t>
                                    </m:r>
                                    <m:func>
                                      <m:funcPr>
                                        <m:ctrlPr>
                                          <a:rPr kumimoji="1" lang="en-US" altLang="zh-TW" i="1">
                                            <a:latin typeface="Cambria Math" panose="02040503050406030204" pitchFamily="18" charset="0"/>
                                          </a:rPr>
                                        </m:ctrlPr>
                                      </m:funcPr>
                                      <m:fName>
                                        <m:r>
                                          <m:rPr>
                                            <m:sty m:val="p"/>
                                          </m:rPr>
                                          <a:rPr kumimoji="1" lang="en-US" altLang="zh-TW">
                                            <a:latin typeface="Cambria Math" panose="02040503050406030204" pitchFamily="18" charset="0"/>
                                          </a:rPr>
                                          <m:t>log</m:t>
                                        </m:r>
                                      </m:fName>
                                      <m:e>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acc>
                                              <m:accPr>
                                                <m:chr m:val="̂"/>
                                                <m:ctrlPr>
                                                  <a:rPr kumimoji="1" lang="zh-TW" altLang="en-US"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r>
                                                      <a:rPr kumimoji="1" lang="en-US" altLang="zh-TW" b="0" i="1" smtClean="0">
                                                        <a:latin typeface="Cambria Math" panose="02040503050406030204" pitchFamily="18" charset="0"/>
                                                      </a:rPr>
                                                      <m:t>𝑐</m:t>
                                                    </m:r>
                                                  </m:sub>
                                                </m:sSub>
                                              </m:e>
                                            </m:acc>
                                          </m:e>
                                        </m:d>
                                      </m:e>
                                    </m:func>
                                  </m:e>
                                </m:nary>
                                <m:r>
                                  <a:rPr kumimoji="1" lang="en-US" altLang="zh-TW" b="0" i="1" smtClean="0">
                                    <a:latin typeface="Cambria Math" panose="02040503050406030204" pitchFamily="18" charset="0"/>
                                  </a:rPr>
                                  <m:t>)</m:t>
                                </m:r>
                              </m:oMath>
                            </m:oMathPara>
                          </a14:m>
                          <a:endParaRPr lang="zh-TW" altLang="en-US" dirty="0"/>
                        </a:p>
                      </a:txBody>
                      <a:tcPr anchor="ctr"/>
                    </a:tc>
                    <a:extLst>
                      <a:ext uri="{0D108BD9-81ED-4DB2-BD59-A6C34878D82A}">
                        <a16:rowId xmlns:a16="http://schemas.microsoft.com/office/drawing/2014/main" val="3541660521"/>
                      </a:ext>
                    </a:extLst>
                  </a:tr>
                </a:tbl>
              </a:graphicData>
            </a:graphic>
          </p:graphicFrame>
        </mc:Choice>
        <mc:Fallback xmlns="">
          <p:graphicFrame>
            <p:nvGraphicFramePr>
              <p:cNvPr id="6" name="內容版面配置區 5">
                <a:extLst>
                  <a:ext uri="{FF2B5EF4-FFF2-40B4-BE49-F238E27FC236}">
                    <a16:creationId xmlns:a16="http://schemas.microsoft.com/office/drawing/2014/main" id="{2464AE57-F8DC-D180-9F02-707032DC5E9D}"/>
                  </a:ext>
                </a:extLst>
              </p:cNvPr>
              <p:cNvGraphicFramePr>
                <a:graphicFrameLocks noGrp="1"/>
              </p:cNvGraphicFramePr>
              <p:nvPr>
                <p:ph idx="1"/>
                <p:extLst>
                  <p:ext uri="{D42A27DB-BD31-4B8C-83A1-F6EECF244321}">
                    <p14:modId xmlns:p14="http://schemas.microsoft.com/office/powerpoint/2010/main" val="4264208015"/>
                  </p:ext>
                </p:extLst>
              </p:nvPr>
            </p:nvGraphicFramePr>
            <p:xfrm>
              <a:off x="123463" y="1974278"/>
              <a:ext cx="11945073" cy="4235642"/>
            </p:xfrm>
            <a:graphic>
              <a:graphicData uri="http://schemas.openxmlformats.org/drawingml/2006/table">
                <a:tbl>
                  <a:tblPr firstRow="1" bandRow="1">
                    <a:tableStyleId>{5C22544A-7EE6-4342-B048-85BDC9FD1C3A}</a:tableStyleId>
                  </a:tblPr>
                  <a:tblGrid>
                    <a:gridCol w="2092141">
                      <a:extLst>
                        <a:ext uri="{9D8B030D-6E8A-4147-A177-3AD203B41FA5}">
                          <a16:colId xmlns:a16="http://schemas.microsoft.com/office/drawing/2014/main" val="1649407356"/>
                        </a:ext>
                      </a:extLst>
                    </a:gridCol>
                    <a:gridCol w="1773803">
                      <a:extLst>
                        <a:ext uri="{9D8B030D-6E8A-4147-A177-3AD203B41FA5}">
                          <a16:colId xmlns:a16="http://schemas.microsoft.com/office/drawing/2014/main" val="3632951960"/>
                        </a:ext>
                      </a:extLst>
                    </a:gridCol>
                    <a:gridCol w="1635889">
                      <a:extLst>
                        <a:ext uri="{9D8B030D-6E8A-4147-A177-3AD203B41FA5}">
                          <a16:colId xmlns:a16="http://schemas.microsoft.com/office/drawing/2014/main" val="2542243842"/>
                        </a:ext>
                      </a:extLst>
                    </a:gridCol>
                    <a:gridCol w="1778642">
                      <a:extLst>
                        <a:ext uri="{9D8B030D-6E8A-4147-A177-3AD203B41FA5}">
                          <a16:colId xmlns:a16="http://schemas.microsoft.com/office/drawing/2014/main" val="4241272456"/>
                        </a:ext>
                      </a:extLst>
                    </a:gridCol>
                    <a:gridCol w="4664598">
                      <a:extLst>
                        <a:ext uri="{9D8B030D-6E8A-4147-A177-3AD203B41FA5}">
                          <a16:colId xmlns:a16="http://schemas.microsoft.com/office/drawing/2014/main" val="3061981105"/>
                        </a:ext>
                      </a:extLst>
                    </a:gridCol>
                  </a:tblGrid>
                  <a:tr h="809313">
                    <a:tc>
                      <a:txBody>
                        <a:bodyPr/>
                        <a:lstStyle/>
                        <a:p>
                          <a:pPr algn="ctr"/>
                          <a:r>
                            <a:rPr lang="zh-TW" altLang="en-US" dirty="0"/>
                            <a:t>任務類型</a:t>
                          </a:r>
                        </a:p>
                      </a:txBody>
                      <a:tcPr anchor="ctr"/>
                    </a:tc>
                    <a:tc>
                      <a:txBody>
                        <a:bodyPr/>
                        <a:lstStyle/>
                        <a:p>
                          <a:pPr algn="ctr"/>
                          <a:r>
                            <a:rPr lang="zh-TW" altLang="en-US" dirty="0"/>
                            <a:t>舉例</a:t>
                          </a:r>
                        </a:p>
                      </a:txBody>
                      <a:tcPr anchor="ctr"/>
                    </a:tc>
                    <a:tc>
                      <a:txBody>
                        <a:bodyPr/>
                        <a:lstStyle/>
                        <a:p>
                          <a:pPr algn="ctr"/>
                          <a:r>
                            <a:rPr lang="zh-TW" altLang="en-US" dirty="0"/>
                            <a:t>輸出層的神經元數量</a:t>
                          </a:r>
                        </a:p>
                      </a:txBody>
                      <a:tcPr anchor="ctr"/>
                    </a:tc>
                    <a:tc>
                      <a:txBody>
                        <a:bodyPr/>
                        <a:lstStyle/>
                        <a:p>
                          <a:pPr algn="ctr"/>
                          <a:r>
                            <a:rPr lang="zh-TW" altLang="en-US" dirty="0"/>
                            <a:t>輸出層的激活函數</a:t>
                          </a:r>
                        </a:p>
                      </a:txBody>
                      <a:tcPr anchor="ctr"/>
                    </a:tc>
                    <a:tc>
                      <a:txBody>
                        <a:bodyPr/>
                        <a:lstStyle/>
                        <a:p>
                          <a:pPr algn="ctr"/>
                          <a:r>
                            <a:rPr lang="zh-TW" altLang="en-US" dirty="0"/>
                            <a:t>損失函數（分類任務都是顯示單筆資料的）</a:t>
                          </a:r>
                        </a:p>
                      </a:txBody>
                      <a:tcPr anchor="ctr"/>
                    </a:tc>
                    <a:extLst>
                      <a:ext uri="{0D108BD9-81ED-4DB2-BD59-A6C34878D82A}">
                        <a16:rowId xmlns:a16="http://schemas.microsoft.com/office/drawing/2014/main" val="723336190"/>
                      </a:ext>
                    </a:extLst>
                  </a:tr>
                  <a:tr h="809313">
                    <a:tc>
                      <a:txBody>
                        <a:bodyPr/>
                        <a:lstStyle/>
                        <a:p>
                          <a:pPr algn="ctr"/>
                          <a:r>
                            <a:rPr kumimoji="1" lang="zh-TW" altLang="en-US" dirty="0"/>
                            <a:t>回歸任務（</a:t>
                          </a:r>
                          <a:r>
                            <a:rPr kumimoji="1" lang="en-US" altLang="zh-TW" dirty="0"/>
                            <a:t>Regression</a:t>
                          </a:r>
                          <a:r>
                            <a:rPr kumimoji="1" lang="zh-TW" altLang="en-US" dirty="0"/>
                            <a:t>）</a:t>
                          </a:r>
                          <a:endParaRPr lang="zh-TW" altLang="en-US" dirty="0"/>
                        </a:p>
                      </a:txBody>
                      <a:tcPr anchor="ctr"/>
                    </a:tc>
                    <a:tc>
                      <a:txBody>
                        <a:bodyPr/>
                        <a:lstStyle/>
                        <a:p>
                          <a:pPr algn="ctr"/>
                          <a:r>
                            <a:rPr lang="zh-TW" altLang="en-US" dirty="0"/>
                            <a:t>房價或股價預測</a:t>
                          </a:r>
                        </a:p>
                      </a:txBody>
                      <a:tcPr anchor="ctr"/>
                    </a:tc>
                    <a:tc>
                      <a:txBody>
                        <a:bodyPr/>
                        <a:lstStyle/>
                        <a:p>
                          <a:pPr algn="ctr"/>
                          <a:r>
                            <a:rPr lang="en-US" altLang="zh-TW" dirty="0"/>
                            <a:t>1</a:t>
                          </a:r>
                          <a:r>
                            <a:rPr lang="zh-TW" altLang="en-US" dirty="0"/>
                            <a:t>（通常是）</a:t>
                          </a:r>
                        </a:p>
                      </a:txBody>
                      <a:tcPr anchor="ctr"/>
                    </a:tc>
                    <a:tc>
                      <a:txBody>
                        <a:bodyPr/>
                        <a:lstStyle/>
                        <a:p>
                          <a:pPr algn="ctr"/>
                          <a:r>
                            <a:rPr lang="en-US" altLang="zh-TW" dirty="0"/>
                            <a:t>None</a:t>
                          </a:r>
                          <a:r>
                            <a:rPr lang="zh-TW" altLang="en-US" dirty="0"/>
                            <a:t>（或 </a:t>
                          </a:r>
                          <a:r>
                            <a:rPr lang="en-US" altLang="zh-TW" dirty="0"/>
                            <a:t>Linear</a:t>
                          </a:r>
                          <a:r>
                            <a:rPr lang="zh-TW" altLang="en-US" dirty="0"/>
                            <a:t>）</a:t>
                          </a:r>
                        </a:p>
                      </a:txBody>
                      <a:tcPr anchor="ctr"/>
                    </a:tc>
                    <a:tc>
                      <a:txBody>
                        <a:bodyPr/>
                        <a:lstStyle/>
                        <a:p>
                          <a:pPr algn="ctr"/>
                          <a:r>
                            <a:rPr lang="en-US" altLang="zh-TW" dirty="0"/>
                            <a:t>MAE,</a:t>
                          </a:r>
                          <a:r>
                            <a:rPr lang="zh-TW" altLang="en-US" dirty="0"/>
                            <a:t> </a:t>
                          </a:r>
                          <a:r>
                            <a:rPr lang="en-US" altLang="zh-TW" dirty="0"/>
                            <a:t>MSE,</a:t>
                          </a:r>
                          <a:r>
                            <a:rPr lang="zh-TW" altLang="en-US" dirty="0"/>
                            <a:t> </a:t>
                          </a:r>
                          <a:r>
                            <a:rPr lang="en-US" altLang="zh-TW" dirty="0"/>
                            <a:t>RMSE</a:t>
                          </a:r>
                          <a:endParaRPr lang="zh-TW" altLang="en-US" dirty="0"/>
                        </a:p>
                      </a:txBody>
                      <a:tcPr anchor="ctr"/>
                    </a:tc>
                    <a:extLst>
                      <a:ext uri="{0D108BD9-81ED-4DB2-BD59-A6C34878D82A}">
                        <a16:rowId xmlns:a16="http://schemas.microsoft.com/office/drawing/2014/main" val="880411681"/>
                      </a:ext>
                    </a:extLst>
                  </a:tr>
                  <a:tr h="809313">
                    <a:tc>
                      <a:txBody>
                        <a:bodyPr/>
                        <a:lstStyle/>
                        <a:p>
                          <a:pPr algn="ctr"/>
                          <a:r>
                            <a:rPr kumimoji="1" lang="zh-TW" altLang="en-US" dirty="0"/>
                            <a:t>二元分類（</a:t>
                          </a:r>
                          <a:r>
                            <a:rPr kumimoji="1" lang="en-US" altLang="zh-TW" dirty="0"/>
                            <a:t>Binary Classification</a:t>
                          </a:r>
                          <a:r>
                            <a:rPr kumimoji="1" lang="zh-TW" altLang="en-US" dirty="0"/>
                            <a:t>）</a:t>
                          </a: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垃圾郵件分類</a:t>
                          </a:r>
                        </a:p>
                      </a:txBody>
                      <a:tcPr anchor="ctr"/>
                    </a:tc>
                    <a:tc>
                      <a:txBody>
                        <a:bodyPr/>
                        <a:lstStyle/>
                        <a:p>
                          <a:pPr algn="ctr"/>
                          <a:r>
                            <a:rPr lang="en-US" altLang="zh-TW" dirty="0"/>
                            <a:t>1</a:t>
                          </a:r>
                          <a:endParaRPr lang="zh-TW" altLang="en-US" dirty="0"/>
                        </a:p>
                      </a:txBody>
                      <a:tcPr anchor="ctr"/>
                    </a:tc>
                    <a:tc>
                      <a:txBody>
                        <a:bodyPr/>
                        <a:lstStyle/>
                        <a:p>
                          <a:pPr algn="ctr"/>
                          <a:r>
                            <a:rPr lang="en-US" altLang="zh-TW" dirty="0"/>
                            <a:t>Sigmoid</a:t>
                          </a:r>
                          <a:endParaRPr lang="zh-TW" altLang="en-US" dirty="0"/>
                        </a:p>
                      </a:txBody>
                      <a:tcPr anchor="ctr"/>
                    </a:tc>
                    <a:tc>
                      <a:txBody>
                        <a:bodyPr/>
                        <a:lstStyle/>
                        <a:p>
                          <a:endParaRPr lang="zh-TW"/>
                        </a:p>
                      </a:txBody>
                      <a:tcPr anchor="ctr">
                        <a:blipFill>
                          <a:blip r:embed="rId2"/>
                          <a:stretch>
                            <a:fillRect l="-155978" t="-204762" r="-543" b="-384127"/>
                          </a:stretch>
                        </a:blipFill>
                      </a:tcPr>
                    </a:tc>
                    <a:extLst>
                      <a:ext uri="{0D108BD9-81ED-4DB2-BD59-A6C34878D82A}">
                        <a16:rowId xmlns:a16="http://schemas.microsoft.com/office/drawing/2014/main" val="2697227649"/>
                      </a:ext>
                    </a:extLst>
                  </a:tr>
                  <a:tr h="893303">
                    <a:tc>
                      <a:txBody>
                        <a:bodyPr/>
                        <a:lstStyle/>
                        <a:p>
                          <a:pPr algn="ctr"/>
                          <a:r>
                            <a:rPr kumimoji="1" lang="zh-TW" altLang="en-US" dirty="0"/>
                            <a:t>多元分類（</a:t>
                          </a:r>
                          <a:r>
                            <a:rPr kumimoji="1" lang="en-US" altLang="zh-TW" dirty="0"/>
                            <a:t>Multi-class Classification</a:t>
                          </a:r>
                          <a:r>
                            <a:rPr kumimoji="1" lang="zh-TW" altLang="en-US" dirty="0"/>
                            <a:t>）</a:t>
                          </a: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零到九的手寫數字辨識</a:t>
                          </a:r>
                        </a:p>
                      </a:txBody>
                      <a:tcPr anchor="ctr"/>
                    </a:tc>
                    <a:tc>
                      <a:txBody>
                        <a:bodyPr/>
                        <a:lstStyle/>
                        <a:p>
                          <a:pPr algn="ctr"/>
                          <a:r>
                            <a:rPr lang="en-US" altLang="zh-TW" dirty="0"/>
                            <a:t>C</a:t>
                          </a:r>
                          <a:r>
                            <a:rPr lang="zh-TW" altLang="en-US" dirty="0"/>
                            <a:t>（類別數量）</a:t>
                          </a:r>
                        </a:p>
                      </a:txBody>
                      <a:tcPr anchor="ctr"/>
                    </a:tc>
                    <a:tc>
                      <a:txBody>
                        <a:bodyPr/>
                        <a:lstStyle/>
                        <a:p>
                          <a:pPr algn="ctr"/>
                          <a:r>
                            <a:rPr lang="en-US" altLang="zh-TW" dirty="0" err="1"/>
                            <a:t>Softmax</a:t>
                          </a:r>
                          <a:endParaRPr lang="zh-TW" altLang="en-US" dirty="0"/>
                        </a:p>
                      </a:txBody>
                      <a:tcPr anchor="ctr"/>
                    </a:tc>
                    <a:tc>
                      <a:txBody>
                        <a:bodyPr/>
                        <a:lstStyle/>
                        <a:p>
                          <a:endParaRPr lang="zh-TW"/>
                        </a:p>
                      </a:txBody>
                      <a:tcPr anchor="ctr">
                        <a:blipFill>
                          <a:blip r:embed="rId2"/>
                          <a:stretch>
                            <a:fillRect l="-155978" t="-270423" r="-543" b="-240845"/>
                          </a:stretch>
                        </a:blipFill>
                      </a:tcPr>
                    </a:tc>
                    <a:extLst>
                      <a:ext uri="{0D108BD9-81ED-4DB2-BD59-A6C34878D82A}">
                        <a16:rowId xmlns:a16="http://schemas.microsoft.com/office/drawing/2014/main" val="3476087873"/>
                      </a:ext>
                    </a:extLst>
                  </a:tr>
                  <a:tr h="914400">
                    <a:tc>
                      <a:txBody>
                        <a:bodyPr/>
                        <a:lstStyle/>
                        <a:p>
                          <a:pPr algn="ctr"/>
                          <a:r>
                            <a:rPr kumimoji="1" lang="zh-TW" altLang="en-US" dirty="0"/>
                            <a:t>多標籤分類（</a:t>
                          </a:r>
                          <a:r>
                            <a:rPr kumimoji="1" lang="en-US" altLang="zh-TW" dirty="0"/>
                            <a:t>Multi-label Classification</a:t>
                          </a:r>
                          <a:r>
                            <a:rPr kumimoji="1" lang="zh-TW" altLang="en-US" dirty="0"/>
                            <a:t>）</a:t>
                          </a:r>
                          <a:endParaRPr lang="zh-TW" altLang="en-US" dirty="0"/>
                        </a:p>
                      </a:txBody>
                      <a:tcPr anchor="ctr"/>
                    </a:tc>
                    <a:tc>
                      <a:txBody>
                        <a:bodyPr/>
                        <a:lstStyle/>
                        <a:p>
                          <a:pPr algn="ctr"/>
                          <a:r>
                            <a:rPr lang="zh-TW" altLang="en-US" dirty="0"/>
                            <a:t>照片標籤</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C</a:t>
                          </a:r>
                          <a:r>
                            <a:rPr lang="zh-TW" altLang="en-US" dirty="0"/>
                            <a:t>（類別數量）</a:t>
                          </a:r>
                        </a:p>
                      </a:txBody>
                      <a:tcPr anchor="ctr"/>
                    </a:tc>
                    <a:tc>
                      <a:txBody>
                        <a:bodyPr/>
                        <a:lstStyle/>
                        <a:p>
                          <a:pPr algn="ctr"/>
                          <a:r>
                            <a:rPr lang="en-US" altLang="zh-TW" dirty="0"/>
                            <a:t>Sigmoid</a:t>
                          </a:r>
                          <a:endParaRPr lang="zh-TW" altLang="en-US" dirty="0"/>
                        </a:p>
                      </a:txBody>
                      <a:tcPr anchor="ctr"/>
                    </a:tc>
                    <a:tc>
                      <a:txBody>
                        <a:bodyPr/>
                        <a:lstStyle/>
                        <a:p>
                          <a:endParaRPr lang="zh-TW"/>
                        </a:p>
                      </a:txBody>
                      <a:tcPr anchor="ctr">
                        <a:blipFill>
                          <a:blip r:embed="rId2"/>
                          <a:stretch>
                            <a:fillRect l="-155978" t="-365278" r="-543" b="-137500"/>
                          </a:stretch>
                        </a:blipFill>
                      </a:tcPr>
                    </a:tc>
                    <a:extLst>
                      <a:ext uri="{0D108BD9-81ED-4DB2-BD59-A6C34878D82A}">
                        <a16:rowId xmlns:a16="http://schemas.microsoft.com/office/drawing/2014/main" val="3541660521"/>
                      </a:ext>
                    </a:extLst>
                  </a:tr>
                </a:tbl>
              </a:graphicData>
            </a:graphic>
          </p:graphicFrame>
        </mc:Fallback>
      </mc:AlternateContent>
      <p:sp>
        <p:nvSpPr>
          <p:cNvPr id="4" name="日期版面配置區 3">
            <a:extLst>
              <a:ext uri="{FF2B5EF4-FFF2-40B4-BE49-F238E27FC236}">
                <a16:creationId xmlns:a16="http://schemas.microsoft.com/office/drawing/2014/main" id="{8DDE2E96-E888-B23E-31C7-BBC2E0603FC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9DFFD5C-8A44-6799-6F5E-B0F0EDC06C8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198125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D0A4C8-88E8-3658-DD5B-61284330CFC5}"/>
              </a:ext>
            </a:extLst>
          </p:cNvPr>
          <p:cNvSpPr>
            <a:spLocks noGrp="1"/>
          </p:cNvSpPr>
          <p:nvPr>
            <p:ph type="title"/>
          </p:nvPr>
        </p:nvSpPr>
        <p:spPr/>
        <p:txBody>
          <a:bodyPr>
            <a:normAutofit fontScale="90000"/>
          </a:bodyPr>
          <a:lstStyle/>
          <a:p>
            <a:r>
              <a:rPr kumimoji="1" lang="zh-TW" altLang="en-US" dirty="0"/>
              <a:t>損失函數與輸出層激活函數的總整理</a:t>
            </a:r>
          </a:p>
        </p:txBody>
      </p:sp>
      <p:sp>
        <p:nvSpPr>
          <p:cNvPr id="3" name="內容版面配置區 2">
            <a:extLst>
              <a:ext uri="{FF2B5EF4-FFF2-40B4-BE49-F238E27FC236}">
                <a16:creationId xmlns:a16="http://schemas.microsoft.com/office/drawing/2014/main" id="{EB166F93-2BF6-9AFC-6579-4927B9798ED2}"/>
              </a:ext>
            </a:extLst>
          </p:cNvPr>
          <p:cNvSpPr>
            <a:spLocks noGrp="1"/>
          </p:cNvSpPr>
          <p:nvPr>
            <p:ph idx="1"/>
          </p:nvPr>
        </p:nvSpPr>
        <p:spPr/>
        <p:txBody>
          <a:bodyPr/>
          <a:lstStyle/>
          <a:p>
            <a:r>
              <a:rPr kumimoji="1" lang="zh-TW" altLang="en-US" dirty="0"/>
              <a:t>*</a:t>
            </a:r>
            <a:r>
              <a:rPr kumimoji="1" lang="en-US" altLang="zh-TW" dirty="0"/>
              <a:t>.</a:t>
            </a:r>
            <a:r>
              <a:rPr kumimoji="1" lang="zh-TW" altLang="en-US" dirty="0"/>
              <a:t> </a:t>
            </a:r>
            <a:r>
              <a:rPr kumimoji="1" lang="en-US" altLang="zh-TW" dirty="0"/>
              <a:t>Chapter_3_California_Housing.ipynb</a:t>
            </a:r>
          </a:p>
          <a:p>
            <a:r>
              <a:rPr kumimoji="1" lang="zh-TW" altLang="en-US" dirty="0"/>
              <a:t>*</a:t>
            </a:r>
            <a:r>
              <a:rPr kumimoji="1" lang="en-US" altLang="zh-TW" dirty="0"/>
              <a:t>.</a:t>
            </a:r>
            <a:r>
              <a:rPr kumimoji="1" lang="zh-TW" altLang="en-US" dirty="0"/>
              <a:t> </a:t>
            </a:r>
            <a:r>
              <a:rPr kumimoji="1" lang="en-US" altLang="zh-TW" dirty="0"/>
              <a:t>Chapter_3_Spam_or_Ham.ipynb</a:t>
            </a:r>
          </a:p>
          <a:p>
            <a:r>
              <a:rPr kumimoji="1" lang="zh-TW" altLang="en-US" dirty="0"/>
              <a:t>*</a:t>
            </a:r>
            <a:r>
              <a:rPr kumimoji="1" lang="en-US" altLang="zh-TW" dirty="0"/>
              <a:t>.</a:t>
            </a:r>
            <a:r>
              <a:rPr kumimoji="1" lang="zh-TW" altLang="en-US" dirty="0"/>
              <a:t> </a:t>
            </a:r>
            <a:r>
              <a:rPr kumimoji="1" lang="en-US" altLang="zh-TW" dirty="0"/>
              <a:t>Chapter_3_Cifar_10.ipynb</a:t>
            </a:r>
          </a:p>
          <a:p>
            <a:r>
              <a:rPr kumimoji="1" lang="zh-TW" altLang="en-US" dirty="0"/>
              <a:t>*</a:t>
            </a:r>
            <a:r>
              <a:rPr kumimoji="1" lang="en-US" altLang="zh-TW" dirty="0"/>
              <a:t>.</a:t>
            </a:r>
            <a:r>
              <a:rPr kumimoji="1" lang="zh-TW" altLang="en-US" dirty="0"/>
              <a:t> </a:t>
            </a:r>
            <a:r>
              <a:rPr kumimoji="1" lang="en-US" altLang="zh-TW" dirty="0"/>
              <a:t>Chapter_3_Medical_Papers.ipynb</a:t>
            </a:r>
            <a:endParaRPr kumimoji="1" lang="zh-TW" altLang="en-US" dirty="0"/>
          </a:p>
        </p:txBody>
      </p:sp>
      <p:sp>
        <p:nvSpPr>
          <p:cNvPr id="4" name="日期版面配置區 3">
            <a:extLst>
              <a:ext uri="{FF2B5EF4-FFF2-40B4-BE49-F238E27FC236}">
                <a16:creationId xmlns:a16="http://schemas.microsoft.com/office/drawing/2014/main" id="{0A578044-2245-D885-C6DB-3864D73B57E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A437FA3-6A9B-CD4C-707B-C497E5654455}"/>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850629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164088-B6E8-48B8-FF45-96894D8117A5}"/>
              </a:ext>
            </a:extLst>
          </p:cNvPr>
          <p:cNvSpPr>
            <a:spLocks noGrp="1"/>
          </p:cNvSpPr>
          <p:nvPr>
            <p:ph type="title"/>
          </p:nvPr>
        </p:nvSpPr>
        <p:spPr/>
        <p:txBody>
          <a:bodyPr/>
          <a:lstStyle/>
          <a:p>
            <a:r>
              <a:rPr kumimoji="1" lang="zh-TW" altLang="en-US" dirty="0"/>
              <a:t>梯度消失與梯度爆炸</a:t>
            </a:r>
          </a:p>
        </p:txBody>
      </p:sp>
      <p:sp>
        <p:nvSpPr>
          <p:cNvPr id="3" name="內容版面配置區 2">
            <a:extLst>
              <a:ext uri="{FF2B5EF4-FFF2-40B4-BE49-F238E27FC236}">
                <a16:creationId xmlns:a16="http://schemas.microsoft.com/office/drawing/2014/main" id="{49B9A91E-200A-2047-C683-753B994CBEEB}"/>
              </a:ext>
            </a:extLst>
          </p:cNvPr>
          <p:cNvSpPr>
            <a:spLocks noGrp="1"/>
          </p:cNvSpPr>
          <p:nvPr>
            <p:ph idx="1"/>
          </p:nvPr>
        </p:nvSpPr>
        <p:spPr/>
        <p:txBody>
          <a:bodyPr/>
          <a:lstStyle/>
          <a:p>
            <a:r>
              <a:rPr kumimoji="1" lang="zh-TW" altLang="en-US" dirty="0"/>
              <a:t>當深度神經網路的層數變多時，經常會遇到梯度消失（</a:t>
            </a:r>
            <a:r>
              <a:rPr kumimoji="1" lang="en-US" altLang="zh-TW" dirty="0"/>
              <a:t>vanishing gradient</a:t>
            </a:r>
            <a:r>
              <a:rPr kumimoji="1" lang="zh-TW" altLang="en-US" dirty="0"/>
              <a:t>）和 梯度爆炸（</a:t>
            </a:r>
            <a:r>
              <a:rPr kumimoji="1" lang="en-US" altLang="zh-TW" dirty="0"/>
              <a:t>exploding gradient</a:t>
            </a:r>
            <a:r>
              <a:rPr kumimoji="1" lang="zh-TW" altLang="en-US" dirty="0"/>
              <a:t>）問題。</a:t>
            </a:r>
            <a:endParaRPr kumimoji="1" lang="en-US" altLang="zh-TW" dirty="0"/>
          </a:p>
          <a:p>
            <a:pPr>
              <a:buFont typeface="Wingdings" pitchFamily="2" charset="2"/>
              <a:buChar char="n"/>
            </a:pPr>
            <a:r>
              <a:rPr kumimoji="1" lang="zh-TW" altLang="en-US" dirty="0"/>
              <a:t> 梯度消失是指在反向傳播時，梯度逐層變小，導致靠近 </a:t>
            </a:r>
            <a:r>
              <a:rPr kumimoji="1" lang="en-US" altLang="zh-TW" dirty="0"/>
              <a:t>input</a:t>
            </a:r>
            <a:r>
              <a:rPr kumimoji="1" lang="zh-TW" altLang="en-US" dirty="0"/>
              <a:t> </a:t>
            </a:r>
            <a:r>
              <a:rPr kumimoji="1" lang="en-US" altLang="zh-TW" dirty="0"/>
              <a:t>layer</a:t>
            </a:r>
            <a:r>
              <a:rPr kumimoji="1" lang="zh-TW" altLang="en-US" dirty="0"/>
              <a:t> 的權重幾乎無法更新，使模型無法繼續收斂的情況。</a:t>
            </a:r>
            <a:endParaRPr kumimoji="1" lang="en-US" altLang="zh-TW" dirty="0"/>
          </a:p>
          <a:p>
            <a:pPr>
              <a:buFont typeface="Wingdings" pitchFamily="2" charset="2"/>
              <a:buChar char="n"/>
            </a:pPr>
            <a:r>
              <a:rPr kumimoji="1" lang="zh-TW" altLang="en-US" dirty="0"/>
              <a:t> 梯度爆炸則是梯度在傳播過程中逐層增大，造成權重更新過大，模型訓練過程極度不穩定甚至發散。</a:t>
            </a:r>
          </a:p>
        </p:txBody>
      </p:sp>
      <p:sp>
        <p:nvSpPr>
          <p:cNvPr id="4" name="日期版面配置區 3">
            <a:extLst>
              <a:ext uri="{FF2B5EF4-FFF2-40B4-BE49-F238E27FC236}">
                <a16:creationId xmlns:a16="http://schemas.microsoft.com/office/drawing/2014/main" id="{78D54F65-9707-17D2-70B1-6692DDA3171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F81A582-221A-B74F-81F1-6583EAAB417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74369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11D024-7220-19F7-8F72-A916CD8611FC}"/>
              </a:ext>
            </a:extLst>
          </p:cNvPr>
          <p:cNvSpPr>
            <a:spLocks noGrp="1"/>
          </p:cNvSpPr>
          <p:nvPr>
            <p:ph type="title"/>
          </p:nvPr>
        </p:nvSpPr>
        <p:spPr/>
        <p:txBody>
          <a:bodyPr/>
          <a:lstStyle/>
          <a:p>
            <a:r>
              <a:rPr kumimoji="1" lang="zh-TW" altLang="en-US" dirty="0"/>
              <a:t>梯度消失與梯度爆炸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A32C64A-FE7E-CA0F-E23B-9184AB7FF205}"/>
                  </a:ext>
                </a:extLst>
              </p:cNvPr>
              <p:cNvSpPr>
                <a:spLocks noGrp="1"/>
              </p:cNvSpPr>
              <p:nvPr>
                <p:ph idx="1"/>
              </p:nvPr>
            </p:nvSpPr>
            <p:spPr>
              <a:xfrm>
                <a:off x="173621" y="2108201"/>
                <a:ext cx="6562846" cy="4234726"/>
              </a:xfrm>
            </p:spPr>
            <p:txBody>
              <a:bodyPr>
                <a:noAutofit/>
              </a:bodyPr>
              <a:lstStyle/>
              <a:p>
                <a:r>
                  <a:rPr kumimoji="1" lang="zh-TW" altLang="en-US" dirty="0"/>
                  <a:t>梯度消失的常見造成原因：</a:t>
                </a:r>
                <a:endParaRPr kumimoji="1" lang="en-US" altLang="zh-TW" dirty="0"/>
              </a:p>
              <a:p>
                <a:pPr marL="457200" indent="-457200">
                  <a:buFont typeface="+mj-lt"/>
                  <a:buAutoNum type="arabicPeriod"/>
                </a:pPr>
                <a:r>
                  <a:rPr kumimoji="1" lang="zh-TW" altLang="en-US" dirty="0"/>
                  <a:t>使用 </a:t>
                </a:r>
                <a:r>
                  <a:rPr kumimoji="1" lang="en-US" altLang="zh-TW" dirty="0"/>
                  <a:t>sigmoid</a:t>
                </a:r>
                <a:r>
                  <a:rPr kumimoji="1" lang="zh-TW" altLang="en-US" dirty="0"/>
                  <a:t> 函數當作 </a:t>
                </a:r>
                <a:r>
                  <a:rPr kumimoji="1" lang="en-US" altLang="zh-TW" dirty="0"/>
                  <a:t>hidden</a:t>
                </a:r>
                <a:r>
                  <a:rPr kumimoji="1" lang="zh-TW" altLang="en-US" dirty="0"/>
                  <a:t> </a:t>
                </a:r>
                <a:r>
                  <a:rPr kumimoji="1" lang="en-US" altLang="zh-TW" dirty="0"/>
                  <a:t>layers</a:t>
                </a:r>
                <a:r>
                  <a:rPr kumimoji="1" lang="zh-TW" altLang="en-US" dirty="0"/>
                  <a:t> 的激活函數。在公式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𝛿</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𝑊</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e>
                      <m:sup>
                        <m:r>
                          <a:rPr kumimoji="1" lang="en-US" altLang="zh-TW" i="1">
                            <a:latin typeface="Cambria Math" panose="02040503050406030204" pitchFamily="18" charset="0"/>
                          </a:rPr>
                          <m:t>𝑇</m:t>
                        </m:r>
                      </m:sup>
                    </m:sSup>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𝛿</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r>
                      <a:rPr kumimoji="1" lang="en-US" altLang="zh-TW" i="1">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m:t>
                            </m:r>
                          </m:sup>
                        </m:sSup>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d>
                      <m:dPr>
                        <m:ctrlPr>
                          <a:rPr kumimoji="1" lang="en-US" altLang="zh-TW" i="1">
                            <a:latin typeface="Cambria Math" panose="02040503050406030204" pitchFamily="18" charset="0"/>
                          </a:rPr>
                        </m:ctrlPr>
                      </m:d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𝑧</m:t>
                            </m:r>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e>
                    </m:d>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𝑊</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den>
                    </m:f>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𝛿</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e>
                      <m:sup>
                        <m:r>
                          <a:rPr kumimoji="1" lang="en-US" altLang="zh-TW" i="1">
                            <a:latin typeface="Cambria Math" panose="02040503050406030204" pitchFamily="18" charset="0"/>
                          </a:rPr>
                          <m:t>𝑇</m:t>
                        </m:r>
                      </m:sup>
                    </m:sSup>
                  </m:oMath>
                </a14:m>
                <a:r>
                  <a:rPr kumimoji="1" lang="zh-TW" altLang="en-US" dirty="0"/>
                  <a:t>中可以看出，反向傳播的過程會需要不斷乘上</a:t>
                </a:r>
                <a14:m>
                  <m:oMath xmlns:m="http://schemas.openxmlformats.org/officeDocument/2006/math">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m:t>
                            </m:r>
                          </m:sup>
                        </m:sSup>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d>
                      <m:dPr>
                        <m:ctrlPr>
                          <a:rPr kumimoji="1" lang="en-US" altLang="zh-TW" i="1">
                            <a:latin typeface="Cambria Math" panose="02040503050406030204" pitchFamily="18" charset="0"/>
                          </a:rPr>
                        </m:ctrlPr>
                      </m:d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𝑧</m:t>
                            </m:r>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e>
                    </m:d>
                  </m:oMath>
                </a14:m>
                <a:r>
                  <a:rPr kumimoji="1" lang="zh-TW" altLang="en-US" dirty="0"/>
                  <a:t>。由於 </a:t>
                </a:r>
                <a:r>
                  <a:rPr kumimoji="1" lang="en-US" altLang="zh-TW" dirty="0"/>
                  <a:t>sigmoid</a:t>
                </a:r>
                <a:r>
                  <a:rPr kumimoji="1" lang="zh-TW" altLang="en-US" dirty="0"/>
                  <a:t> 函數為</a:t>
                </a:r>
                <a14:m>
                  <m:oMath xmlns:m="http://schemas.openxmlformats.org/officeDocument/2006/math">
                    <m:r>
                      <a:rPr kumimoji="1" lang="zh-TW" altLang="en-US" b="0" i="0" smtClean="0">
                        <a:latin typeface="Cambria Math" panose="02040503050406030204" pitchFamily="18" charset="0"/>
                      </a:rPr>
                      <m:t> </m:t>
                    </m:r>
                    <m:r>
                      <a:rPr kumimoji="1" lang="en-US" altLang="zh-TW" b="0" i="1" smtClean="0">
                        <a:latin typeface="Cambria Math" panose="02040503050406030204" pitchFamily="18" charset="0"/>
                      </a:rPr>
                      <m:t>𝑓</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ℝ</m:t>
                    </m:r>
                    <m:r>
                      <a:rPr kumimoji="1" lang="en-US" altLang="zh-TW" b="0" i="1" smtClean="0">
                        <a:latin typeface="Cambria Math" panose="02040503050406030204" pitchFamily="18" charset="0"/>
                        <a:ea typeface="Cambria Math" panose="02040503050406030204" pitchFamily="18" charset="0"/>
                      </a:rPr>
                      <m:t>→(0,1)</m:t>
                    </m:r>
                  </m:oMath>
                </a14:m>
                <a:r>
                  <a:rPr kumimoji="1" lang="zh-TW" altLang="en-US" dirty="0"/>
                  <a:t>，所以輸出值的範圍介於 </a:t>
                </a:r>
                <a:r>
                  <a:rPr kumimoji="1" lang="en-US" altLang="zh-TW" dirty="0"/>
                  <a:t>0,</a:t>
                </a:r>
                <a:r>
                  <a:rPr kumimoji="1" lang="zh-TW" altLang="en-US" dirty="0"/>
                  <a:t> </a:t>
                </a:r>
                <a:r>
                  <a:rPr kumimoji="1" lang="en-US" altLang="zh-TW" dirty="0"/>
                  <a:t>1</a:t>
                </a:r>
                <a:r>
                  <a:rPr kumimoji="1" lang="zh-TW" altLang="en-US" dirty="0"/>
                  <a:t> 之間。而 </a:t>
                </a:r>
                <a:r>
                  <a:rPr kumimoji="1" lang="en-US" altLang="zh-TW" dirty="0"/>
                  <a:t>sigmoid</a:t>
                </a:r>
                <a:r>
                  <a:rPr kumimoji="1" lang="zh-TW" altLang="en-US" dirty="0"/>
                  <a:t> 函數的導數為 </a:t>
                </a:r>
                <a14:m>
                  <m:oMath xmlns:m="http://schemas.openxmlformats.org/officeDocument/2006/math">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𝑓</m:t>
                        </m:r>
                      </m:e>
                      <m:sup>
                        <m:r>
                          <a:rPr kumimoji="1" lang="en-US" altLang="zh-TW" b="0" i="1" smtClean="0">
                            <a:latin typeface="Cambria Math" panose="02040503050406030204" pitchFamily="18" charset="0"/>
                          </a:rPr>
                          <m:t>′</m:t>
                        </m:r>
                      </m:sup>
                    </m:sSup>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e>
                    </m:d>
                    <m:r>
                      <a:rPr kumimoji="1" lang="en-US" altLang="zh-TW" b="0" i="1" smtClean="0">
                        <a:latin typeface="Cambria Math" panose="02040503050406030204" pitchFamily="18" charset="0"/>
                      </a:rPr>
                      <m:t>=</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∗(1−</m:t>
                    </m:r>
                    <m:r>
                      <a:rPr kumimoji="1" lang="en-US" altLang="zh-TW" i="1">
                        <a:latin typeface="Cambria Math" panose="02040503050406030204" pitchFamily="18" charset="0"/>
                      </a:rPr>
                      <m:t>𝑓</m:t>
                    </m:r>
                    <m:r>
                      <a:rPr kumimoji="1" lang="en-US" altLang="zh-TW" i="1">
                        <a:latin typeface="Cambria Math" panose="02040503050406030204" pitchFamily="18" charset="0"/>
                      </a:rPr>
                      <m:t>(</m:t>
                    </m:r>
                    <m:r>
                      <a:rPr kumimoji="1" lang="en-US" altLang="zh-TW" i="1">
                        <a:latin typeface="Cambria Math" panose="02040503050406030204" pitchFamily="18" charset="0"/>
                      </a:rPr>
                      <m:t>𝑥</m:t>
                    </m:r>
                    <m:r>
                      <a:rPr kumimoji="1" lang="en-US" altLang="zh-TW" i="1">
                        <a:latin typeface="Cambria Math" panose="02040503050406030204" pitchFamily="18" charset="0"/>
                      </a:rPr>
                      <m:t>))</m:t>
                    </m:r>
                  </m:oMath>
                </a14:m>
                <a:r>
                  <a:rPr kumimoji="1" lang="zh-TW" altLang="en-US" dirty="0"/>
                  <a:t>。在 </a:t>
                </a:r>
                <a14:m>
                  <m:oMath xmlns:m="http://schemas.openxmlformats.org/officeDocument/2006/math">
                    <m:r>
                      <a:rPr kumimoji="1" lang="en-US" altLang="zh-TW" b="0" i="1" smtClean="0">
                        <a:latin typeface="Cambria Math" panose="02040503050406030204" pitchFamily="18" charset="0"/>
                      </a:rPr>
                      <m:t>(0,1)</m:t>
                    </m:r>
                  </m:oMath>
                </a14:m>
                <a:r>
                  <a:rPr kumimoji="1" lang="zh-TW" altLang="en-US" dirty="0"/>
                  <a:t> 的輸入範圍之內，</a:t>
                </a:r>
                <a:r>
                  <a:rPr kumimoji="1" lang="en-US" altLang="zh-TW"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m:t>
                        </m:r>
                      </m:sup>
                    </m:s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oMath>
                </a14:m>
                <a:r>
                  <a:rPr kumimoji="1" lang="zh-TW" altLang="en-US" dirty="0"/>
                  <a:t> 的最大值為 </a:t>
                </a:r>
                <a:r>
                  <a:rPr kumimoji="1" lang="en-US" altLang="zh-TW" dirty="0"/>
                  <a:t>0.25</a:t>
                </a:r>
                <a:r>
                  <a:rPr kumimoji="1" lang="zh-TW" altLang="en-US" dirty="0"/>
                  <a:t>。</a:t>
                </a:r>
                <a:endParaRPr kumimoji="1" lang="en-US" altLang="zh-TW" dirty="0"/>
              </a:p>
            </p:txBody>
          </p:sp>
        </mc:Choice>
        <mc:Fallback xmlns="">
          <p:sp>
            <p:nvSpPr>
              <p:cNvPr id="3" name="內容版面配置區 2">
                <a:extLst>
                  <a:ext uri="{FF2B5EF4-FFF2-40B4-BE49-F238E27FC236}">
                    <a16:creationId xmlns:a16="http://schemas.microsoft.com/office/drawing/2014/main" id="{0A32C64A-FE7E-CA0F-E23B-9184AB7FF205}"/>
                  </a:ext>
                </a:extLst>
              </p:cNvPr>
              <p:cNvSpPr>
                <a:spLocks noGrp="1" noRot="1" noChangeAspect="1" noMove="1" noResize="1" noEditPoints="1" noAdjustHandles="1" noChangeArrowheads="1" noChangeShapeType="1" noTextEdit="1"/>
              </p:cNvSpPr>
              <p:nvPr>
                <p:ph idx="1"/>
              </p:nvPr>
            </p:nvSpPr>
            <p:spPr>
              <a:xfrm>
                <a:off x="173621" y="2108201"/>
                <a:ext cx="6562846" cy="4234726"/>
              </a:xfrm>
              <a:blipFill>
                <a:blip r:embed="rId2"/>
                <a:stretch>
                  <a:fillRect l="-2510" t="-1198" r="-7529" b="-299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8DC3A2D-F6B9-B2EC-529A-055F6D5DE71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27E7C62-FA34-1804-7F19-1442928D3F49}"/>
              </a:ext>
            </a:extLst>
          </p:cNvPr>
          <p:cNvSpPr>
            <a:spLocks noGrp="1"/>
          </p:cNvSpPr>
          <p:nvPr>
            <p:ph type="sldNum" sz="quarter" idx="12"/>
          </p:nvPr>
        </p:nvSpPr>
        <p:spPr/>
        <p:txBody>
          <a:bodyPr/>
          <a:lstStyle/>
          <a:p>
            <a:r>
              <a:rPr lang="en-US" altLang="zh-TW" dirty="0"/>
              <a:t>Deep Learning</a:t>
            </a:r>
          </a:p>
        </p:txBody>
      </p:sp>
      <p:pic>
        <p:nvPicPr>
          <p:cNvPr id="9" name="圖片 8" descr="一張含有 行, 繪圖, 圖表 的圖片&#10;&#10;AI 產生的內容可能不正確。">
            <a:extLst>
              <a:ext uri="{FF2B5EF4-FFF2-40B4-BE49-F238E27FC236}">
                <a16:creationId xmlns:a16="http://schemas.microsoft.com/office/drawing/2014/main" id="{8BC0919B-BE3D-B8C8-15A3-A023A0CF2C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6253" y="2489310"/>
            <a:ext cx="4409196" cy="29986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772D31C-3DBA-46ED-0366-A27B5B873514}"/>
                  </a:ext>
                </a:extLst>
              </p:cNvPr>
              <p:cNvSpPr txBox="1"/>
              <p:nvPr/>
            </p:nvSpPr>
            <p:spPr>
              <a:xfrm>
                <a:off x="8397244" y="5782743"/>
                <a:ext cx="2227213" cy="369332"/>
              </a:xfrm>
              <a:prstGeom prst="rect">
                <a:avLst/>
              </a:prstGeom>
              <a:noFill/>
            </p:spPr>
            <p:txBody>
              <a:bodyPr wrap="none" rtlCol="0">
                <a:spAutoFit/>
              </a:bodyPr>
              <a:lstStyle/>
              <a:p>
                <a14:m>
                  <m:oMath xmlns:m="http://schemas.openxmlformats.org/officeDocument/2006/math">
                    <m:r>
                      <a:rPr kumimoji="1" lang="en-US" altLang="zh-TW" b="0" i="1" smtClean="0">
                        <a:latin typeface="Cambria Math" panose="02040503050406030204" pitchFamily="18" charset="0"/>
                      </a:rPr>
                      <m:t>𝑦</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(1−</m:t>
                    </m:r>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oMath>
                </a14:m>
                <a:r>
                  <a:rPr kumimoji="1" lang="zh-TW" altLang="en-US" dirty="0"/>
                  <a:t> 的圖形</a:t>
                </a:r>
              </a:p>
            </p:txBody>
          </p:sp>
        </mc:Choice>
        <mc:Fallback xmlns="">
          <p:sp>
            <p:nvSpPr>
              <p:cNvPr id="10" name="文字方塊 9">
                <a:extLst>
                  <a:ext uri="{FF2B5EF4-FFF2-40B4-BE49-F238E27FC236}">
                    <a16:creationId xmlns:a16="http://schemas.microsoft.com/office/drawing/2014/main" id="{1772D31C-3DBA-46ED-0366-A27B5B873514}"/>
                  </a:ext>
                </a:extLst>
              </p:cNvPr>
              <p:cNvSpPr txBox="1">
                <a:spLocks noRot="1" noChangeAspect="1" noMove="1" noResize="1" noEditPoints="1" noAdjustHandles="1" noChangeArrowheads="1" noChangeShapeType="1" noTextEdit="1"/>
              </p:cNvSpPr>
              <p:nvPr/>
            </p:nvSpPr>
            <p:spPr>
              <a:xfrm>
                <a:off x="8397244" y="5782743"/>
                <a:ext cx="2227213" cy="369332"/>
              </a:xfrm>
              <a:prstGeom prst="rect">
                <a:avLst/>
              </a:prstGeom>
              <a:blipFill>
                <a:blip r:embed="rId4"/>
                <a:stretch>
                  <a:fillRect t="-6667" r="-1705" b="-2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12120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AB7D8B-CB58-654B-D921-0F26808F04D4}"/>
              </a:ext>
            </a:extLst>
          </p:cNvPr>
          <p:cNvSpPr>
            <a:spLocks noGrp="1"/>
          </p:cNvSpPr>
          <p:nvPr>
            <p:ph type="title"/>
          </p:nvPr>
        </p:nvSpPr>
        <p:spPr/>
        <p:txBody>
          <a:bodyPr/>
          <a:lstStyle/>
          <a:p>
            <a:r>
              <a:rPr kumimoji="1" lang="zh-TW" altLang="en-US" dirty="0"/>
              <a:t>梯度消失與梯度爆炸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457F8FB-5A6D-4A05-B149-C49F0B2F7F10}"/>
                  </a:ext>
                </a:extLst>
              </p:cNvPr>
              <p:cNvSpPr>
                <a:spLocks noGrp="1"/>
              </p:cNvSpPr>
              <p:nvPr>
                <p:ph idx="1"/>
              </p:nvPr>
            </p:nvSpPr>
            <p:spPr>
              <a:xfrm>
                <a:off x="451413" y="2179787"/>
                <a:ext cx="5081286" cy="3760891"/>
              </a:xfrm>
            </p:spPr>
            <p:txBody>
              <a:bodyPr>
                <a:noAutofit/>
              </a:bodyPr>
              <a:lstStyle/>
              <a:p>
                <a:r>
                  <a:rPr kumimoji="1" lang="zh-TW" altLang="en-US" dirty="0"/>
                  <a:t>即使是在最理想的情況下，當層數很多時，反向傳播在往 </a:t>
                </a:r>
                <a:r>
                  <a:rPr kumimoji="1" lang="en-US" altLang="zh-TW" dirty="0"/>
                  <a:t>input</a:t>
                </a:r>
                <a:r>
                  <a:rPr kumimoji="1" lang="zh-TW" altLang="en-US" dirty="0"/>
                  <a:t> </a:t>
                </a:r>
                <a:r>
                  <a:rPr kumimoji="1" lang="en-US" altLang="zh-TW" dirty="0"/>
                  <a:t>layer</a:t>
                </a:r>
                <a:r>
                  <a:rPr kumimoji="1" lang="zh-TW" altLang="en-US" dirty="0"/>
                  <a:t> 傳遞梯度還是會需要乘上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0.25</m:t>
                        </m:r>
                      </m:e>
                      <m:sup>
                        <m:r>
                          <a:rPr kumimoji="1" lang="en-US" altLang="zh-TW" i="1">
                            <a:latin typeface="Cambria Math" panose="02040503050406030204" pitchFamily="18" charset="0"/>
                          </a:rPr>
                          <m:t>𝑛</m:t>
                        </m:r>
                      </m:sup>
                    </m:sSup>
                  </m:oMath>
                </a14:m>
                <a:r>
                  <a:rPr kumimoji="1" lang="zh-TW" altLang="en-US" dirty="0"/>
                  <a:t>（一個非常接近 </a:t>
                </a:r>
                <a:r>
                  <a:rPr kumimoji="1" lang="en-US" altLang="zh-TW" dirty="0"/>
                  <a:t>0</a:t>
                </a:r>
                <a:r>
                  <a:rPr kumimoji="1" lang="zh-TW" altLang="en-US" dirty="0"/>
                  <a:t> 的數），導致梯度迅速消失。</a:t>
                </a:r>
                <a:endParaRPr kumimoji="1" lang="en-US" altLang="zh-TW" dirty="0"/>
              </a:p>
              <a:p>
                <a:r>
                  <a:rPr kumimoji="1" lang="zh-TW" altLang="en-US" dirty="0"/>
                  <a:t>因此，現在的深度神經網路大多採用 </a:t>
                </a:r>
                <a:r>
                  <a:rPr kumimoji="1" lang="en-US" altLang="zh-TW" dirty="0" err="1"/>
                  <a:t>ReLU</a:t>
                </a:r>
                <a:r>
                  <a:rPr kumimoji="1" lang="zh-TW" altLang="en-US" dirty="0"/>
                  <a:t> 當作激活函數。因為 </a:t>
                </a:r>
                <a:r>
                  <a:rPr kumimoji="1" lang="en-US" altLang="zh-TW" dirty="0" err="1"/>
                  <a:t>ReLU</a:t>
                </a:r>
                <a:r>
                  <a:rPr kumimoji="1" lang="en-US" altLang="zh-TW" dirty="0"/>
                  <a:t> </a:t>
                </a:r>
                <a:r>
                  <a:rPr kumimoji="1" lang="zh-TW" altLang="en-US" dirty="0"/>
                  <a:t>的梯度在正值區間為常數 </a:t>
                </a:r>
                <a:r>
                  <a:rPr kumimoji="1" lang="en-US" altLang="zh-TW" dirty="0"/>
                  <a:t>1</a:t>
                </a:r>
                <a:r>
                  <a:rPr kumimoji="1" lang="zh-TW" altLang="en-US" dirty="0"/>
                  <a:t>，使深層網路更容易訓練。</a:t>
                </a:r>
              </a:p>
            </p:txBody>
          </p:sp>
        </mc:Choice>
        <mc:Fallback xmlns="">
          <p:sp>
            <p:nvSpPr>
              <p:cNvPr id="3" name="內容版面配置區 2">
                <a:extLst>
                  <a:ext uri="{FF2B5EF4-FFF2-40B4-BE49-F238E27FC236}">
                    <a16:creationId xmlns:a16="http://schemas.microsoft.com/office/drawing/2014/main" id="{3457F8FB-5A6D-4A05-B149-C49F0B2F7F10}"/>
                  </a:ext>
                </a:extLst>
              </p:cNvPr>
              <p:cNvSpPr>
                <a:spLocks noGrp="1" noRot="1" noChangeAspect="1" noMove="1" noResize="1" noEditPoints="1" noAdjustHandles="1" noChangeArrowheads="1" noChangeShapeType="1" noTextEdit="1"/>
              </p:cNvSpPr>
              <p:nvPr>
                <p:ph idx="1"/>
              </p:nvPr>
            </p:nvSpPr>
            <p:spPr>
              <a:xfrm>
                <a:off x="451413" y="2179787"/>
                <a:ext cx="5081286" cy="3760891"/>
              </a:xfrm>
              <a:blipFill>
                <a:blip r:embed="rId2"/>
                <a:stretch>
                  <a:fillRect l="-1995" t="-1342" r="-748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3245BE00-3223-D06F-6C85-44B50DA8A8E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CB94B52-894D-5B17-ABC3-D3FFB261B4FD}"/>
              </a:ext>
            </a:extLst>
          </p:cNvPr>
          <p:cNvSpPr>
            <a:spLocks noGrp="1"/>
          </p:cNvSpPr>
          <p:nvPr>
            <p:ph type="sldNum" sz="quarter" idx="12"/>
          </p:nvPr>
        </p:nvSpPr>
        <p:spPr/>
        <p:txBody>
          <a:bodyPr/>
          <a:lstStyle/>
          <a:p>
            <a:r>
              <a:rPr lang="en-US" altLang="zh-TW" dirty="0"/>
              <a:t>Deep Learning</a:t>
            </a:r>
          </a:p>
        </p:txBody>
      </p:sp>
      <p:pic>
        <p:nvPicPr>
          <p:cNvPr id="9" name="圖片 8">
            <a:extLst>
              <a:ext uri="{FF2B5EF4-FFF2-40B4-BE49-F238E27FC236}">
                <a16:creationId xmlns:a16="http://schemas.microsoft.com/office/drawing/2014/main" id="{DF766FE3-F56B-77B0-4081-070727ED2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1193" y="2328120"/>
            <a:ext cx="4942389" cy="31399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9801BA6E-10B0-BF02-000A-AD0B5DEC5296}"/>
                  </a:ext>
                </a:extLst>
              </p:cNvPr>
              <p:cNvSpPr txBox="1"/>
              <p:nvPr/>
            </p:nvSpPr>
            <p:spPr>
              <a:xfrm>
                <a:off x="7795361" y="5719679"/>
                <a:ext cx="1921616" cy="369332"/>
              </a:xfrm>
              <a:prstGeom prst="rect">
                <a:avLst/>
              </a:prstGeom>
              <a:noFill/>
            </p:spPr>
            <p:txBody>
              <a:bodyPr wrap="none" rtlCol="0">
                <a:spAutoFit/>
              </a:bodyPr>
              <a:lstStyle/>
              <a:p>
                <a14:m>
                  <m:oMath xmlns:m="http://schemas.openxmlformats.org/officeDocument/2006/math">
                    <m:r>
                      <a:rPr kumimoji="1" lang="en-US" altLang="zh-TW" b="0" i="1" smtClean="0">
                        <a:latin typeface="Cambria Math" panose="02040503050406030204" pitchFamily="18" charset="0"/>
                      </a:rPr>
                      <m:t>𝑦</m:t>
                    </m:r>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0.25</m:t>
                        </m:r>
                      </m:e>
                      <m:sup>
                        <m:r>
                          <a:rPr kumimoji="1" lang="en-US" altLang="zh-TW" b="0" i="1" smtClean="0">
                            <a:latin typeface="Cambria Math" panose="02040503050406030204" pitchFamily="18" charset="0"/>
                          </a:rPr>
                          <m:t>𝑥</m:t>
                        </m:r>
                      </m:sup>
                    </m:sSup>
                  </m:oMath>
                </a14:m>
                <a:r>
                  <a:rPr kumimoji="1" lang="zh-TW" altLang="en-US" dirty="0"/>
                  <a:t> 的圖形</a:t>
                </a:r>
              </a:p>
            </p:txBody>
          </p:sp>
        </mc:Choice>
        <mc:Fallback xmlns="">
          <p:sp>
            <p:nvSpPr>
              <p:cNvPr id="10" name="文字方塊 9">
                <a:extLst>
                  <a:ext uri="{FF2B5EF4-FFF2-40B4-BE49-F238E27FC236}">
                    <a16:creationId xmlns:a16="http://schemas.microsoft.com/office/drawing/2014/main" id="{9801BA6E-10B0-BF02-000A-AD0B5DEC5296}"/>
                  </a:ext>
                </a:extLst>
              </p:cNvPr>
              <p:cNvSpPr txBox="1">
                <a:spLocks noRot="1" noChangeAspect="1" noMove="1" noResize="1" noEditPoints="1" noAdjustHandles="1" noChangeArrowheads="1" noChangeShapeType="1" noTextEdit="1"/>
              </p:cNvSpPr>
              <p:nvPr/>
            </p:nvSpPr>
            <p:spPr>
              <a:xfrm>
                <a:off x="7795361" y="5719679"/>
                <a:ext cx="1921616" cy="369332"/>
              </a:xfrm>
              <a:prstGeom prst="rect">
                <a:avLst/>
              </a:prstGeom>
              <a:blipFill>
                <a:blip r:embed="rId4"/>
                <a:stretch>
                  <a:fillRect t="-6667" r="-1307" b="-2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04012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031968-718F-8AD9-CB98-2A13D1A2D44D}"/>
              </a:ext>
            </a:extLst>
          </p:cNvPr>
          <p:cNvSpPr>
            <a:spLocks noGrp="1"/>
          </p:cNvSpPr>
          <p:nvPr>
            <p:ph type="title"/>
          </p:nvPr>
        </p:nvSpPr>
        <p:spPr/>
        <p:txBody>
          <a:bodyPr/>
          <a:lstStyle/>
          <a:p>
            <a:r>
              <a:rPr kumimoji="1" lang="zh-TW" altLang="en-US" dirty="0"/>
              <a:t>梯度消失與梯度爆炸</a:t>
            </a:r>
          </a:p>
        </p:txBody>
      </p:sp>
      <p:sp>
        <p:nvSpPr>
          <p:cNvPr id="3" name="內容版面配置區 2">
            <a:extLst>
              <a:ext uri="{FF2B5EF4-FFF2-40B4-BE49-F238E27FC236}">
                <a16:creationId xmlns:a16="http://schemas.microsoft.com/office/drawing/2014/main" id="{8E68AA7C-5C45-ED6E-A4F6-0C014964C1FF}"/>
              </a:ext>
            </a:extLst>
          </p:cNvPr>
          <p:cNvSpPr>
            <a:spLocks noGrp="1"/>
          </p:cNvSpPr>
          <p:nvPr>
            <p:ph idx="1"/>
          </p:nvPr>
        </p:nvSpPr>
        <p:spPr/>
        <p:txBody>
          <a:bodyPr>
            <a:normAutofit/>
          </a:bodyPr>
          <a:lstStyle/>
          <a:p>
            <a:pPr marL="457200" indent="-457200">
              <a:buFont typeface="+mj-lt"/>
              <a:buAutoNum type="arabicPeriod" startAt="2"/>
            </a:pPr>
            <a:r>
              <a:rPr kumimoji="1" lang="zh-TW" altLang="en-US" dirty="0"/>
              <a:t>電腦科學家也發現，深度神經網路若採用「不當」的初始權重設定，容易在反向傳播時產生梯度消失或梯度爆炸，進而影響模型的訓練效果。</a:t>
            </a:r>
            <a:endParaRPr kumimoji="1" lang="en-US" altLang="zh-TW" dirty="0"/>
          </a:p>
          <a:p>
            <a:pPr marL="0" indent="0">
              <a:buNone/>
            </a:pPr>
            <a:r>
              <a:rPr kumimoji="1" lang="zh-TW" altLang="en-US" dirty="0"/>
              <a:t>*</a:t>
            </a:r>
            <a:r>
              <a:rPr kumimoji="1" lang="en-US" altLang="zh-TW" dirty="0"/>
              <a:t>.</a:t>
            </a:r>
            <a:r>
              <a:rPr kumimoji="1" lang="zh-TW" altLang="en-US" dirty="0"/>
              <a:t> </a:t>
            </a:r>
            <a:r>
              <a:rPr kumimoji="1" lang="en-US" altLang="zh-TW" dirty="0"/>
              <a:t>Chapter_3_Gradient_Experiment.ipynb</a:t>
            </a:r>
            <a:endParaRPr kumimoji="1" lang="zh-TW" altLang="en-US" dirty="0"/>
          </a:p>
        </p:txBody>
      </p:sp>
      <p:sp>
        <p:nvSpPr>
          <p:cNvPr id="4" name="日期版面配置區 3">
            <a:extLst>
              <a:ext uri="{FF2B5EF4-FFF2-40B4-BE49-F238E27FC236}">
                <a16:creationId xmlns:a16="http://schemas.microsoft.com/office/drawing/2014/main" id="{765CFC8E-22A1-E597-9838-428B28DC1E3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D69C8F8-A39A-8B12-4480-2FCF08A714D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66991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E0EA8C-78F9-5C01-4230-6B3A853D9F87}"/>
              </a:ext>
            </a:extLst>
          </p:cNvPr>
          <p:cNvSpPr>
            <a:spLocks noGrp="1"/>
          </p:cNvSpPr>
          <p:nvPr>
            <p:ph type="title"/>
          </p:nvPr>
        </p:nvSpPr>
        <p:spPr/>
        <p:txBody>
          <a:bodyPr/>
          <a:lstStyle/>
          <a:p>
            <a:r>
              <a:rPr kumimoji="1" lang="zh-TW" altLang="en-US" dirty="0"/>
              <a:t>梯度消失與梯度爆炸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8D2B315-926B-677D-0B97-349B814F6E50}"/>
                  </a:ext>
                </a:extLst>
              </p:cNvPr>
              <p:cNvSpPr>
                <a:spLocks noGrp="1"/>
              </p:cNvSpPr>
              <p:nvPr>
                <p:ph idx="1"/>
              </p:nvPr>
            </p:nvSpPr>
            <p:spPr>
              <a:xfrm>
                <a:off x="1097280" y="2108201"/>
                <a:ext cx="10058400" cy="4142128"/>
              </a:xfrm>
            </p:spPr>
            <p:txBody>
              <a:bodyPr>
                <a:normAutofit/>
              </a:bodyPr>
              <a:lstStyle/>
              <a:p>
                <a:pPr marL="0" indent="0">
                  <a:buNone/>
                </a:pPr>
                <a:r>
                  <a:rPr kumimoji="1" lang="zh-TW" altLang="en-US" dirty="0"/>
                  <a:t>實驗配置：</a:t>
                </a:r>
                <a:endParaRPr kumimoji="1" lang="en-US" altLang="zh-TW" dirty="0"/>
              </a:p>
              <a:p>
                <a:pPr>
                  <a:buFont typeface="Wingdings" pitchFamily="2" charset="2"/>
                  <a:buChar char="n"/>
                </a:pPr>
                <a:r>
                  <a:rPr kumimoji="1" lang="zh-TW" altLang="en-US" dirty="0"/>
                  <a:t> </a:t>
                </a:r>
                <a:r>
                  <a:rPr kumimoji="1" lang="en-US" altLang="zh-TW" dirty="0"/>
                  <a:t>hidden</a:t>
                </a:r>
                <a:r>
                  <a:rPr kumimoji="1" lang="zh-TW" altLang="en-US" dirty="0"/>
                  <a:t> </a:t>
                </a:r>
                <a:r>
                  <a:rPr kumimoji="1" lang="en-US" altLang="zh-TW" dirty="0"/>
                  <a:t>layer</a:t>
                </a:r>
                <a:r>
                  <a:rPr kumimoji="1" lang="zh-TW" altLang="en-US" dirty="0"/>
                  <a:t> 層數與每層神經元數量：</a:t>
                </a:r>
                <a:r>
                  <a:rPr kumimoji="1" lang="en-US" altLang="zh-TW" dirty="0"/>
                  <a:t>50</a:t>
                </a:r>
                <a:r>
                  <a:rPr kumimoji="1" lang="zh-TW" altLang="en-US" dirty="0"/>
                  <a:t>、</a:t>
                </a:r>
                <a:r>
                  <a:rPr kumimoji="1" lang="en-US" altLang="zh-TW" dirty="0"/>
                  <a:t>80</a:t>
                </a:r>
              </a:p>
              <a:p>
                <a:pPr>
                  <a:buFont typeface="Wingdings" pitchFamily="2" charset="2"/>
                  <a:buChar char="n"/>
                </a:pPr>
                <a:r>
                  <a:rPr kumimoji="1" lang="zh-TW" altLang="en-US" dirty="0"/>
                  <a:t> 激活函數：</a:t>
                </a:r>
                <a:r>
                  <a:rPr kumimoji="1" lang="en-US" altLang="zh-TW" dirty="0" err="1"/>
                  <a:t>ReLU</a:t>
                </a:r>
                <a:endParaRPr kumimoji="1" lang="en-US" altLang="zh-TW" dirty="0"/>
              </a:p>
              <a:p>
                <a:pPr>
                  <a:buFont typeface="Wingdings" pitchFamily="2" charset="2"/>
                  <a:buChar char="n"/>
                </a:pPr>
                <a:r>
                  <a:rPr kumimoji="1" lang="zh-TW" altLang="en-US" dirty="0"/>
                  <a:t> </a:t>
                </a:r>
                <a:r>
                  <a:rPr kumimoji="1" lang="en-US" altLang="zh-TW" dirty="0"/>
                  <a:t>input</a:t>
                </a:r>
                <a:r>
                  <a:rPr kumimoji="1" lang="zh-TW" altLang="en-US" dirty="0"/>
                  <a:t> </a:t>
                </a:r>
                <a:r>
                  <a:rPr kumimoji="1" lang="en-US" altLang="zh-TW" dirty="0"/>
                  <a:t>layer</a:t>
                </a:r>
                <a:r>
                  <a:rPr kumimoji="1" lang="zh-TW" altLang="en-US" dirty="0"/>
                  <a:t>、</a:t>
                </a:r>
                <a:r>
                  <a:rPr kumimoji="1" lang="en-US" altLang="zh-TW" dirty="0"/>
                  <a:t> output</a:t>
                </a:r>
                <a:r>
                  <a:rPr kumimoji="1" lang="zh-TW" altLang="en-US" dirty="0"/>
                  <a:t> </a:t>
                </a:r>
                <a:r>
                  <a:rPr kumimoji="1" lang="en-US" altLang="zh-TW" dirty="0"/>
                  <a:t>layer</a:t>
                </a:r>
                <a:r>
                  <a:rPr kumimoji="1" lang="zh-TW" altLang="en-US" dirty="0"/>
                  <a:t> 神經元數量：</a:t>
                </a:r>
                <a:r>
                  <a:rPr kumimoji="1" lang="en-US" altLang="zh-TW" dirty="0"/>
                  <a:t>1,</a:t>
                </a:r>
                <a:r>
                  <a:rPr kumimoji="1" lang="zh-TW" altLang="en-US" dirty="0"/>
                  <a:t> </a:t>
                </a:r>
                <a:r>
                  <a:rPr kumimoji="1" lang="en-US" altLang="zh-TW" dirty="0"/>
                  <a:t>1</a:t>
                </a:r>
              </a:p>
              <a:p>
                <a:pPr>
                  <a:buFont typeface="Wingdings" pitchFamily="2" charset="2"/>
                  <a:buChar char="n"/>
                </a:pPr>
                <a:r>
                  <a:rPr kumimoji="1" lang="zh-TW" altLang="en-US" dirty="0"/>
                  <a:t> 偏置項（</a:t>
                </a:r>
                <a:r>
                  <a:rPr kumimoji="1" lang="en-US" altLang="zh-TW" dirty="0"/>
                  <a:t>bias term</a:t>
                </a:r>
                <a:r>
                  <a:rPr kumimoji="1" lang="zh-TW" altLang="en-US" dirty="0"/>
                  <a:t>）初始化為 </a:t>
                </a:r>
                <a:r>
                  <a:rPr kumimoji="1" lang="en-US" altLang="zh-TW" dirty="0"/>
                  <a:t>0</a:t>
                </a:r>
                <a:r>
                  <a:rPr kumimoji="1" lang="zh-TW" altLang="en-US" dirty="0"/>
                  <a:t>；其餘權重皆由平均為 </a:t>
                </a:r>
                <a:r>
                  <a:rPr kumimoji="1" lang="en-US" altLang="zh-TW" dirty="0"/>
                  <a:t>0</a:t>
                </a:r>
                <a:r>
                  <a:rPr kumimoji="1" lang="zh-TW" altLang="en-US" dirty="0"/>
                  <a:t>、變異數為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 </a:t>
                </a:r>
                <a:r>
                  <a:rPr kumimoji="1" lang="zh-TW" altLang="en-US" dirty="0"/>
                  <a:t>的常態分佈隨機初始化。</a:t>
                </a:r>
                <a:endParaRPr kumimoji="1" lang="en-US" altLang="zh-TW" dirty="0"/>
              </a:p>
              <a:p>
                <a:pPr lvl="1">
                  <a:buFont typeface="Wingdings" pitchFamily="2" charset="2"/>
                  <a:buChar char="n"/>
                </a:pPr>
                <a:r>
                  <a:rPr kumimoji="1" lang="zh-TW" altLang="en-US" dirty="0"/>
                  <a:t> </a:t>
                </a:r>
                <a:r>
                  <a:rPr kumimoji="1" lang="en-US" altLang="zh-TW" dirty="0"/>
                  <a:t>1</a:t>
                </a:r>
                <a:r>
                  <a:rPr kumimoji="1" lang="zh-TW" altLang="en-US" dirty="0"/>
                  <a:t>（過大，會導致梯度爆炸）</a:t>
                </a:r>
                <a:endParaRPr kumimoji="1" lang="en-US" altLang="zh-TW" dirty="0"/>
              </a:p>
              <a:p>
                <a:pPr lvl="1">
                  <a:buFont typeface="Wingdings" pitchFamily="2" charset="2"/>
                  <a:buChar char="n"/>
                </a:pPr>
                <a:r>
                  <a:rPr kumimoji="1" lang="zh-TW" altLang="en-US" dirty="0"/>
                  <a:t> </a:t>
                </a:r>
                <a:r>
                  <a:rPr kumimoji="1" lang="en-US" altLang="zh-TW" dirty="0"/>
                  <a:t>0.025</a:t>
                </a:r>
                <a:r>
                  <a:rPr kumimoji="1" lang="zh-TW" altLang="en-US" dirty="0"/>
                  <a:t>（適中）</a:t>
                </a:r>
                <a:endParaRPr kumimoji="1" lang="en-US" altLang="zh-TW" dirty="0"/>
              </a:p>
              <a:p>
                <a:pPr lvl="1">
                  <a:buFont typeface="Wingdings" pitchFamily="2" charset="2"/>
                  <a:buChar char="n"/>
                </a:pPr>
                <a:r>
                  <a:rPr kumimoji="1" lang="zh-TW" altLang="en-US" dirty="0"/>
                  <a:t> </a:t>
                </a:r>
                <a:r>
                  <a:rPr kumimoji="1" lang="en-US" altLang="zh-TW" dirty="0"/>
                  <a:t>0.01</a:t>
                </a:r>
                <a:r>
                  <a:rPr kumimoji="1" lang="zh-TW" altLang="en-US" dirty="0"/>
                  <a:t>（過小，會導致梯度消失）</a:t>
                </a:r>
                <a:endParaRPr kumimoji="1" lang="en-US" altLang="zh-TW" dirty="0"/>
              </a:p>
            </p:txBody>
          </p:sp>
        </mc:Choice>
        <mc:Fallback xmlns="">
          <p:sp>
            <p:nvSpPr>
              <p:cNvPr id="3" name="內容版面配置區 2">
                <a:extLst>
                  <a:ext uri="{FF2B5EF4-FFF2-40B4-BE49-F238E27FC236}">
                    <a16:creationId xmlns:a16="http://schemas.microsoft.com/office/drawing/2014/main" id="{78D2B315-926B-677D-0B97-349B814F6E50}"/>
                  </a:ext>
                </a:extLst>
              </p:cNvPr>
              <p:cNvSpPr>
                <a:spLocks noGrp="1" noRot="1" noChangeAspect="1" noMove="1" noResize="1" noEditPoints="1" noAdjustHandles="1" noChangeArrowheads="1" noChangeShapeType="1" noTextEdit="1"/>
              </p:cNvSpPr>
              <p:nvPr>
                <p:ph idx="1"/>
              </p:nvPr>
            </p:nvSpPr>
            <p:spPr>
              <a:xfrm>
                <a:off x="1097280" y="2108201"/>
                <a:ext cx="10058400" cy="4142128"/>
              </a:xfrm>
              <a:blipFill>
                <a:blip r:embed="rId2"/>
                <a:stretch>
                  <a:fillRect l="-1892" t="-1223" b="-183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1B1CA2E-B4AF-7A82-8430-5819D8EE510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8DBB4D4-3897-A624-914B-56ABDC21DBA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305381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E5EF93-B2DE-175A-A726-4F9CB974AEC8}"/>
              </a:ext>
            </a:extLst>
          </p:cNvPr>
          <p:cNvSpPr>
            <a:spLocks noGrp="1"/>
          </p:cNvSpPr>
          <p:nvPr>
            <p:ph type="title"/>
          </p:nvPr>
        </p:nvSpPr>
        <p:spPr/>
        <p:txBody>
          <a:bodyPr/>
          <a:lstStyle/>
          <a:p>
            <a:r>
              <a:rPr kumimoji="1" lang="zh-TW" altLang="en-US" dirty="0"/>
              <a:t>梯度消失與梯度爆炸</a:t>
            </a:r>
          </a:p>
        </p:txBody>
      </p:sp>
      <p:sp>
        <p:nvSpPr>
          <p:cNvPr id="4" name="日期版面配置區 3">
            <a:extLst>
              <a:ext uri="{FF2B5EF4-FFF2-40B4-BE49-F238E27FC236}">
                <a16:creationId xmlns:a16="http://schemas.microsoft.com/office/drawing/2014/main" id="{8D71553F-29C2-852F-DE07-EA17CF7332C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495E63C-4A2B-40C5-3A0D-EEA9E1E20EEF}"/>
              </a:ext>
            </a:extLst>
          </p:cNvPr>
          <p:cNvSpPr>
            <a:spLocks noGrp="1"/>
          </p:cNvSpPr>
          <p:nvPr>
            <p:ph type="sldNum" sz="quarter" idx="12"/>
          </p:nvPr>
        </p:nvSpPr>
        <p:spPr/>
        <p:txBody>
          <a:bodyPr/>
          <a:lstStyle/>
          <a:p>
            <a:r>
              <a:rPr lang="en-US" altLang="zh-TW" dirty="0"/>
              <a:t>Deep Learning</a:t>
            </a:r>
          </a:p>
        </p:txBody>
      </p:sp>
      <p:pic>
        <p:nvPicPr>
          <p:cNvPr id="7" name="圖片 6" descr="一張含有 文字, 螢幕擷取畫面, 行, Rectangle 的圖片&#10;&#10;AI 產生的內容可能不正確。">
            <a:extLst>
              <a:ext uri="{FF2B5EF4-FFF2-40B4-BE49-F238E27FC236}">
                <a16:creationId xmlns:a16="http://schemas.microsoft.com/office/drawing/2014/main" id="{DF739C1F-0113-9AB3-3E76-75DDDAAC1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502" y="2124000"/>
            <a:ext cx="2496522"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圖片 8" descr="一張含有 文字, 螢幕擷取畫面, 行, 繪圖 的圖片&#10;&#10;AI 產生的內容可能不正確。">
            <a:extLst>
              <a:ext uri="{FF2B5EF4-FFF2-40B4-BE49-F238E27FC236}">
                <a16:creationId xmlns:a16="http://schemas.microsoft.com/office/drawing/2014/main" id="{84933D9A-CEF5-DE4A-325B-9DE4E016A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352" y="2124000"/>
            <a:ext cx="2737557"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圖片 10" descr="一張含有 文字, 螢幕擷取畫面, 行, 數字 的圖片&#10;&#10;AI 產生的內容可能不正確。">
            <a:extLst>
              <a:ext uri="{FF2B5EF4-FFF2-40B4-BE49-F238E27FC236}">
                <a16:creationId xmlns:a16="http://schemas.microsoft.com/office/drawing/2014/main" id="{D28CFFE6-B542-406C-AE4F-3E0B5CEA9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3092" y="2124000"/>
            <a:ext cx="2591088"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圖片 12" descr="一張含有 文字, 螢幕擷取畫面, 行, 繪圖 的圖片&#10;&#10;AI 產生的內容可能不正確。">
            <a:extLst>
              <a:ext uri="{FF2B5EF4-FFF2-40B4-BE49-F238E27FC236}">
                <a16:creationId xmlns:a16="http://schemas.microsoft.com/office/drawing/2014/main" id="{4CF46506-4336-75C9-C881-60973C9FF6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0129" y="2124000"/>
            <a:ext cx="2747369"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32033D6F-D238-456F-6E6B-6417800EFA60}"/>
                  </a:ext>
                </a:extLst>
              </p:cNvPr>
              <p:cNvSpPr txBox="1"/>
              <p:nvPr/>
            </p:nvSpPr>
            <p:spPr>
              <a:xfrm>
                <a:off x="872105" y="5034988"/>
                <a:ext cx="4452249" cy="646331"/>
              </a:xfrm>
              <a:prstGeom prst="rect">
                <a:avLst/>
              </a:prstGeom>
              <a:noFill/>
            </p:spPr>
            <p:txBody>
              <a:bodyPr wrap="square" rtlCol="0">
                <a:spAutoFit/>
              </a:bodyPr>
              <a:lstStyle/>
              <a:p>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a:t>
                </a:r>
                <a:r>
                  <a:rPr kumimoji="1" lang="zh-TW" altLang="en-US" dirty="0"/>
                  <a:t> 過大導致正向傳播時，各層輸出值的標準差隨著層數增加而呈指數成長。</a:t>
                </a:r>
              </a:p>
            </p:txBody>
          </p:sp>
        </mc:Choice>
        <mc:Fallback xmlns="">
          <p:sp>
            <p:nvSpPr>
              <p:cNvPr id="14" name="文字方塊 13">
                <a:extLst>
                  <a:ext uri="{FF2B5EF4-FFF2-40B4-BE49-F238E27FC236}">
                    <a16:creationId xmlns:a16="http://schemas.microsoft.com/office/drawing/2014/main" id="{32033D6F-D238-456F-6E6B-6417800EFA60}"/>
                  </a:ext>
                </a:extLst>
              </p:cNvPr>
              <p:cNvSpPr txBox="1">
                <a:spLocks noRot="1" noChangeAspect="1" noMove="1" noResize="1" noEditPoints="1" noAdjustHandles="1" noChangeArrowheads="1" noChangeShapeType="1" noTextEdit="1"/>
              </p:cNvSpPr>
              <p:nvPr/>
            </p:nvSpPr>
            <p:spPr>
              <a:xfrm>
                <a:off x="872105" y="5034988"/>
                <a:ext cx="4452249" cy="646331"/>
              </a:xfrm>
              <a:prstGeom prst="rect">
                <a:avLst/>
              </a:prstGeom>
              <a:blipFill>
                <a:blip r:embed="rId6"/>
                <a:stretch>
                  <a:fillRect l="-1136" t="-3846" b="-134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063F10DC-9503-948C-288A-E1CDD9CE210F}"/>
                  </a:ext>
                </a:extLst>
              </p:cNvPr>
              <p:cNvSpPr txBox="1"/>
              <p:nvPr/>
            </p:nvSpPr>
            <p:spPr>
              <a:xfrm>
                <a:off x="6914004" y="5034988"/>
                <a:ext cx="4452249" cy="923330"/>
              </a:xfrm>
              <a:prstGeom prst="rect">
                <a:avLst/>
              </a:prstGeom>
              <a:noFill/>
            </p:spPr>
            <p:txBody>
              <a:bodyPr wrap="square" rtlCol="0">
                <a:spAutoFit/>
              </a:bodyPr>
              <a:lstStyle/>
              <a:p>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a:t>
                </a:r>
                <a:r>
                  <a:rPr kumimoji="1" lang="zh-TW" altLang="en-US" dirty="0"/>
                  <a:t> 過大也會導致反向傳播時，靠近輸入層的梯度急遽增大，進而造成梯度爆炸與數值不穩定。</a:t>
                </a:r>
              </a:p>
            </p:txBody>
          </p:sp>
        </mc:Choice>
        <mc:Fallback xmlns="">
          <p:sp>
            <p:nvSpPr>
              <p:cNvPr id="15" name="文字方塊 14">
                <a:extLst>
                  <a:ext uri="{FF2B5EF4-FFF2-40B4-BE49-F238E27FC236}">
                    <a16:creationId xmlns:a16="http://schemas.microsoft.com/office/drawing/2014/main" id="{063F10DC-9503-948C-288A-E1CDD9CE210F}"/>
                  </a:ext>
                </a:extLst>
              </p:cNvPr>
              <p:cNvSpPr txBox="1">
                <a:spLocks noRot="1" noChangeAspect="1" noMove="1" noResize="1" noEditPoints="1" noAdjustHandles="1" noChangeArrowheads="1" noChangeShapeType="1" noTextEdit="1"/>
              </p:cNvSpPr>
              <p:nvPr/>
            </p:nvSpPr>
            <p:spPr>
              <a:xfrm>
                <a:off x="6914004" y="5034988"/>
                <a:ext cx="4452249" cy="923330"/>
              </a:xfrm>
              <a:prstGeom prst="rect">
                <a:avLst/>
              </a:prstGeom>
              <a:blipFill>
                <a:blip r:embed="rId7"/>
                <a:stretch>
                  <a:fillRect l="-1136" t="-2740" b="-109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00341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97A24D-ED49-55BE-D8AD-1117C557B3B2}"/>
              </a:ext>
            </a:extLst>
          </p:cNvPr>
          <p:cNvSpPr>
            <a:spLocks noGrp="1"/>
          </p:cNvSpPr>
          <p:nvPr>
            <p:ph type="title"/>
          </p:nvPr>
        </p:nvSpPr>
        <p:spPr/>
        <p:txBody>
          <a:bodyPr/>
          <a:lstStyle/>
          <a:p>
            <a:r>
              <a:rPr kumimoji="1" lang="zh-TW" altLang="en-US" dirty="0"/>
              <a:t>梯度消失與梯度爆炸</a:t>
            </a:r>
          </a:p>
        </p:txBody>
      </p:sp>
      <p:sp>
        <p:nvSpPr>
          <p:cNvPr id="4" name="日期版面配置區 3">
            <a:extLst>
              <a:ext uri="{FF2B5EF4-FFF2-40B4-BE49-F238E27FC236}">
                <a16:creationId xmlns:a16="http://schemas.microsoft.com/office/drawing/2014/main" id="{D0BC633D-4343-9CE2-824B-416C054DC90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0941A90-17EE-A2D3-62EC-5118B679C060}"/>
              </a:ext>
            </a:extLst>
          </p:cNvPr>
          <p:cNvSpPr>
            <a:spLocks noGrp="1"/>
          </p:cNvSpPr>
          <p:nvPr>
            <p:ph type="sldNum" sz="quarter" idx="12"/>
          </p:nvPr>
        </p:nvSpPr>
        <p:spPr/>
        <p:txBody>
          <a:bodyPr/>
          <a:lstStyle/>
          <a:p>
            <a:r>
              <a:rPr lang="en-US" altLang="zh-TW" dirty="0"/>
              <a:t>Deep Learning</a:t>
            </a:r>
          </a:p>
        </p:txBody>
      </p:sp>
      <p:pic>
        <p:nvPicPr>
          <p:cNvPr id="7" name="圖片 6" descr="一張含有 文字, 行, 螢幕擷取畫面, 圖表 的圖片&#10;&#10;AI 產生的內容可能不正確。">
            <a:extLst>
              <a:ext uri="{FF2B5EF4-FFF2-40B4-BE49-F238E27FC236}">
                <a16:creationId xmlns:a16="http://schemas.microsoft.com/office/drawing/2014/main" id="{85EC9DAC-D3E6-A494-ED7F-CCFC5879F5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1124" y="2079038"/>
            <a:ext cx="3556000" cy="3378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圖片 8" descr="一張含有 文字, 字型, 行, 螢幕擷取畫面 的圖片&#10;&#10;AI 產生的內容可能不正確。">
            <a:extLst>
              <a:ext uri="{FF2B5EF4-FFF2-40B4-BE49-F238E27FC236}">
                <a16:creationId xmlns:a16="http://schemas.microsoft.com/office/drawing/2014/main" id="{545E09E4-E80C-C71D-CD8A-69798A0FC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5976" y="2079038"/>
            <a:ext cx="3644900" cy="3378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文字方塊 9">
            <a:extLst>
              <a:ext uri="{FF2B5EF4-FFF2-40B4-BE49-F238E27FC236}">
                <a16:creationId xmlns:a16="http://schemas.microsoft.com/office/drawing/2014/main" id="{BF832AE9-7B40-678C-0505-0C2854C91FA6}"/>
              </a:ext>
            </a:extLst>
          </p:cNvPr>
          <p:cNvSpPr txBox="1"/>
          <p:nvPr/>
        </p:nvSpPr>
        <p:spPr>
          <a:xfrm>
            <a:off x="5642658" y="2974693"/>
            <a:ext cx="65" cy="276999"/>
          </a:xfrm>
          <a:prstGeom prst="rect">
            <a:avLst/>
          </a:prstGeom>
          <a:noFill/>
        </p:spPr>
        <p:txBody>
          <a:bodyPr wrap="none" lIns="0" tIns="0" rIns="0" bIns="0" rtlCol="0">
            <a:spAutoFit/>
          </a:bodyPr>
          <a:lstStyle/>
          <a:p>
            <a:endParaRPr kumimoji="1" lang="zh-TW" altLang="en-US" dirty="0"/>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2E5F54E-B10C-3D4C-2A5D-3DA878F02BE5}"/>
                  </a:ext>
                </a:extLst>
              </p:cNvPr>
              <p:cNvSpPr txBox="1"/>
              <p:nvPr/>
            </p:nvSpPr>
            <p:spPr>
              <a:xfrm>
                <a:off x="2532300" y="5798916"/>
                <a:ext cx="7127400" cy="369332"/>
              </a:xfrm>
              <a:prstGeom prst="rect">
                <a:avLst/>
              </a:prstGeom>
              <a:noFill/>
            </p:spPr>
            <p:txBody>
              <a:bodyPr wrap="none" rtlCol="0">
                <a:spAutoFit/>
              </a:bodyPr>
              <a:lstStyle/>
              <a:p>
                <a:r>
                  <a:rPr kumimoji="1" lang="zh-TW" altLang="en-US" dirty="0"/>
                  <a:t>當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 </a:t>
                </a:r>
                <a:r>
                  <a:rPr kumimoji="1" lang="zh-TW" altLang="en-US" dirty="0"/>
                  <a:t>設定適當，則正向傳播的數值穩定，且反向傳播的梯度亦然。</a:t>
                </a:r>
              </a:p>
            </p:txBody>
          </p:sp>
        </mc:Choice>
        <mc:Fallback xmlns="">
          <p:sp>
            <p:nvSpPr>
              <p:cNvPr id="11" name="文字方塊 10">
                <a:extLst>
                  <a:ext uri="{FF2B5EF4-FFF2-40B4-BE49-F238E27FC236}">
                    <a16:creationId xmlns:a16="http://schemas.microsoft.com/office/drawing/2014/main" id="{B2E5F54E-B10C-3D4C-2A5D-3DA878F02BE5}"/>
                  </a:ext>
                </a:extLst>
              </p:cNvPr>
              <p:cNvSpPr txBox="1">
                <a:spLocks noRot="1" noChangeAspect="1" noMove="1" noResize="1" noEditPoints="1" noAdjustHandles="1" noChangeArrowheads="1" noChangeShapeType="1" noTextEdit="1"/>
              </p:cNvSpPr>
              <p:nvPr/>
            </p:nvSpPr>
            <p:spPr>
              <a:xfrm>
                <a:off x="2532300" y="5798916"/>
                <a:ext cx="7127400" cy="369332"/>
              </a:xfrm>
              <a:prstGeom prst="rect">
                <a:avLst/>
              </a:prstGeom>
              <a:blipFill>
                <a:blip r:embed="rId4"/>
                <a:stretch>
                  <a:fillRect l="-712" t="-6667" b="-23333"/>
                </a:stretch>
              </a:blipFill>
            </p:spPr>
            <p:txBody>
              <a:bodyPr/>
              <a:lstStyle/>
              <a:p>
                <a:r>
                  <a:rPr lang="zh-TW" altLang="en-US">
                    <a:noFill/>
                  </a:rPr>
                  <a:t> </a:t>
                </a:r>
              </a:p>
            </p:txBody>
          </p:sp>
        </mc:Fallback>
      </mc:AlternateContent>
      <p:cxnSp>
        <p:nvCxnSpPr>
          <p:cNvPr id="13" name="直線箭頭接點 12">
            <a:extLst>
              <a:ext uri="{FF2B5EF4-FFF2-40B4-BE49-F238E27FC236}">
                <a16:creationId xmlns:a16="http://schemas.microsoft.com/office/drawing/2014/main" id="{9093EFAE-8319-4487-78C4-4EDBF136FB11}"/>
              </a:ext>
            </a:extLst>
          </p:cNvPr>
          <p:cNvCxnSpPr>
            <a:cxnSpLocks/>
            <a:stCxn id="16" idx="0"/>
          </p:cNvCxnSpPr>
          <p:nvPr/>
        </p:nvCxnSpPr>
        <p:spPr>
          <a:xfrm flipV="1">
            <a:off x="1197980" y="4963720"/>
            <a:ext cx="1334320" cy="327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B5FAC068-FC47-6FD4-FA96-E15D562F7E42}"/>
              </a:ext>
            </a:extLst>
          </p:cNvPr>
          <p:cNvSpPr txBox="1"/>
          <p:nvPr/>
        </p:nvSpPr>
        <p:spPr>
          <a:xfrm>
            <a:off x="331156" y="5290952"/>
            <a:ext cx="1733647" cy="646331"/>
          </a:xfrm>
          <a:prstGeom prst="rect">
            <a:avLst/>
          </a:prstGeom>
          <a:noFill/>
        </p:spPr>
        <p:txBody>
          <a:bodyPr wrap="square" rtlCol="0">
            <a:spAutoFit/>
          </a:bodyPr>
          <a:lstStyle/>
          <a:p>
            <a:r>
              <a:rPr kumimoji="1" lang="zh-TW" altLang="en-US" dirty="0"/>
              <a:t>數值皆位於穩定的區間內。</a:t>
            </a:r>
          </a:p>
        </p:txBody>
      </p:sp>
      <p:cxnSp>
        <p:nvCxnSpPr>
          <p:cNvPr id="18" name="直線箭頭接點 17">
            <a:extLst>
              <a:ext uri="{FF2B5EF4-FFF2-40B4-BE49-F238E27FC236}">
                <a16:creationId xmlns:a16="http://schemas.microsoft.com/office/drawing/2014/main" id="{1F0397DE-2D35-E0FC-6F7E-205D56E714D1}"/>
              </a:ext>
            </a:extLst>
          </p:cNvPr>
          <p:cNvCxnSpPr>
            <a:cxnSpLocks/>
          </p:cNvCxnSpPr>
          <p:nvPr/>
        </p:nvCxnSpPr>
        <p:spPr>
          <a:xfrm flipH="1">
            <a:off x="6946763" y="1467595"/>
            <a:ext cx="2255110" cy="1554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96A25E87-2A8F-DADA-CDC1-1E254C41A0CA}"/>
              </a:ext>
            </a:extLst>
          </p:cNvPr>
          <p:cNvSpPr txBox="1"/>
          <p:nvPr/>
        </p:nvSpPr>
        <p:spPr>
          <a:xfrm>
            <a:off x="9284700" y="1018667"/>
            <a:ext cx="1733647" cy="646331"/>
          </a:xfrm>
          <a:prstGeom prst="rect">
            <a:avLst/>
          </a:prstGeom>
          <a:noFill/>
        </p:spPr>
        <p:txBody>
          <a:bodyPr wrap="square" rtlCol="0">
            <a:spAutoFit/>
          </a:bodyPr>
          <a:lstStyle/>
          <a:p>
            <a:r>
              <a:rPr kumimoji="1" lang="zh-TW" altLang="en-US" dirty="0"/>
              <a:t>數值皆位於穩定的區間內。</a:t>
            </a:r>
          </a:p>
        </p:txBody>
      </p:sp>
    </p:spTree>
    <p:extLst>
      <p:ext uri="{BB962C8B-B14F-4D97-AF65-F5344CB8AC3E}">
        <p14:creationId xmlns:p14="http://schemas.microsoft.com/office/powerpoint/2010/main" val="3131627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91A409-9BCF-70C6-7C41-0AD951A56A1C}"/>
              </a:ext>
            </a:extLst>
          </p:cNvPr>
          <p:cNvSpPr>
            <a:spLocks noGrp="1"/>
          </p:cNvSpPr>
          <p:nvPr>
            <p:ph type="title"/>
          </p:nvPr>
        </p:nvSpPr>
        <p:spPr/>
        <p:txBody>
          <a:bodyPr/>
          <a:lstStyle/>
          <a:p>
            <a:r>
              <a:rPr kumimoji="1" lang="zh-TW" altLang="en-US" dirty="0"/>
              <a:t>梯度消失與梯度爆炸</a:t>
            </a:r>
          </a:p>
        </p:txBody>
      </p:sp>
      <p:sp>
        <p:nvSpPr>
          <p:cNvPr id="4" name="日期版面配置區 3">
            <a:extLst>
              <a:ext uri="{FF2B5EF4-FFF2-40B4-BE49-F238E27FC236}">
                <a16:creationId xmlns:a16="http://schemas.microsoft.com/office/drawing/2014/main" id="{A4208E0F-42C7-B4B4-E935-C3A3D41FA05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FE4E9F4-9EB7-624A-0A65-D4E71E188255}"/>
              </a:ext>
            </a:extLst>
          </p:cNvPr>
          <p:cNvSpPr>
            <a:spLocks noGrp="1"/>
          </p:cNvSpPr>
          <p:nvPr>
            <p:ph type="sldNum" sz="quarter" idx="12"/>
          </p:nvPr>
        </p:nvSpPr>
        <p:spPr/>
        <p:txBody>
          <a:bodyPr/>
          <a:lstStyle/>
          <a:p>
            <a:r>
              <a:rPr lang="en-US" altLang="zh-TW" dirty="0"/>
              <a:t>Deep Learning</a:t>
            </a:r>
          </a:p>
        </p:txBody>
      </p:sp>
      <p:pic>
        <p:nvPicPr>
          <p:cNvPr id="7" name="圖片 6" descr="一張含有 文字, 螢幕擷取畫面, 行, 圖表 的圖片&#10;&#10;AI 產生的內容可能不正確。">
            <a:extLst>
              <a:ext uri="{FF2B5EF4-FFF2-40B4-BE49-F238E27FC236}">
                <a16:creationId xmlns:a16="http://schemas.microsoft.com/office/drawing/2014/main" id="{AE60305E-BBED-BEB7-6B2C-499E61334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371" y="2124000"/>
            <a:ext cx="2747368"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圖片 8" descr="一張含有 文字, 螢幕擷取畫面, 繪圖, 行 的圖片&#10;&#10;AI 產生的內容可能不正確。">
            <a:extLst>
              <a:ext uri="{FF2B5EF4-FFF2-40B4-BE49-F238E27FC236}">
                <a16:creationId xmlns:a16="http://schemas.microsoft.com/office/drawing/2014/main" id="{31C76DE7-6587-6FDA-B769-D2A6050AB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3289" y="2124000"/>
            <a:ext cx="2796429"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圖片 10" descr="一張含有 文字, 螢幕擷取畫面, 行, 繪圖 的圖片&#10;&#10;AI 產生的內容可能不正確。">
            <a:extLst>
              <a:ext uri="{FF2B5EF4-FFF2-40B4-BE49-F238E27FC236}">
                <a16:creationId xmlns:a16="http://schemas.microsoft.com/office/drawing/2014/main" id="{70C23C07-10E6-211D-6ACD-59E5B2522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362" y="2124000"/>
            <a:ext cx="2647826"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圖片 12" descr="一張含有 文字, 螢幕擷取畫面, 行, 繪圖 的圖片&#10;&#10;AI 產生的內容可能不正確。">
            <a:extLst>
              <a:ext uri="{FF2B5EF4-FFF2-40B4-BE49-F238E27FC236}">
                <a16:creationId xmlns:a16="http://schemas.microsoft.com/office/drawing/2014/main" id="{203F4C9E-E590-1C19-D317-165DEC03C3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0944" y="2124000"/>
            <a:ext cx="2806241" cy="261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CA91970B-9CA2-B4F9-65B4-1AF56F968788}"/>
                  </a:ext>
                </a:extLst>
              </p:cNvPr>
              <p:cNvSpPr txBox="1"/>
              <p:nvPr/>
            </p:nvSpPr>
            <p:spPr>
              <a:xfrm>
                <a:off x="872105" y="5034988"/>
                <a:ext cx="4452249" cy="646331"/>
              </a:xfrm>
              <a:prstGeom prst="rect">
                <a:avLst/>
              </a:prstGeom>
              <a:noFill/>
            </p:spPr>
            <p:txBody>
              <a:bodyPr wrap="square" rtlCol="0">
                <a:spAutoFit/>
              </a:bodyPr>
              <a:lstStyle/>
              <a:p>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a:t>
                </a:r>
                <a:r>
                  <a:rPr kumimoji="1" lang="zh-TW" altLang="en-US" dirty="0"/>
                  <a:t> 過小導致正向傳播時，各層輸出值的標準差隨著層數增加而呈指數減少。</a:t>
                </a:r>
              </a:p>
            </p:txBody>
          </p:sp>
        </mc:Choice>
        <mc:Fallback xmlns="">
          <p:sp>
            <p:nvSpPr>
              <p:cNvPr id="14" name="文字方塊 13">
                <a:extLst>
                  <a:ext uri="{FF2B5EF4-FFF2-40B4-BE49-F238E27FC236}">
                    <a16:creationId xmlns:a16="http://schemas.microsoft.com/office/drawing/2014/main" id="{CA91970B-9CA2-B4F9-65B4-1AF56F968788}"/>
                  </a:ext>
                </a:extLst>
              </p:cNvPr>
              <p:cNvSpPr txBox="1">
                <a:spLocks noRot="1" noChangeAspect="1" noMove="1" noResize="1" noEditPoints="1" noAdjustHandles="1" noChangeArrowheads="1" noChangeShapeType="1" noTextEdit="1"/>
              </p:cNvSpPr>
              <p:nvPr/>
            </p:nvSpPr>
            <p:spPr>
              <a:xfrm>
                <a:off x="872105" y="5034988"/>
                <a:ext cx="4452249" cy="646331"/>
              </a:xfrm>
              <a:prstGeom prst="rect">
                <a:avLst/>
              </a:prstGeom>
              <a:blipFill>
                <a:blip r:embed="rId6"/>
                <a:stretch>
                  <a:fillRect l="-1136" t="-3846" b="-134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BC11E1B1-BD96-7EA2-DC99-C61393B99F83}"/>
                  </a:ext>
                </a:extLst>
              </p:cNvPr>
              <p:cNvSpPr txBox="1"/>
              <p:nvPr/>
            </p:nvSpPr>
            <p:spPr>
              <a:xfrm>
                <a:off x="6914004" y="5034988"/>
                <a:ext cx="4452249" cy="923330"/>
              </a:xfrm>
              <a:prstGeom prst="rect">
                <a:avLst/>
              </a:prstGeom>
              <a:noFill/>
            </p:spPr>
            <p:txBody>
              <a:bodyPr wrap="square" rtlCol="0">
                <a:spAutoFit/>
              </a:bodyPr>
              <a:lstStyle/>
              <a:p>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oMath>
                </a14:m>
                <a:r>
                  <a:rPr kumimoji="1" lang="el-GR" altLang="zh-TW" dirty="0"/>
                  <a:t>​</a:t>
                </a:r>
                <a:r>
                  <a:rPr kumimoji="1" lang="zh-TW" altLang="en-US" dirty="0"/>
                  <a:t> 過小也會導致反向傳播時，靠近輸入層的梯度急遽變小，進而造成梯度消失問題，模型權重幾乎無法更新。</a:t>
                </a:r>
              </a:p>
            </p:txBody>
          </p:sp>
        </mc:Choice>
        <mc:Fallback xmlns="">
          <p:sp>
            <p:nvSpPr>
              <p:cNvPr id="15" name="文字方塊 14">
                <a:extLst>
                  <a:ext uri="{FF2B5EF4-FFF2-40B4-BE49-F238E27FC236}">
                    <a16:creationId xmlns:a16="http://schemas.microsoft.com/office/drawing/2014/main" id="{BC11E1B1-BD96-7EA2-DC99-C61393B99F83}"/>
                  </a:ext>
                </a:extLst>
              </p:cNvPr>
              <p:cNvSpPr txBox="1">
                <a:spLocks noRot="1" noChangeAspect="1" noMove="1" noResize="1" noEditPoints="1" noAdjustHandles="1" noChangeArrowheads="1" noChangeShapeType="1" noTextEdit="1"/>
              </p:cNvSpPr>
              <p:nvPr/>
            </p:nvSpPr>
            <p:spPr>
              <a:xfrm>
                <a:off x="6914004" y="5034988"/>
                <a:ext cx="4452249" cy="923330"/>
              </a:xfrm>
              <a:prstGeom prst="rect">
                <a:avLst/>
              </a:prstGeom>
              <a:blipFill>
                <a:blip r:embed="rId7"/>
                <a:stretch>
                  <a:fillRect l="-1136" t="-2740" b="-109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0906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E9C623E-9C09-D8F9-261E-F91BE6C0D2B8}"/>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25199808-8172-D8C1-2F31-C0FF7B06709B}"/>
              </a:ext>
            </a:extLst>
          </p:cNvPr>
          <p:cNvSpPr>
            <a:spLocks noGrp="1"/>
          </p:cNvSpPr>
          <p:nvPr>
            <p:ph type="sldNum" sz="quarter" idx="12"/>
          </p:nvPr>
        </p:nvSpPr>
        <p:spPr/>
        <p:txBody>
          <a:bodyPr/>
          <a:lstStyle/>
          <a:p>
            <a:r>
              <a:rPr lang="en-US" altLang="zh-TW" dirty="0"/>
              <a:t>Deep Learning</a:t>
            </a:r>
          </a:p>
        </p:txBody>
      </p:sp>
      <p:pic>
        <p:nvPicPr>
          <p:cNvPr id="5" name="圖片 4" descr="一張含有 文字, 行, 螢幕擷取畫面, 繪圖 的圖片&#10;&#10;AI 產生的內容可能不正確。">
            <a:extLst>
              <a:ext uri="{FF2B5EF4-FFF2-40B4-BE49-F238E27FC236}">
                <a16:creationId xmlns:a16="http://schemas.microsoft.com/office/drawing/2014/main" id="{0569B851-41E7-342C-B489-99EB77EFA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2142" y="283294"/>
            <a:ext cx="7627716" cy="58743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8216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1D133C-9379-ED44-F22B-7B44B6742F64}"/>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8A91E86-E105-395F-00EB-9FA85C12DD68}"/>
                  </a:ext>
                </a:extLst>
              </p:cNvPr>
              <p:cNvSpPr>
                <a:spLocks noGrp="1"/>
              </p:cNvSpPr>
              <p:nvPr>
                <p:ph idx="1"/>
              </p:nvPr>
            </p:nvSpPr>
            <p:spPr>
              <a:xfrm>
                <a:off x="1097280" y="2108201"/>
                <a:ext cx="10058400" cy="4072680"/>
              </a:xfrm>
            </p:spPr>
            <p:txBody>
              <a:bodyPr>
                <a:normAutofit/>
              </a:bodyPr>
              <a:lstStyle/>
              <a:p>
                <a:r>
                  <a:rPr kumimoji="1" lang="zh-TW" altLang="en-US" dirty="0"/>
                  <a:t>如何合理且適當地初始化神經網路的權重呢？電腦科學家何愷明（</a:t>
                </a:r>
                <a:r>
                  <a:rPr kumimoji="1" lang="en-US" altLang="zh-TW" dirty="0"/>
                  <a:t>Kaiming He</a:t>
                </a:r>
                <a:r>
                  <a:rPr kumimoji="1" lang="zh-TW" altLang="en-US" dirty="0"/>
                  <a:t>）證明了在使用 </a:t>
                </a:r>
                <a:r>
                  <a:rPr kumimoji="1" lang="en-US" altLang="zh-TW" dirty="0" err="1"/>
                  <a:t>ReLU</a:t>
                </a:r>
                <a:r>
                  <a:rPr kumimoji="1" lang="zh-TW" altLang="en-US" dirty="0"/>
                  <a:t> 的深度神經網路中，隨機初始化權重的變異數應設定為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2</m:t>
                        </m:r>
                      </m:num>
                      <m:den>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𝐷</m:t>
                            </m:r>
                          </m:e>
                          <m:sub>
                            <m:r>
                              <a:rPr kumimoji="1" lang="en-US" altLang="zh-TW" b="0" i="1" smtClean="0">
                                <a:latin typeface="Cambria Math" panose="02040503050406030204" pitchFamily="18" charset="0"/>
                              </a:rPr>
                              <m:t>h</m:t>
                            </m:r>
                          </m:sub>
                        </m:sSub>
                      </m:den>
                    </m:f>
                  </m:oMath>
                </a14:m>
                <a:r>
                  <a:rPr kumimoji="1" lang="zh-TW" altLang="en-US" dirty="0"/>
                  <a:t>，其中</a:t>
                </a:r>
                <a:r>
                  <a:rPr kumimoji="1" lang="el-GR" altLang="zh-TW" dirty="0"/>
                  <a:t>​</a:t>
                </a: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r>
                      <a:rPr kumimoji="1" lang="zh-TW" altLang="en-US" b="0" i="1" smtClean="0">
                        <a:latin typeface="Cambria Math" panose="02040503050406030204" pitchFamily="18" charset="0"/>
                      </a:rPr>
                      <m:t> </m:t>
                    </m:r>
                  </m:oMath>
                </a14:m>
                <a:r>
                  <a:rPr kumimoji="1" lang="zh-TW" altLang="en-US" dirty="0"/>
                  <a:t>為輸入神經元之數量。</a:t>
                </a:r>
                <a:endParaRPr kumimoji="1" lang="en-US" altLang="zh-TW" dirty="0"/>
              </a:p>
              <a:p>
                <a:r>
                  <a:rPr kumimoji="1" lang="zh-TW" altLang="en-US" dirty="0"/>
                  <a:t>假定兩個相鄰層（神經元數量分別為</a:t>
                </a:r>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𝐷</m:t>
                        </m:r>
                      </m:e>
                      <m:sub>
                        <m:r>
                          <a:rPr kumimoji="1" lang="en-US" altLang="zh-TW" b="0" i="1" smtClean="0">
                            <a:latin typeface="Cambria Math" panose="02040503050406030204" pitchFamily="18" charset="0"/>
                          </a:rPr>
                          <m:t>h</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r>
                          <a:rPr kumimoji="1" lang="en-US" altLang="zh-TW" b="0" i="1" smtClean="0">
                            <a:latin typeface="Cambria Math" panose="02040503050406030204" pitchFamily="18" charset="0"/>
                          </a:rPr>
                          <m:t>′</m:t>
                        </m:r>
                      </m:sub>
                    </m:sSub>
                  </m:oMath>
                </a14:m>
                <a:r>
                  <a:rPr kumimoji="1" lang="zh-TW" altLang="en-US" dirty="0"/>
                  <a:t>）的關係為：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h</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𝑎</m:t>
                      </m:r>
                      <m:d>
                        <m:dPr>
                          <m:begChr m:val="["/>
                          <m:endChr m:val="]"/>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𝑓</m:t>
                          </m:r>
                        </m:e>
                      </m:d>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𝑓</m:t>
                          </m:r>
                        </m:e>
                        <m:sup>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r>
                        <m:rPr>
                          <m:sty m:val="p"/>
                        </m:rPr>
                        <a:rPr kumimoji="1" lang="el-GR" altLang="zh-TW" b="0" i="1" smtClean="0">
                          <a:latin typeface="Cambria Math" panose="02040503050406030204" pitchFamily="18" charset="0"/>
                          <a:ea typeface="Cambria Math" panose="02040503050406030204" pitchFamily="18" charset="0"/>
                        </a:rPr>
                        <m:t>Ω</m:t>
                      </m:r>
                      <m:r>
                        <a:rPr kumimoji="1" lang="en-US" altLang="zh-TW" b="0" i="1" smtClean="0">
                          <a:latin typeface="Cambria Math" panose="02040503050406030204" pitchFamily="18" charset="0"/>
                          <a:ea typeface="Cambria Math" panose="02040503050406030204" pitchFamily="18" charset="0"/>
                        </a:rPr>
                        <m:t>h</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𝛽</m:t>
                      </m:r>
                    </m:oMath>
                  </m:oMathPara>
                </a14:m>
                <a:endParaRPr kumimoji="1" lang="en-US" altLang="zh-TW" dirty="0"/>
              </a:p>
              <a:p>
                <a:r>
                  <a:rPr kumimoji="1" lang="zh-TW" altLang="en-US" dirty="0"/>
                  <a:t>則 </a:t>
                </a:r>
                <a14:m>
                  <m:oMath xmlns:m="http://schemas.openxmlformats.org/officeDocument/2006/math">
                    <m:r>
                      <a:rPr kumimoji="1" lang="en-US" altLang="zh-TW" b="0" i="1" smtClean="0">
                        <a:latin typeface="Cambria Math" panose="02040503050406030204" pitchFamily="18" charset="0"/>
                      </a:rPr>
                      <m:t>𝑓</m:t>
                    </m:r>
                    <m:r>
                      <a:rPr kumimoji="1" lang="en-US" altLang="zh-TW" b="0" i="1" smtClean="0">
                        <a:latin typeface="Cambria Math" panose="02040503050406030204" pitchFamily="18" charset="0"/>
                      </a:rPr>
                      <m:t>′</m:t>
                    </m:r>
                  </m:oMath>
                </a14:m>
                <a:r>
                  <a:rPr kumimoji="1" lang="zh-TW" altLang="en-US" dirty="0"/>
                  <a:t> 的第 </a:t>
                </a:r>
                <a14:m>
                  <m:oMath xmlns:m="http://schemas.openxmlformats.org/officeDocument/2006/math">
                    <m:r>
                      <a:rPr kumimoji="1" lang="en-US" altLang="zh-TW" b="0" i="1" smtClean="0">
                        <a:latin typeface="Cambria Math" panose="02040503050406030204" pitchFamily="18" charset="0"/>
                      </a:rPr>
                      <m:t>𝑖</m:t>
                    </m:r>
                  </m:oMath>
                </a14:m>
                <a:r>
                  <a:rPr kumimoji="1" lang="zh-TW" altLang="en-US" dirty="0"/>
                  <a:t> 項的期望值為：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rPr>
                          </m:ctrlPr>
                        </m:dPr>
                        <m:e>
                          <m:sSubSup>
                            <m:sSubSupPr>
                              <m:ctrlPr>
                                <a:rPr kumimoji="1" lang="en-US" altLang="zh-TW" b="0" i="1" smtClean="0">
                                  <a:latin typeface="Cambria Math" panose="02040503050406030204" pitchFamily="18" charset="0"/>
                                </a:rPr>
                              </m:ctrlPr>
                            </m:sSubSupPr>
                            <m:e>
                              <m:r>
                                <a:rPr kumimoji="1" lang="en-US" altLang="zh-TW" b="0" i="1" smtClean="0">
                                  <a:latin typeface="Cambria Math" panose="02040503050406030204" pitchFamily="18" charset="0"/>
                                </a:rPr>
                                <m:t>𝑓</m:t>
                              </m:r>
                            </m:e>
                            <m:sub>
                              <m:r>
                                <a:rPr kumimoji="1" lang="en-US" altLang="zh-TW" b="0" i="1" smtClean="0">
                                  <a:latin typeface="Cambria Math" panose="02040503050406030204" pitchFamily="18" charset="0"/>
                                </a:rPr>
                                <m:t>𝑖</m:t>
                              </m:r>
                            </m:sub>
                            <m:sup>
                              <m:r>
                                <a:rPr kumimoji="1" lang="en-US" altLang="zh-TW" b="0" i="1" smtClean="0">
                                  <a:latin typeface="Cambria Math" panose="02040503050406030204" pitchFamily="18" charset="0"/>
                                </a:rPr>
                                <m:t>′</m:t>
                              </m:r>
                            </m:sup>
                          </m:sSubSup>
                        </m:e>
                      </m:d>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𝛽</m:t>
                          </m:r>
                        </m:e>
                        <m:sub>
                          <m:r>
                            <a:rPr kumimoji="1" lang="en-US" altLang="zh-TW" b="0" i="1" smtClean="0">
                              <a:latin typeface="Cambria Math" panose="02040503050406030204" pitchFamily="18" charset="0"/>
                              <a:ea typeface="Cambria Math" panose="02040503050406030204" pitchFamily="18" charset="0"/>
                            </a:rPr>
                            <m:t>𝑖</m:t>
                          </m:r>
                        </m:sub>
                      </m:sSub>
                      <m:r>
                        <a:rPr kumimoji="1" lang="en-US" altLang="zh-TW" b="0" i="1" smtClean="0">
                          <a:latin typeface="Cambria Math" panose="02040503050406030204" pitchFamily="18" charset="0"/>
                          <a:ea typeface="Cambria Math" panose="02040503050406030204" pitchFamily="18" charset="0"/>
                        </a:rPr>
                        <m:t>+</m:t>
                      </m:r>
                      <m:nary>
                        <m:naryPr>
                          <m:chr m:val="∑"/>
                          <m:ctrlPr>
                            <a:rPr kumimoji="1" lang="en-US" altLang="zh-TW" b="0" i="1" smtClean="0">
                              <a:latin typeface="Cambria Math" panose="02040503050406030204" pitchFamily="18" charset="0"/>
                              <a:ea typeface="Cambria Math" panose="02040503050406030204" pitchFamily="18" charset="0"/>
                            </a:rPr>
                          </m:ctrlPr>
                        </m:naryPr>
                        <m:sub>
                          <m:r>
                            <m:rPr>
                              <m:brk m:alnAt="23"/>
                            </m:rPr>
                            <a:rPr kumimoji="1" lang="en-US" altLang="zh-TW" b="0" i="1" smtClean="0">
                              <a:latin typeface="Cambria Math" panose="02040503050406030204" pitchFamily="18" charset="0"/>
                              <a:ea typeface="Cambria Math" panose="02040503050406030204" pitchFamily="18" charset="0"/>
                            </a:rPr>
                            <m:t>𝑗</m:t>
                          </m:r>
                          <m:r>
                            <a:rPr kumimoji="1" lang="en-US" altLang="zh-TW" b="0" i="1" smtClean="0">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b="0" i="1" smtClean="0">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b="0" i="1" smtClean="0">
                                  <a:latin typeface="Cambria Math" panose="02040503050406030204" pitchFamily="18" charset="0"/>
                                  <a:ea typeface="Cambria Math" panose="02040503050406030204" pitchFamily="18" charset="0"/>
                                </a:rPr>
                                <m:t>𝑖𝑗</m:t>
                              </m:r>
                            </m:sub>
                          </m:sSub>
                          <m:sSub>
                            <m:sSubPr>
                              <m:ctrlPr>
                                <a:rPr kumimoji="1" lang="en-US" altLang="zh-TW" i="1">
                                  <a:latin typeface="Cambria Math" panose="02040503050406030204" pitchFamily="18" charset="0"/>
                                  <a:ea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nary>
                      <m:r>
                        <a:rPr kumimoji="1" lang="en-US" altLang="zh-TW" b="0" i="1" smtClean="0">
                          <a:latin typeface="Cambria Math" panose="02040503050406030204" pitchFamily="18" charset="0"/>
                          <a:ea typeface="Cambria Math" panose="02040503050406030204" pitchFamily="18" charset="0"/>
                        </a:rPr>
                        <m:t>]</m:t>
                      </m:r>
                    </m:oMath>
                  </m:oMathPara>
                </a14:m>
                <a:endParaRPr kumimoji="1" lang="en-US" altLang="zh-TW" dirty="0"/>
              </a:p>
            </p:txBody>
          </p:sp>
        </mc:Choice>
        <mc:Fallback>
          <p:sp>
            <p:nvSpPr>
              <p:cNvPr id="3" name="內容版面配置區 2">
                <a:extLst>
                  <a:ext uri="{FF2B5EF4-FFF2-40B4-BE49-F238E27FC236}">
                    <a16:creationId xmlns:a16="http://schemas.microsoft.com/office/drawing/2014/main" id="{88A91E86-E105-395F-00EB-9FA85C12DD68}"/>
                  </a:ext>
                </a:extLst>
              </p:cNvPr>
              <p:cNvSpPr>
                <a:spLocks noGrp="1" noRot="1" noChangeAspect="1" noMove="1" noResize="1" noEditPoints="1" noAdjustHandles="1" noChangeArrowheads="1" noChangeShapeType="1" noTextEdit="1"/>
              </p:cNvSpPr>
              <p:nvPr>
                <p:ph idx="1"/>
              </p:nvPr>
            </p:nvSpPr>
            <p:spPr>
              <a:xfrm>
                <a:off x="1097280" y="2108201"/>
                <a:ext cx="10058400" cy="4072680"/>
              </a:xfrm>
              <a:blipFill>
                <a:blip r:embed="rId2"/>
                <a:stretch>
                  <a:fillRect l="-1009" t="-1246" r="-2018" b="-4081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9A5AF8C-89EF-B301-1691-D29601254F7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AC29791-BA2D-7950-4AAC-407051FAE98A}"/>
              </a:ext>
            </a:extLst>
          </p:cNvPr>
          <p:cNvSpPr>
            <a:spLocks noGrp="1"/>
          </p:cNvSpPr>
          <p:nvPr>
            <p:ph type="sldNum" sz="quarter" idx="12"/>
          </p:nvPr>
        </p:nvSpPr>
        <p:spPr/>
        <p:txBody>
          <a:bodyPr/>
          <a:lstStyle/>
          <a:p>
            <a:r>
              <a:rPr lang="en-US" altLang="zh-TW" dirty="0"/>
              <a:t>Deep Learning</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7CB97EC-CABB-29B3-E650-765B38D27762}"/>
                  </a:ext>
                </a:extLst>
              </p:cNvPr>
              <p:cNvSpPr txBox="1"/>
              <p:nvPr/>
            </p:nvSpPr>
            <p:spPr>
              <a:xfrm>
                <a:off x="8650147" y="4144541"/>
                <a:ext cx="3456971" cy="213827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TW" altLang="en-US" dirty="0"/>
                  <a:t>*</a:t>
                </a:r>
                <a:r>
                  <a:rPr kumimoji="1" lang="en-US" altLang="zh-TW" dirty="0"/>
                  <a:t>.</a:t>
                </a:r>
                <a:r>
                  <a:rPr kumimoji="1" lang="zh-TW" altLang="en-US" dirty="0"/>
                  <a:t> 期望值運算規則：</a:t>
                </a:r>
                <a:endParaRPr kumimoji="1" lang="en-US" altLang="zh-TW" dirty="0"/>
              </a:p>
              <a:p>
                <a:pPr marL="342900" indent="-342900">
                  <a:buFont typeface="+mj-lt"/>
                  <a:buAutoNum type="arabicPeriod"/>
                </a:pPr>
                <a14:m>
                  <m:oMath xmlns:m="http://schemas.openxmlformats.org/officeDocument/2006/math">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𝑘</m:t>
                        </m:r>
                      </m:e>
                    </m:d>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𝑘</m:t>
                    </m:r>
                  </m:oMath>
                </a14:m>
                <a:endParaRPr kumimoji="1" lang="en-US" altLang="zh-TW" dirty="0"/>
              </a:p>
              <a:p>
                <a:pPr marL="342900" indent="-342900">
                  <a:buFont typeface="+mj-lt"/>
                  <a:buAutoNum type="arabicPeriod"/>
                </a:pPr>
                <a14:m>
                  <m:oMath xmlns:m="http://schemas.openxmlformats.org/officeDocument/2006/math">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ea typeface="Cambria Math" panose="02040503050406030204" pitchFamily="18" charset="0"/>
                          </a:rPr>
                          <m:t>𝑘</m:t>
                        </m:r>
                        <m:r>
                          <a:rPr kumimoji="1" lang="zh-TW" altLang="en-US"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𝑔</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𝑥</m:t>
                        </m:r>
                        <m:r>
                          <a:rPr kumimoji="1" lang="en-US" altLang="zh-TW" b="0" i="1" smtClean="0">
                            <a:latin typeface="Cambria Math" panose="02040503050406030204" pitchFamily="18" charset="0"/>
                            <a:ea typeface="Cambria Math" panose="02040503050406030204" pitchFamily="18" charset="0"/>
                          </a:rPr>
                          <m:t>]</m:t>
                        </m:r>
                      </m:e>
                    </m:d>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𝑔</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e>
                    </m:d>
                  </m:oMath>
                </a14:m>
                <a:endParaRPr kumimoji="1" lang="en-US" altLang="zh-TW" b="0" dirty="0">
                  <a:ea typeface="Cambria Math" panose="02040503050406030204" pitchFamily="18" charset="0"/>
                </a:endParaRPr>
              </a:p>
              <a:p>
                <a:pPr marL="342900" indent="-342900">
                  <a:buFont typeface="+mj-lt"/>
                  <a:buAutoNum type="arabicPeriod"/>
                </a:pPr>
                <a14:m>
                  <m:oMath xmlns:m="http://schemas.openxmlformats.org/officeDocument/2006/math">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𝑓</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𝑔</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e>
                    </m:d>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𝑓</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e>
                    </m:d>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𝑔</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𝑥</m:t>
                    </m:r>
                    <m:r>
                      <a:rPr kumimoji="1" lang="en-US" altLang="zh-TW" b="0" i="1" smtClean="0">
                        <a:latin typeface="Cambria Math" panose="02040503050406030204" pitchFamily="18" charset="0"/>
                        <a:ea typeface="Cambria Math" panose="02040503050406030204" pitchFamily="18" charset="0"/>
                      </a:rPr>
                      <m:t>]]</m:t>
                    </m:r>
                  </m:oMath>
                </a14:m>
                <a:endParaRPr kumimoji="1" lang="en-US" altLang="zh-TW" dirty="0"/>
              </a:p>
              <a:p>
                <a:pPr marL="342900" indent="-342900">
                  <a:buFont typeface="+mj-lt"/>
                  <a:buAutoNum type="arabicPeriod"/>
                </a:pPr>
                <a14:m>
                  <m:oMath xmlns:m="http://schemas.openxmlformats.org/officeDocument/2006/math">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𝑓</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r>
                          <a:rPr kumimoji="1" lang="zh-TW" altLang="en-US"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𝑔</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𝑦</m:t>
                            </m:r>
                          </m:e>
                        </m:d>
                      </m:e>
                    </m:d>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𝑓</m:t>
                        </m:r>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𝑥</m:t>
                            </m:r>
                          </m:e>
                        </m:d>
                      </m:e>
                    </m:d>
                    <m:r>
                      <a:rPr kumimoji="1" lang="zh-TW" altLang="en-US"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𝑔</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𝑦</m:t>
                    </m:r>
                    <m:r>
                      <a:rPr kumimoji="1" lang="en-US" altLang="zh-TW" b="0" i="1" smtClean="0">
                        <a:latin typeface="Cambria Math" panose="02040503050406030204" pitchFamily="18" charset="0"/>
                        <a:ea typeface="Cambria Math" panose="02040503050406030204" pitchFamily="18" charset="0"/>
                      </a:rPr>
                      <m:t>]]</m:t>
                    </m:r>
                  </m:oMath>
                </a14:m>
                <a:r>
                  <a:rPr kumimoji="1" lang="zh-TW" altLang="en-US" dirty="0"/>
                  <a:t> </a:t>
                </a:r>
                <a:r>
                  <a:rPr kumimoji="1" lang="en-US" altLang="zh-TW" dirty="0"/>
                  <a:t>if</a:t>
                </a:r>
                <a:r>
                  <a:rPr kumimoji="1" lang="zh-TW" altLang="en-US" dirty="0"/>
                  <a:t> </a:t>
                </a:r>
                <a14:m>
                  <m:oMath xmlns:m="http://schemas.openxmlformats.org/officeDocument/2006/math">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𝑦</m:t>
                    </m:r>
                  </m:oMath>
                </a14:m>
                <a:r>
                  <a:rPr kumimoji="1" lang="zh-TW" altLang="en-US" dirty="0"/>
                  <a:t> </a:t>
                </a:r>
                <a:r>
                  <a:rPr kumimoji="1" lang="en-US" altLang="zh-TW" dirty="0"/>
                  <a:t>are</a:t>
                </a:r>
                <a:r>
                  <a:rPr kumimoji="1" lang="zh-TW" altLang="en-US" dirty="0"/>
                  <a:t> </a:t>
                </a:r>
                <a:r>
                  <a:rPr kumimoji="1" lang="en-US" altLang="zh-TW" dirty="0"/>
                  <a:t>independent</a:t>
                </a:r>
              </a:p>
            </p:txBody>
          </p:sp>
        </mc:Choice>
        <mc:Fallback xmlns="">
          <p:sp>
            <p:nvSpPr>
              <p:cNvPr id="6" name="文字方塊 5">
                <a:extLst>
                  <a:ext uri="{FF2B5EF4-FFF2-40B4-BE49-F238E27FC236}">
                    <a16:creationId xmlns:a16="http://schemas.microsoft.com/office/drawing/2014/main" id="{27CB97EC-CABB-29B3-E650-765B38D27762}"/>
                  </a:ext>
                </a:extLst>
              </p:cNvPr>
              <p:cNvSpPr txBox="1">
                <a:spLocks noRot="1" noChangeAspect="1" noMove="1" noResize="1" noEditPoints="1" noAdjustHandles="1" noChangeArrowheads="1" noChangeShapeType="1" noTextEdit="1"/>
              </p:cNvSpPr>
              <p:nvPr/>
            </p:nvSpPr>
            <p:spPr>
              <a:xfrm>
                <a:off x="8650147" y="4144541"/>
                <a:ext cx="3456971" cy="2138278"/>
              </a:xfrm>
              <a:prstGeom prst="rect">
                <a:avLst/>
              </a:prstGeom>
              <a:blipFill>
                <a:blip r:embed="rId3"/>
                <a:stretch>
                  <a:fillRect l="-1091" t="-585" b="-29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31791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28CFE4-ECFB-B05A-B297-2F58F9AF82D1}"/>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6987F58-3B08-1F21-A84E-80B87234B797}"/>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kumimoji="1" lang="en-US" altLang="zh-TW" i="1" smtClean="0">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𝛽</m:t>
                              </m:r>
                            </m:e>
                            <m:sub>
                              <m:r>
                                <a:rPr kumimoji="1" lang="en-US" altLang="zh-TW" i="1">
                                  <a:latin typeface="Cambria Math" panose="02040503050406030204" pitchFamily="18" charset="0"/>
                                  <a:ea typeface="Cambria Math" panose="02040503050406030204" pitchFamily="18" charset="0"/>
                                </a:rPr>
                                <m:t>𝑖</m:t>
                              </m:r>
                            </m:sub>
                          </m:sSub>
                          <m:r>
                            <a:rPr kumimoji="1" lang="en-US" altLang="zh-TW" i="1">
                              <a:latin typeface="Cambria Math" panose="02040503050406030204" pitchFamily="18" charset="0"/>
                              <a:ea typeface="Cambria Math" panose="02040503050406030204" pitchFamily="18" charset="0"/>
                            </a:rPr>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nary>
                        </m:e>
                      </m:d>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𝛽</m:t>
                              </m:r>
                            </m:e>
                            <m:sub>
                              <m:r>
                                <a:rPr kumimoji="1" lang="en-US" altLang="zh-TW" b="0" i="1" smtClean="0">
                                  <a:latin typeface="Cambria Math" panose="02040503050406030204" pitchFamily="18" charset="0"/>
                                  <a:ea typeface="Cambria Math" panose="02040503050406030204" pitchFamily="18" charset="0"/>
                                </a:rPr>
                                <m:t>𝑖</m:t>
                              </m:r>
                            </m:sub>
                          </m:sSub>
                        </m:e>
                      </m:d>
                      <m:r>
                        <a:rPr kumimoji="1" lang="en-US" altLang="zh-TW" b="0" i="1" smtClean="0">
                          <a:latin typeface="Cambria Math" panose="02040503050406030204" pitchFamily="18" charset="0"/>
                          <a:ea typeface="Cambria Math" panose="02040503050406030204" pitchFamily="18" charset="0"/>
                        </a:rPr>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r>
                            <a:rPr kumimoji="1" lang="en-US" altLang="zh-TW" b="0" i="1" smtClean="0">
                              <a:latin typeface="Cambria Math" panose="02040503050406030204" pitchFamily="18" charset="0"/>
                              <a:ea typeface="Cambria Math" panose="02040503050406030204" pitchFamily="18" charset="0"/>
                            </a:rPr>
                            <m:t>]</m:t>
                          </m:r>
                        </m:e>
                      </m:nary>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=0+</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r>
                            <a:rPr kumimoji="1" lang="en-US" altLang="zh-TW" b="0"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r>
                            <a:rPr kumimoji="1" lang="en-US" altLang="zh-TW" i="1">
                              <a:latin typeface="Cambria Math" panose="02040503050406030204" pitchFamily="18" charset="0"/>
                              <a:ea typeface="Cambria Math" panose="02040503050406030204" pitchFamily="18" charset="0"/>
                            </a:rPr>
                            <m:t>]</m:t>
                          </m:r>
                        </m:e>
                      </m:nary>
                      <m:r>
                        <a:rPr kumimoji="1" lang="en-US" altLang="zh-TW" b="0" i="1" smtClean="0">
                          <a:latin typeface="Cambria Math" panose="02040503050406030204" pitchFamily="18" charset="0"/>
                          <a:ea typeface="Cambria Math" panose="02040503050406030204" pitchFamily="18" charset="0"/>
                        </a:rPr>
                        <m:t>=0+</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r>
                            <a:rPr kumimoji="1" lang="en-US" altLang="zh-TW" b="0" i="1" smtClean="0">
                              <a:latin typeface="Cambria Math" panose="02040503050406030204" pitchFamily="18" charset="0"/>
                            </a:rPr>
                            <m:t>0∗</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r>
                            <a:rPr kumimoji="1" lang="en-US" altLang="zh-TW" i="1">
                              <a:latin typeface="Cambria Math" panose="02040503050406030204" pitchFamily="18" charset="0"/>
                              <a:ea typeface="Cambria Math" panose="02040503050406030204" pitchFamily="18" charset="0"/>
                            </a:rPr>
                            <m:t>]</m:t>
                          </m:r>
                        </m:e>
                      </m:nary>
                      <m:r>
                        <a:rPr kumimoji="1" lang="en-US" altLang="zh-TW" b="0" i="1" smtClean="0">
                          <a:latin typeface="Cambria Math" panose="02040503050406030204" pitchFamily="18" charset="0"/>
                          <a:ea typeface="Cambria Math" panose="02040503050406030204" pitchFamily="18" charset="0"/>
                        </a:rPr>
                        <m:t>=0</m:t>
                      </m:r>
                    </m:oMath>
                  </m:oMathPara>
                </a14:m>
                <a:endParaRPr kumimoji="1" lang="zh-TW" altLang="en-US" dirty="0"/>
              </a:p>
            </p:txBody>
          </p:sp>
        </mc:Choice>
        <mc:Fallback>
          <p:sp>
            <p:nvSpPr>
              <p:cNvPr id="3" name="內容版面配置區 2">
                <a:extLst>
                  <a:ext uri="{FF2B5EF4-FFF2-40B4-BE49-F238E27FC236}">
                    <a16:creationId xmlns:a16="http://schemas.microsoft.com/office/drawing/2014/main" id="{96987F58-3B08-1F21-A84E-80B87234B797}"/>
                  </a:ext>
                </a:extLst>
              </p:cNvPr>
              <p:cNvSpPr>
                <a:spLocks noGrp="1" noRot="1" noChangeAspect="1" noMove="1" noResize="1" noEditPoints="1" noAdjustHandles="1" noChangeArrowheads="1" noChangeShapeType="1" noTextEdit="1"/>
              </p:cNvSpPr>
              <p:nvPr>
                <p:ph idx="1"/>
              </p:nvPr>
            </p:nvSpPr>
            <p:spPr>
              <a:blipFill>
                <a:blip r:embed="rId2"/>
                <a:stretch>
                  <a:fillRect l="-3279" t="-29630" b="-3838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D742541-BCD9-F84A-5A2C-0F5B9803CC5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2F5D480-A292-0D63-16D3-F75101B4A72C}"/>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285023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940334-F1F5-7EFF-8CCE-4C948877364C}"/>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A25F13A-D3ED-D2D4-4CA0-7CCC026F0CF6}"/>
                  </a:ext>
                </a:extLst>
              </p:cNvPr>
              <p:cNvSpPr>
                <a:spLocks noGrp="1"/>
              </p:cNvSpPr>
              <p:nvPr>
                <p:ph idx="1"/>
              </p:nvPr>
            </p:nvSpPr>
            <p:spPr/>
            <p:txBody>
              <a:bodyPr/>
              <a:lstStyle/>
              <a:p>
                <a:r>
                  <a:rPr kumimoji="1" lang="zh-TW" altLang="en-US" dirty="0">
                    <a:latin typeface="Cambria Math" panose="02040503050406030204" pitchFamily="18" charset="0"/>
                  </a:rPr>
                  <a:t>接著，我們可計算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sSubSup>
                              <m:sSubSupPr>
                                <m:ctrlPr>
                                  <a:rPr kumimoji="1" lang="en-US" altLang="zh-TW" i="1">
                                    <a:latin typeface="Cambria Math" panose="02040503050406030204" pitchFamily="18" charset="0"/>
                                  </a:rPr>
                                </m:ctrlPr>
                              </m:sSubSupPr>
                              <m:e>
                                <m:r>
                                  <a:rPr kumimoji="1" lang="en-US" altLang="zh-TW" i="1">
                                    <a:latin typeface="Cambria Math" panose="02040503050406030204" pitchFamily="18" charset="0"/>
                                  </a:rPr>
                                  <m:t>𝑓</m:t>
                                </m:r>
                              </m:e>
                              <m:sub>
                                <m:r>
                                  <a:rPr kumimoji="1" lang="en-US" altLang="zh-TW" i="1">
                                    <a:latin typeface="Cambria Math" panose="02040503050406030204" pitchFamily="18" charset="0"/>
                                  </a:rPr>
                                  <m:t>𝑖</m:t>
                                </m:r>
                              </m:sub>
                              <m:sup>
                                <m:r>
                                  <a:rPr kumimoji="1" lang="en-US" altLang="zh-TW" i="1">
                                    <a:latin typeface="Cambria Math" panose="02040503050406030204" pitchFamily="18" charset="0"/>
                                  </a:rPr>
                                  <m:t>′</m:t>
                                </m:r>
                              </m:sup>
                            </m:sSubSup>
                          </m:sub>
                        </m:sSub>
                      </m:e>
                      <m:sup>
                        <m:r>
                          <a:rPr kumimoji="1" lang="en-US" altLang="zh-TW" i="1">
                            <a:latin typeface="Cambria Math" panose="02040503050406030204" pitchFamily="18" charset="0"/>
                          </a:rPr>
                          <m:t>2</m:t>
                        </m:r>
                      </m:sup>
                    </m:sSup>
                    <m:r>
                      <a:rPr kumimoji="1" lang="zh-TW" altLang="en-US" b="0" i="1" smtClean="0">
                        <a:latin typeface="Cambria Math" panose="02040503050406030204" pitchFamily="18" charset="0"/>
                      </a:rPr>
                      <m:t> </m:t>
                    </m:r>
                  </m:oMath>
                </a14:m>
                <a:r>
                  <a:rPr kumimoji="1" lang="zh-TW" altLang="en-US" b="0" dirty="0">
                    <a:latin typeface="Cambria Math" panose="02040503050406030204" pitchFamily="18" charset="0"/>
                  </a:rPr>
                  <a:t> 的值：</a:t>
                </a:r>
                <a:endParaRPr kumimoji="1" lang="en-US" altLang="zh-TW"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p>
                        <m:sSupPr>
                          <m:ctrlPr>
                            <a:rPr kumimoji="1" lang="en-US" altLang="zh-TW" i="1" smtClean="0">
                              <a:latin typeface="Cambria Math" panose="02040503050406030204" pitchFamily="18" charset="0"/>
                            </a:rPr>
                          </m:ctrlPr>
                        </m:sSupPr>
                        <m:e>
                          <m:sSub>
                            <m:sSubPr>
                              <m:ctrlPr>
                                <a:rPr kumimoji="1" lang="en-US" altLang="zh-TW" i="1" smtClean="0">
                                  <a:latin typeface="Cambria Math" panose="02040503050406030204" pitchFamily="18" charset="0"/>
                                </a:rPr>
                              </m:ctrlPr>
                            </m:sSubPr>
                            <m:e>
                              <m:r>
                                <a:rPr kumimoji="1" lang="en-US" altLang="zh-TW" i="1" smtClean="0">
                                  <a:latin typeface="Cambria Math" panose="02040503050406030204" pitchFamily="18" charset="0"/>
                                  <a:ea typeface="Cambria Math" panose="02040503050406030204" pitchFamily="18" charset="0"/>
                                </a:rPr>
                                <m:t>𝜎</m:t>
                              </m:r>
                            </m:e>
                            <m:sub>
                              <m:sSubSup>
                                <m:sSubSupPr>
                                  <m:ctrlPr>
                                    <a:rPr kumimoji="1" lang="en-US" altLang="zh-TW" i="1">
                                      <a:latin typeface="Cambria Math" panose="02040503050406030204" pitchFamily="18" charset="0"/>
                                    </a:rPr>
                                  </m:ctrlPr>
                                </m:sSubSupPr>
                                <m:e>
                                  <m:r>
                                    <a:rPr kumimoji="1" lang="en-US" altLang="zh-TW" i="1">
                                      <a:latin typeface="Cambria Math" panose="02040503050406030204" pitchFamily="18" charset="0"/>
                                    </a:rPr>
                                    <m:t>𝑓</m:t>
                                  </m:r>
                                </m:e>
                                <m:sub>
                                  <m:r>
                                    <a:rPr kumimoji="1" lang="en-US" altLang="zh-TW" i="1">
                                      <a:latin typeface="Cambria Math" panose="02040503050406030204" pitchFamily="18" charset="0"/>
                                    </a:rPr>
                                    <m:t>𝑖</m:t>
                                  </m:r>
                                </m:sub>
                                <m:sup>
                                  <m:r>
                                    <a:rPr kumimoji="1" lang="en-US" altLang="zh-TW" i="1">
                                      <a:latin typeface="Cambria Math" panose="02040503050406030204" pitchFamily="18" charset="0"/>
                                    </a:rPr>
                                    <m:t>′</m:t>
                                  </m:r>
                                </m:sup>
                              </m:sSubSup>
                            </m:sub>
                          </m:sSub>
                        </m:e>
                        <m:sup>
                          <m:r>
                            <a:rPr kumimoji="1" lang="en-US" altLang="zh-TW" b="0" i="1" smtClean="0">
                              <a:latin typeface="Cambria Math" panose="02040503050406030204" pitchFamily="18" charset="0"/>
                            </a:rPr>
                            <m:t>2</m:t>
                          </m:r>
                        </m:sup>
                      </m:sSup>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rPr>
                          </m:ctrlPr>
                        </m:dPr>
                        <m:e>
                          <m:sSup>
                            <m:sSupPr>
                              <m:ctrlPr>
                                <a:rPr kumimoji="1" lang="en-US" altLang="zh-TW" i="1" smtClean="0">
                                  <a:latin typeface="Cambria Math" panose="02040503050406030204" pitchFamily="18" charset="0"/>
                                </a:rPr>
                              </m:ctrlPr>
                            </m:sSupPr>
                            <m:e>
                              <m:sSubSup>
                                <m:sSubSupPr>
                                  <m:ctrlPr>
                                    <a:rPr kumimoji="1" lang="en-US" altLang="zh-TW" i="1">
                                      <a:latin typeface="Cambria Math" panose="02040503050406030204" pitchFamily="18" charset="0"/>
                                    </a:rPr>
                                  </m:ctrlPr>
                                </m:sSubSupPr>
                                <m:e>
                                  <m:r>
                                    <a:rPr kumimoji="1" lang="en-US" altLang="zh-TW" i="1">
                                      <a:latin typeface="Cambria Math" panose="02040503050406030204" pitchFamily="18" charset="0"/>
                                    </a:rPr>
                                    <m:t>𝑓</m:t>
                                  </m:r>
                                </m:e>
                                <m:sub>
                                  <m:r>
                                    <a:rPr kumimoji="1" lang="en-US" altLang="zh-TW" i="1">
                                      <a:latin typeface="Cambria Math" panose="02040503050406030204" pitchFamily="18" charset="0"/>
                                    </a:rPr>
                                    <m:t>𝑖</m:t>
                                  </m:r>
                                </m:sub>
                                <m:sup>
                                  <m:r>
                                    <a:rPr kumimoji="1" lang="en-US" altLang="zh-TW" i="1">
                                      <a:latin typeface="Cambria Math" panose="02040503050406030204" pitchFamily="18" charset="0"/>
                                    </a:rPr>
                                    <m:t>′</m:t>
                                  </m:r>
                                </m:sup>
                              </m:sSubSup>
                            </m:e>
                            <m:sup>
                              <m:r>
                                <a:rPr kumimoji="1" lang="en-US" altLang="zh-TW" b="0" i="1" smtClean="0">
                                  <a:latin typeface="Cambria Math" panose="02040503050406030204" pitchFamily="18" charset="0"/>
                                </a:rPr>
                                <m:t>2</m:t>
                              </m:r>
                            </m:sup>
                          </m:sSup>
                        </m:e>
                      </m:d>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rPr>
                              </m:ctrlPr>
                            </m:dPr>
                            <m:e>
                              <m:sSubSup>
                                <m:sSubSupPr>
                                  <m:ctrlPr>
                                    <a:rPr kumimoji="1" lang="en-US" altLang="zh-TW" i="1">
                                      <a:latin typeface="Cambria Math" panose="02040503050406030204" pitchFamily="18" charset="0"/>
                                    </a:rPr>
                                  </m:ctrlPr>
                                </m:sSubSupPr>
                                <m:e>
                                  <m:r>
                                    <a:rPr kumimoji="1" lang="en-US" altLang="zh-TW" i="1">
                                      <a:latin typeface="Cambria Math" panose="02040503050406030204" pitchFamily="18" charset="0"/>
                                    </a:rPr>
                                    <m:t>𝑓</m:t>
                                  </m:r>
                                </m:e>
                                <m:sub>
                                  <m:r>
                                    <a:rPr kumimoji="1" lang="en-US" altLang="zh-TW" i="1">
                                      <a:latin typeface="Cambria Math" panose="02040503050406030204" pitchFamily="18" charset="0"/>
                                    </a:rPr>
                                    <m:t>𝑖</m:t>
                                  </m:r>
                                </m:sub>
                                <m:sup>
                                  <m:r>
                                    <a:rPr kumimoji="1" lang="en-US" altLang="zh-TW" i="1">
                                      <a:latin typeface="Cambria Math" panose="02040503050406030204" pitchFamily="18" charset="0"/>
                                    </a:rPr>
                                    <m:t>′</m:t>
                                  </m:r>
                                </m:sup>
                              </m:sSubSup>
                            </m:e>
                          </m:d>
                        </m:e>
                        <m:sup>
                          <m:r>
                            <a:rPr kumimoji="1" lang="en-US" altLang="zh-TW" b="0" i="1" smtClean="0">
                              <a:latin typeface="Cambria Math" panose="02040503050406030204" pitchFamily="18" charset="0"/>
                            </a:rPr>
                            <m:t>2</m:t>
                          </m:r>
                        </m:sup>
                      </m:sSup>
                    </m:oMath>
                  </m:oMathPara>
                </a14:m>
                <a:endParaRPr kumimoji="1"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b="0" i="1" smtClean="0">
                              <a:latin typeface="Cambria Math" panose="02040503050406030204" pitchFamily="18" charset="0"/>
                              <a:ea typeface="Cambria Math" panose="02040503050406030204" pitchFamily="18" charset="0"/>
                            </a:rPr>
                          </m:ctrlPr>
                        </m:dPr>
                        <m:e>
                          <m:sSup>
                            <m:sSupPr>
                              <m:ctrlPr>
                                <a:rPr kumimoji="1" lang="en-US" altLang="zh-TW" b="0" i="1" smtClean="0">
                                  <a:latin typeface="Cambria Math" panose="02040503050406030204" pitchFamily="18" charset="0"/>
                                  <a:ea typeface="Cambria Math" panose="02040503050406030204" pitchFamily="18" charset="0"/>
                                </a:rPr>
                              </m:ctrlPr>
                            </m:sSupPr>
                            <m:e>
                              <m:d>
                                <m:dPr>
                                  <m:ctrlPr>
                                    <a:rPr kumimoji="1" lang="en-US" altLang="zh-TW" b="0" i="1" smtClean="0">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𝛽</m:t>
                                      </m:r>
                                    </m:e>
                                    <m:sub>
                                      <m:r>
                                        <a:rPr kumimoji="1" lang="en-US" altLang="zh-TW" b="0" i="1" smtClean="0">
                                          <a:latin typeface="Cambria Math" panose="02040503050406030204" pitchFamily="18" charset="0"/>
                                          <a:ea typeface="Cambria Math" panose="02040503050406030204" pitchFamily="18" charset="0"/>
                                        </a:rPr>
                                        <m:t>𝑖</m:t>
                                      </m:r>
                                    </m:sub>
                                  </m:sSub>
                                  <m:r>
                                    <a:rPr kumimoji="1" lang="en-US" altLang="zh-TW" i="1">
                                      <a:latin typeface="Cambria Math" panose="02040503050406030204" pitchFamily="18" charset="0"/>
                                      <a:ea typeface="Cambria Math" panose="02040503050406030204" pitchFamily="18" charset="0"/>
                                    </a:rPr>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nary>
                                </m:e>
                              </m:d>
                            </m:e>
                            <m:sup>
                              <m:r>
                                <a:rPr kumimoji="1" lang="en-US" altLang="zh-TW" b="0" i="1" smtClean="0">
                                  <a:latin typeface="Cambria Math" panose="02040503050406030204" pitchFamily="18" charset="0"/>
                                  <a:ea typeface="Cambria Math" panose="02040503050406030204" pitchFamily="18" charset="0"/>
                                </a:rPr>
                                <m:t>2</m:t>
                              </m:r>
                            </m:sup>
                          </m:sSup>
                        </m:e>
                      </m:d>
                      <m:r>
                        <a:rPr kumimoji="1" lang="en-US" altLang="zh-TW" b="0" i="1" smtClean="0">
                          <a:latin typeface="Cambria Math" panose="02040503050406030204" pitchFamily="18" charset="0"/>
                          <a:ea typeface="Cambria Math" panose="02040503050406030204" pitchFamily="18" charset="0"/>
                        </a:rPr>
                        <m:t>−0=</m:t>
                      </m:r>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ea typeface="Cambria Math" panose="02040503050406030204" pitchFamily="18" charset="0"/>
                            </a:rPr>
                          </m:ctrlPr>
                        </m:dPr>
                        <m:e>
                          <m:sSup>
                            <m:sSupPr>
                              <m:ctrlPr>
                                <a:rPr kumimoji="1" lang="en-US" altLang="zh-TW" i="1">
                                  <a:latin typeface="Cambria Math" panose="02040503050406030204" pitchFamily="18" charset="0"/>
                                  <a:ea typeface="Cambria Math" panose="02040503050406030204" pitchFamily="18" charset="0"/>
                                </a:rPr>
                              </m:ctrlPr>
                            </m:sSupPr>
                            <m:e>
                              <m:d>
                                <m:dPr>
                                  <m:ctrlPr>
                                    <a:rPr kumimoji="1" lang="en-US" altLang="zh-TW" i="1">
                                      <a:latin typeface="Cambria Math" panose="02040503050406030204" pitchFamily="18" charset="0"/>
                                      <a:ea typeface="Cambria Math" panose="02040503050406030204" pitchFamily="18" charset="0"/>
                                    </a:rPr>
                                  </m:ctrlPr>
                                </m:dPr>
                                <m:e>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nary>
                                </m:e>
                              </m:d>
                            </m:e>
                            <m:sup>
                              <m:r>
                                <a:rPr kumimoji="1" lang="en-US" altLang="zh-TW" i="1">
                                  <a:latin typeface="Cambria Math" panose="02040503050406030204" pitchFamily="18" charset="0"/>
                                  <a:ea typeface="Cambria Math" panose="02040503050406030204" pitchFamily="18" charset="0"/>
                                </a:rPr>
                                <m:t>2</m:t>
                              </m:r>
                            </m:sup>
                          </m:sSup>
                        </m:e>
                      </m:d>
                      <m:r>
                        <a:rPr kumimoji="1" lang="en-US" altLang="zh-TW" i="1">
                          <a:latin typeface="Cambria Math" panose="02040503050406030204" pitchFamily="18" charset="0"/>
                          <a:ea typeface="Cambria Math" panose="02040503050406030204" pitchFamily="18" charset="0"/>
                        </a:rPr>
                        <m:t>=</m:t>
                      </m:r>
                      <m:nary>
                        <m:naryPr>
                          <m:chr m:val="∑"/>
                          <m:ctrlPr>
                            <a:rPr kumimoji="1" lang="en-US" altLang="zh-TW" i="1" smtClean="0">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sup>
                              <m:r>
                                <a:rPr kumimoji="1" lang="en-US" altLang="zh-TW" b="0" i="1" smtClean="0">
                                  <a:latin typeface="Cambria Math" panose="02040503050406030204" pitchFamily="18" charset="0"/>
                                  <a:ea typeface="Cambria Math" panose="02040503050406030204" pitchFamily="18" charset="0"/>
                                </a:rPr>
                                <m:t>2</m:t>
                              </m:r>
                            </m:sup>
                          </m:sSup>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e>
                      </m:nary>
                    </m:oMath>
                  </m:oMathPara>
                </a14:m>
                <a:endParaRPr kumimoji="1" lang="zh-TW" altLang="en-US" dirty="0"/>
              </a:p>
            </p:txBody>
          </p:sp>
        </mc:Choice>
        <mc:Fallback>
          <p:sp>
            <p:nvSpPr>
              <p:cNvPr id="3" name="內容版面配置區 2">
                <a:extLst>
                  <a:ext uri="{FF2B5EF4-FFF2-40B4-BE49-F238E27FC236}">
                    <a16:creationId xmlns:a16="http://schemas.microsoft.com/office/drawing/2014/main" id="{8A25F13A-D3ED-D2D4-4CA0-7CCC026F0CF6}"/>
                  </a:ext>
                </a:extLst>
              </p:cNvPr>
              <p:cNvSpPr>
                <a:spLocks noGrp="1" noRot="1" noChangeAspect="1" noMove="1" noResize="1" noEditPoints="1" noAdjustHandles="1" noChangeArrowheads="1" noChangeShapeType="1" noTextEdit="1"/>
              </p:cNvSpPr>
              <p:nvPr>
                <p:ph idx="1"/>
              </p:nvPr>
            </p:nvSpPr>
            <p:spPr>
              <a:blipFill>
                <a:blip r:embed="rId2"/>
                <a:stretch>
                  <a:fillRect l="-1009" t="-1347" b="-909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39628ACE-BD7C-6432-7013-D42AFC61800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2D42267-EC50-E0A9-E2B3-C0348C00D249}"/>
              </a:ext>
            </a:extLst>
          </p:cNvPr>
          <p:cNvSpPr>
            <a:spLocks noGrp="1"/>
          </p:cNvSpPr>
          <p:nvPr>
            <p:ph type="sldNum" sz="quarter" idx="12"/>
          </p:nvPr>
        </p:nvSpPr>
        <p:spPr/>
        <p:txBody>
          <a:bodyPr/>
          <a:lstStyle/>
          <a:p>
            <a:r>
              <a:rPr lang="en-US" altLang="zh-TW" dirty="0"/>
              <a:t>Deep Learning</a:t>
            </a:r>
          </a:p>
        </p:txBody>
      </p:sp>
      <p:cxnSp>
        <p:nvCxnSpPr>
          <p:cNvPr id="9" name="直線箭頭接點 8">
            <a:extLst>
              <a:ext uri="{FF2B5EF4-FFF2-40B4-BE49-F238E27FC236}">
                <a16:creationId xmlns:a16="http://schemas.microsoft.com/office/drawing/2014/main" id="{537E5409-C0B3-25FB-15F3-0497A2A8D6BF}"/>
              </a:ext>
            </a:extLst>
          </p:cNvPr>
          <p:cNvCxnSpPr>
            <a:cxnSpLocks/>
          </p:cNvCxnSpPr>
          <p:nvPr/>
        </p:nvCxnSpPr>
        <p:spPr>
          <a:xfrm flipV="1">
            <a:off x="8218426" y="4143736"/>
            <a:ext cx="798253" cy="995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2A08D18C-8BDA-D235-D363-AF7D3087DC37}"/>
              </a:ext>
            </a:extLst>
          </p:cNvPr>
          <p:cNvSpPr txBox="1"/>
          <p:nvPr/>
        </p:nvSpPr>
        <p:spPr>
          <a:xfrm>
            <a:off x="7231617" y="5243366"/>
            <a:ext cx="1973617" cy="369332"/>
          </a:xfrm>
          <a:prstGeom prst="rect">
            <a:avLst/>
          </a:prstGeom>
          <a:noFill/>
        </p:spPr>
        <p:txBody>
          <a:bodyPr wrap="none" rtlCol="0">
            <a:spAutoFit/>
          </a:bodyPr>
          <a:lstStyle/>
          <a:p>
            <a:r>
              <a:rPr kumimoji="1" lang="zh-TW" altLang="en-US" dirty="0"/>
              <a:t>期望值運算規則</a:t>
            </a:r>
            <a:r>
              <a:rPr kumimoji="1" lang="en-US" altLang="zh-TW" dirty="0"/>
              <a:t> 4</a:t>
            </a:r>
            <a:endParaRPr kumimoji="1" lang="zh-TW" altLang="en-US" dirty="0"/>
          </a:p>
        </p:txBody>
      </p:sp>
      <p:cxnSp>
        <p:nvCxnSpPr>
          <p:cNvPr id="15" name="直線箭頭接點 14">
            <a:extLst>
              <a:ext uri="{FF2B5EF4-FFF2-40B4-BE49-F238E27FC236}">
                <a16:creationId xmlns:a16="http://schemas.microsoft.com/office/drawing/2014/main" id="{3D5DB847-8E46-AAFA-4F04-72F4542ED718}"/>
              </a:ext>
            </a:extLst>
          </p:cNvPr>
          <p:cNvCxnSpPr>
            <a:cxnSpLocks/>
          </p:cNvCxnSpPr>
          <p:nvPr/>
        </p:nvCxnSpPr>
        <p:spPr>
          <a:xfrm flipH="1">
            <a:off x="4041495" y="2374836"/>
            <a:ext cx="1687973" cy="618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DBBA76FE-3A4E-DEE9-CF8A-CA920A370D66}"/>
              </a:ext>
            </a:extLst>
          </p:cNvPr>
          <p:cNvSpPr txBox="1"/>
          <p:nvPr/>
        </p:nvSpPr>
        <p:spPr>
          <a:xfrm>
            <a:off x="5729468" y="2130440"/>
            <a:ext cx="2659767" cy="369332"/>
          </a:xfrm>
          <a:prstGeom prst="rect">
            <a:avLst/>
          </a:prstGeom>
          <a:noFill/>
        </p:spPr>
        <p:txBody>
          <a:bodyPr wrap="none" rtlCol="0">
            <a:spAutoFit/>
          </a:bodyPr>
          <a:lstStyle/>
          <a:p>
            <a:r>
              <a:rPr kumimoji="1" lang="en-US" altLang="zh-TW" dirty="0"/>
              <a:t>Variance short-cut formula</a:t>
            </a:r>
            <a:endParaRPr kumimoji="1" lang="zh-TW" altLang="en-US" dirty="0"/>
          </a:p>
        </p:txBody>
      </p:sp>
    </p:spTree>
    <p:extLst>
      <p:ext uri="{BB962C8B-B14F-4D97-AF65-F5344CB8AC3E}">
        <p14:creationId xmlns:p14="http://schemas.microsoft.com/office/powerpoint/2010/main" val="1216938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219B8E-6FA4-F848-558B-932E054FE0A5}"/>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2584B6A-2DEB-37D6-839B-D95E53D03CC7}"/>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nary>
                        <m:naryPr>
                          <m:chr m:val="∑"/>
                          <m:ctrlPr>
                            <a:rPr kumimoji="1" lang="en-US" altLang="zh-TW" i="1" smtClean="0">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e>
                          </m:nary>
                        </m:e>
                      </m:nary>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h</m:t>
                                  </m:r>
                                </m:e>
                                <m:sub>
                                  <m:r>
                                    <a:rPr kumimoji="1" lang="en-US" altLang="zh-TW" i="1">
                                      <a:latin typeface="Cambria Math" panose="02040503050406030204" pitchFamily="18" charset="0"/>
                                      <a:ea typeface="Cambria Math" panose="02040503050406030204" pitchFamily="18" charset="0"/>
                                    </a:rPr>
                                    <m:t>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b="0" i="1" smtClean="0">
                              <a:latin typeface="Cambria Math" panose="02040503050406030204" pitchFamily="18" charset="0"/>
                              <a:ea typeface="Cambria Math" panose="02040503050406030204" pitchFamily="18" charset="0"/>
                            </a:rPr>
                            <m:t>]</m:t>
                          </m:r>
                        </m:e>
                      </m:nary>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ea typeface="Cambria Math" panose="02040503050406030204" pitchFamily="18" charset="0"/>
                        </a:rPr>
                        <m:t>=</m:t>
                      </m:r>
                      <m:sSup>
                        <m:sSupPr>
                          <m:ctrlPr>
                            <a:rPr kumimoji="1" lang="en-US" altLang="zh-TW" i="1" smtClean="0">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smtClean="0">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r>
                            <a:rPr kumimoji="1" lang="en-US" altLang="zh-TW" i="1">
                              <a:latin typeface="Cambria Math" panose="02040503050406030204" pitchFamily="18" charset="0"/>
                              <a:ea typeface="Cambria Math" panose="02040503050406030204" pitchFamily="18" charset="0"/>
                            </a:rPr>
                            <m:t>𝔼</m:t>
                          </m:r>
                          <m:r>
                            <a:rPr kumimoji="1" lang="en-US" altLang="zh-TW" b="0" i="1" smtClean="0">
                              <a:latin typeface="Cambria Math" panose="02040503050406030204" pitchFamily="18" charset="0"/>
                              <a:ea typeface="Cambria Math" panose="02040503050406030204" pitchFamily="18" charset="0"/>
                            </a:rPr>
                            <m:t>[</m:t>
                          </m:r>
                          <m:r>
                            <m:rPr>
                              <m:nor/>
                            </m:rPr>
                            <a:rPr kumimoji="1" lang="el-GR" altLang="zh-TW" dirty="0"/>
                            <m:t>​</m:t>
                          </m:r>
                          <m:sSup>
                            <m:sSupPr>
                              <m:ctrlPr>
                                <a:rPr kumimoji="1" lang="el-GR" altLang="zh-TW" i="1" dirty="0">
                                  <a:latin typeface="Cambria Math" panose="02040503050406030204" pitchFamily="18" charset="0"/>
                                </a:rPr>
                              </m:ctrlPr>
                            </m:sSupPr>
                            <m:e>
                              <m:r>
                                <a:rPr kumimoji="1" lang="en-US" altLang="zh-TW" b="0" i="1" dirty="0" smtClean="0">
                                  <a:latin typeface="Cambria Math" panose="02040503050406030204" pitchFamily="18" charset="0"/>
                                </a:rPr>
                                <m:t>𝑅𝑒𝐿𝑈</m:t>
                              </m:r>
                              <m:r>
                                <a:rPr kumimoji="1" lang="en-US" altLang="zh-TW" b="0" i="1" dirty="0" smtClean="0">
                                  <a:latin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b="0" i="1" dirty="0" smtClean="0">
                                  <a:latin typeface="Cambria Math" panose="02040503050406030204" pitchFamily="18" charset="0"/>
                                </a:rPr>
                                <m:t>]</m:t>
                              </m:r>
                            </m:e>
                            <m:sup>
                              <m:r>
                                <a:rPr kumimoji="1" lang="en-US" altLang="zh-TW" b="0" i="1" dirty="0" smtClean="0">
                                  <a:latin typeface="Cambria Math" panose="02040503050406030204" pitchFamily="18" charset="0"/>
                                </a:rPr>
                                <m:t>2</m:t>
                              </m:r>
                            </m:sup>
                          </m:sSup>
                          <m:r>
                            <a:rPr kumimoji="1" lang="en-US" altLang="zh-TW" b="0" i="1" smtClean="0">
                              <a:latin typeface="Cambria Math" panose="02040503050406030204" pitchFamily="18" charset="0"/>
                              <a:ea typeface="Cambria Math" panose="02040503050406030204" pitchFamily="18" charset="0"/>
                            </a:rPr>
                            <m:t>]</m:t>
                          </m:r>
                        </m:e>
                      </m:nary>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nary>
                            <m:naryPr>
                              <m:ctrlPr>
                                <a:rPr kumimoji="1" lang="en-US" altLang="zh-TW" i="1" smtClean="0">
                                  <a:latin typeface="Cambria Math" panose="02040503050406030204" pitchFamily="18" charset="0"/>
                                </a:rPr>
                              </m:ctrlPr>
                            </m:naryPr>
                            <m:sub>
                              <m:r>
                                <m:rPr>
                                  <m:brk m:alnAt="23"/>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m:t>
                              </m:r>
                            </m:sub>
                            <m:sup>
                              <m:r>
                                <m:rPr>
                                  <m:brk m:alnAt="23"/>
                                </m:rPr>
                                <a:rPr kumimoji="1" lang="en-US" altLang="zh-TW" i="1">
                                  <a:latin typeface="Cambria Math" panose="02040503050406030204" pitchFamily="18" charset="0"/>
                                  <a:ea typeface="Cambria Math" panose="02040503050406030204" pitchFamily="18" charset="0"/>
                                </a:rPr>
                                <m:t>∞</m:t>
                              </m:r>
                            </m:sup>
                            <m:e>
                              <m:sSup>
                                <m:sSupPr>
                                  <m:ctrlPr>
                                    <a:rPr kumimoji="1" lang="el-GR" altLang="zh-TW" i="1" dirty="0">
                                      <a:latin typeface="Cambria Math" panose="02040503050406030204" pitchFamily="18" charset="0"/>
                                    </a:rPr>
                                  </m:ctrlPr>
                                </m:sSupPr>
                                <m:e>
                                  <m:r>
                                    <a:rPr kumimoji="1" lang="en-US" altLang="zh-TW" i="1" dirty="0">
                                      <a:latin typeface="Cambria Math" panose="02040503050406030204" pitchFamily="18" charset="0"/>
                                    </a:rPr>
                                    <m:t>𝑅𝑒𝐿𝑈</m:t>
                                  </m:r>
                                  <m:r>
                                    <a:rPr kumimoji="1" lang="en-US" altLang="zh-TW" i="1" dirty="0">
                                      <a:latin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i="1" dirty="0">
                                      <a:latin typeface="Cambria Math" panose="02040503050406030204" pitchFamily="18" charset="0"/>
                                    </a:rPr>
                                    <m:t>]</m:t>
                                  </m:r>
                                </m:e>
                                <m:sup>
                                  <m:r>
                                    <a:rPr kumimoji="1" lang="en-US" altLang="zh-TW" i="1" dirty="0">
                                      <a:latin typeface="Cambria Math" panose="02040503050406030204" pitchFamily="18" charset="0"/>
                                    </a:rPr>
                                    <m:t>2</m:t>
                                  </m:r>
                                </m:sup>
                              </m:sSup>
                              <m:func>
                                <m:funcPr>
                                  <m:ctrlPr>
                                    <a:rPr kumimoji="1" lang="en-US" altLang="zh-TW" b="0" i="1" dirty="0" smtClean="0">
                                      <a:latin typeface="Cambria Math" panose="02040503050406030204" pitchFamily="18" charset="0"/>
                                    </a:rPr>
                                  </m:ctrlPr>
                                </m:funcPr>
                                <m:fName>
                                  <m:r>
                                    <m:rPr>
                                      <m:sty m:val="p"/>
                                    </m:rPr>
                                    <a:rPr kumimoji="1" lang="en-US" altLang="zh-TW" b="0" i="0" dirty="0" smtClean="0">
                                      <a:latin typeface="Cambria Math" panose="02040503050406030204" pitchFamily="18" charset="0"/>
                                    </a:rPr>
                                    <m:t>Pr</m:t>
                                  </m:r>
                                </m:fName>
                                <m:e>
                                  <m:d>
                                    <m:dPr>
                                      <m:ctrlPr>
                                        <a:rPr kumimoji="1" lang="en-US" altLang="zh-TW" b="0" i="1" dirty="0" smtClean="0">
                                          <a:latin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d>
                                </m:e>
                              </m:func>
                              <m:r>
                                <a:rPr kumimoji="1" lang="en-US" altLang="zh-TW" b="0" i="1" dirty="0" smtClean="0">
                                  <a:latin typeface="Cambria Math" panose="02040503050406030204" pitchFamily="18" charset="0"/>
                                </a:rPr>
                                <m:t>𝑑</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nary>
                        </m:e>
                      </m:nary>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nary>
                            <m:naryPr>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ub>
                            <m:sup>
                              <m:r>
                                <m:rPr>
                                  <m:brk m:alnAt="23"/>
                                </m:rPr>
                                <a:rPr kumimoji="1" lang="en-US" altLang="zh-TW" i="1">
                                  <a:latin typeface="Cambria Math" panose="02040503050406030204" pitchFamily="18" charset="0"/>
                                  <a:ea typeface="Cambria Math" panose="02040503050406030204" pitchFamily="18" charset="0"/>
                                </a:rPr>
                                <m:t>∞</m:t>
                              </m:r>
                            </m:sup>
                            <m:e>
                              <m:sSup>
                                <m:sSupPr>
                                  <m:ctrlPr>
                                    <a:rPr kumimoji="1" lang="en-US" altLang="zh-TW" i="1" smtClean="0">
                                      <a:latin typeface="Cambria Math" panose="02040503050406030204" pitchFamily="18" charset="0"/>
                                      <a:ea typeface="Cambria Math" panose="02040503050406030204" pitchFamily="18" charset="0"/>
                                    </a:rPr>
                                  </m:ctrlPr>
                                </m:sSupPr>
                                <m:e>
                                  <m:r>
                                    <a:rPr kumimoji="1" lang="en-US" altLang="zh-TW"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𝕀</m:t>
                                  </m:r>
                                  <m:d>
                                    <m:dPr>
                                      <m:begChr m:val="["/>
                                      <m:endChr m:val="]"/>
                                      <m:ctrlPr>
                                        <a:rPr kumimoji="1" lang="en-US" altLang="zh-TW" i="1">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i="1">
                                          <a:latin typeface="Cambria Math" panose="02040503050406030204" pitchFamily="18" charset="0"/>
                                          <a:ea typeface="Cambria Math" panose="02040503050406030204" pitchFamily="18" charset="0"/>
                                        </a:rPr>
                                        <m:t>&gt;0</m:t>
                                      </m:r>
                                    </m:e>
                                  </m:d>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b="0" i="1" smtClean="0">
                                      <a:latin typeface="Cambria Math" panose="02040503050406030204" pitchFamily="18" charset="0"/>
                                      <a:ea typeface="Cambria Math" panose="02040503050406030204" pitchFamily="18" charset="0"/>
                                    </a:rPr>
                                    <m:t>)</m:t>
                                  </m:r>
                                </m:e>
                                <m:sup>
                                  <m:r>
                                    <a:rPr kumimoji="1" lang="en-US" altLang="zh-TW" b="0" i="1" smtClean="0">
                                      <a:latin typeface="Cambria Math" panose="02040503050406030204" pitchFamily="18" charset="0"/>
                                      <a:ea typeface="Cambria Math" panose="02040503050406030204" pitchFamily="18" charset="0"/>
                                    </a:rPr>
                                    <m:t>2</m:t>
                                  </m:r>
                                </m:sup>
                              </m:sSup>
                              <m:func>
                                <m:funcPr>
                                  <m:ctrlPr>
                                    <a:rPr kumimoji="1" lang="en-US" altLang="zh-TW" i="1" dirty="0" smtClean="0">
                                      <a:latin typeface="Cambria Math" panose="02040503050406030204" pitchFamily="18" charset="0"/>
                                    </a:rPr>
                                  </m:ctrlPr>
                                </m:funcPr>
                                <m:fName>
                                  <m:r>
                                    <m:rPr>
                                      <m:sty m:val="p"/>
                                    </m:rPr>
                                    <a:rPr kumimoji="1" lang="en-US" altLang="zh-TW" dirty="0">
                                      <a:latin typeface="Cambria Math" panose="02040503050406030204" pitchFamily="18" charset="0"/>
                                    </a:rPr>
                                    <m:t>Pr</m:t>
                                  </m:r>
                                </m:fName>
                                <m:e>
                                  <m:d>
                                    <m:dPr>
                                      <m:ctrlPr>
                                        <a:rPr kumimoji="1" lang="en-US" altLang="zh-TW" i="1" dirty="0">
                                          <a:latin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d>
                                </m:e>
                              </m:func>
                              <m:r>
                                <a:rPr kumimoji="1" lang="en-US" altLang="zh-TW" i="1" dirty="0">
                                  <a:latin typeface="Cambria Math" panose="02040503050406030204" pitchFamily="18" charset="0"/>
                                </a:rPr>
                                <m:t>𝑑</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nary>
                        </m:e>
                      </m:nary>
                    </m:oMath>
                  </m:oMathPara>
                </a14:m>
                <a:endParaRPr kumimoji="1" lang="zh-TW" altLang="en-US" dirty="0"/>
              </a:p>
            </p:txBody>
          </p:sp>
        </mc:Choice>
        <mc:Fallback xmlns="">
          <p:sp>
            <p:nvSpPr>
              <p:cNvPr id="3" name="內容版面配置區 2">
                <a:extLst>
                  <a:ext uri="{FF2B5EF4-FFF2-40B4-BE49-F238E27FC236}">
                    <a16:creationId xmlns:a16="http://schemas.microsoft.com/office/drawing/2014/main" id="{C2584B6A-2DEB-37D6-839B-D95E53D03CC7}"/>
                  </a:ext>
                </a:extLst>
              </p:cNvPr>
              <p:cNvSpPr>
                <a:spLocks noGrp="1" noRot="1" noChangeAspect="1" noMove="1" noResize="1" noEditPoints="1" noAdjustHandles="1" noChangeArrowheads="1" noChangeShapeType="1" noTextEdit="1"/>
              </p:cNvSpPr>
              <p:nvPr>
                <p:ph idx="1"/>
              </p:nvPr>
            </p:nvSpPr>
            <p:spPr>
              <a:blipFill>
                <a:blip r:embed="rId2"/>
                <a:stretch>
                  <a:fillRect l="-11602" t="-30976" b="-44108"/>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920BD92-37E9-DD99-4945-35355F7345E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64BB4F8-AF64-8BCD-991B-10B89AC32AD4}"/>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3139AA58-5CEB-7839-67A7-40F17AC01F65}"/>
              </a:ext>
            </a:extLst>
          </p:cNvPr>
          <p:cNvCxnSpPr>
            <a:cxnSpLocks/>
          </p:cNvCxnSpPr>
          <p:nvPr/>
        </p:nvCxnSpPr>
        <p:spPr>
          <a:xfrm flipH="1">
            <a:off x="4572000" y="1620456"/>
            <a:ext cx="1238491" cy="891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939C64AD-3D8E-565C-575F-522EB1446BD2}"/>
                  </a:ext>
                </a:extLst>
              </p:cNvPr>
              <p:cNvSpPr txBox="1"/>
              <p:nvPr/>
            </p:nvSpPr>
            <p:spPr>
              <a:xfrm>
                <a:off x="5937813" y="1250066"/>
                <a:ext cx="5731377" cy="466090"/>
              </a:xfrm>
              <a:prstGeom prst="rect">
                <a:avLst/>
              </a:prstGeom>
              <a:noFill/>
            </p:spPr>
            <p:txBody>
              <a:bodyPr wrap="none" rtlCol="0">
                <a:spAutoFit/>
              </a:bodyPr>
              <a:lstStyle/>
              <a:p>
                <a:r>
                  <a:rPr kumimoji="1" lang="zh-TW" altLang="en-US" dirty="0"/>
                  <a:t>因為</a:t>
                </a:r>
                <a14:m>
                  <m:oMath xmlns:m="http://schemas.openxmlformats.org/officeDocument/2006/math">
                    <m:r>
                      <a:rPr kumimoji="1" lang="zh-TW" altLang="en-US" b="0" i="0" smtClean="0">
                        <a:latin typeface="Cambria Math" panose="02040503050406030204" pitchFamily="18" charset="0"/>
                      </a:rPr>
                      <m:t> </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r>
                      <a:rPr kumimoji="1" lang="en-US" altLang="zh-TW" b="0" i="1" dirty="0" smtClean="0">
                        <a:latin typeface="Cambria Math" panose="02040503050406030204" pitchFamily="18" charset="0"/>
                      </a:rPr>
                      <m:t>=</m:t>
                    </m:r>
                    <m:r>
                      <a:rPr kumimoji="1" lang="en-US" altLang="zh-TW" b="0" i="1" smtClean="0">
                        <a:latin typeface="Cambria Math" panose="02040503050406030204" pitchFamily="18" charset="0"/>
                      </a:rPr>
                      <m:t>𝑉𝑎𝑟</m:t>
                    </m:r>
                    <m:d>
                      <m:dPr>
                        <m:ctrlPr>
                          <a:rPr kumimoji="1" lang="en-US" altLang="zh-TW" b="0" i="1" smtClean="0">
                            <a:latin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d>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b="0" i="1" smtClean="0">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d>
                          <m:dPr>
                            <m:begChr m:val="["/>
                            <m:endChr m:val="]"/>
                            <m:ctrlPr>
                              <a:rPr kumimoji="1" lang="en-US" altLang="zh-TW" i="1">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d>
                      </m:e>
                      <m:sup>
                        <m:r>
                          <a:rPr kumimoji="1" lang="en-US" altLang="zh-TW" b="0" i="1" smtClean="0">
                            <a:latin typeface="Cambria Math" panose="02040503050406030204" pitchFamily="18" charset="0"/>
                            <a:ea typeface="Cambria Math" panose="02040503050406030204" pitchFamily="18" charset="0"/>
                          </a:rPr>
                          <m:t>2</m:t>
                        </m:r>
                      </m:sup>
                    </m:sSup>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𝔼</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m:rPr>
                                <m:sty m:val="p"/>
                              </m:rPr>
                              <a:rPr kumimoji="1" lang="el-GR" altLang="zh-TW" i="1">
                                <a:latin typeface="Cambria Math" panose="02040503050406030204" pitchFamily="18" charset="0"/>
                                <a:ea typeface="Cambria Math" panose="02040503050406030204" pitchFamily="18" charset="0"/>
                              </a:rPr>
                              <m:t>Ω</m:t>
                            </m:r>
                          </m:e>
                          <m:sub>
                            <m:r>
                              <a:rPr kumimoji="1" lang="en-US" altLang="zh-TW" i="1">
                                <a:latin typeface="Cambria Math" panose="02040503050406030204" pitchFamily="18" charset="0"/>
                                <a:ea typeface="Cambria Math" panose="02040503050406030204" pitchFamily="18" charset="0"/>
                              </a:rPr>
                              <m:t>𝑖𝑗</m:t>
                            </m:r>
                          </m:sub>
                        </m:sSub>
                      </m:e>
                      <m:sup>
                        <m:r>
                          <a:rPr kumimoji="1" lang="en-US" altLang="zh-TW" i="1">
                            <a:latin typeface="Cambria Math" panose="02040503050406030204" pitchFamily="18" charset="0"/>
                            <a:ea typeface="Cambria Math" panose="02040503050406030204" pitchFamily="18" charset="0"/>
                          </a:rPr>
                          <m:t>2</m:t>
                        </m:r>
                      </m:sup>
                    </m:sSup>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−0</m:t>
                    </m:r>
                  </m:oMath>
                </a14:m>
                <a:endParaRPr kumimoji="1" lang="zh-TW" altLang="en-US" dirty="0"/>
              </a:p>
            </p:txBody>
          </p:sp>
        </mc:Choice>
        <mc:Fallback xmlns="">
          <p:sp>
            <p:nvSpPr>
              <p:cNvPr id="10" name="文字方塊 9">
                <a:extLst>
                  <a:ext uri="{FF2B5EF4-FFF2-40B4-BE49-F238E27FC236}">
                    <a16:creationId xmlns:a16="http://schemas.microsoft.com/office/drawing/2014/main" id="{939C64AD-3D8E-565C-575F-522EB1446BD2}"/>
                  </a:ext>
                </a:extLst>
              </p:cNvPr>
              <p:cNvSpPr txBox="1">
                <a:spLocks noRot="1" noChangeAspect="1" noMove="1" noResize="1" noEditPoints="1" noAdjustHandles="1" noChangeArrowheads="1" noChangeShapeType="1" noTextEdit="1"/>
              </p:cNvSpPr>
              <p:nvPr/>
            </p:nvSpPr>
            <p:spPr>
              <a:xfrm>
                <a:off x="5937813" y="1250066"/>
                <a:ext cx="5731377" cy="466090"/>
              </a:xfrm>
              <a:prstGeom prst="rect">
                <a:avLst/>
              </a:prstGeom>
              <a:blipFill>
                <a:blip r:embed="rId3"/>
                <a:stretch>
                  <a:fillRect l="-885" b="-13158"/>
                </a:stretch>
              </a:blipFill>
            </p:spPr>
            <p:txBody>
              <a:bodyPr/>
              <a:lstStyle/>
              <a:p>
                <a:r>
                  <a:rPr lang="zh-TW" altLang="en-US">
                    <a:noFill/>
                  </a:rPr>
                  <a:t> </a:t>
                </a:r>
              </a:p>
            </p:txBody>
          </p:sp>
        </mc:Fallback>
      </mc:AlternateContent>
      <p:cxnSp>
        <p:nvCxnSpPr>
          <p:cNvPr id="11" name="直線箭頭接點 10">
            <a:extLst>
              <a:ext uri="{FF2B5EF4-FFF2-40B4-BE49-F238E27FC236}">
                <a16:creationId xmlns:a16="http://schemas.microsoft.com/office/drawing/2014/main" id="{211F3EA9-C1D1-50D2-F34A-3C2CD8B9C3E9}"/>
              </a:ext>
            </a:extLst>
          </p:cNvPr>
          <p:cNvCxnSpPr>
            <a:cxnSpLocks/>
          </p:cNvCxnSpPr>
          <p:nvPr/>
        </p:nvCxnSpPr>
        <p:spPr>
          <a:xfrm flipH="1" flipV="1">
            <a:off x="3821575" y="5152663"/>
            <a:ext cx="1097666" cy="559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CD37D321-F2E3-3109-9064-F3363EB28763}"/>
              </a:ext>
            </a:extLst>
          </p:cNvPr>
          <p:cNvSpPr txBox="1"/>
          <p:nvPr/>
        </p:nvSpPr>
        <p:spPr>
          <a:xfrm>
            <a:off x="4919241" y="5578136"/>
            <a:ext cx="1845377" cy="369332"/>
          </a:xfrm>
          <a:prstGeom prst="rect">
            <a:avLst/>
          </a:prstGeom>
          <a:noFill/>
        </p:spPr>
        <p:txBody>
          <a:bodyPr wrap="none" rtlCol="0">
            <a:spAutoFit/>
          </a:bodyPr>
          <a:lstStyle/>
          <a:p>
            <a:r>
              <a:rPr kumimoji="1" lang="en-US" altLang="zh-TW" dirty="0"/>
              <a:t>Indicator function</a:t>
            </a:r>
            <a:endParaRPr kumimoji="1" lang="zh-TW" altLang="en-US" dirty="0"/>
          </a:p>
        </p:txBody>
      </p:sp>
    </p:spTree>
    <p:extLst>
      <p:ext uri="{BB962C8B-B14F-4D97-AF65-F5344CB8AC3E}">
        <p14:creationId xmlns:p14="http://schemas.microsoft.com/office/powerpoint/2010/main" val="3082232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952054-92E3-AD15-264C-53CCE51E5DAA}"/>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D1F3925-BFEE-574A-B3D0-D84E86A559C4}"/>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sSup>
                        <m:sSupPr>
                          <m:ctrlPr>
                            <a:rPr kumimoji="1" lang="en-US" altLang="zh-TW" i="1" smtClean="0">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nary>
                            <m:naryPr>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ub>
                            <m:sup>
                              <m:r>
                                <m:rPr>
                                  <m:brk m:alnAt="23"/>
                                </m:rPr>
                                <a:rPr kumimoji="1" lang="en-US" altLang="zh-TW" i="1">
                                  <a:latin typeface="Cambria Math" panose="02040503050406030204" pitchFamily="18" charset="0"/>
                                  <a:ea typeface="Cambria Math" panose="02040503050406030204" pitchFamily="18" charset="0"/>
                                </a:rPr>
                                <m:t>∞</m:t>
                              </m:r>
                            </m:sup>
                            <m:e>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𝕀</m:t>
                                  </m:r>
                                  <m:d>
                                    <m:dPr>
                                      <m:begChr m:val="["/>
                                      <m:endChr m:val="]"/>
                                      <m:ctrlPr>
                                        <a:rPr kumimoji="1" lang="en-US" altLang="zh-TW" i="1">
                                          <a:latin typeface="Cambria Math" panose="02040503050406030204" pitchFamily="18" charset="0"/>
                                          <a:ea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i="1">
                                          <a:latin typeface="Cambria Math" panose="02040503050406030204" pitchFamily="18" charset="0"/>
                                          <a:ea typeface="Cambria Math" panose="02040503050406030204" pitchFamily="18" charset="0"/>
                                        </a:rPr>
                                        <m:t>&gt;0</m:t>
                                      </m:r>
                                    </m:e>
                                  </m:d>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r>
                                    <a:rPr kumimoji="1" lang="en-US" altLang="zh-TW" i="1">
                                      <a:latin typeface="Cambria Math" panose="02040503050406030204" pitchFamily="18" charset="0"/>
                                      <a:ea typeface="Cambria Math" panose="02040503050406030204" pitchFamily="18" charset="0"/>
                                    </a:rPr>
                                    <m:t>)</m:t>
                                  </m:r>
                                </m:e>
                                <m:sup>
                                  <m:r>
                                    <a:rPr kumimoji="1" lang="en-US" altLang="zh-TW" i="1">
                                      <a:latin typeface="Cambria Math" panose="02040503050406030204" pitchFamily="18" charset="0"/>
                                      <a:ea typeface="Cambria Math" panose="02040503050406030204" pitchFamily="18" charset="0"/>
                                    </a:rPr>
                                    <m:t>2</m:t>
                                  </m:r>
                                </m:sup>
                              </m:sSup>
                              <m:func>
                                <m:funcPr>
                                  <m:ctrlPr>
                                    <a:rPr kumimoji="1" lang="en-US" altLang="zh-TW" i="1" dirty="0">
                                      <a:latin typeface="Cambria Math" panose="02040503050406030204" pitchFamily="18" charset="0"/>
                                    </a:rPr>
                                  </m:ctrlPr>
                                </m:funcPr>
                                <m:fName>
                                  <m:r>
                                    <m:rPr>
                                      <m:sty m:val="p"/>
                                    </m:rPr>
                                    <a:rPr kumimoji="1" lang="en-US" altLang="zh-TW" dirty="0">
                                      <a:latin typeface="Cambria Math" panose="02040503050406030204" pitchFamily="18" charset="0"/>
                                    </a:rPr>
                                    <m:t>Pr</m:t>
                                  </m:r>
                                </m:fName>
                                <m:e>
                                  <m:d>
                                    <m:dPr>
                                      <m:ctrlPr>
                                        <a:rPr kumimoji="1" lang="en-US" altLang="zh-TW" i="1" dirty="0">
                                          <a:latin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d>
                                </m:e>
                              </m:func>
                              <m:r>
                                <a:rPr kumimoji="1" lang="en-US" altLang="zh-TW" i="1" dirty="0">
                                  <a:latin typeface="Cambria Math" panose="02040503050406030204" pitchFamily="18" charset="0"/>
                                </a:rPr>
                                <m:t>𝑑</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nary>
                        </m:e>
                      </m:nary>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nary>
                            <m:naryPr>
                              <m:ctrlPr>
                                <a:rPr kumimoji="1" lang="en-US" altLang="zh-TW" i="1">
                                  <a:latin typeface="Cambria Math" panose="02040503050406030204" pitchFamily="18" charset="0"/>
                                </a:rPr>
                              </m:ctrlPr>
                            </m:naryPr>
                            <m:sub>
                              <m:r>
                                <m:rPr>
                                  <m:brk m:alnAt="23"/>
                                </m:rPr>
                                <a:rPr kumimoji="1" lang="en-US" altLang="zh-TW" b="0" i="1" smtClean="0">
                                  <a:latin typeface="Cambria Math" panose="02040503050406030204" pitchFamily="18" charset="0"/>
                                </a:rPr>
                                <m:t>0</m:t>
                              </m:r>
                            </m:sub>
                            <m:sup>
                              <m:r>
                                <m:rPr>
                                  <m:brk m:alnAt="23"/>
                                </m:rPr>
                                <a:rPr kumimoji="1" lang="en-US" altLang="zh-TW" i="1">
                                  <a:latin typeface="Cambria Math" panose="02040503050406030204" pitchFamily="18" charset="0"/>
                                  <a:ea typeface="Cambria Math" panose="02040503050406030204" pitchFamily="18" charset="0"/>
                                </a:rPr>
                                <m:t>∞</m:t>
                              </m:r>
                            </m:sup>
                            <m:e>
                              <m:sSup>
                                <m:sSupPr>
                                  <m:ctrlPr>
                                    <a:rPr kumimoji="1" lang="en-US" altLang="zh-TW" i="1">
                                      <a:latin typeface="Cambria Math" panose="02040503050406030204" pitchFamily="18" charset="0"/>
                                      <a:ea typeface="Cambria Math" panose="02040503050406030204" pitchFamily="18" charset="0"/>
                                    </a:rPr>
                                  </m:ctrlPr>
                                </m:sSup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sup>
                                  <m:r>
                                    <a:rPr kumimoji="1" lang="en-US" altLang="zh-TW" i="1">
                                      <a:latin typeface="Cambria Math" panose="02040503050406030204" pitchFamily="18" charset="0"/>
                                      <a:ea typeface="Cambria Math" panose="02040503050406030204" pitchFamily="18" charset="0"/>
                                    </a:rPr>
                                    <m:t>2</m:t>
                                  </m:r>
                                </m:sup>
                              </m:sSup>
                              <m:func>
                                <m:funcPr>
                                  <m:ctrlPr>
                                    <a:rPr kumimoji="1" lang="en-US" altLang="zh-TW" i="1" dirty="0">
                                      <a:latin typeface="Cambria Math" panose="02040503050406030204" pitchFamily="18" charset="0"/>
                                    </a:rPr>
                                  </m:ctrlPr>
                                </m:funcPr>
                                <m:fName>
                                  <m:r>
                                    <m:rPr>
                                      <m:sty m:val="p"/>
                                    </m:rPr>
                                    <a:rPr kumimoji="1" lang="en-US" altLang="zh-TW" dirty="0">
                                      <a:latin typeface="Cambria Math" panose="02040503050406030204" pitchFamily="18" charset="0"/>
                                    </a:rPr>
                                    <m:t>Pr</m:t>
                                  </m:r>
                                </m:fName>
                                <m:e>
                                  <m:d>
                                    <m:dPr>
                                      <m:ctrlPr>
                                        <a:rPr kumimoji="1" lang="en-US" altLang="zh-TW" i="1" dirty="0">
                                          <a:latin typeface="Cambria Math" panose="02040503050406030204" pitchFamily="18" charset="0"/>
                                        </a:rPr>
                                      </m:ctrlPr>
                                    </m:dPr>
                                    <m:e>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d>
                                </m:e>
                              </m:func>
                              <m:r>
                                <a:rPr kumimoji="1" lang="en-US" altLang="zh-TW" i="1" dirty="0">
                                  <a:latin typeface="Cambria Math" panose="02040503050406030204" pitchFamily="18" charset="0"/>
                                </a:rPr>
                                <m:t>𝑑</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𝑓</m:t>
                                  </m:r>
                                </m:e>
                                <m:sub>
                                  <m:r>
                                    <a:rPr kumimoji="1" lang="en-US" altLang="zh-TW" i="1">
                                      <a:latin typeface="Cambria Math" panose="02040503050406030204" pitchFamily="18" charset="0"/>
                                      <a:ea typeface="Cambria Math" panose="02040503050406030204" pitchFamily="18" charset="0"/>
                                    </a:rPr>
                                    <m:t>𝑗</m:t>
                                  </m:r>
                                </m:sub>
                              </m:sSub>
                            </m:e>
                          </m:nary>
                        </m:e>
                      </m:nary>
                    </m:oMath>
                  </m:oMathPara>
                </a14:m>
                <a:endParaRPr kumimoji="1" lang="en-US" altLang="zh-TW" dirty="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nary>
                        <m:naryPr>
                          <m:chr m:val="∑"/>
                          <m:ctrlPr>
                            <a:rPr kumimoji="1" lang="en-US" altLang="zh-TW" i="1">
                              <a:latin typeface="Cambria Math" panose="02040503050406030204" pitchFamily="18" charset="0"/>
                              <a:ea typeface="Cambria Math" panose="02040503050406030204" pitchFamily="18" charset="0"/>
                            </a:rPr>
                          </m:ctrlPr>
                        </m:naryPr>
                        <m:sub>
                          <m:r>
                            <m:rPr>
                              <m:brk m:alnAt="23"/>
                            </m:rPr>
                            <a:rPr kumimoji="1" lang="en-US" altLang="zh-TW" i="1">
                              <a:latin typeface="Cambria Math" panose="02040503050406030204" pitchFamily="18" charset="0"/>
                              <a:ea typeface="Cambria Math" panose="02040503050406030204" pitchFamily="18" charset="0"/>
                            </a:rPr>
                            <m:t>𝑗</m:t>
                          </m:r>
                          <m:r>
                            <a:rPr kumimoji="1" lang="en-US" altLang="zh-TW" i="1">
                              <a:latin typeface="Cambria Math" panose="02040503050406030204" pitchFamily="18" charset="0"/>
                              <a:ea typeface="Cambria Math" panose="02040503050406030204" pitchFamily="18" charset="0"/>
                            </a:rPr>
                            <m:t>=1</m:t>
                          </m:r>
                        </m:sub>
                        <m:sup>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up>
                        <m:e>
                          <m:f>
                            <m:fPr>
                              <m:ctrlPr>
                                <a:rPr kumimoji="1" lang="en-US" altLang="zh-TW" i="1" smtClean="0">
                                  <a:latin typeface="Cambria Math" panose="02040503050406030204" pitchFamily="18" charset="0"/>
                                </a:rPr>
                              </m:ctrlPr>
                            </m:fPr>
                            <m:num>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a:rPr kumimoji="1" lang="en-US" altLang="zh-TW" b="0" i="1" smtClean="0">
                                          <a:latin typeface="Cambria Math" panose="02040503050406030204" pitchFamily="18" charset="0"/>
                                          <a:ea typeface="Cambria Math" panose="02040503050406030204" pitchFamily="18" charset="0"/>
                                        </a:rPr>
                                        <m:t>𝑓</m:t>
                                      </m:r>
                                    </m:sub>
                                  </m:sSub>
                                </m:e>
                                <m:sup>
                                  <m:r>
                                    <a:rPr kumimoji="1" lang="en-US" altLang="zh-TW" b="0" i="1" smtClean="0">
                                      <a:latin typeface="Cambria Math" panose="02040503050406030204" pitchFamily="18" charset="0"/>
                                      <a:ea typeface="Cambria Math" panose="02040503050406030204" pitchFamily="18" charset="0"/>
                                    </a:rPr>
                                    <m:t>2</m:t>
                                  </m:r>
                                </m:sup>
                              </m:sSup>
                              <m:r>
                                <m:rPr>
                                  <m:nor/>
                                </m:rPr>
                                <a:rPr kumimoji="1" lang="el-GR" altLang="zh-TW" dirty="0"/>
                                <m:t>​</m:t>
                              </m:r>
                            </m:num>
                            <m:den>
                              <m:r>
                                <a:rPr kumimoji="1" lang="en-US" altLang="zh-TW" b="0" i="1" smtClean="0">
                                  <a:latin typeface="Cambria Math" panose="02040503050406030204" pitchFamily="18" charset="0"/>
                                </a:rPr>
                                <m:t>2</m:t>
                              </m:r>
                            </m:den>
                          </m:f>
                        </m:e>
                      </m:nary>
                      <m:r>
                        <a:rPr kumimoji="1" lang="en-US" altLang="zh-TW" b="0" i="1" smtClean="0">
                          <a:latin typeface="Cambria Math" panose="02040503050406030204" pitchFamily="18" charset="0"/>
                          <a:ea typeface="Cambria Math" panose="02040503050406030204" pitchFamily="18" charset="0"/>
                        </a:rPr>
                        <m:t>=</m:t>
                      </m:r>
                      <m:f>
                        <m:fPr>
                          <m:ctrlPr>
                            <a:rPr kumimoji="1" lang="en-US" altLang="zh-TW" i="1">
                              <a:latin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a:rPr kumimoji="1" lang="en-US" altLang="zh-TW" b="0" i="1" smtClean="0">
                                      <a:latin typeface="Cambria Math" panose="02040503050406030204" pitchFamily="18" charset="0"/>
                                      <a:ea typeface="Cambria Math" panose="02040503050406030204" pitchFamily="18" charset="0"/>
                                    </a:rPr>
                                    <m:t>𝑓</m:t>
                                  </m:r>
                                </m:sub>
                              </m:sSub>
                            </m:e>
                            <m:sup>
                              <m:r>
                                <a:rPr kumimoji="1" lang="en-US" altLang="zh-TW" i="1">
                                  <a:latin typeface="Cambria Math" panose="02040503050406030204" pitchFamily="18" charset="0"/>
                                </a:rPr>
                                <m:t>2</m:t>
                              </m:r>
                            </m:sup>
                          </m:sSup>
                        </m:num>
                        <m:den>
                          <m:r>
                            <a:rPr kumimoji="1" lang="en-US" altLang="zh-TW" i="1">
                              <a:latin typeface="Cambria Math" panose="02040503050406030204" pitchFamily="18" charset="0"/>
                            </a:rPr>
                            <m:t>2</m:t>
                          </m:r>
                        </m:den>
                      </m:f>
                    </m:oMath>
                  </m:oMathPara>
                </a14:m>
                <a:endParaRPr kumimoji="1" lang="zh-TW" altLang="en-US" dirty="0"/>
              </a:p>
              <a:p>
                <a:endParaRPr kumimoji="1" lang="zh-TW" altLang="en-US" dirty="0"/>
              </a:p>
            </p:txBody>
          </p:sp>
        </mc:Choice>
        <mc:Fallback xmlns="">
          <p:sp>
            <p:nvSpPr>
              <p:cNvPr id="3" name="內容版面配置區 2">
                <a:extLst>
                  <a:ext uri="{FF2B5EF4-FFF2-40B4-BE49-F238E27FC236}">
                    <a16:creationId xmlns:a16="http://schemas.microsoft.com/office/drawing/2014/main" id="{9D1F3925-BFEE-574A-B3D0-D84E86A559C4}"/>
                  </a:ext>
                </a:extLst>
              </p:cNvPr>
              <p:cNvSpPr>
                <a:spLocks noGrp="1" noRot="1" noChangeAspect="1" noMove="1" noResize="1" noEditPoints="1" noAdjustHandles="1" noChangeArrowheads="1" noChangeShapeType="1" noTextEdit="1"/>
              </p:cNvSpPr>
              <p:nvPr>
                <p:ph idx="1"/>
              </p:nvPr>
            </p:nvSpPr>
            <p:spPr>
              <a:blipFill>
                <a:blip r:embed="rId2"/>
                <a:stretch>
                  <a:fillRect l="-6305" t="-37037" b="-3602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7061DCF7-0487-FB94-995E-FE71A003DFE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B40CB03-85E5-DEE4-BEB7-169819B31D29}"/>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AA61C150-FE5F-A7AA-AA0E-F04A19D94BFF}"/>
              </a:ext>
            </a:extLst>
          </p:cNvPr>
          <p:cNvCxnSpPr>
            <a:cxnSpLocks/>
          </p:cNvCxnSpPr>
          <p:nvPr/>
        </p:nvCxnSpPr>
        <p:spPr>
          <a:xfrm flipH="1" flipV="1">
            <a:off x="2721980" y="4157240"/>
            <a:ext cx="1468055" cy="113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FD0F919B-7488-9489-8AD5-C5A0A2408254}"/>
              </a:ext>
            </a:extLst>
          </p:cNvPr>
          <p:cNvSpPr txBox="1"/>
          <p:nvPr/>
        </p:nvSpPr>
        <p:spPr>
          <a:xfrm>
            <a:off x="4190035" y="4086392"/>
            <a:ext cx="1569660" cy="369332"/>
          </a:xfrm>
          <a:prstGeom prst="rect">
            <a:avLst/>
          </a:prstGeom>
          <a:noFill/>
        </p:spPr>
        <p:txBody>
          <a:bodyPr wrap="none" rtlCol="0">
            <a:spAutoFit/>
          </a:bodyPr>
          <a:lstStyle/>
          <a:p>
            <a:r>
              <a:rPr kumimoji="1" lang="zh-TW" altLang="en-US" dirty="0"/>
              <a:t>把負半邊砍掉</a:t>
            </a:r>
          </a:p>
        </p:txBody>
      </p:sp>
    </p:spTree>
    <p:extLst>
      <p:ext uri="{BB962C8B-B14F-4D97-AF65-F5344CB8AC3E}">
        <p14:creationId xmlns:p14="http://schemas.microsoft.com/office/powerpoint/2010/main" val="2925680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5611CA-355C-F0FF-DE64-317E7B1512DD}"/>
              </a:ext>
            </a:extLst>
          </p:cNvPr>
          <p:cNvSpPr>
            <a:spLocks noGrp="1"/>
          </p:cNvSpPr>
          <p:nvPr>
            <p:ph type="title"/>
          </p:nvPr>
        </p:nvSpPr>
        <p:spPr/>
        <p:txBody>
          <a:bodyPr/>
          <a:lstStyle/>
          <a:p>
            <a:r>
              <a:rPr kumimoji="1" lang="en-US" altLang="zh-TW" dirty="0"/>
              <a:t>He Initialization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83B94D0-7E05-FDEA-7055-604344EBA72C}"/>
                  </a:ext>
                </a:extLst>
              </p:cNvPr>
              <p:cNvSpPr>
                <a:spLocks noGrp="1"/>
              </p:cNvSpPr>
              <p:nvPr>
                <p:ph idx="1"/>
              </p:nvPr>
            </p:nvSpPr>
            <p:spPr/>
            <p:txBody>
              <a:bodyPr>
                <a:normAutofit/>
              </a:bodyPr>
              <a:lstStyle/>
              <a:p>
                <a:r>
                  <a:rPr kumimoji="1" lang="zh-TW" altLang="en-US" dirty="0"/>
                  <a:t>從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sSubSup>
                              <m:sSubSupPr>
                                <m:ctrlPr>
                                  <a:rPr kumimoji="1" lang="en-US" altLang="zh-TW" i="1">
                                    <a:latin typeface="Cambria Math" panose="02040503050406030204" pitchFamily="18" charset="0"/>
                                  </a:rPr>
                                </m:ctrlPr>
                              </m:sSubSupPr>
                              <m:e>
                                <m:r>
                                  <a:rPr kumimoji="1" lang="en-US" altLang="zh-TW" i="1">
                                    <a:latin typeface="Cambria Math" panose="02040503050406030204" pitchFamily="18" charset="0"/>
                                  </a:rPr>
                                  <m:t>𝑓</m:t>
                                </m:r>
                              </m:e>
                              <m:sub>
                                <m:r>
                                  <a:rPr kumimoji="1" lang="en-US" altLang="zh-TW" i="1">
                                    <a:latin typeface="Cambria Math" panose="02040503050406030204" pitchFamily="18" charset="0"/>
                                  </a:rPr>
                                  <m:t>𝑖</m:t>
                                </m:r>
                              </m:sub>
                              <m:sup>
                                <m:r>
                                  <a:rPr kumimoji="1" lang="en-US" altLang="zh-TW" i="1">
                                    <a:latin typeface="Cambria Math" panose="02040503050406030204" pitchFamily="18" charset="0"/>
                                  </a:rPr>
                                  <m:t>′</m:t>
                                </m:r>
                              </m:sup>
                            </m:sSubSup>
                          </m:sub>
                        </m:sSub>
                      </m:e>
                      <m:sup>
                        <m:r>
                          <a:rPr kumimoji="1" lang="en-US" altLang="zh-TW" i="1">
                            <a:latin typeface="Cambria Math" panose="02040503050406030204" pitchFamily="18" charset="0"/>
                          </a:rPr>
                          <m:t>2</m:t>
                        </m:r>
                      </m:sup>
                    </m:sSup>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a:rPr kumimoji="1" lang="en-US" altLang="zh-TW" i="1">
                                    <a:latin typeface="Cambria Math" panose="02040503050406030204" pitchFamily="18" charset="0"/>
                                    <a:ea typeface="Cambria Math" panose="02040503050406030204" pitchFamily="18" charset="0"/>
                                  </a:rPr>
                                  <m:t>𝑓</m:t>
                                </m:r>
                              </m:sub>
                            </m:sSub>
                          </m:e>
                          <m:sup>
                            <m:r>
                              <a:rPr kumimoji="1" lang="en-US" altLang="zh-TW" i="1">
                                <a:latin typeface="Cambria Math" panose="02040503050406030204" pitchFamily="18" charset="0"/>
                              </a:rPr>
                              <m:t>2</m:t>
                            </m:r>
                          </m:sup>
                        </m:sSup>
                      </m:num>
                      <m:den>
                        <m:r>
                          <a:rPr kumimoji="1" lang="en-US" altLang="zh-TW" i="1">
                            <a:latin typeface="Cambria Math" panose="02040503050406030204" pitchFamily="18" charset="0"/>
                          </a:rPr>
                          <m:t>2</m:t>
                        </m:r>
                      </m:den>
                    </m:f>
                  </m:oMath>
                </a14:m>
                <a:r>
                  <a:rPr kumimoji="1" lang="zh-TW" altLang="en-US" dirty="0"/>
                  <a:t> 此結果中可知，若我們希望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a:rPr kumimoji="1" lang="en-US" altLang="zh-TW" i="1">
                                <a:latin typeface="Cambria Math" panose="02040503050406030204" pitchFamily="18" charset="0"/>
                                <a:ea typeface="Cambria Math" panose="02040503050406030204" pitchFamily="18" charset="0"/>
                              </a:rPr>
                              <m:t>𝑓</m:t>
                            </m:r>
                          </m:sub>
                        </m:sSub>
                      </m:e>
                      <m:sup>
                        <m:r>
                          <a:rPr kumimoji="1" lang="en-US" altLang="zh-TW" i="1">
                            <a:latin typeface="Cambria Math" panose="02040503050406030204" pitchFamily="18" charset="0"/>
                          </a:rPr>
                          <m:t>2</m:t>
                        </m:r>
                      </m:sup>
                    </m:sSup>
                  </m:oMath>
                </a14:m>
                <a:r>
                  <a:rPr kumimoji="1" lang="zh-TW" altLang="en-US" dirty="0"/>
                  <a:t> 與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a:rPr kumimoji="1" lang="en-US" altLang="zh-TW" i="1">
                                <a:latin typeface="Cambria Math" panose="02040503050406030204" pitchFamily="18" charset="0"/>
                                <a:ea typeface="Cambria Math" panose="02040503050406030204" pitchFamily="18" charset="0"/>
                              </a:rPr>
                              <m:t>𝑓</m:t>
                            </m:r>
                            <m:r>
                              <a:rPr kumimoji="1" lang="en-US" altLang="zh-TW" b="0" i="1" smtClean="0">
                                <a:latin typeface="Cambria Math" panose="02040503050406030204" pitchFamily="18" charset="0"/>
                                <a:ea typeface="Cambria Math" panose="02040503050406030204" pitchFamily="18" charset="0"/>
                              </a:rPr>
                              <m:t>′</m:t>
                            </m:r>
                          </m:sub>
                        </m:sSub>
                      </m:e>
                      <m:sup>
                        <m:r>
                          <a:rPr kumimoji="1" lang="en-US" altLang="zh-TW" i="1">
                            <a:latin typeface="Cambria Math" panose="02040503050406030204" pitchFamily="18" charset="0"/>
                          </a:rPr>
                          <m:t>2</m:t>
                        </m:r>
                      </m:sup>
                    </m:sSup>
                  </m:oMath>
                </a14:m>
                <a:r>
                  <a:rPr kumimoji="1" lang="en-US" altLang="zh-TW" dirty="0"/>
                  <a:t> </a:t>
                </a:r>
                <a:r>
                  <a:rPr kumimoji="1" lang="zh-TW" altLang="en-US" dirty="0"/>
                  <a:t>相等，則 </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𝜎</m:t>
                            </m:r>
                          </m:e>
                          <m:sub>
                            <m:r>
                              <m:rPr>
                                <m:sty m:val="p"/>
                              </m:rPr>
                              <a:rPr kumimoji="1" lang="el-GR" altLang="zh-TW" i="1">
                                <a:latin typeface="Cambria Math" panose="02040503050406030204" pitchFamily="18" charset="0"/>
                                <a:ea typeface="Cambria Math" panose="02040503050406030204" pitchFamily="18" charset="0"/>
                              </a:rPr>
                              <m:t>Ω</m:t>
                            </m:r>
                          </m:sub>
                        </m:sSub>
                      </m:e>
                      <m:sup>
                        <m:r>
                          <a:rPr kumimoji="1" lang="en-US" altLang="zh-TW" i="1">
                            <a:latin typeface="Cambria Math" panose="02040503050406030204" pitchFamily="18" charset="0"/>
                          </a:rPr>
                          <m:t>2</m:t>
                        </m:r>
                      </m:sup>
                    </m:sSup>
                    <m:r>
                      <m:rPr>
                        <m:nor/>
                      </m:rPr>
                      <a:rPr kumimoji="1" lang="el-GR" altLang="zh-TW" dirty="0"/>
                      <m:t>​</m:t>
                    </m:r>
                  </m:oMath>
                </a14:m>
                <a:r>
                  <a:rPr kumimoji="1" lang="zh-TW" altLang="en-US" dirty="0"/>
                  <a:t> 必須等於 </a:t>
                </a:r>
                <a14:m>
                  <m:oMath xmlns:m="http://schemas.openxmlformats.org/officeDocument/2006/math">
                    <m:f>
                      <m:fPr>
                        <m:ctrlPr>
                          <a:rPr kumimoji="1" lang="en-US" altLang="zh-TW" i="1" smtClean="0">
                            <a:latin typeface="Cambria Math" panose="02040503050406030204" pitchFamily="18" charset="0"/>
                          </a:rPr>
                        </m:ctrlPr>
                      </m:fPr>
                      <m:num>
                        <m:r>
                          <a:rPr kumimoji="1" lang="en-US" altLang="zh-TW" b="0" i="1" smtClean="0">
                            <a:latin typeface="Cambria Math" panose="02040503050406030204" pitchFamily="18" charset="0"/>
                          </a:rPr>
                          <m:t>2</m:t>
                        </m:r>
                      </m:num>
                      <m:den>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𝐷</m:t>
                            </m:r>
                          </m:e>
                          <m:sub>
                            <m:r>
                              <a:rPr kumimoji="1" lang="en-US" altLang="zh-TW" i="1">
                                <a:latin typeface="Cambria Math" panose="02040503050406030204" pitchFamily="18" charset="0"/>
                              </a:rPr>
                              <m:t>h</m:t>
                            </m:r>
                          </m:sub>
                        </m:sSub>
                      </m:den>
                    </m:f>
                  </m:oMath>
                </a14:m>
                <a:r>
                  <a:rPr kumimoji="1" lang="zh-TW" altLang="en-US" dirty="0"/>
                  <a:t>。此為 </a:t>
                </a:r>
                <a:r>
                  <a:rPr kumimoji="1" lang="en-US" altLang="zh-TW" dirty="0"/>
                  <a:t>He</a:t>
                </a:r>
                <a:r>
                  <a:rPr kumimoji="1" lang="zh-TW" altLang="en-US" dirty="0"/>
                  <a:t> </a:t>
                </a:r>
                <a:r>
                  <a:rPr kumimoji="1" lang="en-US" altLang="zh-TW" dirty="0"/>
                  <a:t>Initialization</a:t>
                </a:r>
                <a:r>
                  <a:rPr kumimoji="1" lang="zh-TW" altLang="en-US" dirty="0"/>
                  <a:t> 的公式。</a:t>
                </a:r>
                <a:endParaRPr kumimoji="1" lang="en-US" altLang="zh-TW" dirty="0"/>
              </a:p>
              <a:p>
                <a:pPr marL="0" indent="0">
                  <a:buNone/>
                </a:pPr>
                <a:endParaRPr kumimoji="1" lang="en-US" altLang="zh-TW" dirty="0"/>
              </a:p>
              <a:p>
                <a:r>
                  <a:rPr kumimoji="1" lang="zh-TW" altLang="en-US" sz="1800" dirty="0"/>
                  <a:t>*</a:t>
                </a:r>
                <a:r>
                  <a:rPr kumimoji="1" lang="en-US" altLang="zh-TW" sz="1800" dirty="0"/>
                  <a:t>.</a:t>
                </a:r>
                <a:r>
                  <a:rPr kumimoji="1" lang="zh-TW" altLang="en-US" sz="1800" dirty="0"/>
                  <a:t> </a:t>
                </a:r>
                <a:r>
                  <a:rPr kumimoji="1" lang="en-US" altLang="zh-TW" sz="1800" dirty="0">
                    <a:hlinkClick r:id="rId2"/>
                  </a:rPr>
                  <a:t>https://www.tensorflow.org/api_docs/python/tf/keras/initializers/HeNormal</a:t>
                </a:r>
                <a:endParaRPr kumimoji="1" lang="en-US" altLang="zh-TW" sz="1800" dirty="0"/>
              </a:p>
              <a:p>
                <a:r>
                  <a:rPr kumimoji="1" lang="zh-TW" altLang="en-US" sz="1800" dirty="0"/>
                  <a:t>*</a:t>
                </a:r>
                <a:r>
                  <a:rPr kumimoji="1" lang="en-US" altLang="zh-TW" sz="1800" dirty="0"/>
                  <a:t>.</a:t>
                </a:r>
                <a:r>
                  <a:rPr kumimoji="1" lang="zh-TW" altLang="en-US" sz="1800" dirty="0"/>
                  <a:t> </a:t>
                </a:r>
                <a:r>
                  <a:rPr kumimoji="1" lang="en-US" altLang="zh-TW" sz="1800" dirty="0"/>
                  <a:t>Chapter_3_Gradient_Experiment.ipynb </a:t>
                </a:r>
                <a:r>
                  <a:rPr kumimoji="1" lang="zh-TW" altLang="en-US" sz="1800" dirty="0"/>
                  <a:t>梯度實驗中，設定 </a:t>
                </a:r>
                <a:r>
                  <a:rPr kumimoji="1" lang="en-US" altLang="zh-TW" sz="1800" dirty="0"/>
                  <a:t>0.025</a:t>
                </a:r>
                <a:r>
                  <a:rPr kumimoji="1" lang="zh-TW" altLang="en-US" sz="1800" dirty="0"/>
                  <a:t> 是因為 </a:t>
                </a:r>
                <a14:m>
                  <m:oMath xmlns:m="http://schemas.openxmlformats.org/officeDocument/2006/math">
                    <m:f>
                      <m:fPr>
                        <m:ctrlPr>
                          <a:rPr kumimoji="1" lang="en-US" altLang="zh-TW" sz="1800" i="1" smtClean="0">
                            <a:latin typeface="Cambria Math" panose="02040503050406030204" pitchFamily="18" charset="0"/>
                          </a:rPr>
                        </m:ctrlPr>
                      </m:fPr>
                      <m:num>
                        <m:r>
                          <a:rPr kumimoji="1" lang="en-US" altLang="zh-TW" sz="1800" b="0" i="1" smtClean="0">
                            <a:latin typeface="Cambria Math" panose="02040503050406030204" pitchFamily="18" charset="0"/>
                          </a:rPr>
                          <m:t>2</m:t>
                        </m:r>
                      </m:num>
                      <m:den>
                        <m:r>
                          <a:rPr kumimoji="1" lang="en-US" altLang="zh-TW" sz="1800" b="0" i="1" smtClean="0">
                            <a:latin typeface="Cambria Math" panose="02040503050406030204" pitchFamily="18" charset="0"/>
                          </a:rPr>
                          <m:t>80</m:t>
                        </m:r>
                      </m:den>
                    </m:f>
                    <m:r>
                      <a:rPr kumimoji="1" lang="en-US" altLang="zh-TW" sz="1800" b="0" i="1" smtClean="0">
                        <a:latin typeface="Cambria Math" panose="02040503050406030204" pitchFamily="18" charset="0"/>
                      </a:rPr>
                      <m:t>=0.025</m:t>
                    </m:r>
                  </m:oMath>
                </a14:m>
                <a:r>
                  <a:rPr kumimoji="1" lang="zh-TW" altLang="en-US" sz="1800" dirty="0"/>
                  <a:t>。</a:t>
                </a:r>
              </a:p>
            </p:txBody>
          </p:sp>
        </mc:Choice>
        <mc:Fallback xmlns="">
          <p:sp>
            <p:nvSpPr>
              <p:cNvPr id="3" name="內容版面配置區 2">
                <a:extLst>
                  <a:ext uri="{FF2B5EF4-FFF2-40B4-BE49-F238E27FC236}">
                    <a16:creationId xmlns:a16="http://schemas.microsoft.com/office/drawing/2014/main" id="{483B94D0-7E05-FDEA-7055-604344EBA72C}"/>
                  </a:ext>
                </a:extLst>
              </p:cNvPr>
              <p:cNvSpPr>
                <a:spLocks noGrp="1" noRot="1" noChangeAspect="1" noMove="1" noResize="1" noEditPoints="1" noAdjustHandles="1" noChangeArrowheads="1" noChangeShapeType="1" noTextEdit="1"/>
              </p:cNvSpPr>
              <p:nvPr>
                <p:ph idx="1"/>
              </p:nvPr>
            </p:nvSpPr>
            <p:spPr>
              <a:blipFill>
                <a:blip r:embed="rId3"/>
                <a:stretch>
                  <a:fillRect l="-1009" r="-63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21AC53D-D731-3274-5847-D20D73530DB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038E208-C0EE-60A9-032B-5830ADAD36A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450814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589449-E630-A08C-1C9B-18AF8AF6CCD8}"/>
              </a:ext>
            </a:extLst>
          </p:cNvPr>
          <p:cNvSpPr>
            <a:spLocks noGrp="1"/>
          </p:cNvSpPr>
          <p:nvPr>
            <p:ph type="title"/>
          </p:nvPr>
        </p:nvSpPr>
        <p:spPr/>
        <p:txBody>
          <a:bodyPr/>
          <a:lstStyle/>
          <a:p>
            <a:r>
              <a:rPr kumimoji="1" lang="zh-TW" altLang="en-US" dirty="0"/>
              <a:t>梯度消失與梯度爆炸</a:t>
            </a:r>
          </a:p>
        </p:txBody>
      </p:sp>
      <p:sp>
        <p:nvSpPr>
          <p:cNvPr id="3" name="內容版面配置區 2">
            <a:extLst>
              <a:ext uri="{FF2B5EF4-FFF2-40B4-BE49-F238E27FC236}">
                <a16:creationId xmlns:a16="http://schemas.microsoft.com/office/drawing/2014/main" id="{49DC7A81-BC05-1B52-58C1-78C10A5D78CD}"/>
              </a:ext>
            </a:extLst>
          </p:cNvPr>
          <p:cNvSpPr>
            <a:spLocks noGrp="1"/>
          </p:cNvSpPr>
          <p:nvPr>
            <p:ph idx="1"/>
          </p:nvPr>
        </p:nvSpPr>
        <p:spPr>
          <a:xfrm>
            <a:off x="1097280" y="2108201"/>
            <a:ext cx="10058400" cy="4188427"/>
          </a:xfrm>
        </p:spPr>
        <p:txBody>
          <a:bodyPr>
            <a:normAutofit/>
          </a:bodyPr>
          <a:lstStyle/>
          <a:p>
            <a:r>
              <a:rPr kumimoji="1" lang="zh-TW" altLang="en-US" dirty="0"/>
              <a:t>梯度爆炸的常見造成原因：</a:t>
            </a:r>
            <a:endParaRPr kumimoji="1" lang="en-US" altLang="zh-TW" dirty="0"/>
          </a:p>
          <a:p>
            <a:pPr marL="457200" indent="-457200">
              <a:buFont typeface="+mj-lt"/>
              <a:buAutoNum type="arabicPeriod"/>
            </a:pPr>
            <a:r>
              <a:rPr kumimoji="1" lang="zh-TW" altLang="en-US" dirty="0"/>
              <a:t>與 </a:t>
            </a:r>
            <a:r>
              <a:rPr kumimoji="1" lang="en-US" altLang="zh-TW" dirty="0"/>
              <a:t>sigmoid</a:t>
            </a:r>
            <a:r>
              <a:rPr kumimoji="1" lang="zh-TW" altLang="en-US" dirty="0"/>
              <a:t> 函數的情況相反。若深度神經網路的激活函數的導數值很大（例如大於 </a:t>
            </a:r>
            <a:r>
              <a:rPr kumimoji="1" lang="en-US" altLang="zh-TW" dirty="0"/>
              <a:t>1</a:t>
            </a:r>
            <a:r>
              <a:rPr kumimoji="1" lang="zh-TW" altLang="en-US" dirty="0"/>
              <a:t>），反向傳播在往 </a:t>
            </a:r>
            <a:r>
              <a:rPr kumimoji="1" lang="en-US" altLang="zh-TW" dirty="0"/>
              <a:t>input</a:t>
            </a:r>
            <a:r>
              <a:rPr kumimoji="1" lang="zh-TW" altLang="en-US" dirty="0"/>
              <a:t> </a:t>
            </a:r>
            <a:r>
              <a:rPr kumimoji="1" lang="en-US" altLang="zh-TW" dirty="0"/>
              <a:t>layer</a:t>
            </a:r>
            <a:r>
              <a:rPr kumimoji="1" lang="zh-TW" altLang="en-US" dirty="0"/>
              <a:t> 傳遞梯度會需要乘上一個很大的數，導致梯度迅速爆炸。</a:t>
            </a:r>
            <a:endParaRPr kumimoji="1" lang="en-US" altLang="zh-TW" dirty="0"/>
          </a:p>
          <a:p>
            <a:pPr marL="457200" indent="-457200">
              <a:buFont typeface="+mj-lt"/>
              <a:buAutoNum type="arabicPeriod"/>
            </a:pPr>
            <a:r>
              <a:rPr kumimoji="1" lang="zh-TW" altLang="en-US" dirty="0"/>
              <a:t>採用「不當」的初始權重設定，容易在反向傳播時產生梯度消失或梯度爆炸，進而影響模型的訓練效果。</a:t>
            </a:r>
            <a:endParaRPr kumimoji="1" lang="en-US" altLang="zh-TW" dirty="0"/>
          </a:p>
          <a:p>
            <a:pPr marL="457200" indent="-457200">
              <a:buFont typeface="+mj-lt"/>
              <a:buAutoNum type="arabicPeriod"/>
            </a:pPr>
            <a:r>
              <a:rPr kumimoji="1" lang="en-US" altLang="zh-TW" dirty="0" err="1"/>
              <a:t>ResNet</a:t>
            </a:r>
            <a:r>
              <a:rPr kumimoji="1" lang="zh-TW" altLang="en-US" dirty="0"/>
              <a:t> 的 </a:t>
            </a:r>
            <a:r>
              <a:rPr kumimoji="1" lang="en-US" altLang="zh-TW" dirty="0"/>
              <a:t>Shortcut</a:t>
            </a:r>
            <a:r>
              <a:rPr kumimoji="1" lang="zh-TW" altLang="en-US" dirty="0"/>
              <a:t> </a:t>
            </a:r>
            <a:r>
              <a:rPr kumimoji="1" lang="en-US" altLang="zh-TW" dirty="0"/>
              <a:t>Connection</a:t>
            </a:r>
            <a:r>
              <a:rPr kumimoji="1" lang="zh-TW" altLang="en-US" dirty="0"/>
              <a:t>。（</a:t>
            </a:r>
            <a:r>
              <a:rPr kumimoji="1" lang="en-US" altLang="zh-TW" dirty="0"/>
              <a:t>Chapter</a:t>
            </a:r>
            <a:r>
              <a:rPr kumimoji="1" lang="zh-TW" altLang="en-US" dirty="0"/>
              <a:t> </a:t>
            </a:r>
            <a:r>
              <a:rPr kumimoji="1" lang="en-US" altLang="zh-TW" dirty="0"/>
              <a:t>5</a:t>
            </a:r>
            <a:r>
              <a:rPr kumimoji="1" lang="zh-TW" altLang="en-US" dirty="0"/>
              <a:t> 內容）</a:t>
            </a:r>
            <a:endParaRPr kumimoji="1" lang="en-US" altLang="zh-TW" dirty="0"/>
          </a:p>
          <a:p>
            <a:pPr marL="0" indent="0">
              <a:buNone/>
            </a:pPr>
            <a:r>
              <a:rPr kumimoji="1" lang="zh-TW" altLang="en-US" dirty="0"/>
              <a:t>*</a:t>
            </a:r>
            <a:r>
              <a:rPr kumimoji="1" lang="en-US" altLang="zh-TW" dirty="0"/>
              <a:t>.</a:t>
            </a:r>
            <a:r>
              <a:rPr kumimoji="1" lang="zh-TW" altLang="en-US" dirty="0"/>
              <a:t> 當電腦無法處理過大的數字時會出現 </a:t>
            </a:r>
            <a:r>
              <a:rPr kumimoji="1" lang="en-US" altLang="zh-TW" dirty="0" err="1"/>
              <a:t>NaN</a:t>
            </a:r>
            <a:r>
              <a:rPr kumimoji="1" lang="zh-TW" altLang="en-US" dirty="0"/>
              <a:t>（</a:t>
            </a:r>
            <a:r>
              <a:rPr kumimoji="1" lang="en-US" altLang="zh-TW" dirty="0"/>
              <a:t>Not</a:t>
            </a:r>
            <a:r>
              <a:rPr kumimoji="1" lang="zh-TW" altLang="en-US" dirty="0"/>
              <a:t> </a:t>
            </a:r>
            <a:r>
              <a:rPr kumimoji="1" lang="en-US" altLang="zh-TW" dirty="0"/>
              <a:t>a</a:t>
            </a:r>
            <a:r>
              <a:rPr kumimoji="1" lang="zh-TW" altLang="en-US" dirty="0"/>
              <a:t> </a:t>
            </a:r>
            <a:r>
              <a:rPr kumimoji="1" lang="en-US" altLang="zh-TW" dirty="0"/>
              <a:t>Number</a:t>
            </a:r>
            <a:r>
              <a:rPr kumimoji="1" lang="zh-TW" altLang="en-US" dirty="0"/>
              <a:t>），導致訓練出的模型的權重均為 </a:t>
            </a:r>
            <a:r>
              <a:rPr kumimoji="1" lang="en-US" altLang="zh-TW" dirty="0" err="1"/>
              <a:t>NaN</a:t>
            </a:r>
            <a:r>
              <a:rPr kumimoji="1" lang="zh-TW" altLang="en-US" dirty="0"/>
              <a:t>，導致模型完全失效。</a:t>
            </a:r>
            <a:endParaRPr kumimoji="1" lang="en-US" altLang="zh-TW" dirty="0"/>
          </a:p>
          <a:p>
            <a:endParaRPr kumimoji="1" lang="zh-TW" altLang="en-US" dirty="0"/>
          </a:p>
        </p:txBody>
      </p:sp>
      <p:sp>
        <p:nvSpPr>
          <p:cNvPr id="4" name="日期版面配置區 3">
            <a:extLst>
              <a:ext uri="{FF2B5EF4-FFF2-40B4-BE49-F238E27FC236}">
                <a16:creationId xmlns:a16="http://schemas.microsoft.com/office/drawing/2014/main" id="{A3A850D7-1451-91E8-4806-520793810A2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9DCA2FC-037D-6677-3E57-CE3027633AE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8638304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76E8E-E309-B835-81C3-D9595AD11BD1}"/>
              </a:ext>
            </a:extLst>
          </p:cNvPr>
          <p:cNvSpPr>
            <a:spLocks noGrp="1"/>
          </p:cNvSpPr>
          <p:nvPr>
            <p:ph type="title"/>
          </p:nvPr>
        </p:nvSpPr>
        <p:spPr/>
        <p:txBody>
          <a:bodyPr/>
          <a:lstStyle/>
          <a:p>
            <a:r>
              <a:rPr kumimoji="1" lang="zh-TW" altLang="en-US" dirty="0"/>
              <a:t>梯度消失與梯度爆炸</a:t>
            </a:r>
          </a:p>
        </p:txBody>
      </p:sp>
      <p:sp>
        <p:nvSpPr>
          <p:cNvPr id="3" name="內容版面配置區 2">
            <a:extLst>
              <a:ext uri="{FF2B5EF4-FFF2-40B4-BE49-F238E27FC236}">
                <a16:creationId xmlns:a16="http://schemas.microsoft.com/office/drawing/2014/main" id="{A73C7684-E2F1-0725-8EE4-245838027B38}"/>
              </a:ext>
            </a:extLst>
          </p:cNvPr>
          <p:cNvSpPr>
            <a:spLocks noGrp="1"/>
          </p:cNvSpPr>
          <p:nvPr>
            <p:ph idx="1"/>
          </p:nvPr>
        </p:nvSpPr>
        <p:spPr>
          <a:xfrm>
            <a:off x="344925" y="2108201"/>
            <a:ext cx="11565424" cy="3760891"/>
          </a:xfrm>
        </p:spPr>
        <p:txBody>
          <a:bodyPr>
            <a:normAutofit/>
          </a:bodyPr>
          <a:lstStyle/>
          <a:p>
            <a:r>
              <a:rPr kumimoji="1" lang="zh-TW" altLang="en-US" dirty="0"/>
              <a:t>常見的解決方法：</a:t>
            </a:r>
            <a:endParaRPr kumimoji="1" lang="en-US" altLang="zh-TW" dirty="0"/>
          </a:p>
          <a:p>
            <a:pPr marL="457200" indent="-457200">
              <a:buFont typeface="+mj-lt"/>
              <a:buAutoNum type="arabicPeriod"/>
            </a:pPr>
            <a:r>
              <a:rPr kumimoji="1" lang="zh-TW" altLang="en-US" dirty="0"/>
              <a:t>使用 </a:t>
            </a:r>
            <a:r>
              <a:rPr kumimoji="1" lang="en-US" altLang="zh-TW" dirty="0" err="1"/>
              <a:t>ReLU</a:t>
            </a:r>
            <a:r>
              <a:rPr kumimoji="1" lang="zh-TW" altLang="en-US" dirty="0"/>
              <a:t> 當作 </a:t>
            </a:r>
            <a:r>
              <a:rPr kumimoji="1" lang="en-US" altLang="zh-TW" dirty="0"/>
              <a:t>hidden</a:t>
            </a:r>
            <a:r>
              <a:rPr kumimoji="1" lang="zh-TW" altLang="en-US" dirty="0"/>
              <a:t> </a:t>
            </a:r>
            <a:r>
              <a:rPr kumimoji="1" lang="en-US" altLang="zh-TW" dirty="0"/>
              <a:t>layers</a:t>
            </a:r>
            <a:r>
              <a:rPr kumimoji="1" lang="zh-TW" altLang="en-US" dirty="0"/>
              <a:t> 的激活函數。</a:t>
            </a:r>
            <a:endParaRPr kumimoji="1" lang="en-US" altLang="zh-TW" dirty="0"/>
          </a:p>
          <a:p>
            <a:pPr marL="457200" indent="-457200">
              <a:buFont typeface="+mj-lt"/>
              <a:buAutoNum type="arabicPeriod"/>
            </a:pPr>
            <a:r>
              <a:rPr kumimoji="1" lang="zh-TW" altLang="en-US" dirty="0"/>
              <a:t>適當的權重初始化方法。當網路使用 </a:t>
            </a:r>
            <a:r>
              <a:rPr kumimoji="1" lang="en-US" altLang="zh-TW" dirty="0" err="1"/>
              <a:t>ReLU</a:t>
            </a:r>
            <a:r>
              <a:rPr kumimoji="1" lang="en-US" altLang="zh-TW" dirty="0"/>
              <a:t> </a:t>
            </a:r>
            <a:r>
              <a:rPr kumimoji="1" lang="zh-TW" altLang="en-US" dirty="0"/>
              <a:t>作為激活函數時，則搭配 </a:t>
            </a:r>
            <a:r>
              <a:rPr kumimoji="1" lang="en-US" altLang="zh-TW" dirty="0"/>
              <a:t>He initialization</a:t>
            </a:r>
            <a:r>
              <a:rPr kumimoji="1" lang="zh-TW" altLang="en-US" dirty="0"/>
              <a:t>。</a:t>
            </a:r>
            <a:r>
              <a:rPr kumimoji="1" lang="zh-TW" altLang="en-US" sz="1800" dirty="0"/>
              <a:t>（*</a:t>
            </a:r>
            <a:r>
              <a:rPr kumimoji="1" lang="en-US" altLang="zh-TW" sz="1800" dirty="0"/>
              <a:t>.</a:t>
            </a:r>
            <a:r>
              <a:rPr kumimoji="1" lang="zh-TW" altLang="en-US" sz="1800" dirty="0"/>
              <a:t> 而在較早期的模型中，若使用 </a:t>
            </a:r>
            <a:r>
              <a:rPr kumimoji="1" lang="en-US" altLang="zh-TW" sz="1800" dirty="0"/>
              <a:t>sigmoid </a:t>
            </a:r>
            <a:r>
              <a:rPr kumimoji="1" lang="zh-TW" altLang="en-US" sz="1800" dirty="0"/>
              <a:t>或 </a:t>
            </a:r>
            <a:r>
              <a:rPr kumimoji="1" lang="en-US" altLang="zh-TW" sz="1800" dirty="0"/>
              <a:t>tanh</a:t>
            </a:r>
            <a:r>
              <a:rPr kumimoji="1" lang="zh-TW" altLang="en-US" sz="1800" dirty="0"/>
              <a:t>，則常採用 </a:t>
            </a:r>
            <a:r>
              <a:rPr kumimoji="1" lang="en-US" altLang="zh-TW" sz="1800" dirty="0"/>
              <a:t>Xavier</a:t>
            </a:r>
            <a:r>
              <a:rPr kumimoji="1" lang="zh-TW" altLang="en-US" sz="1800" dirty="0"/>
              <a:t> </a:t>
            </a:r>
            <a:r>
              <a:rPr kumimoji="1" lang="en-US" altLang="zh-TW" sz="1800" dirty="0"/>
              <a:t>/</a:t>
            </a:r>
            <a:r>
              <a:rPr kumimoji="1" lang="zh-TW" altLang="en-US" sz="1800" dirty="0"/>
              <a:t> </a:t>
            </a:r>
            <a:r>
              <a:rPr kumimoji="1" lang="en-US" altLang="zh-TW" sz="1800" dirty="0" err="1"/>
              <a:t>Glorot</a:t>
            </a:r>
            <a:r>
              <a:rPr kumimoji="1" lang="zh-TW" altLang="en-US" sz="1800" dirty="0"/>
              <a:t> </a:t>
            </a:r>
            <a:r>
              <a:rPr kumimoji="1" lang="en-US" altLang="zh-TW" sz="1800" dirty="0"/>
              <a:t>initialization</a:t>
            </a:r>
            <a:r>
              <a:rPr kumimoji="1" lang="zh-TW" altLang="en-US" sz="1800" dirty="0"/>
              <a:t>）</a:t>
            </a:r>
            <a:endParaRPr kumimoji="1" lang="en-US" altLang="zh-TW" sz="1800" dirty="0"/>
          </a:p>
          <a:p>
            <a:pPr marL="457200" indent="-457200">
              <a:buFont typeface="+mj-lt"/>
              <a:buAutoNum type="arabicPeriod"/>
            </a:pPr>
            <a:r>
              <a:rPr kumimoji="1" lang="zh-TW" altLang="en-US" dirty="0"/>
              <a:t>對每層的輸入值做 </a:t>
            </a:r>
            <a:r>
              <a:rPr kumimoji="1" lang="en-US" altLang="zh-TW" dirty="0"/>
              <a:t>Batch</a:t>
            </a:r>
            <a:r>
              <a:rPr kumimoji="1" lang="zh-TW" altLang="en-US" dirty="0"/>
              <a:t> </a:t>
            </a:r>
            <a:r>
              <a:rPr kumimoji="1" lang="en-US" altLang="zh-TW" dirty="0"/>
              <a:t>Normalization</a:t>
            </a:r>
            <a:r>
              <a:rPr kumimoji="1" lang="zh-TW" altLang="en-US" dirty="0"/>
              <a:t>（</a:t>
            </a:r>
            <a:r>
              <a:rPr kumimoji="1" lang="en-US" altLang="zh-TW" dirty="0" err="1"/>
              <a:t>batchnorm</a:t>
            </a:r>
            <a:r>
              <a:rPr kumimoji="1" lang="zh-TW" altLang="en-US" dirty="0"/>
              <a:t>），使其平均值都為 </a:t>
            </a:r>
            <a:r>
              <a:rPr kumimoji="1" lang="en-US" altLang="zh-TW" dirty="0"/>
              <a:t>0</a:t>
            </a:r>
            <a:r>
              <a:rPr kumimoji="1" lang="zh-TW" altLang="en-US" dirty="0"/>
              <a:t>，標準差為 </a:t>
            </a:r>
            <a:r>
              <a:rPr kumimoji="1" lang="en-US" altLang="zh-TW" dirty="0"/>
              <a:t>1</a:t>
            </a:r>
            <a:r>
              <a:rPr kumimoji="1" lang="zh-TW" altLang="en-US" dirty="0"/>
              <a:t>。</a:t>
            </a:r>
            <a:r>
              <a:rPr kumimoji="1" lang="en-US" altLang="zh-TW" dirty="0"/>
              <a:t> Batch</a:t>
            </a:r>
            <a:r>
              <a:rPr kumimoji="1" lang="zh-TW" altLang="en-US" dirty="0"/>
              <a:t> </a:t>
            </a:r>
            <a:r>
              <a:rPr kumimoji="1" lang="en-US" altLang="zh-TW" dirty="0"/>
              <a:t>Normalization</a:t>
            </a:r>
            <a:r>
              <a:rPr kumimoji="1" lang="zh-TW" altLang="en-US" dirty="0"/>
              <a:t> 的好處是能使每層的輸入維持在合理範圍內，進而有效地避免梯度消失或爆炸。</a:t>
            </a:r>
            <a:endParaRPr kumimoji="1" lang="en-US" altLang="zh-TW" dirty="0"/>
          </a:p>
        </p:txBody>
      </p:sp>
      <p:sp>
        <p:nvSpPr>
          <p:cNvPr id="4" name="日期版面配置區 3">
            <a:extLst>
              <a:ext uri="{FF2B5EF4-FFF2-40B4-BE49-F238E27FC236}">
                <a16:creationId xmlns:a16="http://schemas.microsoft.com/office/drawing/2014/main" id="{5F43D37A-A0B2-3FBA-D0F8-2DE22494680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13DD78D-0718-507E-9A69-91486A3C4B12}"/>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257638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D00A5C-970A-033F-8B91-FD7629073910}"/>
              </a:ext>
            </a:extLst>
          </p:cNvPr>
          <p:cNvSpPr>
            <a:spLocks noGrp="1"/>
          </p:cNvSpPr>
          <p:nvPr>
            <p:ph type="title"/>
          </p:nvPr>
        </p:nvSpPr>
        <p:spPr/>
        <p:txBody>
          <a:bodyPr/>
          <a:lstStyle/>
          <a:p>
            <a:r>
              <a:rPr kumimoji="1" lang="zh-TW" altLang="en-US" dirty="0"/>
              <a:t>梯度消失與梯度爆炸</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935D6F2-93D0-D8E9-373D-9FDBB4D7E4D7}"/>
                  </a:ext>
                </a:extLst>
              </p:cNvPr>
              <p:cNvSpPr>
                <a:spLocks noGrp="1"/>
              </p:cNvSpPr>
              <p:nvPr>
                <p:ph idx="1"/>
              </p:nvPr>
            </p:nvSpPr>
            <p:spPr/>
            <p:txBody>
              <a:bodyPr>
                <a:normAutofit/>
              </a:bodyPr>
              <a:lstStyle/>
              <a:p>
                <a:pPr marL="457200" indent="-457200">
                  <a:buFont typeface="+mj-lt"/>
                  <a:buAutoNum type="arabicPeriod" startAt="4"/>
                </a:pPr>
                <a:r>
                  <a:rPr kumimoji="1" lang="zh-TW" altLang="en-US" dirty="0"/>
                  <a:t>梯度裁剪（</a:t>
                </a:r>
                <a:r>
                  <a:rPr kumimoji="1" lang="en-US" altLang="zh-TW" dirty="0"/>
                  <a:t>Gradient Clipping</a:t>
                </a:r>
                <a:r>
                  <a:rPr kumimoji="1" lang="zh-TW" altLang="en-US" dirty="0"/>
                  <a:t>） 用於處理梯度過大的情況，通常有兩種做法：</a:t>
                </a:r>
                <a:endParaRPr kumimoji="1" lang="en-US" altLang="zh-TW" dirty="0"/>
              </a:p>
              <a:p>
                <a:pPr marL="749808" lvl="1" indent="-457200">
                  <a:buFont typeface="+mj-lt"/>
                  <a:buAutoNum type="arabicPeriod"/>
                </a:pPr>
                <a:r>
                  <a:rPr kumimoji="1" lang="zh-TW" altLang="en-US" dirty="0"/>
                  <a:t>按值裁剪（</a:t>
                </a:r>
                <a:r>
                  <a:rPr kumimoji="1" lang="en-US" altLang="zh-TW" dirty="0"/>
                  <a:t>Value Clipping</a:t>
                </a:r>
                <a:r>
                  <a:rPr kumimoji="1" lang="zh-TW" altLang="en-US" dirty="0"/>
                  <a:t>）：就是將梯度的每個值裁剪到一個固定的範圍 </a:t>
                </a:r>
                <a14:m>
                  <m:oMath xmlns:m="http://schemas.openxmlformats.org/officeDocument/2006/math">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𝑐</m:t>
                    </m:r>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𝑐</m:t>
                    </m:r>
                    <m:r>
                      <a:rPr kumimoji="1" lang="en-US" altLang="zh-TW" b="0" i="1" smtClean="0">
                        <a:latin typeface="Cambria Math" panose="02040503050406030204" pitchFamily="18" charset="0"/>
                      </a:rPr>
                      <m:t>]</m:t>
                    </m:r>
                  </m:oMath>
                </a14:m>
                <a:r>
                  <a:rPr kumimoji="1" lang="zh-TW" altLang="en-US" dirty="0"/>
                  <a:t>。簡單易用，但缺點是可能破壞梯度方向（因為每個值都是獨立裁剪的）。</a:t>
                </a:r>
                <a:endParaRPr kumimoji="1" lang="en-US" altLang="zh-TW" dirty="0"/>
              </a:p>
              <a:p>
                <a:pPr marL="749808" lvl="1" indent="-457200">
                  <a:buFont typeface="+mj-lt"/>
                  <a:buAutoNum type="arabicPeriod"/>
                </a:pPr>
                <a:r>
                  <a:rPr kumimoji="1" lang="zh-TW" altLang="en-US" dirty="0"/>
                  <a:t>範數裁剪（</a:t>
                </a:r>
                <a:r>
                  <a:rPr kumimoji="1" lang="en-US" altLang="zh-TW" dirty="0"/>
                  <a:t>Norm</a:t>
                </a:r>
                <a:r>
                  <a:rPr kumimoji="1" lang="zh-TW" altLang="en-US" dirty="0"/>
                  <a:t> </a:t>
                </a:r>
                <a:r>
                  <a:rPr kumimoji="1" lang="en-US" altLang="zh-TW" dirty="0"/>
                  <a:t>Clipping</a:t>
                </a:r>
                <a:r>
                  <a:rPr kumimoji="1" lang="zh-TW" altLang="en-US" dirty="0"/>
                  <a:t>）：計算整個梯度向量的 </a:t>
                </a:r>
                <a:r>
                  <a:rPr kumimoji="1" lang="en-US" altLang="zh-TW" dirty="0"/>
                  <a:t>L2 Norm</a:t>
                </a:r>
                <a:r>
                  <a:rPr kumimoji="1" lang="zh-TW" altLang="en-US" dirty="0"/>
                  <a:t>。如果超過某個閾值，則按比例縮放。此為較常見的做法。</a:t>
                </a:r>
                <a:endParaRPr kumimoji="1" lang="en-US" altLang="zh-TW" dirty="0"/>
              </a:p>
            </p:txBody>
          </p:sp>
        </mc:Choice>
        <mc:Fallback>
          <p:sp>
            <p:nvSpPr>
              <p:cNvPr id="3" name="內容版面配置區 2">
                <a:extLst>
                  <a:ext uri="{FF2B5EF4-FFF2-40B4-BE49-F238E27FC236}">
                    <a16:creationId xmlns:a16="http://schemas.microsoft.com/office/drawing/2014/main" id="{F935D6F2-93D0-D8E9-373D-9FDBB4D7E4D7}"/>
                  </a:ext>
                </a:extLst>
              </p:cNvPr>
              <p:cNvSpPr>
                <a:spLocks noGrp="1" noRot="1" noChangeAspect="1" noMove="1" noResize="1" noEditPoints="1" noAdjustHandles="1" noChangeArrowheads="1" noChangeShapeType="1" noTextEdit="1"/>
              </p:cNvSpPr>
              <p:nvPr>
                <p:ph idx="1"/>
              </p:nvPr>
            </p:nvSpPr>
            <p:spPr>
              <a:blipFill>
                <a:blip r:embed="rId2"/>
                <a:stretch>
                  <a:fillRect l="-1765" t="-1347" r="-176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C5C3DB2F-E509-EF11-30F2-BFBAB4126AD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BC6051F-CCC5-F007-77C0-6B5AAD289590}"/>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470938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1">
            <a:extLst>
              <a:ext uri="{FF2B5EF4-FFF2-40B4-BE49-F238E27FC236}">
                <a16:creationId xmlns:a16="http://schemas.microsoft.com/office/drawing/2014/main" id="{E9BA134F-37B6-498A-B46D-040B86E5D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3">
            <a:extLst>
              <a:ext uri="{FF2B5EF4-FFF2-40B4-BE49-F238E27FC236}">
                <a16:creationId xmlns:a16="http://schemas.microsoft.com/office/drawing/2014/main" id="{2BFE3F30-11E0-4842-8523-7222538C8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44106" y="0"/>
            <a:ext cx="754787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a:extLst>
              <a:ext uri="{FF2B5EF4-FFF2-40B4-BE49-F238E27FC236}">
                <a16:creationId xmlns:a16="http://schemas.microsoft.com/office/drawing/2014/main" id="{A0E623AC-067B-BEC6-EB95-F9F67A1AC79D}"/>
              </a:ext>
            </a:extLst>
          </p:cNvPr>
          <p:cNvSpPr>
            <a:spLocks noGrp="1"/>
          </p:cNvSpPr>
          <p:nvPr>
            <p:ph type="title"/>
          </p:nvPr>
        </p:nvSpPr>
        <p:spPr>
          <a:xfrm>
            <a:off x="5315801" y="516835"/>
            <a:ext cx="5778919" cy="1666501"/>
          </a:xfrm>
        </p:spPr>
        <p:txBody>
          <a:bodyPr>
            <a:normAutofit/>
          </a:bodyPr>
          <a:lstStyle/>
          <a:p>
            <a:r>
              <a:rPr kumimoji="1" lang="zh-TW" altLang="en-US" sz="4000">
                <a:solidFill>
                  <a:srgbClr val="FFFFFF"/>
                </a:solidFill>
              </a:rPr>
              <a:t>激活函式比較</a:t>
            </a:r>
          </a:p>
        </p:txBody>
      </p:sp>
      <p:cxnSp>
        <p:nvCxnSpPr>
          <p:cNvPr id="16" name="Straight Connector 15">
            <a:extLst>
              <a:ext uri="{FF2B5EF4-FFF2-40B4-BE49-F238E27FC236}">
                <a16:creationId xmlns:a16="http://schemas.microsoft.com/office/drawing/2014/main" id="{67E7D319-545A-41CD-95DF-4DE4FA8A46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5892" y="2344202"/>
            <a:ext cx="5577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A1C2D6A-85E4-DBC2-9C80-35F3CD1EF599}"/>
                  </a:ext>
                </a:extLst>
              </p:cNvPr>
              <p:cNvSpPr>
                <a:spLocks noGrp="1"/>
              </p:cNvSpPr>
              <p:nvPr>
                <p:ph idx="1"/>
              </p:nvPr>
            </p:nvSpPr>
            <p:spPr>
              <a:xfrm>
                <a:off x="5061387" y="2505069"/>
                <a:ext cx="6713316" cy="3383902"/>
              </a:xfrm>
            </p:spPr>
            <p:txBody>
              <a:bodyPr>
                <a:noAutofit/>
              </a:bodyPr>
              <a:lstStyle/>
              <a:p>
                <a:r>
                  <a:rPr kumimoji="1" lang="zh-TW" altLang="en-US" dirty="0">
                    <a:solidFill>
                      <a:srgbClr val="FFFFFF"/>
                    </a:solidFill>
                  </a:rPr>
                  <a:t>在觀察 </a:t>
                </a:r>
                <a:r>
                  <a:rPr kumimoji="1" lang="en-US" altLang="zh-TW" dirty="0" err="1">
                    <a:solidFill>
                      <a:srgbClr val="FFFFFF"/>
                    </a:solidFill>
                  </a:rPr>
                  <a:t>ReLU</a:t>
                </a:r>
                <a:r>
                  <a:rPr kumimoji="1" lang="en-US" altLang="zh-TW" dirty="0">
                    <a:solidFill>
                      <a:srgbClr val="FFFFFF"/>
                    </a:solidFill>
                  </a:rPr>
                  <a:t> </a:t>
                </a:r>
                <a:r>
                  <a:rPr kumimoji="1" lang="zh-TW" altLang="en-US" dirty="0">
                    <a:solidFill>
                      <a:srgbClr val="FFFFFF"/>
                    </a:solidFill>
                  </a:rPr>
                  <a:t>時，一個常見的疑慮是它在負數區域的行為 </a:t>
                </a:r>
                <a:r>
                  <a:rPr kumimoji="1" lang="en-US" altLang="zh-TW" dirty="0">
                    <a:solidFill>
                      <a:srgbClr val="FFFFFF"/>
                    </a:solidFill>
                  </a:rPr>
                  <a:t>–</a:t>
                </a:r>
                <a:r>
                  <a:rPr kumimoji="1" lang="zh-TW" altLang="en-US" dirty="0">
                    <a:solidFill>
                      <a:srgbClr val="FFFFFF"/>
                    </a:solidFill>
                  </a:rPr>
                  <a:t> 當輸入為負時，</a:t>
                </a:r>
                <a:r>
                  <a:rPr kumimoji="1" lang="en-US" altLang="zh-TW" dirty="0" err="1">
                    <a:solidFill>
                      <a:srgbClr val="FFFFFF"/>
                    </a:solidFill>
                  </a:rPr>
                  <a:t>ReLU</a:t>
                </a:r>
                <a:r>
                  <a:rPr kumimoji="1" lang="en-US" altLang="zh-TW" dirty="0">
                    <a:solidFill>
                      <a:srgbClr val="FFFFFF"/>
                    </a:solidFill>
                  </a:rPr>
                  <a:t> </a:t>
                </a:r>
                <a:r>
                  <a:rPr kumimoji="1" lang="zh-TW" altLang="en-US" dirty="0">
                    <a:solidFill>
                      <a:srgbClr val="FFFFFF"/>
                    </a:solidFill>
                  </a:rPr>
                  <a:t>的輸出為 </a:t>
                </a:r>
                <a:r>
                  <a:rPr kumimoji="1" lang="en-US" altLang="zh-TW" dirty="0">
                    <a:solidFill>
                      <a:srgbClr val="FFFFFF"/>
                    </a:solidFill>
                  </a:rPr>
                  <a:t>0</a:t>
                </a:r>
                <a:r>
                  <a:rPr kumimoji="1" lang="zh-TW" altLang="en-US" dirty="0">
                    <a:solidFill>
                      <a:srgbClr val="FFFFFF"/>
                    </a:solidFill>
                  </a:rPr>
                  <a:t>，且其導數同樣為 </a:t>
                </a:r>
                <a:r>
                  <a:rPr kumimoji="1" lang="en-US" altLang="zh-TW" dirty="0">
                    <a:solidFill>
                      <a:srgbClr val="FFFFFF"/>
                    </a:solidFill>
                  </a:rPr>
                  <a:t>0</a:t>
                </a:r>
                <a:r>
                  <a:rPr kumimoji="1" lang="zh-TW" altLang="en-US" dirty="0">
                    <a:solidFill>
                      <a:srgbClr val="FFFFFF"/>
                    </a:solidFill>
                  </a:rPr>
                  <a:t>。</a:t>
                </a:r>
                <a:endParaRPr kumimoji="1" lang="en-US" altLang="zh-TW" dirty="0">
                  <a:solidFill>
                    <a:srgbClr val="FFFFFF"/>
                  </a:solidFill>
                </a:endParaRPr>
              </a:p>
              <a:p>
                <a:r>
                  <a:rPr kumimoji="1" lang="zh-TW" altLang="en-US" dirty="0">
                    <a:solidFill>
                      <a:srgbClr val="FFFFFF"/>
                    </a:solidFill>
                  </a:rPr>
                  <a:t>若在激活函數之前的輸入值均為負數，經過 </a:t>
                </a:r>
                <a:r>
                  <a:rPr kumimoji="1" lang="en-US" altLang="zh-TW" dirty="0" err="1">
                    <a:solidFill>
                      <a:srgbClr val="FFFFFF"/>
                    </a:solidFill>
                  </a:rPr>
                  <a:t>ReLU</a:t>
                </a:r>
                <a:r>
                  <a:rPr kumimoji="1" lang="en-US" altLang="zh-TW" dirty="0">
                    <a:solidFill>
                      <a:srgbClr val="FFFFFF"/>
                    </a:solidFill>
                  </a:rPr>
                  <a:t> </a:t>
                </a:r>
                <a:r>
                  <a:rPr kumimoji="1" lang="zh-TW" altLang="en-US" dirty="0">
                    <a:solidFill>
                      <a:srgbClr val="FFFFFF"/>
                    </a:solidFill>
                  </a:rPr>
                  <a:t>後輸出恒為 </a:t>
                </a:r>
                <a:r>
                  <a:rPr kumimoji="1" lang="en-US" altLang="zh-TW" dirty="0">
                    <a:solidFill>
                      <a:srgbClr val="FFFFFF"/>
                    </a:solidFill>
                  </a:rPr>
                  <a:t>0</a:t>
                </a:r>
                <a:r>
                  <a:rPr kumimoji="1" lang="zh-TW" altLang="en-US" dirty="0">
                    <a:solidFill>
                      <a:srgbClr val="FFFFFF"/>
                    </a:solidFill>
                  </a:rPr>
                  <a:t>、導數為 </a:t>
                </a:r>
                <a:r>
                  <a:rPr kumimoji="1" lang="en-US" altLang="zh-TW" dirty="0">
                    <a:solidFill>
                      <a:srgbClr val="FFFFFF"/>
                    </a:solidFill>
                  </a:rPr>
                  <a:t>0</a:t>
                </a:r>
                <a:r>
                  <a:rPr kumimoji="1" lang="zh-TW" altLang="en-US" dirty="0">
                    <a:solidFill>
                      <a:srgbClr val="FFFFFF"/>
                    </a:solidFill>
                  </a:rPr>
                  <a:t>，反向傳播過程中乘上 </a:t>
                </a:r>
                <a14:m>
                  <m:oMath xmlns:m="http://schemas.openxmlformats.org/officeDocument/2006/math">
                    <m:sSup>
                      <m:sSupPr>
                        <m:ctrlPr>
                          <a:rPr kumimoji="1" lang="en-US" altLang="zh-TW" i="1">
                            <a:solidFill>
                              <a:srgbClr val="FFFFFF"/>
                            </a:solidFill>
                            <a:latin typeface="Cambria Math" panose="02040503050406030204" pitchFamily="18" charset="0"/>
                          </a:rPr>
                        </m:ctrlPr>
                      </m:sSupPr>
                      <m:e>
                        <m:sSup>
                          <m:sSupPr>
                            <m:ctrlPr>
                              <a:rPr kumimoji="1" lang="en-US" altLang="zh-TW" i="1">
                                <a:solidFill>
                                  <a:srgbClr val="FFFFFF"/>
                                </a:solidFill>
                                <a:latin typeface="Cambria Math" panose="02040503050406030204" pitchFamily="18" charset="0"/>
                              </a:rPr>
                            </m:ctrlPr>
                          </m:sSupPr>
                          <m:e>
                            <m:r>
                              <a:rPr kumimoji="1" lang="en-US" altLang="zh-TW" i="1">
                                <a:solidFill>
                                  <a:srgbClr val="FFFFFF"/>
                                </a:solidFill>
                                <a:latin typeface="Cambria Math" panose="02040503050406030204" pitchFamily="18" charset="0"/>
                              </a:rPr>
                              <m:t>𝑓</m:t>
                            </m:r>
                          </m:e>
                          <m:sup>
                            <m:r>
                              <a:rPr kumimoji="1" lang="en-US" altLang="zh-TW" i="1">
                                <a:solidFill>
                                  <a:srgbClr val="FFFFFF"/>
                                </a:solidFill>
                                <a:latin typeface="Cambria Math" panose="02040503050406030204" pitchFamily="18" charset="0"/>
                              </a:rPr>
                              <m:t>′</m:t>
                            </m:r>
                          </m:sup>
                        </m:sSup>
                      </m:e>
                      <m:sup>
                        <m:d>
                          <m:dPr>
                            <m:ctrlPr>
                              <a:rPr kumimoji="1" lang="en-US" altLang="zh-TW" i="1">
                                <a:solidFill>
                                  <a:srgbClr val="FFFFFF"/>
                                </a:solidFill>
                                <a:latin typeface="Cambria Math" panose="02040503050406030204" pitchFamily="18" charset="0"/>
                              </a:rPr>
                            </m:ctrlPr>
                          </m:dPr>
                          <m:e>
                            <m:r>
                              <a:rPr kumimoji="1" lang="en-US" altLang="zh-TW" i="1">
                                <a:solidFill>
                                  <a:srgbClr val="FFFFFF"/>
                                </a:solidFill>
                                <a:latin typeface="Cambria Math" panose="02040503050406030204" pitchFamily="18" charset="0"/>
                              </a:rPr>
                              <m:t>𝑙</m:t>
                            </m:r>
                          </m:e>
                        </m:d>
                      </m:sup>
                    </m:sSup>
                    <m:d>
                      <m:dPr>
                        <m:ctrlPr>
                          <a:rPr kumimoji="1" lang="en-US" altLang="zh-TW" i="1">
                            <a:solidFill>
                              <a:srgbClr val="FFFFFF"/>
                            </a:solidFill>
                            <a:latin typeface="Cambria Math" panose="02040503050406030204" pitchFamily="18" charset="0"/>
                          </a:rPr>
                        </m:ctrlPr>
                      </m:dPr>
                      <m:e>
                        <m:sSup>
                          <m:sSupPr>
                            <m:ctrlPr>
                              <a:rPr kumimoji="1" lang="en-US" altLang="zh-TW" i="1">
                                <a:solidFill>
                                  <a:srgbClr val="FFFFFF"/>
                                </a:solidFill>
                                <a:latin typeface="Cambria Math" panose="02040503050406030204" pitchFamily="18" charset="0"/>
                              </a:rPr>
                            </m:ctrlPr>
                          </m:sSupPr>
                          <m:e>
                            <m:r>
                              <a:rPr kumimoji="1" lang="en-US" altLang="zh-TW" i="1">
                                <a:solidFill>
                                  <a:srgbClr val="FFFFFF"/>
                                </a:solidFill>
                                <a:latin typeface="Cambria Math" panose="02040503050406030204" pitchFamily="18" charset="0"/>
                              </a:rPr>
                              <m:t>𝑧</m:t>
                            </m:r>
                          </m:e>
                          <m:sup>
                            <m:d>
                              <m:dPr>
                                <m:ctrlPr>
                                  <a:rPr kumimoji="1" lang="en-US" altLang="zh-TW" i="1">
                                    <a:solidFill>
                                      <a:srgbClr val="FFFFFF"/>
                                    </a:solidFill>
                                    <a:latin typeface="Cambria Math" panose="02040503050406030204" pitchFamily="18" charset="0"/>
                                  </a:rPr>
                                </m:ctrlPr>
                              </m:dPr>
                              <m:e>
                                <m:r>
                                  <a:rPr kumimoji="1" lang="en-US" altLang="zh-TW" i="1">
                                    <a:solidFill>
                                      <a:srgbClr val="FFFFFF"/>
                                    </a:solidFill>
                                    <a:latin typeface="Cambria Math" panose="02040503050406030204" pitchFamily="18" charset="0"/>
                                  </a:rPr>
                                  <m:t>𝑙</m:t>
                                </m:r>
                              </m:e>
                            </m:d>
                          </m:sup>
                        </m:sSup>
                      </m:e>
                    </m:d>
                  </m:oMath>
                </a14:m>
                <a:r>
                  <a:rPr kumimoji="1" lang="zh-TW" altLang="en-US" dirty="0">
                    <a:solidFill>
                      <a:srgbClr val="FFFFFF"/>
                    </a:solidFill>
                  </a:rPr>
                  <a:t> 後均為 </a:t>
                </a:r>
                <a:r>
                  <a:rPr kumimoji="1" lang="en-US" altLang="zh-TW" dirty="0">
                    <a:solidFill>
                      <a:srgbClr val="FFFFFF"/>
                    </a:solidFill>
                  </a:rPr>
                  <a:t>0</a:t>
                </a:r>
                <a:r>
                  <a:rPr kumimoji="1" lang="zh-TW" altLang="en-US" dirty="0">
                    <a:solidFill>
                      <a:srgbClr val="FFFFFF"/>
                    </a:solidFill>
                  </a:rPr>
                  <a:t>，就會導致神經元的權重無法更新，等同於神經元死亡了。</a:t>
                </a:r>
                <a:endParaRPr kumimoji="1" lang="en-US" altLang="zh-TW" dirty="0">
                  <a:solidFill>
                    <a:srgbClr val="FFFFFF"/>
                  </a:solidFill>
                </a:endParaRPr>
              </a:p>
              <a:p>
                <a:r>
                  <a:rPr kumimoji="1" lang="zh-TW" altLang="en-US" dirty="0">
                    <a:solidFill>
                      <a:srgbClr val="FFFFFF"/>
                    </a:solidFill>
                  </a:rPr>
                  <a:t>這個問題或現象被稱為 </a:t>
                </a:r>
                <a:r>
                  <a:rPr kumimoji="1" lang="en-US" altLang="zh-TW" dirty="0">
                    <a:solidFill>
                      <a:srgbClr val="FFFFFF"/>
                    </a:solidFill>
                  </a:rPr>
                  <a:t>Dying</a:t>
                </a:r>
                <a:r>
                  <a:rPr kumimoji="1" lang="zh-TW" altLang="en-US" dirty="0">
                    <a:solidFill>
                      <a:srgbClr val="FFFFFF"/>
                    </a:solidFill>
                  </a:rPr>
                  <a:t> </a:t>
                </a:r>
                <a:r>
                  <a:rPr kumimoji="1" lang="en-US" altLang="zh-TW" dirty="0" err="1">
                    <a:solidFill>
                      <a:srgbClr val="FFFFFF"/>
                    </a:solidFill>
                  </a:rPr>
                  <a:t>ReLU</a:t>
                </a:r>
                <a:r>
                  <a:rPr kumimoji="1" lang="zh-TW" altLang="en-US" dirty="0">
                    <a:solidFill>
                      <a:srgbClr val="FFFFFF"/>
                    </a:solidFill>
                  </a:rPr>
                  <a:t> </a:t>
                </a:r>
                <a:r>
                  <a:rPr kumimoji="1" lang="en-US" altLang="zh-TW" dirty="0">
                    <a:solidFill>
                      <a:srgbClr val="FFFFFF"/>
                    </a:solidFill>
                  </a:rPr>
                  <a:t>Problem</a:t>
                </a:r>
                <a:r>
                  <a:rPr kumimoji="1" lang="zh-TW" altLang="en-US" dirty="0">
                    <a:solidFill>
                      <a:srgbClr val="FFFFFF"/>
                    </a:solidFill>
                  </a:rPr>
                  <a:t>。</a:t>
                </a:r>
                <a:endParaRPr kumimoji="1" lang="en-US" altLang="zh-TW" dirty="0">
                  <a:solidFill>
                    <a:srgbClr val="FFFFFF"/>
                  </a:solidFill>
                </a:endParaRPr>
              </a:p>
            </p:txBody>
          </p:sp>
        </mc:Choice>
        <mc:Fallback xmlns="">
          <p:sp>
            <p:nvSpPr>
              <p:cNvPr id="3" name="內容版面配置區 2">
                <a:extLst>
                  <a:ext uri="{FF2B5EF4-FFF2-40B4-BE49-F238E27FC236}">
                    <a16:creationId xmlns:a16="http://schemas.microsoft.com/office/drawing/2014/main" id="{2A1C2D6A-85E4-DBC2-9C80-35F3CD1EF599}"/>
                  </a:ext>
                </a:extLst>
              </p:cNvPr>
              <p:cNvSpPr>
                <a:spLocks noGrp="1" noRot="1" noChangeAspect="1" noMove="1" noResize="1" noEditPoints="1" noAdjustHandles="1" noChangeArrowheads="1" noChangeShapeType="1" noTextEdit="1"/>
              </p:cNvSpPr>
              <p:nvPr>
                <p:ph idx="1"/>
              </p:nvPr>
            </p:nvSpPr>
            <p:spPr>
              <a:xfrm>
                <a:off x="5061387" y="2505069"/>
                <a:ext cx="6713316" cy="3383902"/>
              </a:xfrm>
              <a:blipFill>
                <a:blip r:embed="rId2"/>
                <a:stretch>
                  <a:fillRect l="-1321" t="-1498" r="-2642" b="-7116"/>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D87DEFB0-EFBD-ABB6-946B-0033769A5388}"/>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t>Deep Learning</a:t>
            </a:r>
          </a:p>
        </p:txBody>
      </p:sp>
      <p:pic>
        <p:nvPicPr>
          <p:cNvPr id="9" name="圖片 8" descr="一張含有 文字, 行, 圖表, 繪圖 的圖片&#10;&#10;AI 產生的內容可能不正確。">
            <a:extLst>
              <a:ext uri="{FF2B5EF4-FFF2-40B4-BE49-F238E27FC236}">
                <a16:creationId xmlns:a16="http://schemas.microsoft.com/office/drawing/2014/main" id="{9161EA60-122D-9B44-56D9-68C575CF79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19" y="258417"/>
            <a:ext cx="3804699" cy="6341165"/>
          </a:xfrm>
          <a:prstGeom prst="rect">
            <a:avLst/>
          </a:prstGeom>
        </p:spPr>
      </p:pic>
    </p:spTree>
    <p:extLst>
      <p:ext uri="{BB962C8B-B14F-4D97-AF65-F5344CB8AC3E}">
        <p14:creationId xmlns:p14="http://schemas.microsoft.com/office/powerpoint/2010/main" val="36122781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F4BC20-F324-768D-DAC8-4BA460968D31}"/>
              </a:ext>
            </a:extLst>
          </p:cNvPr>
          <p:cNvSpPr>
            <a:spLocks noGrp="1"/>
          </p:cNvSpPr>
          <p:nvPr>
            <p:ph type="title"/>
          </p:nvPr>
        </p:nvSpPr>
        <p:spPr/>
        <p:txBody>
          <a:bodyPr/>
          <a:lstStyle/>
          <a:p>
            <a:r>
              <a:rPr kumimoji="1" lang="zh-TW" altLang="en-US" dirty="0"/>
              <a:t>激活函式比較</a:t>
            </a:r>
          </a:p>
        </p:txBody>
      </p:sp>
      <p:sp>
        <p:nvSpPr>
          <p:cNvPr id="3" name="內容版面配置區 2">
            <a:extLst>
              <a:ext uri="{FF2B5EF4-FFF2-40B4-BE49-F238E27FC236}">
                <a16:creationId xmlns:a16="http://schemas.microsoft.com/office/drawing/2014/main" id="{D514716E-AD22-F2F2-203C-1629AAB6C1A5}"/>
              </a:ext>
            </a:extLst>
          </p:cNvPr>
          <p:cNvSpPr>
            <a:spLocks noGrp="1"/>
          </p:cNvSpPr>
          <p:nvPr>
            <p:ph idx="1"/>
          </p:nvPr>
        </p:nvSpPr>
        <p:spPr/>
        <p:txBody>
          <a:bodyPr>
            <a:noAutofit/>
          </a:bodyPr>
          <a:lstStyle/>
          <a:p>
            <a:r>
              <a:rPr kumimoji="1" lang="zh-TW" altLang="en-US" dirty="0"/>
              <a:t>一般認為，會發生 </a:t>
            </a:r>
            <a:r>
              <a:rPr kumimoji="1" lang="en-US" altLang="zh-TW" dirty="0"/>
              <a:t>Dying</a:t>
            </a:r>
            <a:r>
              <a:rPr kumimoji="1" lang="zh-TW" altLang="en-US" dirty="0"/>
              <a:t> </a:t>
            </a:r>
            <a:r>
              <a:rPr kumimoji="1" lang="en-US" altLang="zh-TW" dirty="0" err="1"/>
              <a:t>ReLU</a:t>
            </a:r>
            <a:r>
              <a:rPr kumimoji="1" lang="zh-TW" altLang="en-US" dirty="0"/>
              <a:t> </a:t>
            </a:r>
            <a:r>
              <a:rPr kumimoji="1" lang="en-US" altLang="zh-TW" dirty="0"/>
              <a:t>Problem</a:t>
            </a:r>
            <a:r>
              <a:rPr kumimoji="1" lang="zh-TW" altLang="en-US" dirty="0"/>
              <a:t> 的原因是學習率過高。權重在一次更新中被推得太遠，導致該激活函數的輸入值分佈整體移到負數區域。一旦進入這個狀態，就很難再被拉回來。</a:t>
            </a:r>
            <a:endParaRPr kumimoji="1" lang="en-US" altLang="zh-TW" dirty="0"/>
          </a:p>
          <a:p>
            <a:r>
              <a:rPr kumimoji="1" lang="zh-TW" altLang="en-US" dirty="0"/>
              <a:t>常見解決方式有兩種：</a:t>
            </a:r>
            <a:endParaRPr kumimoji="1" lang="en-US" altLang="zh-TW" dirty="0"/>
          </a:p>
          <a:p>
            <a:pPr marL="457200" indent="-457200">
              <a:buFont typeface="+mj-lt"/>
              <a:buAutoNum type="arabicPeriod"/>
            </a:pPr>
            <a:r>
              <a:rPr kumimoji="1" lang="zh-TW" altLang="en-US" dirty="0"/>
              <a:t>降低學習率：避免權重更新過於劇烈。</a:t>
            </a:r>
            <a:endParaRPr kumimoji="1" lang="en-US" altLang="zh-TW" dirty="0"/>
          </a:p>
          <a:p>
            <a:pPr marL="457200" indent="-457200">
              <a:buFont typeface="+mj-lt"/>
              <a:buAutoNum type="arabicPeriod"/>
            </a:pPr>
            <a:r>
              <a:rPr kumimoji="1" lang="zh-TW" altLang="en-US" dirty="0"/>
              <a:t>改用 </a:t>
            </a:r>
            <a:r>
              <a:rPr kumimoji="1" lang="en-US" altLang="zh-TW" dirty="0" err="1"/>
              <a:t>ReLU</a:t>
            </a:r>
            <a:r>
              <a:rPr kumimoji="1" lang="en-US" altLang="zh-TW" dirty="0"/>
              <a:t> </a:t>
            </a:r>
            <a:r>
              <a:rPr kumimoji="1" lang="zh-TW" altLang="en-US" dirty="0"/>
              <a:t>的變體 </a:t>
            </a:r>
            <a:r>
              <a:rPr kumimoji="1" lang="en-US" altLang="zh-TW" dirty="0"/>
              <a:t>–</a:t>
            </a:r>
            <a:r>
              <a:rPr kumimoji="1" lang="zh-TW" altLang="en-US" dirty="0"/>
              <a:t> </a:t>
            </a:r>
            <a:r>
              <a:rPr kumimoji="1" lang="en-US" altLang="zh-TW" dirty="0"/>
              <a:t>Leaky </a:t>
            </a:r>
            <a:r>
              <a:rPr kumimoji="1" lang="en-US" altLang="zh-TW" dirty="0" err="1"/>
              <a:t>ReLU</a:t>
            </a:r>
            <a:r>
              <a:rPr kumimoji="1" lang="zh-TW" altLang="en-US" dirty="0"/>
              <a:t>。</a:t>
            </a:r>
            <a:endParaRPr kumimoji="1" lang="en-US" altLang="zh-TW" dirty="0"/>
          </a:p>
          <a:p>
            <a:pPr marL="0" indent="0">
              <a:buNone/>
            </a:pPr>
            <a:r>
              <a:rPr kumimoji="1" lang="en-US" altLang="zh-TW" dirty="0"/>
              <a:t>Leaky </a:t>
            </a:r>
            <a:r>
              <a:rPr kumimoji="1" lang="en-US" altLang="zh-TW" dirty="0" err="1"/>
              <a:t>ReLU</a:t>
            </a:r>
            <a:r>
              <a:rPr kumimoji="1" lang="en-US" altLang="zh-TW" dirty="0"/>
              <a:t> </a:t>
            </a:r>
            <a:r>
              <a:rPr kumimoji="1" lang="zh-TW" altLang="en-US" dirty="0"/>
              <a:t>的想法很簡單，在輸入小於 </a:t>
            </a:r>
            <a:r>
              <a:rPr kumimoji="1" lang="en-US" altLang="zh-TW" dirty="0"/>
              <a:t>0 </a:t>
            </a:r>
            <a:r>
              <a:rPr kumimoji="1" lang="zh-TW" altLang="en-US" dirty="0"/>
              <a:t>時乘上一個 </a:t>
            </a:r>
            <a:r>
              <a:rPr kumimoji="1" lang="en-US" altLang="zh-TW" dirty="0"/>
              <a:t>0.01</a:t>
            </a:r>
            <a:r>
              <a:rPr kumimoji="1" lang="zh-TW" altLang="en-US" dirty="0"/>
              <a:t>（一個很小的數字），不再讓輸出完全為 </a:t>
            </a:r>
            <a:r>
              <a:rPr kumimoji="1" lang="en-US" altLang="zh-TW" dirty="0"/>
              <a:t>0</a:t>
            </a:r>
            <a:r>
              <a:rPr kumimoji="1" lang="zh-TW" altLang="en-US" dirty="0"/>
              <a:t>。公式如下：</a:t>
            </a:r>
            <a:endParaRPr kumimoji="1" lang="en-US" altLang="zh-TW" dirty="0"/>
          </a:p>
        </p:txBody>
      </p:sp>
      <p:sp>
        <p:nvSpPr>
          <p:cNvPr id="4" name="日期版面配置區 3">
            <a:extLst>
              <a:ext uri="{FF2B5EF4-FFF2-40B4-BE49-F238E27FC236}">
                <a16:creationId xmlns:a16="http://schemas.microsoft.com/office/drawing/2014/main" id="{F3F77088-7C82-3FE8-43AA-85A8E7A2C50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CA9753B-DF94-2D06-1F6D-9EDD97B3679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40135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74C300-EAD0-5439-29D4-29E4EBE69F04}"/>
              </a:ext>
            </a:extLst>
          </p:cNvPr>
          <p:cNvSpPr>
            <a:spLocks noGrp="1"/>
          </p:cNvSpPr>
          <p:nvPr>
            <p:ph type="title"/>
          </p:nvPr>
        </p:nvSpPr>
        <p:spPr/>
        <p:txBody>
          <a:bodyPr/>
          <a:lstStyle/>
          <a:p>
            <a:r>
              <a:rPr kumimoji="1" lang="zh-TW" altLang="en-US" dirty="0"/>
              <a:t>激活函式比較</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462D173-33A1-B636-9352-ED620BABD5FD}"/>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𝑓</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e>
                      </m:d>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eqArr>
                            <m:eqArrPr>
                              <m:ctrlPr>
                                <a:rPr kumimoji="1" lang="en-US" altLang="zh-TW" b="0" i="1" smtClean="0">
                                  <a:latin typeface="Cambria Math" panose="02040503050406030204" pitchFamily="18" charset="0"/>
                                </a:rPr>
                              </m:ctrlPr>
                            </m:eqArrPr>
                            <m:e>
                              <m:r>
                                <a:rPr kumimoji="1" lang="en-US" altLang="zh-TW" b="0" i="1" smtClean="0">
                                  <a:latin typeface="Cambria Math" panose="02040503050406030204" pitchFamily="18" charset="0"/>
                                </a:rPr>
                                <m:t>0.01</m:t>
                              </m:r>
                              <m:r>
                                <a:rPr kumimoji="1" lang="en-US" altLang="zh-TW" b="0" i="1" dirty="0" smtClean="0">
                                  <a:latin typeface="Cambria Math" panose="02040503050406030204" pitchFamily="18" charset="0"/>
                                </a:rPr>
                                <m:t>𝑥</m:t>
                              </m:r>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≤0</m:t>
                              </m:r>
                              <m:r>
                                <a:rPr kumimoji="1" lang="zh-TW" altLang="en-US" b="0" i="1" smtClean="0">
                                  <a:latin typeface="Cambria Math" panose="02040503050406030204" pitchFamily="18" charset="0"/>
                                </a:rPr>
                                <m:t> </m:t>
                              </m:r>
                            </m:e>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zh-TW" altLang="en-US" b="0" i="1" smtClean="0">
                                  <a:latin typeface="Cambria Math" panose="02040503050406030204" pitchFamily="18" charset="0"/>
                                </a:rPr>
                                <m:t> </m:t>
                              </m:r>
                              <m:r>
                                <a:rPr lang="en-US" altLang="zh-TW" b="0" i="1" smtClean="0">
                                  <a:latin typeface="Cambria Math" panose="02040503050406030204" pitchFamily="18" charset="0"/>
                                </a:rPr>
                                <m:t>𝑖𝑓</m:t>
                              </m:r>
                              <m:r>
                                <a:rPr lang="zh-TW" altLang="en-US" b="0" i="1" smtClean="0">
                                  <a:latin typeface="Cambria Math" panose="02040503050406030204" pitchFamily="18" charset="0"/>
                                </a:rPr>
                                <m:t> </m:t>
                              </m:r>
                              <m:r>
                                <a:rPr lang="en-US" altLang="zh-TW" b="0" i="1" smtClean="0">
                                  <a:latin typeface="Cambria Math" panose="02040503050406030204" pitchFamily="18" charset="0"/>
                                </a:rPr>
                                <m:t>𝑥</m:t>
                              </m:r>
                              <m:r>
                                <a:rPr lang="en-US" altLang="zh-TW" b="0" i="1" smtClean="0">
                                  <a:latin typeface="Cambria Math" panose="02040503050406030204" pitchFamily="18" charset="0"/>
                                </a:rPr>
                                <m:t>&gt;0</m:t>
                              </m:r>
                            </m:e>
                          </m:eqArr>
                        </m:e>
                      </m:d>
                    </m:oMath>
                  </m:oMathPara>
                </a14:m>
                <a:endParaRPr kumimoji="1" lang="en-US" altLang="zh-TW" dirty="0"/>
              </a:p>
              <a:p>
                <a:r>
                  <a:rPr kumimoji="1" lang="zh-TW" altLang="en-US" dirty="0"/>
                  <a:t>這樣即使輸入為負數，權重仍能被更新，從而降低 </a:t>
                </a:r>
                <a:r>
                  <a:rPr kumimoji="1" lang="en-US" altLang="zh-TW" dirty="0"/>
                  <a:t>Dying</a:t>
                </a:r>
                <a:r>
                  <a:rPr kumimoji="1" lang="zh-TW" altLang="en-US" dirty="0"/>
                  <a:t> </a:t>
                </a:r>
                <a:r>
                  <a:rPr kumimoji="1" lang="en-US" altLang="zh-TW" dirty="0" err="1"/>
                  <a:t>ReLU</a:t>
                </a:r>
                <a:r>
                  <a:rPr kumimoji="1" lang="zh-TW" altLang="en-US" dirty="0"/>
                  <a:t> </a:t>
                </a:r>
                <a:r>
                  <a:rPr kumimoji="1" lang="en-US" altLang="zh-TW" dirty="0"/>
                  <a:t>Problem</a:t>
                </a:r>
                <a:r>
                  <a:rPr kumimoji="1" lang="zh-TW" altLang="en-US" dirty="0"/>
                  <a:t> 發生的風險。</a:t>
                </a:r>
                <a:endParaRPr kumimoji="1" lang="en-US" altLang="zh-TW" dirty="0"/>
              </a:p>
              <a:p>
                <a:r>
                  <a:rPr kumimoji="1" lang="zh-TW" altLang="en-US" dirty="0"/>
                  <a:t>以下為其他常見的激活函式的比較：</a:t>
                </a:r>
              </a:p>
            </p:txBody>
          </p:sp>
        </mc:Choice>
        <mc:Fallback xmlns="">
          <p:sp>
            <p:nvSpPr>
              <p:cNvPr id="3" name="內容版面配置區 2">
                <a:extLst>
                  <a:ext uri="{FF2B5EF4-FFF2-40B4-BE49-F238E27FC236}">
                    <a16:creationId xmlns:a16="http://schemas.microsoft.com/office/drawing/2014/main" id="{2462D173-33A1-B636-9352-ED620BABD5FD}"/>
                  </a:ext>
                </a:extLst>
              </p:cNvPr>
              <p:cNvSpPr>
                <a:spLocks noGrp="1" noRot="1" noChangeAspect="1" noMove="1" noResize="1" noEditPoints="1" noAdjustHandles="1" noChangeArrowheads="1" noChangeShapeType="1" noTextEdit="1"/>
              </p:cNvSpPr>
              <p:nvPr>
                <p:ph idx="1"/>
              </p:nvPr>
            </p:nvSpPr>
            <p:spPr>
              <a:blipFill>
                <a:blip r:embed="rId2"/>
                <a:stretch>
                  <a:fillRect l="-1009" t="-48822" r="-75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AF66758D-33DB-C90C-2675-47C1D282E66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7DEABCA-BD79-5C13-E270-01670C22AD2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880386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E962132-9928-31E0-FA3B-47F86E498D22}"/>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902948E0-5B3B-CDA6-A00D-3DB86A871F24}"/>
              </a:ext>
            </a:extLst>
          </p:cNvPr>
          <p:cNvSpPr>
            <a:spLocks noGrp="1"/>
          </p:cNvSpPr>
          <p:nvPr>
            <p:ph type="sldNum" sz="quarter" idx="12"/>
          </p:nvPr>
        </p:nvSpPr>
        <p:spPr/>
        <p:txBody>
          <a:bodyPr/>
          <a:lstStyle/>
          <a:p>
            <a:r>
              <a:rPr lang="en-US" altLang="zh-TW" dirty="0"/>
              <a:t>Deep Learning</a:t>
            </a:r>
          </a:p>
        </p:txBody>
      </p:sp>
      <mc:AlternateContent xmlns:mc="http://schemas.openxmlformats.org/markup-compatibility/2006" xmlns:a14="http://schemas.microsoft.com/office/drawing/2010/main">
        <mc:Choice Requires="a14">
          <p:graphicFrame>
            <p:nvGraphicFramePr>
              <p:cNvPr id="4" name="內容版面配置區 5">
                <a:extLst>
                  <a:ext uri="{FF2B5EF4-FFF2-40B4-BE49-F238E27FC236}">
                    <a16:creationId xmlns:a16="http://schemas.microsoft.com/office/drawing/2014/main" id="{BB96A222-3018-5BC3-BFD1-3EF43DBC0EDB}"/>
                  </a:ext>
                </a:extLst>
              </p:cNvPr>
              <p:cNvGraphicFramePr>
                <a:graphicFrameLocks/>
              </p:cNvGraphicFramePr>
              <p:nvPr>
                <p:extLst>
                  <p:ext uri="{D42A27DB-BD31-4B8C-83A1-F6EECF244321}">
                    <p14:modId xmlns:p14="http://schemas.microsoft.com/office/powerpoint/2010/main" val="1064029926"/>
                  </p:ext>
                </p:extLst>
              </p:nvPr>
            </p:nvGraphicFramePr>
            <p:xfrm>
              <a:off x="0" y="0"/>
              <a:ext cx="12192000" cy="6392462"/>
            </p:xfrm>
            <a:graphic>
              <a:graphicData uri="http://schemas.openxmlformats.org/drawingml/2006/table">
                <a:tbl>
                  <a:tblPr firstRow="1" bandRow="1">
                    <a:tableStyleId>{5C22544A-7EE6-4342-B048-85BDC9FD1C3A}</a:tableStyleId>
                  </a:tblPr>
                  <a:tblGrid>
                    <a:gridCol w="1354238">
                      <a:extLst>
                        <a:ext uri="{9D8B030D-6E8A-4147-A177-3AD203B41FA5}">
                          <a16:colId xmlns:a16="http://schemas.microsoft.com/office/drawing/2014/main" val="1266574467"/>
                        </a:ext>
                      </a:extLst>
                    </a:gridCol>
                    <a:gridCol w="2349661">
                      <a:extLst>
                        <a:ext uri="{9D8B030D-6E8A-4147-A177-3AD203B41FA5}">
                          <a16:colId xmlns:a16="http://schemas.microsoft.com/office/drawing/2014/main" val="3557044866"/>
                        </a:ext>
                      </a:extLst>
                    </a:gridCol>
                    <a:gridCol w="1713053">
                      <a:extLst>
                        <a:ext uri="{9D8B030D-6E8A-4147-A177-3AD203B41FA5}">
                          <a16:colId xmlns:a16="http://schemas.microsoft.com/office/drawing/2014/main" val="1251847486"/>
                        </a:ext>
                      </a:extLst>
                    </a:gridCol>
                    <a:gridCol w="1215342">
                      <a:extLst>
                        <a:ext uri="{9D8B030D-6E8A-4147-A177-3AD203B41FA5}">
                          <a16:colId xmlns:a16="http://schemas.microsoft.com/office/drawing/2014/main" val="1870745904"/>
                        </a:ext>
                      </a:extLst>
                    </a:gridCol>
                    <a:gridCol w="2511706">
                      <a:extLst>
                        <a:ext uri="{9D8B030D-6E8A-4147-A177-3AD203B41FA5}">
                          <a16:colId xmlns:a16="http://schemas.microsoft.com/office/drawing/2014/main" val="1942576069"/>
                        </a:ext>
                      </a:extLst>
                    </a:gridCol>
                    <a:gridCol w="3048000">
                      <a:extLst>
                        <a:ext uri="{9D8B030D-6E8A-4147-A177-3AD203B41FA5}">
                          <a16:colId xmlns:a16="http://schemas.microsoft.com/office/drawing/2014/main" val="3236207095"/>
                        </a:ext>
                      </a:extLst>
                    </a:gridCol>
                  </a:tblGrid>
                  <a:tr h="464050">
                    <a:tc>
                      <a:txBody>
                        <a:bodyPr/>
                        <a:lstStyle/>
                        <a:p>
                          <a:pPr algn="ctr"/>
                          <a:r>
                            <a:rPr lang="zh-TW" altLang="en-US" dirty="0"/>
                            <a:t>激活函式</a:t>
                          </a:r>
                        </a:p>
                      </a:txBody>
                      <a:tcPr anchor="ctr"/>
                    </a:tc>
                    <a:tc>
                      <a:txBody>
                        <a:bodyPr/>
                        <a:lstStyle/>
                        <a:p>
                          <a:pPr algn="ctr"/>
                          <a:r>
                            <a:rPr lang="zh-TW" altLang="en-US" dirty="0"/>
                            <a:t>公式</a:t>
                          </a:r>
                        </a:p>
                      </a:txBody>
                      <a:tcPr anchor="ctr"/>
                    </a:tc>
                    <a:tc>
                      <a:txBody>
                        <a:bodyPr/>
                        <a:lstStyle/>
                        <a:p>
                          <a:pPr algn="ctr"/>
                          <a:r>
                            <a:rPr lang="zh-TW" altLang="en-US" dirty="0"/>
                            <a:t>圖形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輸出範圍</a:t>
                          </a:r>
                        </a:p>
                      </a:txBody>
                      <a:tcPr anchor="ctr"/>
                    </a:tc>
                    <a:tc>
                      <a:txBody>
                        <a:bodyPr/>
                        <a:lstStyle/>
                        <a:p>
                          <a:pPr algn="ctr"/>
                          <a:r>
                            <a:rPr lang="zh-TW" altLang="en-US" dirty="0"/>
                            <a:t>特性</a:t>
                          </a:r>
                        </a:p>
                      </a:txBody>
                      <a:tcPr anchor="ctr"/>
                    </a:tc>
                    <a:tc>
                      <a:txBody>
                        <a:bodyPr/>
                        <a:lstStyle/>
                        <a:p>
                          <a:pPr algn="ctr"/>
                          <a:r>
                            <a:rPr lang="zh-TW" altLang="en-US" dirty="0"/>
                            <a:t>應用場景</a:t>
                          </a:r>
                        </a:p>
                      </a:txBody>
                      <a:tcPr anchor="ctr"/>
                    </a:tc>
                    <a:extLst>
                      <a:ext uri="{0D108BD9-81ED-4DB2-BD59-A6C34878D82A}">
                        <a16:rowId xmlns:a16="http://schemas.microsoft.com/office/drawing/2014/main" val="4189902988"/>
                      </a:ext>
                    </a:extLst>
                  </a:tr>
                  <a:tr h="750812">
                    <a:tc>
                      <a:txBody>
                        <a:bodyPr/>
                        <a:lstStyle/>
                        <a:p>
                          <a:pPr algn="ctr"/>
                          <a:r>
                            <a:rPr lang="en-US" altLang="zh-TW" dirty="0"/>
                            <a:t>Sigmoid</a:t>
                          </a:r>
                          <a:r>
                            <a:rPr lang="zh-TW" altLang="en-US" dirty="0"/>
                            <a:t> </a:t>
                          </a:r>
                          <a:r>
                            <a:rPr lang="en-US" altLang="zh-TW" dirty="0"/>
                            <a:t>(Logistic)</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𝜎</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den>
                                </m:f>
                              </m:oMath>
                            </m:oMathPara>
                          </a14:m>
                          <a:endParaRPr lang="zh-TW" altLang="en-US" dirty="0"/>
                        </a:p>
                      </a:txBody>
                      <a:tcPr anchor="ctr"/>
                    </a:tc>
                    <a:tc>
                      <a:txBody>
                        <a:bodyPr/>
                        <a:lstStyle/>
                        <a:p>
                          <a:pPr algn="ct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1800" i="1" dirty="0" smtClean="0">
                                    <a:latin typeface="Cambria Math" panose="02040503050406030204" pitchFamily="18" charset="0"/>
                                  </a:rPr>
                                  <m:t>(0,1)</m:t>
                                </m:r>
                              </m:oMath>
                            </m:oMathPara>
                          </a14:m>
                          <a:endParaRPr/>
                        </a:p>
                      </a:txBody>
                      <a:tcPr anchor="ctr"/>
                    </a:tc>
                    <a:tc>
                      <a:txBody>
                        <a:bodyPr/>
                        <a:lstStyle/>
                        <a:p>
                          <a:pPr algn="ctr"/>
                          <a:r>
                            <a:rPr lang="zh-TW" altLang="en-US" sz="1400" dirty="0"/>
                            <a:t>過去時代常見的激活函式，但因梯度消失問題，現在已幾乎不再使用。</a:t>
                          </a:r>
                        </a:p>
                      </a:txBody>
                      <a:tcPr anchor="ctr"/>
                    </a:tc>
                    <a:tc>
                      <a:txBody>
                        <a:bodyPr/>
                        <a:lstStyle/>
                        <a:p>
                          <a:pPr algn="ctr"/>
                          <a:r>
                            <a:rPr lang="zh-TW" altLang="en-US" sz="1400" dirty="0"/>
                            <a:t>只在二元分類問題時用於 </a:t>
                          </a:r>
                          <a:r>
                            <a:rPr lang="en-US" altLang="zh-TW" sz="1400" dirty="0"/>
                            <a:t>output</a:t>
                          </a:r>
                          <a:r>
                            <a:rPr lang="zh-TW" altLang="en-US" sz="1400" dirty="0"/>
                            <a:t> </a:t>
                          </a:r>
                          <a:r>
                            <a:rPr lang="en-US" altLang="zh-TW" sz="1400" dirty="0" err="1"/>
                            <a:t>alyer</a:t>
                          </a:r>
                          <a:endParaRPr lang="zh-TW" altLang="en-US" sz="1400" dirty="0"/>
                        </a:p>
                      </a:txBody>
                      <a:tcPr anchor="ctr"/>
                    </a:tc>
                    <a:extLst>
                      <a:ext uri="{0D108BD9-81ED-4DB2-BD59-A6C34878D82A}">
                        <a16:rowId xmlns:a16="http://schemas.microsoft.com/office/drawing/2014/main" val="2698531018"/>
                      </a:ext>
                    </a:extLst>
                  </a:tr>
                  <a:tr h="923166">
                    <a:tc>
                      <a:txBody>
                        <a:bodyPr/>
                        <a:lstStyle/>
                        <a:p>
                          <a:pPr algn="ctr"/>
                          <a:r>
                            <a:rPr lang="en-US" altLang="zh-TW" dirty="0"/>
                            <a:t>Hyperbolic tangent (tanh)</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tanh</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e>
                                </m:func>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𝑥</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num>
                                  <m:den>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𝑥</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den>
                                </m:f>
                              </m:oMath>
                            </m:oMathPara>
                          </a14:m>
                          <a:endParaRPr lang="zh-TW" altLang="en-US" dirty="0"/>
                        </a:p>
                      </a:txBody>
                      <a:tcPr anchor="ctr"/>
                    </a:tc>
                    <a:tc>
                      <a:txBody>
                        <a:bodyPr/>
                        <a:lstStyle/>
                        <a:p>
                          <a:pPr algn="ct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(−1,1)</m:t>
                                </m:r>
                              </m:oMath>
                            </m:oMathPara>
                          </a14:m>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輸出均值接近 </a:t>
                          </a:r>
                          <a:r>
                            <a:rPr lang="en-US" altLang="zh-TW" sz="1400" dirty="0"/>
                            <a:t>0</a:t>
                          </a:r>
                          <a:r>
                            <a:rPr lang="zh-TW" altLang="en-US" sz="1400" dirty="0"/>
                            <a:t>，比 </a:t>
                          </a:r>
                          <a:r>
                            <a:rPr lang="en-US" altLang="zh-TW" sz="1400" dirty="0"/>
                            <a:t>sigmoid </a:t>
                          </a:r>
                          <a:r>
                            <a:rPr lang="zh-TW" altLang="en-US" sz="1400" dirty="0"/>
                            <a:t>的更「對稱」。是過去時代常見的激活函式，但也有梯度消失問題。</a:t>
                          </a:r>
                        </a:p>
                      </a:txBody>
                      <a:tcPr anchor="ctr"/>
                    </a:tc>
                    <a:tc>
                      <a:txBody>
                        <a:bodyPr/>
                        <a:lstStyle/>
                        <a:p>
                          <a:pPr algn="ctr"/>
                          <a:r>
                            <a:rPr lang="zh-TW" altLang="en-US" sz="1400" dirty="0"/>
                            <a:t>在某些 </a:t>
                          </a:r>
                          <a:r>
                            <a:rPr lang="en-US" altLang="zh-TW" sz="1400" dirty="0"/>
                            <a:t>RNN,</a:t>
                          </a:r>
                          <a:r>
                            <a:rPr lang="zh-TW" altLang="en-US" sz="1400" dirty="0"/>
                            <a:t> </a:t>
                          </a:r>
                          <a:r>
                            <a:rPr lang="en-US" altLang="zh-TW" sz="1400" dirty="0"/>
                            <a:t>LSTM,</a:t>
                          </a:r>
                          <a:r>
                            <a:rPr lang="zh-TW" altLang="en-US" sz="1400" dirty="0"/>
                            <a:t> </a:t>
                          </a:r>
                          <a:r>
                            <a:rPr lang="en-US" altLang="zh-TW" sz="1400" dirty="0"/>
                            <a:t>GRU</a:t>
                          </a:r>
                          <a:r>
                            <a:rPr lang="zh-TW" altLang="en-US" sz="1400" dirty="0"/>
                            <a:t> 的預設激活函式仍會使用 </a:t>
                          </a:r>
                          <a:r>
                            <a:rPr lang="en-US" altLang="zh-TW" sz="1400" dirty="0"/>
                            <a:t>tanh</a:t>
                          </a:r>
                          <a:endParaRPr lang="zh-TW" altLang="en-US" sz="1400" dirty="0"/>
                        </a:p>
                      </a:txBody>
                      <a:tcPr anchor="ctr"/>
                    </a:tc>
                    <a:extLst>
                      <a:ext uri="{0D108BD9-81ED-4DB2-BD59-A6C34878D82A}">
                        <a16:rowId xmlns:a16="http://schemas.microsoft.com/office/drawing/2014/main" val="129500962"/>
                      </a:ext>
                    </a:extLst>
                  </a:tr>
                  <a:tr h="893387">
                    <a:tc>
                      <a:txBody>
                        <a:bodyPr/>
                        <a:lstStyle/>
                        <a:p>
                          <a:pPr algn="ctr"/>
                          <a:r>
                            <a:rPr lang="en-US" altLang="zh-TW" dirty="0"/>
                            <a:t>Rectified linear unit (</a:t>
                          </a:r>
                          <a:r>
                            <a:rPr lang="en-US" altLang="zh-TW" dirty="0" err="1"/>
                            <a:t>ReLU</a:t>
                          </a:r>
                          <a:r>
                            <a:rPr lang="en-US" altLang="zh-TW" dirty="0"/>
                            <a:t>)</a:t>
                          </a: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1" lang="en-US" altLang="zh-TW" b="0" i="1" smtClean="0">
                                  <a:latin typeface="Cambria Math" panose="02040503050406030204" pitchFamily="18" charset="0"/>
                                </a:rPr>
                                <m:t>𝑓</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e>
                              </m:d>
                              <m:r>
                                <a:rPr kumimoji="1" lang="en-US" altLang="zh-TW" b="0" i="1" smtClean="0">
                                  <a:latin typeface="Cambria Math" panose="02040503050406030204" pitchFamily="18" charset="0"/>
                                </a:rPr>
                                <m:t>=</m:t>
                              </m:r>
                              <m:func>
                                <m:funcPr>
                                  <m:ctrlPr>
                                    <a:rPr kumimoji="1" lang="en-US" altLang="zh-TW" b="0" i="1" smtClean="0">
                                      <a:latin typeface="Cambria Math" panose="02040503050406030204" pitchFamily="18" charset="0"/>
                                    </a:rPr>
                                  </m:ctrlPr>
                                </m:funcPr>
                                <m:fName>
                                  <m:r>
                                    <m:rPr>
                                      <m:sty m:val="p"/>
                                    </m:rPr>
                                    <a:rPr kumimoji="1" lang="en-US" altLang="zh-TW" b="0" i="0" smtClean="0">
                                      <a:latin typeface="Cambria Math" panose="02040503050406030204" pitchFamily="18" charset="0"/>
                                    </a:rPr>
                                    <m:t>max</m:t>
                                  </m:r>
                                </m:fName>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0,</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𝑥</m:t>
                                      </m:r>
                                    </m:e>
                                  </m:d>
                                </m:e>
                              </m:func>
                            </m:oMath>
                          </a14:m>
                          <a:r>
                            <a:rPr kumimoji="1" lang="zh-TW" altLang="en-US" b="0" dirty="0"/>
                            <a:t> </a:t>
                          </a:r>
                          <a:endParaRPr kumimoji="1" lang="en-US" altLang="zh-TW" b="0" dirty="0"/>
                        </a:p>
                      </a:txBody>
                      <a:tcPr anchor="ctr"/>
                    </a:tc>
                    <a:tc>
                      <a:txBody>
                        <a:bodyPr/>
                        <a:lstStyle/>
                        <a:p>
                          <a:pPr algn="ctr"/>
                          <a:endParaRPr lang="zh-TW" altLang="en-US"/>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[0,</m:t>
                                </m:r>
                                <m:r>
                                  <a:rPr lang="en-US" altLang="zh-TW"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oMath>
                            </m:oMathPara>
                          </a14:m>
                          <a:endParaRPr/>
                        </a:p>
                      </a:txBody>
                      <a:tcPr anchor="ctr"/>
                    </a:tc>
                    <a:tc>
                      <a:txBody>
                        <a:bodyPr/>
                        <a:lstStyle/>
                        <a:p>
                          <a:pPr algn="ctr"/>
                          <a:r>
                            <a:rPr lang="zh-TW" altLang="en-US" sz="1400" dirty="0"/>
                            <a:t>公式簡單，所以計算速度非常快。另外，能緩解梯度消失問題。</a:t>
                          </a:r>
                        </a:p>
                      </a:txBody>
                      <a:tcPr anchor="ctr"/>
                    </a:tc>
                    <a:tc>
                      <a:txBody>
                        <a:bodyPr/>
                        <a:lstStyle/>
                        <a:p>
                          <a:pPr algn="ctr"/>
                          <a:r>
                            <a:rPr lang="zh-TW" altLang="en-US" sz="1400" dirty="0"/>
                            <a:t>深度神經網路的常見選擇</a:t>
                          </a:r>
                        </a:p>
                      </a:txBody>
                      <a:tcPr anchor="ctr"/>
                    </a:tc>
                    <a:extLst>
                      <a:ext uri="{0D108BD9-81ED-4DB2-BD59-A6C34878D82A}">
                        <a16:rowId xmlns:a16="http://schemas.microsoft.com/office/drawing/2014/main" val="702437554"/>
                      </a:ext>
                    </a:extLst>
                  </a:tr>
                  <a:tr h="949038">
                    <a:tc>
                      <a:txBody>
                        <a:bodyPr/>
                        <a:lstStyle/>
                        <a:p>
                          <a:pPr algn="ctr"/>
                          <a:r>
                            <a:rPr lang="en-US" altLang="zh-TW" dirty="0"/>
                            <a:t>Leaky </a:t>
                          </a:r>
                          <a:r>
                            <a:rPr lang="en-US" altLang="zh-TW" dirty="0" err="1"/>
                            <a:t>ReLU</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𝑓</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e>
                                </m:d>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eqArr>
                                      <m:eqArrPr>
                                        <m:ctrlPr>
                                          <a:rPr kumimoji="1" lang="en-US" altLang="zh-TW" b="0" i="1" smtClean="0">
                                            <a:latin typeface="Cambria Math" panose="02040503050406030204" pitchFamily="18" charset="0"/>
                                          </a:rPr>
                                        </m:ctrlPr>
                                      </m:eqArrPr>
                                      <m:e>
                                        <m:r>
                                          <a:rPr kumimoji="1" lang="en-US" altLang="zh-TW" b="0" i="1" smtClean="0">
                                            <a:latin typeface="Cambria Math" panose="02040503050406030204" pitchFamily="18" charset="0"/>
                                          </a:rPr>
                                          <m:t>0.01</m:t>
                                        </m:r>
                                        <m:r>
                                          <a:rPr kumimoji="1" lang="en-US" altLang="zh-TW" b="0" i="1" dirty="0" smtClean="0">
                                            <a:latin typeface="Cambria Math" panose="02040503050406030204" pitchFamily="18" charset="0"/>
                                          </a:rPr>
                                          <m:t>𝑥</m:t>
                                        </m:r>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≤0</m:t>
                                        </m:r>
                                        <m:r>
                                          <a:rPr kumimoji="1" lang="zh-TW" altLang="en-US" b="0" i="1" smtClean="0">
                                            <a:latin typeface="Cambria Math" panose="02040503050406030204" pitchFamily="18" charset="0"/>
                                          </a:rPr>
                                          <m:t> </m:t>
                                        </m:r>
                                      </m:e>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zh-TW" altLang="en-US" b="0" i="1" smtClean="0">
                                            <a:latin typeface="Cambria Math" panose="02040503050406030204" pitchFamily="18" charset="0"/>
                                          </a:rPr>
                                          <m:t> </m:t>
                                        </m:r>
                                        <m:r>
                                          <a:rPr lang="en-US" altLang="zh-TW" b="0" i="1" smtClean="0">
                                            <a:latin typeface="Cambria Math" panose="02040503050406030204" pitchFamily="18" charset="0"/>
                                          </a:rPr>
                                          <m:t>𝑖𝑓</m:t>
                                        </m:r>
                                        <m:r>
                                          <a:rPr lang="zh-TW" altLang="en-US" b="0" i="1" smtClean="0">
                                            <a:latin typeface="Cambria Math" panose="02040503050406030204" pitchFamily="18" charset="0"/>
                                          </a:rPr>
                                          <m:t> </m:t>
                                        </m:r>
                                        <m:r>
                                          <a:rPr lang="en-US" altLang="zh-TW" b="0" i="1" smtClean="0">
                                            <a:latin typeface="Cambria Math" panose="02040503050406030204" pitchFamily="18" charset="0"/>
                                          </a:rPr>
                                          <m:t>𝑥</m:t>
                                        </m:r>
                                        <m:r>
                                          <a:rPr lang="en-US" altLang="zh-TW" b="0" i="1" smtClean="0">
                                            <a:latin typeface="Cambria Math" panose="02040503050406030204" pitchFamily="18" charset="0"/>
                                          </a:rPr>
                                          <m:t>&gt;0</m:t>
                                        </m:r>
                                      </m:e>
                                    </m:eqArr>
                                  </m:e>
                                </m:d>
                              </m:oMath>
                            </m:oMathPara>
                          </a14:m>
                          <a:endParaRPr lang="zh-TW" altLang="en-US" dirty="0"/>
                        </a:p>
                      </a:txBody>
                      <a:tcPr anchor="ctr"/>
                    </a:tc>
                    <a:tc>
                      <a:txBody>
                        <a:bodyPr/>
                        <a:lstStyle/>
                        <a:p>
                          <a:pPr algn="ct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r>
                                  <a:rPr lang="en-US" altLang="zh-TW" b="0" i="1" dirty="0" smtClean="0">
                                    <a:latin typeface="Cambria Math" panose="02040503050406030204" pitchFamily="18" charset="0"/>
                                  </a:rPr>
                                  <m:t>−</m:t>
                                </m:r>
                                <m:r>
                                  <a:rPr lang="en-US" altLang="zh-TW" i="1" dirty="0" smtClean="0">
                                    <a:latin typeface="Cambria Math" panose="02040503050406030204" pitchFamily="18" charset="0"/>
                                    <a:ea typeface="Cambria Math" panose="02040503050406030204" pitchFamily="18" charset="0"/>
                                  </a:rPr>
                                  <m:t>∞</m:t>
                                </m:r>
                                <m:r>
                                  <a:rPr lang="en-US" altLang="zh-TW" i="1" dirty="0" smtClean="0">
                                    <a:latin typeface="Cambria Math" panose="02040503050406030204" pitchFamily="18" charset="0"/>
                                  </a:rPr>
                                  <m:t>,</m:t>
                                </m:r>
                                <m:r>
                                  <a:rPr lang="en-US" altLang="zh-TW"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nchor="ctr"/>
                    </a:tc>
                    <a:tc>
                      <a:txBody>
                        <a:bodyPr/>
                        <a:lstStyle/>
                        <a:p>
                          <a:pPr algn="ctr"/>
                          <a:r>
                            <a:rPr lang="zh-TW" altLang="en-US" sz="1400" dirty="0"/>
                            <a:t>改良版的 </a:t>
                          </a:r>
                          <a:r>
                            <a:rPr lang="en-US" altLang="zh-TW" sz="1400" dirty="0" err="1"/>
                            <a:t>ReLU</a:t>
                          </a:r>
                          <a:r>
                            <a:rPr lang="zh-TW" altLang="en-US" sz="1400" dirty="0"/>
                            <a:t>，可以避免 </a:t>
                          </a:r>
                          <a:r>
                            <a:rPr lang="en-US" altLang="zh-TW" sz="1400" dirty="0"/>
                            <a:t>Dying</a:t>
                          </a:r>
                          <a:r>
                            <a:rPr lang="zh-TW" altLang="en-US" sz="1400" dirty="0"/>
                            <a:t> </a:t>
                          </a:r>
                          <a:r>
                            <a:rPr lang="en-US" altLang="zh-TW" sz="1400" dirty="0" err="1"/>
                            <a:t>ReLU</a:t>
                          </a:r>
                          <a:r>
                            <a:rPr lang="zh-TW" altLang="en-US" sz="1400" dirty="0"/>
                            <a:t> </a:t>
                          </a:r>
                          <a:r>
                            <a:rPr lang="en-US" altLang="zh-TW" sz="1400" dirty="0"/>
                            <a:t>Problem</a:t>
                          </a:r>
                          <a:r>
                            <a:rPr lang="zh-TW" altLang="en-US" sz="14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深度神經網路的常見選擇</a:t>
                          </a:r>
                        </a:p>
                      </a:txBody>
                      <a:tcPr anchor="ctr"/>
                    </a:tc>
                    <a:extLst>
                      <a:ext uri="{0D108BD9-81ED-4DB2-BD59-A6C34878D82A}">
                        <a16:rowId xmlns:a16="http://schemas.microsoft.com/office/drawing/2014/main" val="3789185777"/>
                      </a:ext>
                    </a:extLst>
                  </a:tr>
                  <a:tr h="1161403">
                    <a:tc>
                      <a:txBody>
                        <a:bodyPr/>
                        <a:lstStyle/>
                        <a:p>
                          <a:pPr algn="ctr"/>
                          <a:r>
                            <a:rPr lang="en-US" altLang="zh-TW" dirty="0"/>
                            <a:t>Sigmoid linear unit</a:t>
                          </a:r>
                          <a:r>
                            <a:rPr lang="zh-TW" altLang="en-US" dirty="0"/>
                            <a:t> </a:t>
                          </a:r>
                          <a:r>
                            <a:rPr lang="en-US" altLang="zh-TW" dirty="0"/>
                            <a:t>(</a:t>
                          </a:r>
                          <a:r>
                            <a:rPr lang="en-US" altLang="zh-TW" dirty="0" err="1"/>
                            <a:t>SiLU</a:t>
                          </a:r>
                          <a:r>
                            <a:rPr lang="zh-TW" altLang="en-US" dirty="0"/>
                            <a:t> </a:t>
                          </a:r>
                          <a:r>
                            <a:rPr lang="en-US" altLang="zh-TW" dirty="0"/>
                            <a:t>or</a:t>
                          </a:r>
                          <a:r>
                            <a:rPr lang="zh-TW" altLang="en-US" dirty="0"/>
                            <a:t> </a:t>
                          </a:r>
                          <a:r>
                            <a:rPr lang="en-US" altLang="zh-TW" dirty="0"/>
                            <a:t>Swish)</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zh-TW" altLang="en-US" i="1" smtClean="0">
                                    <a:latin typeface="Cambria Math" panose="02040503050406030204" pitchFamily="18" charset="0"/>
                                  </a:rPr>
                                  <m:t>𝜎</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oMath>
                            </m:oMathPara>
                          </a14:m>
                          <a:endParaRPr lang="zh-TW" altLang="en-US" dirty="0"/>
                        </a:p>
                      </a:txBody>
                      <a:tcPr anchor="ctr"/>
                    </a:tc>
                    <a:tc>
                      <a:txBody>
                        <a:bodyPr/>
                        <a:lstStyle/>
                        <a:p>
                          <a:pPr algn="ctr"/>
                          <a:endParaRPr lang="zh-TW"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r>
                                  <a:rPr lang="en-US" altLang="zh-TW" b="0" i="1" dirty="0" smtClean="0">
                                    <a:latin typeface="Cambria Math" panose="02040503050406030204" pitchFamily="18" charset="0"/>
                                  </a:rPr>
                                  <m:t>−0.278…</m:t>
                                </m:r>
                              </m:oMath>
                            </m:oMathPara>
                          </a14:m>
                          <a:endParaRPr lang="en-US" altLang="zh-TW"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r>
                                  <a:rPr lang="en-US" altLang="zh-TW"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nchor="ctr"/>
                    </a:tc>
                    <a:tc>
                      <a:txBody>
                        <a:bodyPr/>
                        <a:lstStyle/>
                        <a:p>
                          <a:pPr algn="ctr"/>
                          <a:r>
                            <a:rPr lang="zh-TW" altLang="en-US" sz="1400" dirty="0"/>
                            <a:t>正數區域和 </a:t>
                          </a:r>
                          <a:r>
                            <a:rPr lang="en-US" altLang="zh-TW" sz="1400" dirty="0" err="1"/>
                            <a:t>ReLU</a:t>
                          </a:r>
                          <a:r>
                            <a:rPr lang="en-US" altLang="zh-TW" sz="1400" dirty="0"/>
                            <a:t> </a:t>
                          </a:r>
                          <a:r>
                            <a:rPr lang="zh-TW" altLang="en-US" sz="1400" dirty="0"/>
                            <a:t>類似（輸出大致接近 </a:t>
                          </a:r>
                          <a:r>
                            <a:rPr lang="en-US" altLang="zh-TW" sz="1400" dirty="0"/>
                            <a:t>x</a:t>
                          </a:r>
                          <a:r>
                            <a:rPr lang="zh-TW" altLang="en-US" sz="1400" dirty="0"/>
                            <a:t>），但負數區域不是完全 </a:t>
                          </a:r>
                          <a:r>
                            <a:rPr lang="en-US" altLang="zh-TW" sz="1400" dirty="0"/>
                            <a:t>0</a:t>
                          </a:r>
                          <a:r>
                            <a:rPr lang="zh-TW" altLang="en-US" sz="1400" dirty="0"/>
                            <a:t>，而是有「小幅度負輸出」</a:t>
                          </a:r>
                        </a:p>
                      </a:txBody>
                      <a:tcPr anchor="ctr"/>
                    </a:tc>
                    <a:tc>
                      <a:txBody>
                        <a:bodyPr/>
                        <a:lstStyle/>
                        <a:p>
                          <a:pPr algn="ctr"/>
                          <a:r>
                            <a:rPr lang="zh-TW" altLang="en-US" sz="1400" dirty="0"/>
                            <a:t>處理「圖形」的深度神經網路。例如中研院推出的 </a:t>
                          </a:r>
                          <a:r>
                            <a:rPr lang="en-US" altLang="zh-TW" sz="1400" dirty="0"/>
                            <a:t>YOLOv7</a:t>
                          </a:r>
                          <a:r>
                            <a:rPr lang="zh-TW" altLang="en-US" sz="1400" dirty="0"/>
                            <a:t>。*</a:t>
                          </a:r>
                          <a:r>
                            <a:rPr lang="en-US" altLang="zh-TW" sz="1400" dirty="0"/>
                            <a:t>.</a:t>
                          </a:r>
                          <a:r>
                            <a:rPr lang="zh-TW" altLang="en-US" sz="1400" dirty="0"/>
                            <a:t> </a:t>
                          </a:r>
                          <a:r>
                            <a:rPr lang="en-US" altLang="zh-TW" sz="1400" dirty="0">
                              <a:hlinkClick r:id="rId2"/>
                            </a:rPr>
                            <a:t>https://arxiv.org/abs/2207.02696</a:t>
                          </a:r>
                          <a:endParaRPr lang="en-US" altLang="zh-TW" sz="1400" dirty="0"/>
                        </a:p>
                      </a:txBody>
                      <a:tcPr anchor="ctr"/>
                    </a:tc>
                    <a:extLst>
                      <a:ext uri="{0D108BD9-81ED-4DB2-BD59-A6C34878D82A}">
                        <a16:rowId xmlns:a16="http://schemas.microsoft.com/office/drawing/2014/main" val="1109774194"/>
                      </a:ext>
                    </a:extLst>
                  </a:tr>
                  <a:tr h="1131623">
                    <a:tc>
                      <a:txBody>
                        <a:bodyPr/>
                        <a:lstStyle/>
                        <a:p>
                          <a:pPr algn="ctr"/>
                          <a:r>
                            <a:rPr lang="en-US" altLang="zh-TW" dirty="0"/>
                            <a:t>Gaussian Error Linear Unit (</a:t>
                          </a:r>
                          <a:r>
                            <a:rPr lang="en-US" altLang="zh-TW" dirty="0" err="1"/>
                            <a:t>GeLU</a:t>
                          </a:r>
                          <a:r>
                            <a:rPr lang="en-US" altLang="zh-TW" dirty="0"/>
                            <a:t>)</a:t>
                          </a:r>
                          <a:endParaRPr lang="zh-TW"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r>
                                  <a:rPr lang="en-US" altLang="zh-TW" b="0" i="1" smtClean="0">
                                    <a:latin typeface="Cambria Math" panose="02040503050406030204" pitchFamily="18" charset="0"/>
                                  </a:rPr>
                                  <m:t>𝑥</m:t>
                                </m:r>
                                <m:r>
                                  <a:rPr lang="en-US" altLang="zh-TW" b="0" i="1" smtClean="0">
                                    <a:latin typeface="Cambria Math" panose="02040503050406030204" pitchFamily="18" charset="0"/>
                                  </a:rPr>
                                  <m:t>(1+</m:t>
                                </m:r>
                                <m:r>
                                  <m:rPr>
                                    <m:sty m:val="p"/>
                                  </m:rPr>
                                  <a:rPr lang="en-US" altLang="zh-TW" b="0" i="0" smtClean="0">
                                    <a:latin typeface="Cambria Math" panose="02040503050406030204" pitchFamily="18" charset="0"/>
                                  </a:rPr>
                                  <m:t>erf</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𝑥</m:t>
                                    </m:r>
                                  </m:num>
                                  <m:den>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2</m:t>
                                        </m:r>
                                      </m:e>
                                    </m:rad>
                                  </m:den>
                                </m:f>
                                <m:r>
                                  <a:rPr lang="en-US" altLang="zh-TW" b="0" i="1" smtClean="0">
                                    <a:latin typeface="Cambria Math" panose="02040503050406030204" pitchFamily="18" charset="0"/>
                                  </a:rPr>
                                  <m:t>))</m:t>
                                </m:r>
                              </m:oMath>
                            </m:oMathPara>
                          </a14:m>
                          <a:endParaRPr lang="zh-TW" altLang="en-US" dirty="0"/>
                        </a:p>
                      </a:txBody>
                      <a:tcPr anchor="ctr"/>
                    </a:tc>
                    <a:tc>
                      <a:txBody>
                        <a:bodyPr/>
                        <a:lstStyle/>
                        <a:p>
                          <a:pPr algn="ctr"/>
                          <a:endParaRPr lang="zh-TW" alt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r>
                                  <a:rPr lang="en-US" altLang="zh-TW" b="0" i="1" dirty="0" smtClean="0">
                                    <a:latin typeface="Cambria Math" panose="02040503050406030204" pitchFamily="18" charset="0"/>
                                  </a:rPr>
                                  <m:t>−0.17…</m:t>
                                </m:r>
                              </m:oMath>
                            </m:oMathPara>
                          </a14:m>
                          <a:endParaRPr lang="en-US" altLang="zh-TW"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m:t>
                                </m:r>
                                <m:r>
                                  <a:rPr lang="en-US" altLang="zh-TW"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nchor="ctr"/>
                    </a:tc>
                    <a:tc>
                      <a:txBody>
                        <a:bodyPr/>
                        <a:lstStyle/>
                        <a:p>
                          <a:pPr algn="ctr"/>
                          <a:r>
                            <a:rPr lang="zh-TW" altLang="en-US" sz="1400" dirty="0"/>
                            <a:t>正數區域和 </a:t>
                          </a:r>
                          <a:r>
                            <a:rPr lang="en-US" altLang="zh-TW" sz="1400" dirty="0" err="1"/>
                            <a:t>ReLU</a:t>
                          </a:r>
                          <a:r>
                            <a:rPr lang="en-US" altLang="zh-TW" sz="1400" dirty="0"/>
                            <a:t> </a:t>
                          </a:r>
                          <a:r>
                            <a:rPr lang="zh-TW" altLang="en-US" sz="1400" dirty="0"/>
                            <a:t>類似（輸出大致接近 </a:t>
                          </a:r>
                          <a:r>
                            <a:rPr lang="en-US" altLang="zh-TW" sz="1400" dirty="0"/>
                            <a:t>x</a:t>
                          </a:r>
                          <a:r>
                            <a:rPr lang="zh-TW" altLang="en-US" sz="1400" dirty="0"/>
                            <a:t>），但負數區域不是完全 </a:t>
                          </a:r>
                          <a:r>
                            <a:rPr lang="en-US" altLang="zh-TW" sz="1400" dirty="0"/>
                            <a:t>0</a:t>
                          </a:r>
                          <a:r>
                            <a:rPr lang="zh-TW" altLang="en-US" sz="1400" dirty="0"/>
                            <a:t>，而是有「小幅度負輸出」</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處理「文字」的深度神經網路。例如 </a:t>
                          </a:r>
                          <a:r>
                            <a:rPr lang="en-US" altLang="zh-TW" sz="1400" dirty="0"/>
                            <a:t>BERT,</a:t>
                          </a:r>
                          <a:r>
                            <a:rPr lang="zh-TW" altLang="en-US" sz="1400" dirty="0"/>
                            <a:t> </a:t>
                          </a:r>
                          <a:r>
                            <a:rPr lang="en-US" altLang="zh-TW" sz="1400" dirty="0"/>
                            <a:t>GPT-2</a:t>
                          </a:r>
                          <a:r>
                            <a:rPr lang="zh-TW" altLang="en-US" sz="1400" dirty="0"/>
                            <a:t> 均採用 </a:t>
                          </a:r>
                          <a:r>
                            <a:rPr lang="en-US" altLang="zh-TW" sz="1400" dirty="0" err="1"/>
                            <a:t>GeLU</a:t>
                          </a:r>
                          <a:r>
                            <a:rPr lang="zh-TW" altLang="en-US" sz="1400" dirty="0"/>
                            <a:t>。*</a:t>
                          </a:r>
                          <a:r>
                            <a:rPr lang="en-US" altLang="zh-TW" sz="1400" dirty="0"/>
                            <a:t>.</a:t>
                          </a:r>
                          <a:r>
                            <a:rPr lang="zh-TW" altLang="en-US" sz="1400" dirty="0"/>
                            <a:t> </a:t>
                          </a:r>
                          <a:r>
                            <a:rPr lang="en-US" altLang="zh-TW" sz="1400" dirty="0">
                              <a:hlinkClick r:id="rId3"/>
                            </a:rPr>
                            <a:t>https://arxiv.org/abs/1810.04805</a:t>
                          </a:r>
                          <a:r>
                            <a:rPr lang="en-US" altLang="zh-TW" sz="1400" dirty="0"/>
                            <a:t>,</a:t>
                          </a:r>
                          <a:r>
                            <a:rPr lang="zh-TW" altLang="en-US" sz="1400" dirty="0"/>
                            <a:t> </a:t>
                          </a:r>
                          <a:r>
                            <a:rPr lang="en-US" altLang="zh-TW" sz="1400" dirty="0">
                              <a:hlinkClick r:id="rId4"/>
                            </a:rPr>
                            <a:t>https://github.com/openai/gpt-2/blob/master/src/model.py</a:t>
                          </a:r>
                          <a:endParaRPr lang="zh-TW" altLang="en-US" sz="1400" dirty="0"/>
                        </a:p>
                      </a:txBody>
                      <a:tcPr anchor="ctr"/>
                    </a:tc>
                    <a:extLst>
                      <a:ext uri="{0D108BD9-81ED-4DB2-BD59-A6C34878D82A}">
                        <a16:rowId xmlns:a16="http://schemas.microsoft.com/office/drawing/2014/main" val="4129959590"/>
                      </a:ext>
                    </a:extLst>
                  </a:tr>
                </a:tbl>
              </a:graphicData>
            </a:graphic>
          </p:graphicFrame>
        </mc:Choice>
        <mc:Fallback xmlns="">
          <p:graphicFrame>
            <p:nvGraphicFramePr>
              <p:cNvPr id="4" name="內容版面配置區 5">
                <a:extLst>
                  <a:ext uri="{FF2B5EF4-FFF2-40B4-BE49-F238E27FC236}">
                    <a16:creationId xmlns:a16="http://schemas.microsoft.com/office/drawing/2014/main" id="{BB96A222-3018-5BC3-BFD1-3EF43DBC0EDB}"/>
                  </a:ext>
                </a:extLst>
              </p:cNvPr>
              <p:cNvGraphicFramePr>
                <a:graphicFrameLocks/>
              </p:cNvGraphicFramePr>
              <p:nvPr>
                <p:extLst>
                  <p:ext uri="{D42A27DB-BD31-4B8C-83A1-F6EECF244321}">
                    <p14:modId xmlns:p14="http://schemas.microsoft.com/office/powerpoint/2010/main" val="1064029926"/>
                  </p:ext>
                </p:extLst>
              </p:nvPr>
            </p:nvGraphicFramePr>
            <p:xfrm>
              <a:off x="0" y="0"/>
              <a:ext cx="12192000" cy="6392462"/>
            </p:xfrm>
            <a:graphic>
              <a:graphicData uri="http://schemas.openxmlformats.org/drawingml/2006/table">
                <a:tbl>
                  <a:tblPr firstRow="1" bandRow="1">
                    <a:tableStyleId>{5C22544A-7EE6-4342-B048-85BDC9FD1C3A}</a:tableStyleId>
                  </a:tblPr>
                  <a:tblGrid>
                    <a:gridCol w="1354238">
                      <a:extLst>
                        <a:ext uri="{9D8B030D-6E8A-4147-A177-3AD203B41FA5}">
                          <a16:colId xmlns:a16="http://schemas.microsoft.com/office/drawing/2014/main" val="1266574467"/>
                        </a:ext>
                      </a:extLst>
                    </a:gridCol>
                    <a:gridCol w="2349661">
                      <a:extLst>
                        <a:ext uri="{9D8B030D-6E8A-4147-A177-3AD203B41FA5}">
                          <a16:colId xmlns:a16="http://schemas.microsoft.com/office/drawing/2014/main" val="3557044866"/>
                        </a:ext>
                      </a:extLst>
                    </a:gridCol>
                    <a:gridCol w="1713053">
                      <a:extLst>
                        <a:ext uri="{9D8B030D-6E8A-4147-A177-3AD203B41FA5}">
                          <a16:colId xmlns:a16="http://schemas.microsoft.com/office/drawing/2014/main" val="1251847486"/>
                        </a:ext>
                      </a:extLst>
                    </a:gridCol>
                    <a:gridCol w="1215342">
                      <a:extLst>
                        <a:ext uri="{9D8B030D-6E8A-4147-A177-3AD203B41FA5}">
                          <a16:colId xmlns:a16="http://schemas.microsoft.com/office/drawing/2014/main" val="1870745904"/>
                        </a:ext>
                      </a:extLst>
                    </a:gridCol>
                    <a:gridCol w="2511706">
                      <a:extLst>
                        <a:ext uri="{9D8B030D-6E8A-4147-A177-3AD203B41FA5}">
                          <a16:colId xmlns:a16="http://schemas.microsoft.com/office/drawing/2014/main" val="1942576069"/>
                        </a:ext>
                      </a:extLst>
                    </a:gridCol>
                    <a:gridCol w="3048000">
                      <a:extLst>
                        <a:ext uri="{9D8B030D-6E8A-4147-A177-3AD203B41FA5}">
                          <a16:colId xmlns:a16="http://schemas.microsoft.com/office/drawing/2014/main" val="3236207095"/>
                        </a:ext>
                      </a:extLst>
                    </a:gridCol>
                  </a:tblGrid>
                  <a:tr h="464050">
                    <a:tc>
                      <a:txBody>
                        <a:bodyPr/>
                        <a:lstStyle/>
                        <a:p>
                          <a:pPr algn="ctr"/>
                          <a:r>
                            <a:rPr lang="zh-TW" altLang="en-US" dirty="0"/>
                            <a:t>激活函式</a:t>
                          </a:r>
                        </a:p>
                      </a:txBody>
                      <a:tcPr anchor="ctr"/>
                    </a:tc>
                    <a:tc>
                      <a:txBody>
                        <a:bodyPr/>
                        <a:lstStyle/>
                        <a:p>
                          <a:pPr algn="ctr"/>
                          <a:r>
                            <a:rPr lang="zh-TW" altLang="en-US" dirty="0"/>
                            <a:t>公式</a:t>
                          </a:r>
                        </a:p>
                      </a:txBody>
                      <a:tcPr anchor="ctr"/>
                    </a:tc>
                    <a:tc>
                      <a:txBody>
                        <a:bodyPr/>
                        <a:lstStyle/>
                        <a:p>
                          <a:pPr algn="ctr"/>
                          <a:r>
                            <a:rPr lang="zh-TW" altLang="en-US" dirty="0"/>
                            <a:t>圖形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t>輸出範圍</a:t>
                          </a:r>
                        </a:p>
                      </a:txBody>
                      <a:tcPr anchor="ctr"/>
                    </a:tc>
                    <a:tc>
                      <a:txBody>
                        <a:bodyPr/>
                        <a:lstStyle/>
                        <a:p>
                          <a:pPr algn="ctr"/>
                          <a:r>
                            <a:rPr lang="zh-TW" altLang="en-US" dirty="0"/>
                            <a:t>特性</a:t>
                          </a:r>
                        </a:p>
                      </a:txBody>
                      <a:tcPr anchor="ctr"/>
                    </a:tc>
                    <a:tc>
                      <a:txBody>
                        <a:bodyPr/>
                        <a:lstStyle/>
                        <a:p>
                          <a:pPr algn="ctr"/>
                          <a:r>
                            <a:rPr lang="zh-TW" altLang="en-US" dirty="0"/>
                            <a:t>應用場景</a:t>
                          </a:r>
                        </a:p>
                      </a:txBody>
                      <a:tcPr anchor="ctr"/>
                    </a:tc>
                    <a:extLst>
                      <a:ext uri="{0D108BD9-81ED-4DB2-BD59-A6C34878D82A}">
                        <a16:rowId xmlns:a16="http://schemas.microsoft.com/office/drawing/2014/main" val="4189902988"/>
                      </a:ext>
                    </a:extLst>
                  </a:tr>
                  <a:tr h="750812">
                    <a:tc>
                      <a:txBody>
                        <a:bodyPr/>
                        <a:lstStyle/>
                        <a:p>
                          <a:pPr algn="ctr"/>
                          <a:r>
                            <a:rPr lang="en-US" altLang="zh-TW" dirty="0"/>
                            <a:t>Sigmoid</a:t>
                          </a:r>
                          <a:r>
                            <a:rPr lang="zh-TW" altLang="en-US" dirty="0"/>
                            <a:t> </a:t>
                          </a:r>
                          <a:r>
                            <a:rPr lang="en-US" altLang="zh-TW" dirty="0"/>
                            <a:t>(Logistic)</a:t>
                          </a:r>
                          <a:endParaRPr lang="zh-TW" altLang="en-US" dirty="0"/>
                        </a:p>
                      </a:txBody>
                      <a:tcPr anchor="ctr"/>
                    </a:tc>
                    <a:tc>
                      <a:txBody>
                        <a:bodyPr/>
                        <a:lstStyle/>
                        <a:p>
                          <a:endParaRPr lang="zh-TW"/>
                        </a:p>
                      </a:txBody>
                      <a:tcPr anchor="ctr">
                        <a:blipFill>
                          <a:blip r:embed="rId5"/>
                          <a:stretch>
                            <a:fillRect l="-58378" t="-64407" r="-362703" b="-700000"/>
                          </a:stretch>
                        </a:blipFill>
                      </a:tcPr>
                    </a:tc>
                    <a:tc>
                      <a:txBody>
                        <a:bodyPr/>
                        <a:lstStyle/>
                        <a:p>
                          <a:pPr algn="ctr"/>
                          <a:endParaRPr lang="zh-TW" altLang="en-US" dirty="0"/>
                        </a:p>
                      </a:txBody>
                      <a:tcPr anchor="ctr"/>
                    </a:tc>
                    <a:tc>
                      <a:txBody>
                        <a:bodyPr/>
                        <a:lstStyle/>
                        <a:p>
                          <a:endParaRPr lang="zh-TW"/>
                        </a:p>
                      </a:txBody>
                      <a:tcPr anchor="ctr">
                        <a:blipFill>
                          <a:blip r:embed="rId5"/>
                          <a:stretch>
                            <a:fillRect l="-450526" t="-64407" r="-464211" b="-700000"/>
                          </a:stretch>
                        </a:blipFill>
                      </a:tcPr>
                    </a:tc>
                    <a:tc>
                      <a:txBody>
                        <a:bodyPr/>
                        <a:lstStyle/>
                        <a:p>
                          <a:pPr algn="ctr"/>
                          <a:r>
                            <a:rPr lang="zh-TW" altLang="en-US" sz="1400" dirty="0"/>
                            <a:t>過去時代常見的激活函式，但因梯度消失問題，現在已幾乎不再使用。</a:t>
                          </a:r>
                        </a:p>
                      </a:txBody>
                      <a:tcPr anchor="ctr"/>
                    </a:tc>
                    <a:tc>
                      <a:txBody>
                        <a:bodyPr/>
                        <a:lstStyle/>
                        <a:p>
                          <a:pPr algn="ctr"/>
                          <a:r>
                            <a:rPr lang="zh-TW" altLang="en-US" sz="1400" dirty="0"/>
                            <a:t>只在二元分類問題時用於 </a:t>
                          </a:r>
                          <a:r>
                            <a:rPr lang="en-US" altLang="zh-TW" sz="1400" dirty="0"/>
                            <a:t>output</a:t>
                          </a:r>
                          <a:r>
                            <a:rPr lang="zh-TW" altLang="en-US" sz="1400" dirty="0"/>
                            <a:t> </a:t>
                          </a:r>
                          <a:r>
                            <a:rPr lang="en-US" altLang="zh-TW" sz="1400" dirty="0" err="1"/>
                            <a:t>alyer</a:t>
                          </a:r>
                          <a:endParaRPr lang="zh-TW" altLang="en-US" sz="1400" dirty="0"/>
                        </a:p>
                      </a:txBody>
                      <a:tcPr anchor="ctr"/>
                    </a:tc>
                    <a:extLst>
                      <a:ext uri="{0D108BD9-81ED-4DB2-BD59-A6C34878D82A}">
                        <a16:rowId xmlns:a16="http://schemas.microsoft.com/office/drawing/2014/main" val="2698531018"/>
                      </a:ext>
                    </a:extLst>
                  </a:tr>
                  <a:tr h="944880">
                    <a:tc>
                      <a:txBody>
                        <a:bodyPr/>
                        <a:lstStyle/>
                        <a:p>
                          <a:pPr algn="ctr"/>
                          <a:r>
                            <a:rPr lang="en-US" altLang="zh-TW" dirty="0"/>
                            <a:t>Hyperbolic tangent (tanh)</a:t>
                          </a:r>
                          <a:endParaRPr lang="zh-TW" altLang="en-US" dirty="0"/>
                        </a:p>
                      </a:txBody>
                      <a:tcPr anchor="ctr"/>
                    </a:tc>
                    <a:tc>
                      <a:txBody>
                        <a:bodyPr/>
                        <a:lstStyle/>
                        <a:p>
                          <a:endParaRPr lang="zh-TW"/>
                        </a:p>
                      </a:txBody>
                      <a:tcPr anchor="ctr">
                        <a:blipFill>
                          <a:blip r:embed="rId5"/>
                          <a:stretch>
                            <a:fillRect l="-58378" t="-131081" r="-362703" b="-458108"/>
                          </a:stretch>
                        </a:blipFill>
                      </a:tcPr>
                    </a:tc>
                    <a:tc>
                      <a:txBody>
                        <a:bodyPr/>
                        <a:lstStyle/>
                        <a:p>
                          <a:pPr algn="ctr"/>
                          <a:endParaRPr lang="zh-TW" altLang="en-US" dirty="0"/>
                        </a:p>
                      </a:txBody>
                      <a:tcPr anchor="ctr"/>
                    </a:tc>
                    <a:tc>
                      <a:txBody>
                        <a:bodyPr/>
                        <a:lstStyle/>
                        <a:p>
                          <a:endParaRPr lang="zh-TW"/>
                        </a:p>
                      </a:txBody>
                      <a:tcPr anchor="ctr">
                        <a:blipFill>
                          <a:blip r:embed="rId5"/>
                          <a:stretch>
                            <a:fillRect l="-450526" t="-131081" r="-464211" b="-45810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輸出均值接近 </a:t>
                          </a:r>
                          <a:r>
                            <a:rPr lang="en-US" altLang="zh-TW" sz="1400" dirty="0"/>
                            <a:t>0</a:t>
                          </a:r>
                          <a:r>
                            <a:rPr lang="zh-TW" altLang="en-US" sz="1400" dirty="0"/>
                            <a:t>，比 </a:t>
                          </a:r>
                          <a:r>
                            <a:rPr lang="en-US" altLang="zh-TW" sz="1400" dirty="0"/>
                            <a:t>sigmoid </a:t>
                          </a:r>
                          <a:r>
                            <a:rPr lang="zh-TW" altLang="en-US" sz="1400" dirty="0"/>
                            <a:t>的更「對稱」。是過去時代常見的激活函式，但也有梯度消失問題。</a:t>
                          </a:r>
                        </a:p>
                      </a:txBody>
                      <a:tcPr anchor="ctr"/>
                    </a:tc>
                    <a:tc>
                      <a:txBody>
                        <a:bodyPr/>
                        <a:lstStyle/>
                        <a:p>
                          <a:pPr algn="ctr"/>
                          <a:r>
                            <a:rPr lang="zh-TW" altLang="en-US" sz="1400" dirty="0"/>
                            <a:t>在某些 </a:t>
                          </a:r>
                          <a:r>
                            <a:rPr lang="en-US" altLang="zh-TW" sz="1400" dirty="0"/>
                            <a:t>RNN,</a:t>
                          </a:r>
                          <a:r>
                            <a:rPr lang="zh-TW" altLang="en-US" sz="1400" dirty="0"/>
                            <a:t> </a:t>
                          </a:r>
                          <a:r>
                            <a:rPr lang="en-US" altLang="zh-TW" sz="1400" dirty="0"/>
                            <a:t>LSTM,</a:t>
                          </a:r>
                          <a:r>
                            <a:rPr lang="zh-TW" altLang="en-US" sz="1400" dirty="0"/>
                            <a:t> </a:t>
                          </a:r>
                          <a:r>
                            <a:rPr lang="en-US" altLang="zh-TW" sz="1400" dirty="0"/>
                            <a:t>GRU</a:t>
                          </a:r>
                          <a:r>
                            <a:rPr lang="zh-TW" altLang="en-US" sz="1400" dirty="0"/>
                            <a:t> 的預設激活函式仍會使用 </a:t>
                          </a:r>
                          <a:r>
                            <a:rPr lang="en-US" altLang="zh-TW" sz="1400" dirty="0"/>
                            <a:t>tanh</a:t>
                          </a:r>
                          <a:endParaRPr lang="zh-TW" altLang="en-US" sz="1400" dirty="0"/>
                        </a:p>
                      </a:txBody>
                      <a:tcPr anchor="ctr"/>
                    </a:tc>
                    <a:extLst>
                      <a:ext uri="{0D108BD9-81ED-4DB2-BD59-A6C34878D82A}">
                        <a16:rowId xmlns:a16="http://schemas.microsoft.com/office/drawing/2014/main" val="129500962"/>
                      </a:ext>
                    </a:extLst>
                  </a:tr>
                  <a:tr h="914400">
                    <a:tc>
                      <a:txBody>
                        <a:bodyPr/>
                        <a:lstStyle/>
                        <a:p>
                          <a:pPr algn="ctr"/>
                          <a:r>
                            <a:rPr lang="en-US" altLang="zh-TW" dirty="0"/>
                            <a:t>Rectified linear unit (</a:t>
                          </a:r>
                          <a:r>
                            <a:rPr lang="en-US" altLang="zh-TW" dirty="0" err="1"/>
                            <a:t>ReLU</a:t>
                          </a:r>
                          <a:r>
                            <a:rPr lang="en-US" altLang="zh-TW" dirty="0"/>
                            <a:t>)</a:t>
                          </a:r>
                          <a:endParaRPr lang="zh-TW" altLang="en-US" dirty="0"/>
                        </a:p>
                      </a:txBody>
                      <a:tcPr anchor="ctr"/>
                    </a:tc>
                    <a:tc>
                      <a:txBody>
                        <a:bodyPr/>
                        <a:lstStyle/>
                        <a:p>
                          <a:endParaRPr lang="zh-TW"/>
                        </a:p>
                      </a:txBody>
                      <a:tcPr anchor="ctr">
                        <a:blipFill>
                          <a:blip r:embed="rId5"/>
                          <a:stretch>
                            <a:fillRect l="-58378" t="-237500" r="-362703" b="-370833"/>
                          </a:stretch>
                        </a:blipFill>
                      </a:tcPr>
                    </a:tc>
                    <a:tc>
                      <a:txBody>
                        <a:bodyPr/>
                        <a:lstStyle/>
                        <a:p>
                          <a:pPr algn="ctr"/>
                          <a:endParaRPr lang="zh-TW" altLang="en-US"/>
                        </a:p>
                      </a:txBody>
                      <a:tcPr anchor="ctr"/>
                    </a:tc>
                    <a:tc>
                      <a:txBody>
                        <a:bodyPr/>
                        <a:lstStyle/>
                        <a:p>
                          <a:endParaRPr lang="zh-TW"/>
                        </a:p>
                      </a:txBody>
                      <a:tcPr anchor="ctr">
                        <a:blipFill>
                          <a:blip r:embed="rId5"/>
                          <a:stretch>
                            <a:fillRect l="-450526" t="-237500" r="-464211" b="-370833"/>
                          </a:stretch>
                        </a:blipFill>
                      </a:tcPr>
                    </a:tc>
                    <a:tc>
                      <a:txBody>
                        <a:bodyPr/>
                        <a:lstStyle/>
                        <a:p>
                          <a:pPr algn="ctr"/>
                          <a:r>
                            <a:rPr lang="zh-TW" altLang="en-US" sz="1400" dirty="0"/>
                            <a:t>公式簡單，所以計算速度非常快。另外，能緩解梯度消失問題。</a:t>
                          </a:r>
                        </a:p>
                      </a:txBody>
                      <a:tcPr anchor="ctr"/>
                    </a:tc>
                    <a:tc>
                      <a:txBody>
                        <a:bodyPr/>
                        <a:lstStyle/>
                        <a:p>
                          <a:pPr algn="ctr"/>
                          <a:r>
                            <a:rPr lang="zh-TW" altLang="en-US" sz="1400" dirty="0"/>
                            <a:t>深度神經網路的常見選擇</a:t>
                          </a:r>
                        </a:p>
                      </a:txBody>
                      <a:tcPr anchor="ctr"/>
                    </a:tc>
                    <a:extLst>
                      <a:ext uri="{0D108BD9-81ED-4DB2-BD59-A6C34878D82A}">
                        <a16:rowId xmlns:a16="http://schemas.microsoft.com/office/drawing/2014/main" val="702437554"/>
                      </a:ext>
                    </a:extLst>
                  </a:tr>
                  <a:tr h="971360">
                    <a:tc>
                      <a:txBody>
                        <a:bodyPr/>
                        <a:lstStyle/>
                        <a:p>
                          <a:pPr algn="ctr"/>
                          <a:r>
                            <a:rPr lang="en-US" altLang="zh-TW" dirty="0"/>
                            <a:t>Leaky </a:t>
                          </a:r>
                          <a:r>
                            <a:rPr lang="en-US" altLang="zh-TW" dirty="0" err="1"/>
                            <a:t>ReLU</a:t>
                          </a:r>
                          <a:endParaRPr lang="zh-TW" altLang="en-US" dirty="0"/>
                        </a:p>
                      </a:txBody>
                      <a:tcPr anchor="ctr"/>
                    </a:tc>
                    <a:tc>
                      <a:txBody>
                        <a:bodyPr/>
                        <a:lstStyle/>
                        <a:p>
                          <a:endParaRPr lang="zh-TW"/>
                        </a:p>
                      </a:txBody>
                      <a:tcPr anchor="ctr">
                        <a:blipFill>
                          <a:blip r:embed="rId5"/>
                          <a:stretch>
                            <a:fillRect l="-58378" t="-315584" r="-362703" b="-246753"/>
                          </a:stretch>
                        </a:blipFill>
                      </a:tcPr>
                    </a:tc>
                    <a:tc>
                      <a:txBody>
                        <a:bodyPr/>
                        <a:lstStyle/>
                        <a:p>
                          <a:pPr algn="ctr"/>
                          <a:endParaRPr lang="zh-TW" altLang="en-US" dirty="0"/>
                        </a:p>
                      </a:txBody>
                      <a:tcPr anchor="ctr"/>
                    </a:tc>
                    <a:tc>
                      <a:txBody>
                        <a:bodyPr/>
                        <a:lstStyle/>
                        <a:p>
                          <a:endParaRPr lang="zh-TW"/>
                        </a:p>
                      </a:txBody>
                      <a:tcPr anchor="ctr">
                        <a:blipFill>
                          <a:blip r:embed="rId5"/>
                          <a:stretch>
                            <a:fillRect l="-450526" t="-315584" r="-464211" b="-246753"/>
                          </a:stretch>
                        </a:blipFill>
                      </a:tcPr>
                    </a:tc>
                    <a:tc>
                      <a:txBody>
                        <a:bodyPr/>
                        <a:lstStyle/>
                        <a:p>
                          <a:pPr algn="ctr"/>
                          <a:r>
                            <a:rPr lang="zh-TW" altLang="en-US" sz="1400" dirty="0"/>
                            <a:t>改良版的 </a:t>
                          </a:r>
                          <a:r>
                            <a:rPr lang="en-US" altLang="zh-TW" sz="1400" dirty="0" err="1"/>
                            <a:t>ReLU</a:t>
                          </a:r>
                          <a:r>
                            <a:rPr lang="zh-TW" altLang="en-US" sz="1400" dirty="0"/>
                            <a:t>，可以避免 </a:t>
                          </a:r>
                          <a:r>
                            <a:rPr lang="en-US" altLang="zh-TW" sz="1400" dirty="0"/>
                            <a:t>Dying</a:t>
                          </a:r>
                          <a:r>
                            <a:rPr lang="zh-TW" altLang="en-US" sz="1400" dirty="0"/>
                            <a:t> </a:t>
                          </a:r>
                          <a:r>
                            <a:rPr lang="en-US" altLang="zh-TW" sz="1400" dirty="0" err="1"/>
                            <a:t>ReLU</a:t>
                          </a:r>
                          <a:r>
                            <a:rPr lang="zh-TW" altLang="en-US" sz="1400" dirty="0"/>
                            <a:t> </a:t>
                          </a:r>
                          <a:r>
                            <a:rPr lang="en-US" altLang="zh-TW" sz="1400" dirty="0"/>
                            <a:t>Problem</a:t>
                          </a:r>
                          <a:r>
                            <a:rPr lang="zh-TW" altLang="en-US" sz="14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深度神經網路的常見選擇</a:t>
                          </a:r>
                        </a:p>
                      </a:txBody>
                      <a:tcPr anchor="ctr"/>
                    </a:tc>
                    <a:extLst>
                      <a:ext uri="{0D108BD9-81ED-4DB2-BD59-A6C34878D82A}">
                        <a16:rowId xmlns:a16="http://schemas.microsoft.com/office/drawing/2014/main" val="3789185777"/>
                      </a:ext>
                    </a:extLst>
                  </a:tr>
                  <a:tr h="1188720">
                    <a:tc>
                      <a:txBody>
                        <a:bodyPr/>
                        <a:lstStyle/>
                        <a:p>
                          <a:pPr algn="ctr"/>
                          <a:r>
                            <a:rPr lang="en-US" altLang="zh-TW" dirty="0"/>
                            <a:t>Sigmoid linear unit</a:t>
                          </a:r>
                          <a:r>
                            <a:rPr lang="zh-TW" altLang="en-US" dirty="0"/>
                            <a:t> </a:t>
                          </a:r>
                          <a:r>
                            <a:rPr lang="en-US" altLang="zh-TW" dirty="0"/>
                            <a:t>(</a:t>
                          </a:r>
                          <a:r>
                            <a:rPr lang="en-US" altLang="zh-TW" dirty="0" err="1"/>
                            <a:t>SiLU</a:t>
                          </a:r>
                          <a:r>
                            <a:rPr lang="zh-TW" altLang="en-US" dirty="0"/>
                            <a:t> </a:t>
                          </a:r>
                          <a:r>
                            <a:rPr lang="en-US" altLang="zh-TW" dirty="0"/>
                            <a:t>or</a:t>
                          </a:r>
                          <a:r>
                            <a:rPr lang="zh-TW" altLang="en-US" dirty="0"/>
                            <a:t> </a:t>
                          </a:r>
                          <a:r>
                            <a:rPr lang="en-US" altLang="zh-TW" dirty="0"/>
                            <a:t>Swish)</a:t>
                          </a:r>
                          <a:endParaRPr lang="zh-TW" altLang="en-US" dirty="0"/>
                        </a:p>
                      </a:txBody>
                      <a:tcPr anchor="ctr"/>
                    </a:tc>
                    <a:tc>
                      <a:txBody>
                        <a:bodyPr/>
                        <a:lstStyle/>
                        <a:p>
                          <a:endParaRPr lang="zh-TW"/>
                        </a:p>
                      </a:txBody>
                      <a:tcPr anchor="ctr">
                        <a:blipFill>
                          <a:blip r:embed="rId5"/>
                          <a:stretch>
                            <a:fillRect l="-58378" t="-340426" r="-362703" b="-102128"/>
                          </a:stretch>
                        </a:blipFill>
                      </a:tcPr>
                    </a:tc>
                    <a:tc>
                      <a:txBody>
                        <a:bodyPr/>
                        <a:lstStyle/>
                        <a:p>
                          <a:pPr algn="ctr"/>
                          <a:endParaRPr lang="zh-TW" altLang="en-US" dirty="0"/>
                        </a:p>
                      </a:txBody>
                      <a:tcPr anchor="ctr"/>
                    </a:tc>
                    <a:tc>
                      <a:txBody>
                        <a:bodyPr/>
                        <a:lstStyle/>
                        <a:p>
                          <a:endParaRPr lang="zh-TW"/>
                        </a:p>
                      </a:txBody>
                      <a:tcPr anchor="ctr">
                        <a:blipFill>
                          <a:blip r:embed="rId5"/>
                          <a:stretch>
                            <a:fillRect l="-450526" t="-340426" r="-464211" b="-102128"/>
                          </a:stretch>
                        </a:blipFill>
                      </a:tcPr>
                    </a:tc>
                    <a:tc>
                      <a:txBody>
                        <a:bodyPr/>
                        <a:lstStyle/>
                        <a:p>
                          <a:pPr algn="ctr"/>
                          <a:r>
                            <a:rPr lang="zh-TW" altLang="en-US" sz="1400" dirty="0"/>
                            <a:t>正數區域和 </a:t>
                          </a:r>
                          <a:r>
                            <a:rPr lang="en-US" altLang="zh-TW" sz="1400" dirty="0" err="1"/>
                            <a:t>ReLU</a:t>
                          </a:r>
                          <a:r>
                            <a:rPr lang="en-US" altLang="zh-TW" sz="1400" dirty="0"/>
                            <a:t> </a:t>
                          </a:r>
                          <a:r>
                            <a:rPr lang="zh-TW" altLang="en-US" sz="1400" dirty="0"/>
                            <a:t>類似（輸出大致接近 </a:t>
                          </a:r>
                          <a:r>
                            <a:rPr lang="en-US" altLang="zh-TW" sz="1400" dirty="0"/>
                            <a:t>x</a:t>
                          </a:r>
                          <a:r>
                            <a:rPr lang="zh-TW" altLang="en-US" sz="1400" dirty="0"/>
                            <a:t>），但負數區域不是完全 </a:t>
                          </a:r>
                          <a:r>
                            <a:rPr lang="en-US" altLang="zh-TW" sz="1400" dirty="0"/>
                            <a:t>0</a:t>
                          </a:r>
                          <a:r>
                            <a:rPr lang="zh-TW" altLang="en-US" sz="1400" dirty="0"/>
                            <a:t>，而是有「小幅度負輸出」</a:t>
                          </a:r>
                        </a:p>
                      </a:txBody>
                      <a:tcPr anchor="ctr"/>
                    </a:tc>
                    <a:tc>
                      <a:txBody>
                        <a:bodyPr/>
                        <a:lstStyle/>
                        <a:p>
                          <a:pPr algn="ctr"/>
                          <a:r>
                            <a:rPr lang="zh-TW" altLang="en-US" sz="1400" dirty="0"/>
                            <a:t>處理「圖形」的深度神經網路。例如中研院推出的 </a:t>
                          </a:r>
                          <a:r>
                            <a:rPr lang="en-US" altLang="zh-TW" sz="1400" dirty="0"/>
                            <a:t>YOLOv7</a:t>
                          </a:r>
                          <a:r>
                            <a:rPr lang="zh-TW" altLang="en-US" sz="1400" dirty="0"/>
                            <a:t>。*</a:t>
                          </a:r>
                          <a:r>
                            <a:rPr lang="en-US" altLang="zh-TW" sz="1400" dirty="0"/>
                            <a:t>.</a:t>
                          </a:r>
                          <a:r>
                            <a:rPr lang="zh-TW" altLang="en-US" sz="1400" dirty="0"/>
                            <a:t> </a:t>
                          </a:r>
                          <a:r>
                            <a:rPr lang="en-US" altLang="zh-TW" sz="1400" dirty="0">
                              <a:hlinkClick r:id="rId6"/>
                            </a:rPr>
                            <a:t>https://arxiv.org/abs/2207.02696</a:t>
                          </a:r>
                          <a:endParaRPr lang="en-US" altLang="zh-TW" sz="1400" dirty="0"/>
                        </a:p>
                      </a:txBody>
                      <a:tcPr anchor="ctr"/>
                    </a:tc>
                    <a:extLst>
                      <a:ext uri="{0D108BD9-81ED-4DB2-BD59-A6C34878D82A}">
                        <a16:rowId xmlns:a16="http://schemas.microsoft.com/office/drawing/2014/main" val="1109774194"/>
                      </a:ext>
                    </a:extLst>
                  </a:tr>
                  <a:tr h="1158240">
                    <a:tc>
                      <a:txBody>
                        <a:bodyPr/>
                        <a:lstStyle/>
                        <a:p>
                          <a:pPr algn="ctr"/>
                          <a:r>
                            <a:rPr lang="en-US" altLang="zh-TW" dirty="0"/>
                            <a:t>Gaussian Error Linear Unit (</a:t>
                          </a:r>
                          <a:r>
                            <a:rPr lang="en-US" altLang="zh-TW" dirty="0" err="1"/>
                            <a:t>GeLU</a:t>
                          </a:r>
                          <a:r>
                            <a:rPr lang="en-US" altLang="zh-TW" dirty="0"/>
                            <a:t>)</a:t>
                          </a:r>
                          <a:endParaRPr lang="zh-TW" altLang="en-US" dirty="0"/>
                        </a:p>
                      </a:txBody>
                      <a:tcPr anchor="ctr"/>
                    </a:tc>
                    <a:tc>
                      <a:txBody>
                        <a:bodyPr/>
                        <a:lstStyle/>
                        <a:p>
                          <a:endParaRPr lang="zh-TW"/>
                        </a:p>
                      </a:txBody>
                      <a:tcPr anchor="ctr">
                        <a:blipFill>
                          <a:blip r:embed="rId5"/>
                          <a:stretch>
                            <a:fillRect l="-58378" t="-454945" r="-362703" b="-5495"/>
                          </a:stretch>
                        </a:blipFill>
                      </a:tcPr>
                    </a:tc>
                    <a:tc>
                      <a:txBody>
                        <a:bodyPr/>
                        <a:lstStyle/>
                        <a:p>
                          <a:pPr algn="ctr"/>
                          <a:endParaRPr lang="zh-TW" altLang="en-US"/>
                        </a:p>
                      </a:txBody>
                      <a:tcPr anchor="ctr"/>
                    </a:tc>
                    <a:tc>
                      <a:txBody>
                        <a:bodyPr/>
                        <a:lstStyle/>
                        <a:p>
                          <a:endParaRPr lang="zh-TW"/>
                        </a:p>
                      </a:txBody>
                      <a:tcPr anchor="ctr">
                        <a:blipFill>
                          <a:blip r:embed="rId5"/>
                          <a:stretch>
                            <a:fillRect l="-450526" t="-454945" r="-464211" b="-5495"/>
                          </a:stretch>
                        </a:blipFill>
                      </a:tcPr>
                    </a:tc>
                    <a:tc>
                      <a:txBody>
                        <a:bodyPr/>
                        <a:lstStyle/>
                        <a:p>
                          <a:pPr algn="ctr"/>
                          <a:r>
                            <a:rPr lang="zh-TW" altLang="en-US" sz="1400" dirty="0"/>
                            <a:t>正數區域和 </a:t>
                          </a:r>
                          <a:r>
                            <a:rPr lang="en-US" altLang="zh-TW" sz="1400" dirty="0" err="1"/>
                            <a:t>ReLU</a:t>
                          </a:r>
                          <a:r>
                            <a:rPr lang="en-US" altLang="zh-TW" sz="1400" dirty="0"/>
                            <a:t> </a:t>
                          </a:r>
                          <a:r>
                            <a:rPr lang="zh-TW" altLang="en-US" sz="1400" dirty="0"/>
                            <a:t>類似（輸出大致接近 </a:t>
                          </a:r>
                          <a:r>
                            <a:rPr lang="en-US" altLang="zh-TW" sz="1400" dirty="0"/>
                            <a:t>x</a:t>
                          </a:r>
                          <a:r>
                            <a:rPr lang="zh-TW" altLang="en-US" sz="1400" dirty="0"/>
                            <a:t>），但負數區域不是完全 </a:t>
                          </a:r>
                          <a:r>
                            <a:rPr lang="en-US" altLang="zh-TW" sz="1400" dirty="0"/>
                            <a:t>0</a:t>
                          </a:r>
                          <a:r>
                            <a:rPr lang="zh-TW" altLang="en-US" sz="1400" dirty="0"/>
                            <a:t>，而是有「小幅度負輸出」</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dirty="0"/>
                            <a:t>處理「文字」的深度神經網路。例如 </a:t>
                          </a:r>
                          <a:r>
                            <a:rPr lang="en-US" altLang="zh-TW" sz="1400" dirty="0"/>
                            <a:t>BERT,</a:t>
                          </a:r>
                          <a:r>
                            <a:rPr lang="zh-TW" altLang="en-US" sz="1400" dirty="0"/>
                            <a:t> </a:t>
                          </a:r>
                          <a:r>
                            <a:rPr lang="en-US" altLang="zh-TW" sz="1400" dirty="0"/>
                            <a:t>GPT-2</a:t>
                          </a:r>
                          <a:r>
                            <a:rPr lang="zh-TW" altLang="en-US" sz="1400" dirty="0"/>
                            <a:t> 均採用 </a:t>
                          </a:r>
                          <a:r>
                            <a:rPr lang="en-US" altLang="zh-TW" sz="1400" dirty="0" err="1"/>
                            <a:t>GeLU</a:t>
                          </a:r>
                          <a:r>
                            <a:rPr lang="zh-TW" altLang="en-US" sz="1400" dirty="0"/>
                            <a:t>。*</a:t>
                          </a:r>
                          <a:r>
                            <a:rPr lang="en-US" altLang="zh-TW" sz="1400" dirty="0"/>
                            <a:t>.</a:t>
                          </a:r>
                          <a:r>
                            <a:rPr lang="zh-TW" altLang="en-US" sz="1400" dirty="0"/>
                            <a:t> </a:t>
                          </a:r>
                          <a:r>
                            <a:rPr lang="en-US" altLang="zh-TW" sz="1400" dirty="0">
                              <a:hlinkClick r:id="rId7"/>
                            </a:rPr>
                            <a:t>https://arxiv.org/abs/1810.04805</a:t>
                          </a:r>
                          <a:r>
                            <a:rPr lang="en-US" altLang="zh-TW" sz="1400" dirty="0"/>
                            <a:t>,</a:t>
                          </a:r>
                          <a:r>
                            <a:rPr lang="zh-TW" altLang="en-US" sz="1400" dirty="0"/>
                            <a:t> </a:t>
                          </a:r>
                          <a:r>
                            <a:rPr lang="en-US" altLang="zh-TW" sz="1400" dirty="0">
                              <a:hlinkClick r:id="rId8"/>
                            </a:rPr>
                            <a:t>https://github.com/openai/gpt-2/blob/master/src/model.py</a:t>
                          </a:r>
                          <a:endParaRPr lang="zh-TW" altLang="en-US" sz="1400" dirty="0"/>
                        </a:p>
                      </a:txBody>
                      <a:tcPr anchor="ctr"/>
                    </a:tc>
                    <a:extLst>
                      <a:ext uri="{0D108BD9-81ED-4DB2-BD59-A6C34878D82A}">
                        <a16:rowId xmlns:a16="http://schemas.microsoft.com/office/drawing/2014/main" val="4129959590"/>
                      </a:ext>
                    </a:extLst>
                  </a:tr>
                </a:tbl>
              </a:graphicData>
            </a:graphic>
          </p:graphicFrame>
        </mc:Fallback>
      </mc:AlternateContent>
      <p:pic>
        <p:nvPicPr>
          <p:cNvPr id="8" name="圖形 7">
            <a:extLst>
              <a:ext uri="{FF2B5EF4-FFF2-40B4-BE49-F238E27FC236}">
                <a16:creationId xmlns:a16="http://schemas.microsoft.com/office/drawing/2014/main" id="{FFF269E6-2971-8BA0-AB47-3E938EE31F8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927194" y="550521"/>
            <a:ext cx="1258264" cy="629132"/>
          </a:xfrm>
          <a:prstGeom prst="rect">
            <a:avLst/>
          </a:prstGeom>
        </p:spPr>
      </p:pic>
      <p:pic>
        <p:nvPicPr>
          <p:cNvPr id="10" name="圖形 9">
            <a:extLst>
              <a:ext uri="{FF2B5EF4-FFF2-40B4-BE49-F238E27FC236}">
                <a16:creationId xmlns:a16="http://schemas.microsoft.com/office/drawing/2014/main" id="{AD68C53D-7E54-5E3B-4600-61B60B6B2AA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927194" y="1337600"/>
            <a:ext cx="1258264" cy="629132"/>
          </a:xfrm>
          <a:prstGeom prst="rect">
            <a:avLst/>
          </a:prstGeom>
        </p:spPr>
      </p:pic>
      <p:pic>
        <p:nvPicPr>
          <p:cNvPr id="12" name="圖形 11">
            <a:extLst>
              <a:ext uri="{FF2B5EF4-FFF2-40B4-BE49-F238E27FC236}">
                <a16:creationId xmlns:a16="http://schemas.microsoft.com/office/drawing/2014/main" id="{00871ACC-E524-4842-2FE8-3906B16D51E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27194" y="2286723"/>
            <a:ext cx="1258264" cy="629132"/>
          </a:xfrm>
          <a:prstGeom prst="rect">
            <a:avLst/>
          </a:prstGeom>
        </p:spPr>
      </p:pic>
      <p:pic>
        <p:nvPicPr>
          <p:cNvPr id="18" name="圖形 17">
            <a:extLst>
              <a:ext uri="{FF2B5EF4-FFF2-40B4-BE49-F238E27FC236}">
                <a16:creationId xmlns:a16="http://schemas.microsoft.com/office/drawing/2014/main" id="{3DCADAE5-43DD-2B58-59A0-12FB141FB7D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941180" y="4276679"/>
            <a:ext cx="1258264" cy="754959"/>
          </a:xfrm>
          <a:prstGeom prst="rect">
            <a:avLst/>
          </a:prstGeom>
        </p:spPr>
      </p:pic>
      <p:pic>
        <p:nvPicPr>
          <p:cNvPr id="20" name="圖片 19" descr="一張含有 螢幕擷取畫面, 行, 鮮豔 的圖片&#10;&#10;AI 產生的內容可能不正確。">
            <a:extLst>
              <a:ext uri="{FF2B5EF4-FFF2-40B4-BE49-F238E27FC236}">
                <a16:creationId xmlns:a16="http://schemas.microsoft.com/office/drawing/2014/main" id="{EBD1C7EE-2106-BBBB-B4A4-82CD16FCC98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991509" y="3187186"/>
            <a:ext cx="1157605" cy="754960"/>
          </a:xfrm>
          <a:prstGeom prst="rect">
            <a:avLst/>
          </a:prstGeom>
        </p:spPr>
      </p:pic>
      <p:pic>
        <p:nvPicPr>
          <p:cNvPr id="22" name="圖片 21" descr="一張含有 螢幕擷取畫面, 行 的圖片&#10;&#10;AI 產生的內容可能不正確。">
            <a:extLst>
              <a:ext uri="{FF2B5EF4-FFF2-40B4-BE49-F238E27FC236}">
                <a16:creationId xmlns:a16="http://schemas.microsoft.com/office/drawing/2014/main" id="{28E83900-387B-62A7-6B44-E42D1AB5285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927194" y="5366171"/>
            <a:ext cx="1258264" cy="803147"/>
          </a:xfrm>
          <a:prstGeom prst="rect">
            <a:avLst/>
          </a:prstGeom>
        </p:spPr>
      </p:pic>
    </p:spTree>
    <p:extLst>
      <p:ext uri="{BB962C8B-B14F-4D97-AF65-F5344CB8AC3E}">
        <p14:creationId xmlns:p14="http://schemas.microsoft.com/office/powerpoint/2010/main" val="116219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65F75AD-EE2B-4A1D-A05B-85EC4C41CF76}"/>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C667AFBA-205F-8A6D-73D2-5B4865C47A6C}"/>
              </a:ext>
            </a:extLst>
          </p:cNvPr>
          <p:cNvSpPr>
            <a:spLocks noGrp="1"/>
          </p:cNvSpPr>
          <p:nvPr>
            <p:ph type="sldNum" sz="quarter" idx="12"/>
          </p:nvPr>
        </p:nvSpPr>
        <p:spPr/>
        <p:txBody>
          <a:bodyPr/>
          <a:lstStyle/>
          <a:p>
            <a:r>
              <a:rPr lang="en-US" altLang="zh-TW" dirty="0"/>
              <a:t>Deep Learning</a:t>
            </a:r>
          </a:p>
        </p:txBody>
      </p:sp>
      <p:pic>
        <p:nvPicPr>
          <p:cNvPr id="5" name="圖片 4" descr="一張含有 行, 繪圖, 圖表 的圖片&#10;&#10;AI 產生的內容可能不正確。">
            <a:extLst>
              <a:ext uri="{FF2B5EF4-FFF2-40B4-BE49-F238E27FC236}">
                <a16:creationId xmlns:a16="http://schemas.microsoft.com/office/drawing/2014/main" id="{033AECB7-292E-5DFF-3FA9-71896F31D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103" y="236843"/>
            <a:ext cx="9653793" cy="57922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206147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628610-DCA9-9956-84F9-06A8207734C1}"/>
              </a:ext>
            </a:extLst>
          </p:cNvPr>
          <p:cNvSpPr>
            <a:spLocks noGrp="1"/>
          </p:cNvSpPr>
          <p:nvPr>
            <p:ph type="title"/>
          </p:nvPr>
        </p:nvSpPr>
        <p:spPr/>
        <p:txBody>
          <a:bodyPr/>
          <a:lstStyle/>
          <a:p>
            <a:r>
              <a:rPr kumimoji="1" lang="zh-TW" altLang="en-US" dirty="0"/>
              <a:t>梯度下降演算法討論</a:t>
            </a:r>
          </a:p>
        </p:txBody>
      </p:sp>
      <p:sp>
        <p:nvSpPr>
          <p:cNvPr id="3" name="內容版面配置區 2">
            <a:extLst>
              <a:ext uri="{FF2B5EF4-FFF2-40B4-BE49-F238E27FC236}">
                <a16:creationId xmlns:a16="http://schemas.microsoft.com/office/drawing/2014/main" id="{E82743FA-2118-0A7D-1433-E25DEB0A1E21}"/>
              </a:ext>
            </a:extLst>
          </p:cNvPr>
          <p:cNvSpPr>
            <a:spLocks noGrp="1"/>
          </p:cNvSpPr>
          <p:nvPr>
            <p:ph idx="1"/>
          </p:nvPr>
        </p:nvSpPr>
        <p:spPr/>
        <p:txBody>
          <a:bodyPr/>
          <a:lstStyle/>
          <a:p>
            <a:r>
              <a:rPr kumimoji="1" lang="zh-TW" altLang="en-US" dirty="0"/>
              <a:t>梯度下降的學習率（</a:t>
            </a:r>
            <a:r>
              <a:rPr kumimoji="1" lang="en-US" altLang="zh-TW" dirty="0"/>
              <a:t>learning rate, </a:t>
            </a:r>
            <a:r>
              <a:rPr kumimoji="1" lang="el-GR" altLang="zh-TW" dirty="0"/>
              <a:t>η</a:t>
            </a:r>
            <a:r>
              <a:rPr kumimoji="1" lang="zh-TW" altLang="el-GR" dirty="0"/>
              <a:t>）</a:t>
            </a:r>
            <a:r>
              <a:rPr kumimoji="1" lang="zh-TW" altLang="en-US" dirty="0"/>
              <a:t>決定了每一次權重更新的步伐大小。</a:t>
            </a:r>
          </a:p>
        </p:txBody>
      </p:sp>
      <p:sp>
        <p:nvSpPr>
          <p:cNvPr id="4" name="日期版面配置區 3">
            <a:extLst>
              <a:ext uri="{FF2B5EF4-FFF2-40B4-BE49-F238E27FC236}">
                <a16:creationId xmlns:a16="http://schemas.microsoft.com/office/drawing/2014/main" id="{FF4F9F71-5D42-0CE0-5FEE-8B875048219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AEF118B-C531-7E22-ACC5-4E7473751971}"/>
              </a:ext>
            </a:extLst>
          </p:cNvPr>
          <p:cNvSpPr>
            <a:spLocks noGrp="1"/>
          </p:cNvSpPr>
          <p:nvPr>
            <p:ph type="sldNum" sz="quarter" idx="12"/>
          </p:nvPr>
        </p:nvSpPr>
        <p:spPr/>
        <p:txBody>
          <a:bodyPr/>
          <a:lstStyle/>
          <a:p>
            <a:r>
              <a:rPr lang="en-US" altLang="zh-TW" dirty="0"/>
              <a:t>Deep Learning</a:t>
            </a:r>
          </a:p>
        </p:txBody>
      </p:sp>
      <p:sp>
        <p:nvSpPr>
          <p:cNvPr id="6" name="文字方塊 5">
            <a:extLst>
              <a:ext uri="{FF2B5EF4-FFF2-40B4-BE49-F238E27FC236}">
                <a16:creationId xmlns:a16="http://schemas.microsoft.com/office/drawing/2014/main" id="{F2A62FCF-A0D7-F461-7DC9-6A4F1B0ABEDC}"/>
              </a:ext>
            </a:extLst>
          </p:cNvPr>
          <p:cNvSpPr txBox="1"/>
          <p:nvPr/>
        </p:nvSpPr>
        <p:spPr>
          <a:xfrm>
            <a:off x="5842573" y="2667847"/>
            <a:ext cx="4751706" cy="1015663"/>
          </a:xfrm>
          <a:prstGeom prst="rect">
            <a:avLst/>
          </a:prstGeom>
          <a:noFill/>
        </p:spPr>
        <p:txBody>
          <a:bodyPr wrap="square">
            <a:spAutoFit/>
          </a:bodyPr>
          <a:lstStyle/>
          <a:p>
            <a:pPr marL="0" indent="0">
              <a:buNone/>
            </a:pPr>
            <a:r>
              <a:rPr kumimoji="1" lang="zh-TW" altLang="en-US" sz="2000" dirty="0"/>
              <a:t>學習率過小，可能造成：</a:t>
            </a:r>
            <a:endParaRPr kumimoji="1" lang="en-US" altLang="zh-TW" sz="2000" dirty="0"/>
          </a:p>
          <a:p>
            <a:pPr>
              <a:buFont typeface="Wingdings" pitchFamily="2" charset="2"/>
              <a:buChar char="n"/>
            </a:pPr>
            <a:r>
              <a:rPr kumimoji="1" lang="zh-TW" altLang="en-US" sz="2000" dirty="0"/>
              <a:t> 收斂速度非常慢、訓練時間大幅增加</a:t>
            </a:r>
            <a:endParaRPr kumimoji="1" lang="en-US" altLang="zh-TW" sz="2000" dirty="0"/>
          </a:p>
          <a:p>
            <a:pPr>
              <a:buFont typeface="Wingdings" pitchFamily="2" charset="2"/>
              <a:buChar char="n"/>
            </a:pPr>
            <a:r>
              <a:rPr kumimoji="1" lang="zh-TW" altLang="en-US" sz="2000" dirty="0"/>
              <a:t> 容易卡在局部極小值或平坦區域</a:t>
            </a:r>
            <a:endParaRPr kumimoji="1" lang="en-US" altLang="zh-TW" sz="2000" dirty="0"/>
          </a:p>
        </p:txBody>
      </p:sp>
      <p:sp>
        <p:nvSpPr>
          <p:cNvPr id="7" name="文字方塊 6">
            <a:extLst>
              <a:ext uri="{FF2B5EF4-FFF2-40B4-BE49-F238E27FC236}">
                <a16:creationId xmlns:a16="http://schemas.microsoft.com/office/drawing/2014/main" id="{4A1A65D3-6FC0-1272-65E3-9B972701F943}"/>
              </a:ext>
            </a:extLst>
          </p:cNvPr>
          <p:cNvSpPr txBox="1"/>
          <p:nvPr/>
        </p:nvSpPr>
        <p:spPr>
          <a:xfrm>
            <a:off x="1945703" y="2667847"/>
            <a:ext cx="4180776" cy="1015663"/>
          </a:xfrm>
          <a:prstGeom prst="rect">
            <a:avLst/>
          </a:prstGeom>
          <a:noFill/>
        </p:spPr>
        <p:txBody>
          <a:bodyPr wrap="square">
            <a:spAutoFit/>
          </a:bodyPr>
          <a:lstStyle/>
          <a:p>
            <a:r>
              <a:rPr kumimoji="1" lang="zh-TW" altLang="en-US" sz="2000" dirty="0"/>
              <a:t>學習率過大，可能造成：</a:t>
            </a:r>
            <a:endParaRPr kumimoji="1" lang="en-US" altLang="zh-TW" sz="2000" dirty="0"/>
          </a:p>
          <a:p>
            <a:pPr>
              <a:buFont typeface="Wingdings" pitchFamily="2" charset="2"/>
              <a:buChar char="n"/>
            </a:pPr>
            <a:r>
              <a:rPr kumimoji="1" lang="zh-TW" altLang="en-US" sz="2000" dirty="0"/>
              <a:t> 跨太大步，直接略過最佳解</a:t>
            </a:r>
            <a:endParaRPr kumimoji="1" lang="en-US" altLang="zh-TW" sz="2000" dirty="0"/>
          </a:p>
          <a:p>
            <a:pPr>
              <a:buFont typeface="Wingdings" pitchFamily="2" charset="2"/>
              <a:buChar char="n"/>
            </a:pPr>
            <a:r>
              <a:rPr kumimoji="1" lang="zh-TW" altLang="en-US" sz="2000" dirty="0"/>
              <a:t> </a:t>
            </a:r>
            <a:r>
              <a:rPr kumimoji="1" lang="en-US" altLang="zh-TW" sz="2000" dirty="0"/>
              <a:t>Loss </a:t>
            </a:r>
            <a:r>
              <a:rPr kumimoji="1" lang="zh-TW" altLang="en-US" sz="2000" dirty="0"/>
              <a:t>劇烈震盪</a:t>
            </a:r>
            <a:endParaRPr kumimoji="1" lang="en-US" altLang="zh-TW" sz="2000" dirty="0"/>
          </a:p>
        </p:txBody>
      </p:sp>
      <p:pic>
        <p:nvPicPr>
          <p:cNvPr id="8" name="圖形 7">
            <a:extLst>
              <a:ext uri="{FF2B5EF4-FFF2-40B4-BE49-F238E27FC236}">
                <a16:creationId xmlns:a16="http://schemas.microsoft.com/office/drawing/2014/main" id="{29F658AB-5784-EE5A-22F1-7287030134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334" y="3885539"/>
            <a:ext cx="8060291" cy="2398822"/>
          </a:xfrm>
          <a:prstGeom prst="rect">
            <a:avLst/>
          </a:prstGeom>
        </p:spPr>
      </p:pic>
    </p:spTree>
    <p:extLst>
      <p:ext uri="{BB962C8B-B14F-4D97-AF65-F5344CB8AC3E}">
        <p14:creationId xmlns:p14="http://schemas.microsoft.com/office/powerpoint/2010/main" val="4193269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2CD2030-B9FE-3999-DD98-0A58BF36555F}"/>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07EC778D-3CED-546A-77D7-5E446ABC6B4A}"/>
              </a:ext>
            </a:extLst>
          </p:cNvPr>
          <p:cNvSpPr>
            <a:spLocks noGrp="1"/>
          </p:cNvSpPr>
          <p:nvPr>
            <p:ph type="sldNum" sz="quarter" idx="12"/>
          </p:nvPr>
        </p:nvSpPr>
        <p:spPr/>
        <p:txBody>
          <a:bodyPr/>
          <a:lstStyle/>
          <a:p>
            <a:r>
              <a:rPr lang="en-US" altLang="zh-TW" dirty="0"/>
              <a:t>Deep Learning</a:t>
            </a:r>
          </a:p>
        </p:txBody>
      </p:sp>
      <p:pic>
        <p:nvPicPr>
          <p:cNvPr id="4" name="圖形 3">
            <a:extLst>
              <a:ext uri="{FF2B5EF4-FFF2-40B4-BE49-F238E27FC236}">
                <a16:creationId xmlns:a16="http://schemas.microsoft.com/office/drawing/2014/main" id="{E14918F4-D42C-5195-D963-E0640E6FA2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1179" y="484118"/>
            <a:ext cx="4766310" cy="3838134"/>
          </a:xfrm>
          <a:prstGeom prst="rect">
            <a:avLst/>
          </a:prstGeom>
        </p:spPr>
      </p:pic>
      <p:pic>
        <p:nvPicPr>
          <p:cNvPr id="5" name="圖片 4">
            <a:extLst>
              <a:ext uri="{FF2B5EF4-FFF2-40B4-BE49-F238E27FC236}">
                <a16:creationId xmlns:a16="http://schemas.microsoft.com/office/drawing/2014/main" id="{E59A6B99-61B6-0980-F268-885EE3900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7489" y="149724"/>
            <a:ext cx="4169732" cy="3466249"/>
          </a:xfrm>
          <a:prstGeom prst="rect">
            <a:avLst/>
          </a:prstGeom>
        </p:spPr>
      </p:pic>
      <p:pic>
        <p:nvPicPr>
          <p:cNvPr id="6" name="圖片 5">
            <a:extLst>
              <a:ext uri="{FF2B5EF4-FFF2-40B4-BE49-F238E27FC236}">
                <a16:creationId xmlns:a16="http://schemas.microsoft.com/office/drawing/2014/main" id="{AA26B797-D4B2-DAB6-EBB2-5BFFBE3664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4592" y="2699601"/>
            <a:ext cx="2468999" cy="3466249"/>
          </a:xfrm>
          <a:prstGeom prst="rect">
            <a:avLst/>
          </a:prstGeom>
        </p:spPr>
      </p:pic>
    </p:spTree>
    <p:extLst>
      <p:ext uri="{BB962C8B-B14F-4D97-AF65-F5344CB8AC3E}">
        <p14:creationId xmlns:p14="http://schemas.microsoft.com/office/powerpoint/2010/main" val="3341771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A9FC52-2CA1-74CD-D778-CD6C8CCFD3D6}"/>
              </a:ext>
            </a:extLst>
          </p:cNvPr>
          <p:cNvSpPr>
            <a:spLocks noGrp="1"/>
          </p:cNvSpPr>
          <p:nvPr>
            <p:ph type="title"/>
          </p:nvPr>
        </p:nvSpPr>
        <p:spPr/>
        <p:txBody>
          <a:bodyPr/>
          <a:lstStyle/>
          <a:p>
            <a:r>
              <a:rPr kumimoji="1" lang="zh-TW" altLang="en-US" dirty="0"/>
              <a:t>梯度下降演算法討論</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A8948E1-2B29-D740-4790-85F9D6C1EA67}"/>
                  </a:ext>
                </a:extLst>
              </p:cNvPr>
              <p:cNvSpPr>
                <a:spLocks noGrp="1"/>
              </p:cNvSpPr>
              <p:nvPr>
                <p:ph idx="1"/>
              </p:nvPr>
            </p:nvSpPr>
            <p:spPr>
              <a:xfrm>
                <a:off x="694481" y="2108201"/>
                <a:ext cx="11079111" cy="4153703"/>
              </a:xfrm>
            </p:spPr>
            <p:txBody>
              <a:bodyPr>
                <a:normAutofit lnSpcReduction="10000"/>
              </a:bodyPr>
              <a:lstStyle/>
              <a:p>
                <a:r>
                  <a:rPr kumimoji="1" lang="zh-TW" altLang="en-US" dirty="0"/>
                  <a:t>學習率的選擇：</a:t>
                </a:r>
                <a:endParaRPr kumimoji="1" lang="en-US" altLang="zh-TW" dirty="0"/>
              </a:p>
              <a:p>
                <a:pPr>
                  <a:buFont typeface="Wingdings" pitchFamily="2" charset="2"/>
                  <a:buChar char="n"/>
                </a:pPr>
                <a:r>
                  <a:rPr kumimoji="1" lang="zh-TW" altLang="en-US" dirty="0"/>
                  <a:t> 使用預設的學習率作為起點，先從「常見且被廣泛採用的設定」開始，再視訓練情況進行調整。例如在 </a:t>
                </a:r>
                <a:r>
                  <a:rPr kumimoji="1" lang="en-US" altLang="zh-TW" dirty="0"/>
                  <a:t>TensorFlow </a:t>
                </a:r>
                <a:r>
                  <a:rPr kumimoji="1" lang="zh-TW" altLang="en-US" dirty="0"/>
                  <a:t>中，</a:t>
                </a:r>
                <a:r>
                  <a:rPr kumimoji="1" lang="en-US" altLang="zh-TW" dirty="0"/>
                  <a:t>SGD </a:t>
                </a:r>
                <a:r>
                  <a:rPr kumimoji="1" lang="zh-TW" altLang="en-US" dirty="0"/>
                  <a:t>的預設學習率為 </a:t>
                </a:r>
                <a:r>
                  <a:rPr kumimoji="1" lang="en-US" altLang="zh-TW" dirty="0"/>
                  <a:t>0.01</a:t>
                </a:r>
                <a:r>
                  <a:rPr kumimoji="1" lang="zh-TW" altLang="en-US" dirty="0"/>
                  <a:t>，而 </a:t>
                </a:r>
                <a:r>
                  <a:rPr kumimoji="1" lang="en-US" altLang="zh-TW" dirty="0"/>
                  <a:t>Adam </a:t>
                </a:r>
                <a:r>
                  <a:rPr kumimoji="1" lang="zh-TW" altLang="en-US" dirty="0"/>
                  <a:t>則為 </a:t>
                </a:r>
                <a:r>
                  <a:rPr kumimoji="1" lang="en-US" altLang="zh-TW" dirty="0"/>
                  <a:t>0.001</a:t>
                </a:r>
                <a:r>
                  <a:rPr kumimoji="1" lang="zh-TW" altLang="en-US" dirty="0"/>
                  <a:t>。</a:t>
                </a:r>
                <a:endParaRPr kumimoji="1" lang="en-US" altLang="zh-TW" dirty="0"/>
              </a:p>
              <a:p>
                <a:pPr>
                  <a:buFont typeface="Wingdings" pitchFamily="2" charset="2"/>
                  <a:buChar char="n"/>
                </a:pPr>
                <a:r>
                  <a:rPr kumimoji="1" lang="zh-TW" altLang="en-US" dirty="0"/>
                  <a:t> 觀察損失曲線的變化。</a:t>
                </a:r>
                <a:endParaRPr kumimoji="1" lang="en-US" altLang="zh-TW" dirty="0"/>
              </a:p>
              <a:p>
                <a:pPr marL="749808" lvl="1" indent="-457200">
                  <a:buFont typeface="+mj-lt"/>
                  <a:buAutoNum type="arabicPeriod"/>
                </a:pPr>
                <a:r>
                  <a:rPr kumimoji="1" lang="en-US" altLang="zh-TW" sz="1600" dirty="0"/>
                  <a:t>Loss </a:t>
                </a:r>
                <a:r>
                  <a:rPr kumimoji="1" lang="zh-TW" altLang="en-US" sz="1600" dirty="0"/>
                  <a:t>發散或震盪 </a:t>
                </a:r>
                <a14:m>
                  <m:oMath xmlns:m="http://schemas.openxmlformats.org/officeDocument/2006/math">
                    <m:r>
                      <a:rPr kumimoji="1" lang="zh-TW" altLang="en-US" sz="1600" i="1">
                        <a:latin typeface="Cambria Math" panose="02040503050406030204" pitchFamily="18" charset="0"/>
                      </a:rPr>
                      <m:t>→</m:t>
                    </m:r>
                  </m:oMath>
                </a14:m>
                <a:r>
                  <a:rPr kumimoji="1" lang="zh-TW" altLang="en-US" sz="1600" dirty="0"/>
                  <a:t> 降低學習率</a:t>
                </a:r>
                <a:endParaRPr kumimoji="1" lang="en-US" altLang="zh-TW" sz="1600" dirty="0"/>
              </a:p>
              <a:p>
                <a:pPr marL="749808" lvl="1" indent="-457200">
                  <a:buFont typeface="+mj-lt"/>
                  <a:buAutoNum type="arabicPeriod"/>
                </a:pPr>
                <a:r>
                  <a:rPr kumimoji="1" lang="en-US" altLang="zh-TW" sz="1600" dirty="0"/>
                  <a:t>Loss</a:t>
                </a:r>
                <a:r>
                  <a:rPr kumimoji="1" lang="zh-TW" altLang="en-US" sz="1600" dirty="0"/>
                  <a:t> 下降但過於緩慢 </a:t>
                </a:r>
                <a14:m>
                  <m:oMath xmlns:m="http://schemas.openxmlformats.org/officeDocument/2006/math">
                    <m:r>
                      <a:rPr kumimoji="1" lang="zh-TW" altLang="en-US" sz="1600" i="1">
                        <a:latin typeface="Cambria Math" panose="02040503050406030204" pitchFamily="18" charset="0"/>
                      </a:rPr>
                      <m:t>→</m:t>
                    </m:r>
                  </m:oMath>
                </a14:m>
                <a:r>
                  <a:rPr kumimoji="1" lang="zh-TW" altLang="en-US" sz="1600" dirty="0"/>
                  <a:t> 提高學習率</a:t>
                </a:r>
                <a:endParaRPr kumimoji="1" lang="en-US" altLang="zh-TW" sz="1600" dirty="0"/>
              </a:p>
              <a:p>
                <a:pPr>
                  <a:buFont typeface="Wingdings" pitchFamily="2" charset="2"/>
                  <a:buChar char="n"/>
                </a:pPr>
                <a:r>
                  <a:rPr kumimoji="1" lang="zh-TW" altLang="en-US" dirty="0"/>
                  <a:t> 使用 </a:t>
                </a:r>
                <a:r>
                  <a:rPr kumimoji="1" lang="en-US" altLang="zh-TW" dirty="0"/>
                  <a:t>Learning</a:t>
                </a:r>
                <a:r>
                  <a:rPr kumimoji="1" lang="zh-TW" altLang="en-US" dirty="0"/>
                  <a:t> </a:t>
                </a:r>
                <a:r>
                  <a:rPr kumimoji="1" lang="en-US" altLang="zh-TW" dirty="0"/>
                  <a:t>Rate</a:t>
                </a:r>
                <a:r>
                  <a:rPr kumimoji="1" lang="zh-TW" altLang="en-US" dirty="0"/>
                  <a:t> </a:t>
                </a:r>
                <a:r>
                  <a:rPr kumimoji="1" lang="en-US" altLang="zh-TW" dirty="0"/>
                  <a:t>Scheduler</a:t>
                </a:r>
                <a:r>
                  <a:rPr kumimoji="1" lang="zh-TW" altLang="en-US" dirty="0"/>
                  <a:t>。核心想法是在訓練初期使用較大的學習率，加速模型向較佳解移動。隨著訓練進行，逐漸降低學習率，使模型能在最小值附近穩定收斂。</a:t>
                </a:r>
                <a:endParaRPr kumimoji="1" lang="en-US" altLang="zh-TW" dirty="0"/>
              </a:p>
              <a:p>
                <a:pPr>
                  <a:buFont typeface="Wingdings" pitchFamily="2" charset="2"/>
                  <a:buChar char="n"/>
                </a:pPr>
                <a:endParaRPr kumimoji="1" lang="zh-TW" altLang="en-US" dirty="0"/>
              </a:p>
              <a:p>
                <a:endParaRPr kumimoji="1" lang="zh-TW" altLang="en-US" dirty="0"/>
              </a:p>
            </p:txBody>
          </p:sp>
        </mc:Choice>
        <mc:Fallback xmlns="">
          <p:sp>
            <p:nvSpPr>
              <p:cNvPr id="3" name="內容版面配置區 2">
                <a:extLst>
                  <a:ext uri="{FF2B5EF4-FFF2-40B4-BE49-F238E27FC236}">
                    <a16:creationId xmlns:a16="http://schemas.microsoft.com/office/drawing/2014/main" id="{3A8948E1-2B29-D740-4790-85F9D6C1EA67}"/>
                  </a:ext>
                </a:extLst>
              </p:cNvPr>
              <p:cNvSpPr>
                <a:spLocks noGrp="1" noRot="1" noChangeAspect="1" noMove="1" noResize="1" noEditPoints="1" noAdjustHandles="1" noChangeArrowheads="1" noChangeShapeType="1" noTextEdit="1"/>
              </p:cNvSpPr>
              <p:nvPr>
                <p:ph idx="1"/>
              </p:nvPr>
            </p:nvSpPr>
            <p:spPr>
              <a:xfrm>
                <a:off x="694481" y="2108201"/>
                <a:ext cx="11079111" cy="4153703"/>
              </a:xfrm>
              <a:blipFill>
                <a:blip r:embed="rId2"/>
                <a:stretch>
                  <a:fillRect l="-1604" t="-2446" r="-160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205C8D10-F7C1-5331-4417-1A20A45FE51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68BBD24-C466-68D6-8B5A-2204D565AD91}"/>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655214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4D3617-3663-5B20-0696-6C24DAB41943}"/>
              </a:ext>
            </a:extLst>
          </p:cNvPr>
          <p:cNvSpPr>
            <a:spLocks noGrp="1"/>
          </p:cNvSpPr>
          <p:nvPr>
            <p:ph type="title"/>
          </p:nvPr>
        </p:nvSpPr>
        <p:spPr/>
        <p:txBody>
          <a:bodyPr/>
          <a:lstStyle/>
          <a:p>
            <a:r>
              <a:rPr kumimoji="1" lang="zh-TW" altLang="en-US" dirty="0"/>
              <a:t>梯度下降演算法討論</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56A140E-1416-28E3-8411-08F229A37899}"/>
                  </a:ext>
                </a:extLst>
              </p:cNvPr>
              <p:cNvSpPr>
                <a:spLocks noGrp="1"/>
              </p:cNvSpPr>
              <p:nvPr>
                <p:ph idx="1"/>
              </p:nvPr>
            </p:nvSpPr>
            <p:spPr>
              <a:xfrm>
                <a:off x="0" y="1997885"/>
                <a:ext cx="12192000" cy="4448953"/>
              </a:xfrm>
            </p:spPr>
            <p:txBody>
              <a:bodyPr>
                <a:noAutofit/>
              </a:bodyPr>
              <a:lstStyle/>
              <a:p>
                <a:r>
                  <a:rPr kumimoji="1" lang="zh-TW" altLang="en-US" dirty="0"/>
                  <a:t>常見的 </a:t>
                </a:r>
                <a:r>
                  <a:rPr kumimoji="1" lang="en-US" altLang="zh-TW" dirty="0"/>
                  <a:t>Learning</a:t>
                </a:r>
                <a:r>
                  <a:rPr kumimoji="1" lang="zh-TW" altLang="en-US" dirty="0"/>
                  <a:t> </a:t>
                </a:r>
                <a:r>
                  <a:rPr kumimoji="1" lang="en-US" altLang="zh-TW" dirty="0"/>
                  <a:t>Rate</a:t>
                </a:r>
                <a:r>
                  <a:rPr kumimoji="1" lang="zh-TW" altLang="en-US" dirty="0"/>
                  <a:t> </a:t>
                </a:r>
                <a:r>
                  <a:rPr kumimoji="1" lang="en-US" altLang="zh-TW" dirty="0"/>
                  <a:t>Scheduler</a:t>
                </a:r>
                <a:r>
                  <a:rPr kumimoji="1" lang="zh-TW" altLang="en-US" dirty="0"/>
                  <a:t>：</a:t>
                </a:r>
                <a:endParaRPr kumimoji="1" lang="en-US" altLang="zh-TW" dirty="0"/>
              </a:p>
              <a:p>
                <a:pPr marL="457200" indent="-457200">
                  <a:buFont typeface="+mj-lt"/>
                  <a:buAutoNum type="arabicPeriod"/>
                </a:pPr>
                <a:r>
                  <a:rPr kumimoji="1" lang="en-US" altLang="zh-TW" dirty="0"/>
                  <a:t>Step Decay</a:t>
                </a:r>
                <a:r>
                  <a:rPr kumimoji="1" lang="zh-TW" altLang="en-US" dirty="0"/>
                  <a:t>（階梯式衰減）：在固定的訓練階段，將學習率乘上一個比例。例如：每 </a:t>
                </a:r>
                <a:r>
                  <a:rPr kumimoji="1" lang="en-US" altLang="zh-TW" dirty="0"/>
                  <a:t>10 </a:t>
                </a:r>
                <a:r>
                  <a:rPr kumimoji="1" lang="zh-TW" altLang="en-US" dirty="0"/>
                  <a:t>個 </a:t>
                </a:r>
                <a:r>
                  <a:rPr kumimoji="1" lang="en-US" altLang="zh-TW" dirty="0"/>
                  <a:t>epochs</a:t>
                </a:r>
                <a:r>
                  <a:rPr kumimoji="1" lang="zh-TW" altLang="en-US" dirty="0"/>
                  <a:t> 就將學習率乘上 </a:t>
                </a:r>
                <a:r>
                  <a:rPr kumimoji="1" lang="en-US" altLang="zh-TW" dirty="0"/>
                  <a:t>0.9</a:t>
                </a:r>
                <a:r>
                  <a:rPr kumimoji="1" lang="zh-TW" altLang="en-US" dirty="0"/>
                  <a:t>。</a:t>
                </a:r>
                <a:endParaRPr kumimoji="1" lang="en-US" altLang="zh-TW" dirty="0"/>
              </a:p>
              <a:p>
                <a:pPr marL="457200" indent="-457200">
                  <a:buFont typeface="+mj-lt"/>
                  <a:buAutoNum type="arabicPeriod"/>
                </a:pPr>
                <a:r>
                  <a:rPr kumimoji="1" lang="en-US" altLang="zh-TW" dirty="0"/>
                  <a:t>Exponential Decay</a:t>
                </a:r>
                <a:r>
                  <a:rPr kumimoji="1" lang="zh-TW" altLang="en-US" dirty="0"/>
                  <a:t>（指數衰減）：在訓練過程中，學習率隨著訓練步數以指數形式逐漸降低。例如，</a:t>
                </a:r>
                <a:r>
                  <a:rPr kumimoji="1" lang="en-US" altLang="zh-TW" dirty="0" err="1"/>
                  <a:t>Tensorflow</a:t>
                </a:r>
                <a:r>
                  <a:rPr kumimoji="1" lang="zh-TW" altLang="en-US" dirty="0"/>
                  <a:t> 採用的公式為 </a:t>
                </a:r>
                <a14:m>
                  <m:oMath xmlns:m="http://schemas.openxmlformats.org/officeDocument/2006/math">
                    <m:r>
                      <a:rPr kumimoji="1" lang="en-US" altLang="zh-TW" b="0" i="1" smtClean="0">
                        <a:latin typeface="Cambria Math" panose="02040503050406030204" pitchFamily="18" charset="0"/>
                      </a:rPr>
                      <m:t>𝑙𝑟</m:t>
                    </m:r>
                    <m:r>
                      <a:rPr kumimoji="1" lang="zh-TW" altLang="en-US" b="0" i="1" smtClean="0">
                        <a:latin typeface="Cambria Math" panose="02040503050406030204" pitchFamily="18" charset="0"/>
                      </a:rPr>
                      <m:t> ∗</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𝑑𝑟</m:t>
                        </m:r>
                      </m:e>
                      <m:sup>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𝑠𝑡𝑒𝑝</m:t>
                            </m:r>
                          </m:num>
                          <m:den>
                            <m:r>
                              <a:rPr kumimoji="1" lang="en-US" altLang="zh-TW" b="0" i="1" smtClean="0">
                                <a:latin typeface="Cambria Math" panose="02040503050406030204" pitchFamily="18" charset="0"/>
                              </a:rPr>
                              <m:t>𝑑𝑒𝑐𝑎𝑦</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𝑠𝑡𝑒𝑝</m:t>
                            </m:r>
                          </m:den>
                        </m:f>
                      </m:sup>
                    </m:sSup>
                  </m:oMath>
                </a14:m>
                <a:r>
                  <a:rPr kumimoji="1" lang="zh-TW" altLang="en-US" b="0" dirty="0"/>
                  <a:t>，其中 </a:t>
                </a:r>
                <a14:m>
                  <m:oMath xmlns:m="http://schemas.openxmlformats.org/officeDocument/2006/math">
                    <m:r>
                      <a:rPr kumimoji="1" lang="en-US" altLang="zh-TW" b="0" i="1" dirty="0" smtClean="0">
                        <a:latin typeface="Cambria Math" panose="02040503050406030204" pitchFamily="18" charset="0"/>
                      </a:rPr>
                      <m:t>𝑙𝑟</m:t>
                    </m:r>
                  </m:oMath>
                </a14:m>
                <a:r>
                  <a:rPr kumimoji="1" lang="zh-TW" altLang="en-US" b="0" dirty="0"/>
                  <a:t> 為學習率、</a:t>
                </a:r>
                <a14:m>
                  <m:oMath xmlns:m="http://schemas.openxmlformats.org/officeDocument/2006/math">
                    <m:r>
                      <a:rPr kumimoji="1" lang="en-US" altLang="zh-TW" b="0" i="1" smtClean="0">
                        <a:latin typeface="Cambria Math" panose="02040503050406030204" pitchFamily="18" charset="0"/>
                      </a:rPr>
                      <m:t>𝑑𝑟</m:t>
                    </m:r>
                  </m:oMath>
                </a14:m>
                <a:r>
                  <a:rPr kumimoji="1" lang="zh-TW" altLang="en-US" b="0" dirty="0"/>
                  <a:t> 與 </a:t>
                </a:r>
                <a14:m>
                  <m:oMath xmlns:m="http://schemas.openxmlformats.org/officeDocument/2006/math">
                    <m:r>
                      <a:rPr kumimoji="1" lang="en-US" altLang="zh-TW" b="0" i="1" dirty="0" smtClean="0">
                        <a:latin typeface="Cambria Math" panose="02040503050406030204" pitchFamily="18" charset="0"/>
                      </a:rPr>
                      <m:t>𝑑𝑒𝑐𝑎𝑦</m:t>
                    </m:r>
                    <m:r>
                      <a:rPr kumimoji="1" lang="zh-TW" altLang="en-US" b="0" i="1" dirty="0" smtClean="0">
                        <a:latin typeface="Cambria Math" panose="02040503050406030204" pitchFamily="18" charset="0"/>
                      </a:rPr>
                      <m:t> </m:t>
                    </m:r>
                    <m:r>
                      <a:rPr kumimoji="1" lang="en-US" altLang="zh-TW" b="0" i="1" dirty="0" smtClean="0">
                        <a:latin typeface="Cambria Math" panose="02040503050406030204" pitchFamily="18" charset="0"/>
                      </a:rPr>
                      <m:t>𝑠𝑡𝑒𝑝</m:t>
                    </m:r>
                    <m:r>
                      <a:rPr kumimoji="1" lang="zh-TW" altLang="en-US" b="0" i="1" dirty="0" smtClean="0">
                        <a:latin typeface="Cambria Math" panose="02040503050406030204" pitchFamily="18" charset="0"/>
                      </a:rPr>
                      <m:t> </m:t>
                    </m:r>
                  </m:oMath>
                </a14:m>
                <a:r>
                  <a:rPr kumimoji="1" lang="zh-TW" altLang="en-US" b="0" dirty="0"/>
                  <a:t>為可設定參數。</a:t>
                </a:r>
                <a:endParaRPr kumimoji="1" lang="en-US" altLang="zh-TW" b="0" dirty="0"/>
              </a:p>
              <a:p>
                <a:pPr marL="457200" indent="-457200">
                  <a:buFont typeface="+mj-lt"/>
                  <a:buAutoNum type="arabicPeriod"/>
                </a:pPr>
                <a:r>
                  <a:rPr kumimoji="1" lang="en-US" altLang="zh-TW" dirty="0"/>
                  <a:t>Cosine Annealing</a:t>
                </a:r>
                <a:r>
                  <a:rPr kumimoji="1" lang="zh-TW" altLang="en-US" dirty="0"/>
                  <a:t>：如同 </a:t>
                </a:r>
                <a:r>
                  <a:rPr kumimoji="1" lang="en-US" altLang="zh-TW" dirty="0"/>
                  <a:t>cosine</a:t>
                </a:r>
                <a:r>
                  <a:rPr kumimoji="1" lang="zh-TW" altLang="en-US" dirty="0"/>
                  <a:t> 函數圖形一樣，讓學習率平滑地緩慢降低。經常搭配 </a:t>
                </a:r>
                <a:r>
                  <a:rPr kumimoji="1" lang="en-US" altLang="zh-TW" dirty="0"/>
                  <a:t>warmup</a:t>
                </a:r>
                <a:r>
                  <a:rPr kumimoji="1" lang="zh-TW" altLang="en-US" dirty="0"/>
                  <a:t> 使用。</a:t>
                </a:r>
                <a:endParaRPr kumimoji="1" lang="en-US" altLang="zh-TW" dirty="0"/>
              </a:p>
              <a:p>
                <a:pPr marL="749808" lvl="1" indent="-457200">
                  <a:buFont typeface="+mj-lt"/>
                  <a:buAutoNum type="arabicPeriod"/>
                </a:pPr>
                <a:r>
                  <a:rPr kumimoji="1" lang="en-US" altLang="zh-TW" b="0" dirty="0"/>
                  <a:t>Warmup</a:t>
                </a:r>
                <a:r>
                  <a:rPr kumimoji="1" lang="zh-TW" altLang="en-US" dirty="0"/>
                  <a:t>（</a:t>
                </a:r>
                <a:r>
                  <a:rPr kumimoji="1" lang="en-US" altLang="zh-TW" dirty="0">
                    <a:hlinkClick r:id="rId2"/>
                  </a:rPr>
                  <a:t>https://arxiv.org/abs/1706.02677</a:t>
                </a:r>
                <a:r>
                  <a:rPr kumimoji="1" lang="zh-TW" altLang="en-US" dirty="0"/>
                  <a:t>）：將學習率從很小的值逐漸提高 → 穩定 </a:t>
                </a:r>
                <a:r>
                  <a:rPr kumimoji="1" lang="en-US" altLang="zh-TW" dirty="0"/>
                  <a:t>early training</a:t>
                </a:r>
                <a:r>
                  <a:rPr kumimoji="1" lang="zh-TW" altLang="en-US" dirty="0"/>
                  <a:t>。</a:t>
                </a:r>
                <a:endParaRPr kumimoji="1" lang="en-US" altLang="zh-TW" dirty="0"/>
              </a:p>
              <a:p>
                <a:pPr marL="749808" lvl="1" indent="-457200">
                  <a:buFont typeface="+mj-lt"/>
                  <a:buAutoNum type="arabicPeriod"/>
                </a:pPr>
                <a:r>
                  <a:rPr kumimoji="1" lang="en-US" altLang="zh-TW" b="0" dirty="0"/>
                  <a:t>Co</a:t>
                </a:r>
                <a:r>
                  <a:rPr kumimoji="1" lang="en-US" altLang="zh-TW" dirty="0"/>
                  <a:t>sine</a:t>
                </a:r>
                <a:r>
                  <a:rPr kumimoji="1" lang="zh-TW" altLang="en-US" dirty="0"/>
                  <a:t> </a:t>
                </a:r>
                <a:r>
                  <a:rPr kumimoji="1" lang="en-US" altLang="zh-TW" dirty="0"/>
                  <a:t>Decay</a:t>
                </a:r>
                <a:r>
                  <a:rPr kumimoji="1" lang="zh-TW" altLang="en-US" dirty="0"/>
                  <a:t>：</a:t>
                </a:r>
                <a:r>
                  <a:rPr kumimoji="1" lang="en-US" altLang="zh-TW" dirty="0"/>
                  <a:t>warmup</a:t>
                </a:r>
                <a:r>
                  <a:rPr kumimoji="1" lang="zh-TW" altLang="en-US" dirty="0"/>
                  <a:t> 後降低學習率，使模型在訓練後期能以較小步伐進行穩定收斂。</a:t>
                </a:r>
                <a:endParaRPr kumimoji="1" lang="en-US" altLang="zh-TW" b="0" dirty="0"/>
              </a:p>
            </p:txBody>
          </p:sp>
        </mc:Choice>
        <mc:Fallback xmlns="">
          <p:sp>
            <p:nvSpPr>
              <p:cNvPr id="3" name="內容版面配置區 2">
                <a:extLst>
                  <a:ext uri="{FF2B5EF4-FFF2-40B4-BE49-F238E27FC236}">
                    <a16:creationId xmlns:a16="http://schemas.microsoft.com/office/drawing/2014/main" id="{E56A140E-1416-28E3-8411-08F229A37899}"/>
                  </a:ext>
                </a:extLst>
              </p:cNvPr>
              <p:cNvSpPr>
                <a:spLocks noGrp="1" noRot="1" noChangeAspect="1" noMove="1" noResize="1" noEditPoints="1" noAdjustHandles="1" noChangeArrowheads="1" noChangeShapeType="1" noTextEdit="1"/>
              </p:cNvSpPr>
              <p:nvPr>
                <p:ph idx="1"/>
              </p:nvPr>
            </p:nvSpPr>
            <p:spPr>
              <a:xfrm>
                <a:off x="0" y="1997885"/>
                <a:ext cx="12192000" cy="4448953"/>
              </a:xfrm>
              <a:blipFill>
                <a:blip r:embed="rId3"/>
                <a:stretch>
                  <a:fillRect l="-1457" t="-1140" r="-416" b="-284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C371F117-BE90-E6A9-D05E-5117DD25EB7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F338F5F-9508-FAF8-AD10-BEB67BBC99C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630264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D99C89-B9E1-E0C3-9D62-F29E35A4FC1E}"/>
              </a:ext>
            </a:extLst>
          </p:cNvPr>
          <p:cNvSpPr>
            <a:spLocks noGrp="1"/>
          </p:cNvSpPr>
          <p:nvPr>
            <p:ph type="title"/>
          </p:nvPr>
        </p:nvSpPr>
        <p:spPr/>
        <p:txBody>
          <a:bodyPr/>
          <a:lstStyle/>
          <a:p>
            <a:r>
              <a:rPr kumimoji="1" lang="zh-TW" altLang="en-US" dirty="0"/>
              <a:t>梯度下降演算法討論</a:t>
            </a:r>
          </a:p>
        </p:txBody>
      </p:sp>
      <p:sp>
        <p:nvSpPr>
          <p:cNvPr id="4" name="日期版面配置區 3">
            <a:extLst>
              <a:ext uri="{FF2B5EF4-FFF2-40B4-BE49-F238E27FC236}">
                <a16:creationId xmlns:a16="http://schemas.microsoft.com/office/drawing/2014/main" id="{EFCC82A4-77BE-A184-7A46-268B02849FE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D726EA5-70FD-A149-3199-BC32BD0F1C45}"/>
              </a:ext>
            </a:extLst>
          </p:cNvPr>
          <p:cNvSpPr>
            <a:spLocks noGrp="1"/>
          </p:cNvSpPr>
          <p:nvPr>
            <p:ph type="sldNum" sz="quarter" idx="12"/>
          </p:nvPr>
        </p:nvSpPr>
        <p:spPr/>
        <p:txBody>
          <a:bodyPr/>
          <a:lstStyle/>
          <a:p>
            <a:r>
              <a:rPr lang="en-US" altLang="zh-TW" dirty="0"/>
              <a:t>Deep Learning</a:t>
            </a:r>
          </a:p>
        </p:txBody>
      </p:sp>
      <p:pic>
        <p:nvPicPr>
          <p:cNvPr id="6" name="內容版面配置區 5" descr="一張含有 行, 文字, 繪圖, 圖表 的圖片&#10;&#10;AI 產生的內容可能不正確。">
            <a:extLst>
              <a:ext uri="{FF2B5EF4-FFF2-40B4-BE49-F238E27FC236}">
                <a16:creationId xmlns:a16="http://schemas.microsoft.com/office/drawing/2014/main" id="{0D5B6BBC-1970-6EBC-1226-4DC75D94F6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445" y="2138898"/>
            <a:ext cx="5369294" cy="40269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字方塊 6">
            <a:extLst>
              <a:ext uri="{FF2B5EF4-FFF2-40B4-BE49-F238E27FC236}">
                <a16:creationId xmlns:a16="http://schemas.microsoft.com/office/drawing/2014/main" id="{C0891DEA-E1B9-EAC7-1485-79457AC94986}"/>
              </a:ext>
            </a:extLst>
          </p:cNvPr>
          <p:cNvSpPr txBox="1"/>
          <p:nvPr/>
        </p:nvSpPr>
        <p:spPr>
          <a:xfrm>
            <a:off x="6671167" y="2138898"/>
            <a:ext cx="4484513" cy="1200329"/>
          </a:xfrm>
          <a:prstGeom prst="rect">
            <a:avLst/>
          </a:prstGeom>
          <a:noFill/>
        </p:spPr>
        <p:txBody>
          <a:bodyPr wrap="square" rtlCol="0">
            <a:spAutoFit/>
          </a:bodyPr>
          <a:lstStyle/>
          <a:p>
            <a:r>
              <a:rPr kumimoji="1" lang="zh-TW" altLang="en-US" dirty="0"/>
              <a:t>*</a:t>
            </a:r>
            <a:r>
              <a:rPr kumimoji="1" lang="en-US" altLang="zh-TW" dirty="0"/>
              <a:t>.</a:t>
            </a:r>
            <a:r>
              <a:rPr kumimoji="1" lang="zh-TW" altLang="en-US" dirty="0"/>
              <a:t> </a:t>
            </a:r>
            <a:r>
              <a:rPr kumimoji="1" lang="en-US" altLang="zh-TW" dirty="0"/>
              <a:t>Warmup</a:t>
            </a:r>
            <a:r>
              <a:rPr kumimoji="1" lang="zh-TW" altLang="en-US" dirty="0"/>
              <a:t> 的說明與 </a:t>
            </a:r>
            <a:r>
              <a:rPr kumimoji="1" lang="en-US" altLang="zh-TW" dirty="0"/>
              <a:t>cosine</a:t>
            </a:r>
            <a:r>
              <a:rPr kumimoji="1" lang="zh-TW" altLang="en-US" dirty="0"/>
              <a:t> </a:t>
            </a:r>
            <a:r>
              <a:rPr kumimoji="1" lang="en-US" altLang="zh-TW" dirty="0"/>
              <a:t>decay</a:t>
            </a:r>
            <a:r>
              <a:rPr kumimoji="1" lang="zh-TW" altLang="en-US" dirty="0"/>
              <a:t> 的公式：</a:t>
            </a:r>
            <a:endParaRPr kumimoji="1" lang="en-US" altLang="zh-TW" dirty="0">
              <a:hlinkClick r:id="rId3"/>
            </a:endParaRPr>
          </a:p>
          <a:p>
            <a:r>
              <a:rPr kumimoji="1" lang="en-US" altLang="zh-TW" dirty="0">
                <a:hlinkClick r:id="rId3"/>
              </a:rPr>
              <a:t>https://www.tensorflow.org/api_docs/python/tf/keras/optimizers/schedules/CosineDecay</a:t>
            </a:r>
            <a:endParaRPr kumimoji="1" lang="en-US" altLang="zh-TW" dirty="0"/>
          </a:p>
          <a:p>
            <a:endParaRPr kumimoji="1" lang="en-US" altLang="zh-TW" dirty="0"/>
          </a:p>
        </p:txBody>
      </p:sp>
    </p:spTree>
    <p:extLst>
      <p:ext uri="{BB962C8B-B14F-4D97-AF65-F5344CB8AC3E}">
        <p14:creationId xmlns:p14="http://schemas.microsoft.com/office/powerpoint/2010/main" val="849207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a:extLst>
              <a:ext uri="{FF2B5EF4-FFF2-40B4-BE49-F238E27FC236}">
                <a16:creationId xmlns:a16="http://schemas.microsoft.com/office/drawing/2014/main" id="{B362D945-E6F0-6128-3627-769A5B47FAB7}"/>
              </a:ext>
            </a:extLst>
          </p:cNvPr>
          <p:cNvSpPr>
            <a:spLocks noGrp="1"/>
          </p:cNvSpPr>
          <p:nvPr>
            <p:ph type="title"/>
          </p:nvPr>
        </p:nvSpPr>
        <p:spPr>
          <a:xfrm>
            <a:off x="492370" y="516836"/>
            <a:ext cx="3084844" cy="1961086"/>
          </a:xfrm>
        </p:spPr>
        <p:txBody>
          <a:bodyPr>
            <a:normAutofit/>
          </a:bodyPr>
          <a:lstStyle/>
          <a:p>
            <a:r>
              <a:rPr kumimoji="1" lang="zh-TW" altLang="en-US" sz="4000" dirty="0">
                <a:solidFill>
                  <a:srgbClr val="FFFFFF"/>
                </a:solidFill>
              </a:rPr>
              <a:t>梯度下降演算法討論</a:t>
            </a:r>
          </a:p>
        </p:txBody>
      </p:sp>
      <p:cxnSp>
        <p:nvCxnSpPr>
          <p:cNvPr id="15" name="Straight Connector 14">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80645476-5A18-1AEB-2727-46BA5AE5A800}"/>
              </a:ext>
            </a:extLst>
          </p:cNvPr>
          <p:cNvSpPr>
            <a:spLocks noGrp="1"/>
          </p:cNvSpPr>
          <p:nvPr>
            <p:ph idx="1"/>
          </p:nvPr>
        </p:nvSpPr>
        <p:spPr>
          <a:xfrm>
            <a:off x="92597" y="2799653"/>
            <a:ext cx="3738623" cy="4012307"/>
          </a:xfrm>
        </p:spPr>
        <p:txBody>
          <a:bodyPr>
            <a:normAutofit/>
          </a:bodyPr>
          <a:lstStyle/>
          <a:p>
            <a:pPr>
              <a:lnSpc>
                <a:spcPct val="90000"/>
              </a:lnSpc>
            </a:pPr>
            <a:r>
              <a:rPr kumimoji="1" lang="zh-TW" altLang="en-US" sz="2200" dirty="0">
                <a:solidFill>
                  <a:srgbClr val="FFFFFF"/>
                </a:solidFill>
              </a:rPr>
              <a:t>梯度下降的三個類型：</a:t>
            </a:r>
            <a:endParaRPr kumimoji="1" lang="en-US" altLang="zh-TW" sz="2200" dirty="0">
              <a:solidFill>
                <a:srgbClr val="FFFFFF"/>
              </a:solidFill>
            </a:endParaRPr>
          </a:p>
          <a:p>
            <a:pPr marL="457200" indent="-457200">
              <a:lnSpc>
                <a:spcPct val="90000"/>
              </a:lnSpc>
              <a:buFont typeface="+mj-lt"/>
              <a:buAutoNum type="arabicPeriod"/>
            </a:pPr>
            <a:r>
              <a:rPr kumimoji="1" lang="en-US" altLang="zh-TW" sz="2200" dirty="0">
                <a:solidFill>
                  <a:srgbClr val="FFFFFF"/>
                </a:solidFill>
              </a:rPr>
              <a:t>Batch</a:t>
            </a:r>
            <a:r>
              <a:rPr kumimoji="1" lang="zh-TW" altLang="en-US" sz="2200" dirty="0">
                <a:solidFill>
                  <a:srgbClr val="FFFFFF"/>
                </a:solidFill>
              </a:rPr>
              <a:t> </a:t>
            </a:r>
            <a:r>
              <a:rPr kumimoji="1" lang="en-US" altLang="zh-TW" sz="2200" dirty="0">
                <a:solidFill>
                  <a:srgbClr val="FFFFFF"/>
                </a:solidFill>
              </a:rPr>
              <a:t>Gradient Descent</a:t>
            </a:r>
            <a:r>
              <a:rPr kumimoji="1" lang="zh-TW" altLang="en-US" sz="2200" dirty="0">
                <a:solidFill>
                  <a:srgbClr val="FFFFFF"/>
                </a:solidFill>
              </a:rPr>
              <a:t>：</a:t>
            </a:r>
            <a:r>
              <a:rPr lang="zh-TW" altLang="en-US" sz="2200" dirty="0">
                <a:solidFill>
                  <a:srgbClr val="FFFFFF"/>
                </a:solidFill>
              </a:rPr>
              <a:t>用全部資料計算一次梯度再更新。</a:t>
            </a:r>
            <a:endParaRPr kumimoji="1" lang="en-US" altLang="zh-TW" sz="2200" dirty="0">
              <a:solidFill>
                <a:srgbClr val="FFFFFF"/>
              </a:solidFill>
            </a:endParaRPr>
          </a:p>
          <a:p>
            <a:pPr marL="457200" indent="-457200">
              <a:lnSpc>
                <a:spcPct val="90000"/>
              </a:lnSpc>
              <a:buFont typeface="+mj-lt"/>
              <a:buAutoNum type="arabicPeriod"/>
            </a:pPr>
            <a:r>
              <a:rPr kumimoji="1" lang="en-US" altLang="zh-TW" sz="2200" dirty="0">
                <a:solidFill>
                  <a:srgbClr val="FFFFFF"/>
                </a:solidFill>
              </a:rPr>
              <a:t>Mini-Batch Gradient Descent</a:t>
            </a:r>
            <a:r>
              <a:rPr kumimoji="1" lang="zh-TW" altLang="en-US" sz="2200" dirty="0">
                <a:solidFill>
                  <a:srgbClr val="FFFFFF"/>
                </a:solidFill>
              </a:rPr>
              <a:t>：每次用小部分資料更新。 </a:t>
            </a:r>
            <a:endParaRPr kumimoji="1" lang="en-US" altLang="zh-TW" sz="2200" dirty="0">
              <a:solidFill>
                <a:srgbClr val="FFFFFF"/>
              </a:solidFill>
            </a:endParaRPr>
          </a:p>
          <a:p>
            <a:pPr marL="457200" indent="-457200">
              <a:lnSpc>
                <a:spcPct val="90000"/>
              </a:lnSpc>
              <a:buFont typeface="+mj-lt"/>
              <a:buAutoNum type="arabicPeriod"/>
            </a:pPr>
            <a:r>
              <a:rPr kumimoji="1" lang="en-US" altLang="zh-TW" sz="2200" dirty="0">
                <a:solidFill>
                  <a:srgbClr val="FFFFFF"/>
                </a:solidFill>
              </a:rPr>
              <a:t>Stochastic Gradient Descent</a:t>
            </a:r>
            <a:r>
              <a:rPr kumimoji="1" lang="zh-TW" altLang="en-US" sz="2200" dirty="0">
                <a:solidFill>
                  <a:srgbClr val="FFFFFF"/>
                </a:solidFill>
              </a:rPr>
              <a:t>（</a:t>
            </a:r>
            <a:r>
              <a:rPr kumimoji="1" lang="en-US" altLang="zh-TW" sz="2200" dirty="0">
                <a:solidFill>
                  <a:srgbClr val="FFFFFF"/>
                </a:solidFill>
              </a:rPr>
              <a:t>SGD</a:t>
            </a:r>
            <a:r>
              <a:rPr kumimoji="1" lang="zh-TW" altLang="en-US" sz="2200" dirty="0">
                <a:solidFill>
                  <a:srgbClr val="FFFFFF"/>
                </a:solidFill>
              </a:rPr>
              <a:t>）：每看到一筆資料就即時更新</a:t>
            </a:r>
            <a:r>
              <a:rPr kumimoji="1" lang="zh-TW" altLang="en-US" sz="1800" dirty="0">
                <a:solidFill>
                  <a:srgbClr val="FFFFFF"/>
                </a:solidFill>
              </a:rPr>
              <a:t>。</a:t>
            </a:r>
            <a:endParaRPr kumimoji="1" lang="en-US" altLang="zh-TW" sz="1800" dirty="0">
              <a:solidFill>
                <a:srgbClr val="FFFFFF"/>
              </a:solidFill>
            </a:endParaRPr>
          </a:p>
          <a:p>
            <a:pPr marL="0" indent="0">
              <a:lnSpc>
                <a:spcPct val="90000"/>
              </a:lnSpc>
              <a:buNone/>
            </a:pPr>
            <a:endParaRPr kumimoji="1" lang="zh-TW" altLang="en-US" sz="1800" dirty="0">
              <a:solidFill>
                <a:srgbClr val="FFFFFF"/>
              </a:solidFill>
            </a:endParaRPr>
          </a:p>
        </p:txBody>
      </p:sp>
      <p:pic>
        <p:nvPicPr>
          <p:cNvPr id="6" name="圖片 5" descr="一張含有 圓形, 文字, 字型, 圖表 的圖片&#10;&#10;AI 產生的內容可能不正確。">
            <a:extLst>
              <a:ext uri="{FF2B5EF4-FFF2-40B4-BE49-F238E27FC236}">
                <a16:creationId xmlns:a16="http://schemas.microsoft.com/office/drawing/2014/main" id="{41416808-E9E0-1635-3754-708844C71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2017" y="1160140"/>
            <a:ext cx="6798082" cy="45377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投影片編號版面配置區 4">
            <a:extLst>
              <a:ext uri="{FF2B5EF4-FFF2-40B4-BE49-F238E27FC236}">
                <a16:creationId xmlns:a16="http://schemas.microsoft.com/office/drawing/2014/main" id="{854B09F4-1948-E95B-ACD3-F79C43367770}"/>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solidFill>
                  <a:schemeClr val="tx1">
                    <a:lumMod val="85000"/>
                    <a:lumOff val="15000"/>
                  </a:schemeClr>
                </a:solidFill>
              </a:rPr>
              <a:t>Deep Learning</a:t>
            </a:r>
          </a:p>
        </p:txBody>
      </p:sp>
      <p:sp>
        <p:nvSpPr>
          <p:cNvPr id="7" name="文字方塊 6">
            <a:extLst>
              <a:ext uri="{FF2B5EF4-FFF2-40B4-BE49-F238E27FC236}">
                <a16:creationId xmlns:a16="http://schemas.microsoft.com/office/drawing/2014/main" id="{F647251F-ADDF-6F98-D3D0-A111BA1B6D1F}"/>
              </a:ext>
            </a:extLst>
          </p:cNvPr>
          <p:cNvSpPr txBox="1"/>
          <p:nvPr/>
        </p:nvSpPr>
        <p:spPr>
          <a:xfrm>
            <a:off x="4742017" y="5887682"/>
            <a:ext cx="6868227" cy="369332"/>
          </a:xfrm>
          <a:prstGeom prst="rect">
            <a:avLst/>
          </a:prstGeom>
          <a:noFill/>
        </p:spPr>
        <p:txBody>
          <a:bodyPr wrap="none" rtlCol="0">
            <a:spAutoFit/>
          </a:bodyPr>
          <a:lstStyle/>
          <a:p>
            <a:r>
              <a:rPr kumimoji="1" lang="en-US" altLang="zh-TW" dirty="0"/>
              <a:t>https://</a:t>
            </a:r>
            <a:r>
              <a:rPr kumimoji="1" lang="en-US" altLang="zh-TW" dirty="0" err="1"/>
              <a:t>statusneo.com</a:t>
            </a:r>
            <a:r>
              <a:rPr kumimoji="1" lang="en-US" altLang="zh-TW" dirty="0"/>
              <a:t>/</a:t>
            </a:r>
            <a:r>
              <a:rPr kumimoji="1" lang="en-US" altLang="zh-TW" dirty="0" err="1"/>
              <a:t>efficientdl</a:t>
            </a:r>
            <a:r>
              <a:rPr kumimoji="1" lang="en-US" altLang="zh-TW" dirty="0"/>
              <a:t>-mini-batch-gradient-descent-explained/</a:t>
            </a:r>
            <a:endParaRPr kumimoji="1" lang="zh-TW" altLang="en-US" dirty="0"/>
          </a:p>
        </p:txBody>
      </p:sp>
    </p:spTree>
    <p:extLst>
      <p:ext uri="{BB962C8B-B14F-4D97-AF65-F5344CB8AC3E}">
        <p14:creationId xmlns:p14="http://schemas.microsoft.com/office/powerpoint/2010/main" val="1329377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65A644-C6E8-7643-2FFD-BD8F1AC71503}"/>
              </a:ext>
            </a:extLst>
          </p:cNvPr>
          <p:cNvSpPr>
            <a:spLocks noGrp="1"/>
          </p:cNvSpPr>
          <p:nvPr>
            <p:ph type="title"/>
          </p:nvPr>
        </p:nvSpPr>
        <p:spPr/>
        <p:txBody>
          <a:bodyPr>
            <a:normAutofit/>
          </a:bodyPr>
          <a:lstStyle/>
          <a:p>
            <a:r>
              <a:rPr kumimoji="1" lang="zh-TW" altLang="en-US" dirty="0"/>
              <a:t>梯度下降演算法討論</a:t>
            </a:r>
          </a:p>
        </p:txBody>
      </p:sp>
      <p:sp>
        <p:nvSpPr>
          <p:cNvPr id="3" name="內容版面配置區 2">
            <a:extLst>
              <a:ext uri="{FF2B5EF4-FFF2-40B4-BE49-F238E27FC236}">
                <a16:creationId xmlns:a16="http://schemas.microsoft.com/office/drawing/2014/main" id="{AD581F10-205F-213B-DC12-C0419D93EF08}"/>
              </a:ext>
            </a:extLst>
          </p:cNvPr>
          <p:cNvSpPr>
            <a:spLocks noGrp="1"/>
          </p:cNvSpPr>
          <p:nvPr>
            <p:ph idx="1"/>
          </p:nvPr>
        </p:nvSpPr>
        <p:spPr/>
        <p:txBody>
          <a:bodyPr/>
          <a:lstStyle/>
          <a:p>
            <a:pPr>
              <a:buFont typeface="Wingdings" pitchFamily="2" charset="2"/>
              <a:buChar char="n"/>
            </a:pPr>
            <a:r>
              <a:rPr kumimoji="1" lang="zh-TW" altLang="en-US" dirty="0"/>
              <a:t> 如果 </a:t>
            </a:r>
            <a:r>
              <a:rPr kumimoji="1" lang="en-US" altLang="zh-TW" dirty="0"/>
              <a:t>batch size </a:t>
            </a:r>
            <a:r>
              <a:rPr kumimoji="1" lang="zh-TW" altLang="en-US" dirty="0"/>
              <a:t>太小，訓練過程就容易受到單筆樣本的影響，使權重被更新到錯誤的方向（見樹不見林）。 </a:t>
            </a:r>
            <a:endParaRPr kumimoji="1" lang="en-US" altLang="zh-TW" dirty="0"/>
          </a:p>
          <a:p>
            <a:pPr>
              <a:buFont typeface="Wingdings" pitchFamily="2" charset="2"/>
              <a:buChar char="n"/>
            </a:pPr>
            <a:r>
              <a:rPr kumimoji="1" lang="zh-TW" altLang="en-US" dirty="0"/>
              <a:t> 如果 </a:t>
            </a:r>
            <a:r>
              <a:rPr kumimoji="1" lang="en-US" altLang="zh-TW" dirty="0"/>
              <a:t>batch size </a:t>
            </a:r>
            <a:r>
              <a:rPr kumimoji="1" lang="zh-TW" altLang="en-US" dirty="0"/>
              <a:t>太大，計算正向傳播與損失值所需的時間會大幅增加。</a:t>
            </a:r>
            <a:endParaRPr kumimoji="1" lang="en-US" altLang="zh-TW" dirty="0"/>
          </a:p>
          <a:p>
            <a:pPr lvl="1">
              <a:buFont typeface="Wingdings" pitchFamily="2" charset="2"/>
              <a:buChar char="n"/>
            </a:pPr>
            <a:r>
              <a:rPr kumimoji="1" lang="zh-TW" altLang="en-US" dirty="0"/>
              <a:t> 例如，在 </a:t>
            </a:r>
            <a:r>
              <a:rPr kumimoji="1" lang="en-US" altLang="zh-TW" dirty="0"/>
              <a:t>MNIST </a:t>
            </a:r>
            <a:r>
              <a:rPr kumimoji="1" lang="zh-TW" altLang="en-US" dirty="0"/>
              <a:t>的六萬筆資料中，若一次將全部資料計算損失，再用梯度下降只更新一次權重，效率會非常低。</a:t>
            </a:r>
            <a:endParaRPr kumimoji="1" lang="en-US" altLang="zh-TW" dirty="0"/>
          </a:p>
          <a:p>
            <a:pPr lvl="1">
              <a:buFont typeface="Wingdings" pitchFamily="2" charset="2"/>
              <a:buChar char="n"/>
            </a:pPr>
            <a:r>
              <a:rPr kumimoji="1" lang="zh-TW" altLang="en-US" dirty="0"/>
              <a:t> 梯度下降演算法需要多次更新權重才能收斂，因此選擇一個「合理」的 </a:t>
            </a:r>
            <a:r>
              <a:rPr kumimoji="1" lang="en-US" altLang="zh-TW" dirty="0"/>
              <a:t>batch size </a:t>
            </a:r>
            <a:r>
              <a:rPr kumimoji="1" lang="zh-TW" altLang="en-US" dirty="0"/>
              <a:t>比較常見。 </a:t>
            </a:r>
            <a:endParaRPr kumimoji="1" lang="en-US" altLang="zh-TW" dirty="0"/>
          </a:p>
          <a:p>
            <a:pPr lvl="1">
              <a:buFont typeface="Wingdings" pitchFamily="2" charset="2"/>
              <a:buChar char="n"/>
            </a:pPr>
            <a:r>
              <a:rPr kumimoji="1" lang="zh-TW" altLang="en-US" dirty="0"/>
              <a:t> 此外，</a:t>
            </a:r>
            <a:r>
              <a:rPr kumimoji="1" lang="en-US" altLang="zh-TW" dirty="0"/>
              <a:t>batch size </a:t>
            </a:r>
            <a:r>
              <a:rPr kumimoji="1" lang="zh-TW" altLang="en-US" dirty="0"/>
              <a:t>太大也可能導致 </a:t>
            </a:r>
            <a:r>
              <a:rPr kumimoji="1" lang="en-US" altLang="zh-TW" dirty="0"/>
              <a:t>GPU </a:t>
            </a:r>
            <a:r>
              <a:rPr kumimoji="1" lang="zh-TW" altLang="en-US" dirty="0"/>
              <a:t>記憶體不足，產生 </a:t>
            </a:r>
            <a:r>
              <a:rPr kumimoji="1" lang="en-US" altLang="zh-TW" dirty="0"/>
              <a:t>Out of Memory </a:t>
            </a:r>
            <a:r>
              <a:rPr kumimoji="1" lang="zh-TW" altLang="en-US" dirty="0"/>
              <a:t>的錯誤。</a:t>
            </a:r>
            <a:endParaRPr kumimoji="1" lang="en-US" altLang="zh-TW" dirty="0"/>
          </a:p>
        </p:txBody>
      </p:sp>
      <p:sp>
        <p:nvSpPr>
          <p:cNvPr id="4" name="日期版面配置區 3">
            <a:extLst>
              <a:ext uri="{FF2B5EF4-FFF2-40B4-BE49-F238E27FC236}">
                <a16:creationId xmlns:a16="http://schemas.microsoft.com/office/drawing/2014/main" id="{16780530-FBDC-B4A7-AB28-D70EEE75E934}"/>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6468338-2D74-4EC6-ECB8-C5C36389B9DC}"/>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390842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A8D635-B5AD-B88D-214D-B3F798E8F9A3}"/>
              </a:ext>
            </a:extLst>
          </p:cNvPr>
          <p:cNvSpPr>
            <a:spLocks noGrp="1"/>
          </p:cNvSpPr>
          <p:nvPr>
            <p:ph type="title"/>
          </p:nvPr>
        </p:nvSpPr>
        <p:spPr/>
        <p:txBody>
          <a:bodyPr/>
          <a:lstStyle/>
          <a:p>
            <a:r>
              <a:rPr kumimoji="1" lang="zh-TW" altLang="en-US" dirty="0"/>
              <a:t>梯度下降演算法討論</a:t>
            </a:r>
          </a:p>
        </p:txBody>
      </p:sp>
      <p:sp>
        <p:nvSpPr>
          <p:cNvPr id="3" name="內容版面配置區 2">
            <a:extLst>
              <a:ext uri="{FF2B5EF4-FFF2-40B4-BE49-F238E27FC236}">
                <a16:creationId xmlns:a16="http://schemas.microsoft.com/office/drawing/2014/main" id="{3D6EE004-2937-3BC0-9CC7-81FA6A909179}"/>
              </a:ext>
            </a:extLst>
          </p:cNvPr>
          <p:cNvSpPr>
            <a:spLocks noGrp="1"/>
          </p:cNvSpPr>
          <p:nvPr>
            <p:ph idx="1"/>
          </p:nvPr>
        </p:nvSpPr>
        <p:spPr>
          <a:xfrm>
            <a:off x="1097280" y="2108201"/>
            <a:ext cx="10058400" cy="4095829"/>
          </a:xfrm>
        </p:spPr>
        <p:txBody>
          <a:bodyPr>
            <a:normAutofit/>
          </a:bodyPr>
          <a:lstStyle/>
          <a:p>
            <a:r>
              <a:rPr kumimoji="1" lang="zh-TW" altLang="en-US" dirty="0"/>
              <a:t>在 </a:t>
            </a:r>
            <a:r>
              <a:rPr kumimoji="1" lang="en-US" altLang="zh-TW" dirty="0"/>
              <a:t>TensorFlow </a:t>
            </a:r>
            <a:r>
              <a:rPr kumimoji="1" lang="zh-TW" altLang="en-US" dirty="0"/>
              <a:t>中，雖然 </a:t>
            </a:r>
            <a:r>
              <a:rPr kumimoji="1" lang="en-US" altLang="zh-TW" dirty="0"/>
              <a:t>optimizer </a:t>
            </a:r>
            <a:r>
              <a:rPr kumimoji="1" lang="zh-TW" altLang="en-US" dirty="0"/>
              <a:t>名稱叫做 </a:t>
            </a:r>
            <a:r>
              <a:rPr kumimoji="1" lang="en-US" altLang="zh-TW" dirty="0"/>
              <a:t>SGD</a:t>
            </a:r>
            <a:r>
              <a:rPr kumimoji="1" lang="zh-TW" altLang="en-US" dirty="0"/>
              <a:t>，但它並非每次只能用一筆資料來更新權重。每次梯度更新所用的資料量，是由 </a:t>
            </a:r>
            <a:r>
              <a:rPr kumimoji="1" lang="en-US" altLang="zh-TW" dirty="0" err="1"/>
              <a:t>model.fit</a:t>
            </a:r>
            <a:r>
              <a:rPr kumimoji="1" lang="en-US" altLang="zh-TW" dirty="0"/>
              <a:t>() </a:t>
            </a:r>
            <a:r>
              <a:rPr kumimoji="1" lang="zh-TW" altLang="en-US" dirty="0"/>
              <a:t>中的 </a:t>
            </a:r>
            <a:r>
              <a:rPr kumimoji="1" lang="en-US" altLang="zh-TW" dirty="0" err="1"/>
              <a:t>batch_size</a:t>
            </a:r>
            <a:r>
              <a:rPr kumimoji="1" lang="en-US" altLang="zh-TW" dirty="0"/>
              <a:t> </a:t>
            </a:r>
            <a:r>
              <a:rPr kumimoji="1" lang="zh-TW" altLang="en-US" dirty="0"/>
              <a:t>決定的。</a:t>
            </a:r>
            <a:endParaRPr kumimoji="1" lang="en-US" altLang="zh-TW" dirty="0"/>
          </a:p>
          <a:p>
            <a:pPr>
              <a:buFont typeface="Wingdings" pitchFamily="2" charset="2"/>
              <a:buChar char="p"/>
            </a:pPr>
            <a:r>
              <a:rPr kumimoji="1" lang="zh-TW" altLang="en-US" dirty="0"/>
              <a:t> 如果 </a:t>
            </a:r>
            <a:r>
              <a:rPr kumimoji="1" lang="en-US" altLang="zh-TW" dirty="0"/>
              <a:t>batch size </a:t>
            </a:r>
            <a:r>
              <a:rPr kumimoji="1" lang="zh-TW" altLang="en-US" dirty="0"/>
              <a:t>設為 </a:t>
            </a:r>
            <a:r>
              <a:rPr kumimoji="1" lang="en-US" altLang="zh-TW" dirty="0"/>
              <a:t>1</a:t>
            </a:r>
            <a:r>
              <a:rPr kumimoji="1" lang="zh-TW" altLang="en-US" dirty="0"/>
              <a:t>，就是真正的 </a:t>
            </a:r>
            <a:r>
              <a:rPr kumimoji="1" lang="en-US" altLang="zh-TW" dirty="0"/>
              <a:t>Stochastic</a:t>
            </a:r>
            <a:r>
              <a:rPr kumimoji="1" lang="zh-TW" altLang="en-US" dirty="0"/>
              <a:t> </a:t>
            </a:r>
            <a:r>
              <a:rPr kumimoji="1" lang="en-US" altLang="zh-TW" dirty="0"/>
              <a:t>Gradient</a:t>
            </a:r>
            <a:r>
              <a:rPr kumimoji="1" lang="zh-TW" altLang="en-US" dirty="0"/>
              <a:t> </a:t>
            </a:r>
            <a:r>
              <a:rPr kumimoji="1" lang="en-US" altLang="zh-TW" dirty="0"/>
              <a:t>Descent</a:t>
            </a:r>
            <a:r>
              <a:rPr kumimoji="1" lang="zh-TW" altLang="en-US" dirty="0"/>
              <a:t>。</a:t>
            </a:r>
            <a:endParaRPr kumimoji="1" lang="en-US" altLang="zh-TW" dirty="0"/>
          </a:p>
          <a:p>
            <a:pPr>
              <a:buFont typeface="Wingdings" pitchFamily="2" charset="2"/>
              <a:buChar char="p"/>
            </a:pPr>
            <a:r>
              <a:rPr kumimoji="1" lang="zh-TW" altLang="en-US" dirty="0"/>
              <a:t> 如果大於 </a:t>
            </a:r>
            <a:r>
              <a:rPr kumimoji="1" lang="en-US" altLang="zh-TW" dirty="0"/>
              <a:t>1</a:t>
            </a:r>
            <a:r>
              <a:rPr kumimoji="1" lang="zh-TW" altLang="en-US" dirty="0"/>
              <a:t> 但小於全部資料量，就是 </a:t>
            </a:r>
            <a:r>
              <a:rPr kumimoji="1" lang="en-US" altLang="zh-TW" dirty="0"/>
              <a:t>mini-batch gradient descent</a:t>
            </a:r>
            <a:r>
              <a:rPr kumimoji="1" lang="zh-TW" altLang="en-US" dirty="0"/>
              <a:t>。</a:t>
            </a:r>
            <a:endParaRPr kumimoji="1" lang="en-US" altLang="zh-TW" dirty="0"/>
          </a:p>
          <a:p>
            <a:pPr>
              <a:buFont typeface="Wingdings" pitchFamily="2" charset="2"/>
              <a:buChar char="p"/>
            </a:pPr>
            <a:r>
              <a:rPr kumimoji="1" lang="zh-TW" altLang="en-US" dirty="0"/>
              <a:t> 如果等於全部資料量，則是 </a:t>
            </a:r>
            <a:r>
              <a:rPr kumimoji="1" lang="en-US" altLang="zh-TW" dirty="0"/>
              <a:t>batch gradient descent</a:t>
            </a:r>
            <a:r>
              <a:rPr kumimoji="1" lang="zh-TW" altLang="en-US" dirty="0"/>
              <a:t>。</a:t>
            </a:r>
            <a:endParaRPr kumimoji="1" lang="en-US" altLang="zh-TW" dirty="0"/>
          </a:p>
          <a:p>
            <a:pPr marL="0" indent="0">
              <a:buNone/>
            </a:pPr>
            <a:r>
              <a:rPr kumimoji="1" lang="zh-TW" altLang="en-US" dirty="0"/>
              <a:t>因此，即便使用 </a:t>
            </a:r>
            <a:r>
              <a:rPr kumimoji="1" lang="en-US" altLang="zh-TW" dirty="0"/>
              <a:t>SGD</a:t>
            </a:r>
            <a:r>
              <a:rPr kumimoji="1" lang="zh-TW" altLang="en-US" dirty="0"/>
              <a:t>，</a:t>
            </a:r>
            <a:r>
              <a:rPr kumimoji="1" lang="zh-TW" altLang="en-US" b="1" dirty="0"/>
              <a:t>大多數情況下實際上都是在做 </a:t>
            </a:r>
            <a:r>
              <a:rPr kumimoji="1" lang="en-US" altLang="zh-TW" b="1" dirty="0"/>
              <a:t>mini-batch gradient descent</a:t>
            </a:r>
            <a:r>
              <a:rPr kumimoji="1" lang="zh-TW" altLang="en-US" dirty="0"/>
              <a:t>。</a:t>
            </a:r>
            <a:r>
              <a:rPr kumimoji="1" lang="zh-TW" altLang="en-US" sz="1800" dirty="0"/>
              <a:t>（</a:t>
            </a:r>
            <a:r>
              <a:rPr kumimoji="1" lang="en-US" altLang="zh-TW" sz="1800" dirty="0" err="1"/>
              <a:t>Tensorflow</a:t>
            </a:r>
            <a:r>
              <a:rPr kumimoji="1" lang="zh-TW" altLang="en-US" sz="1800" dirty="0"/>
              <a:t> </a:t>
            </a:r>
            <a:r>
              <a:rPr kumimoji="1" lang="en-US" altLang="zh-TW" sz="1800" dirty="0" err="1"/>
              <a:t>model.fit</a:t>
            </a:r>
            <a:r>
              <a:rPr kumimoji="1" lang="en-US" altLang="zh-TW" sz="1800" dirty="0"/>
              <a:t>()</a:t>
            </a:r>
            <a:r>
              <a:rPr kumimoji="1" lang="zh-TW" altLang="en-US" sz="1800" dirty="0"/>
              <a:t> 的 </a:t>
            </a:r>
            <a:r>
              <a:rPr kumimoji="1" lang="en-US" altLang="zh-TW" sz="1800" dirty="0" err="1"/>
              <a:t>batch_size</a:t>
            </a:r>
            <a:r>
              <a:rPr kumimoji="1" lang="zh-TW" altLang="en-US" sz="1800" dirty="0"/>
              <a:t> 預設為 </a:t>
            </a:r>
            <a:r>
              <a:rPr kumimoji="1" lang="en-US" altLang="zh-TW" sz="1800" dirty="0"/>
              <a:t>32</a:t>
            </a:r>
            <a:r>
              <a:rPr kumimoji="1" lang="zh-TW" altLang="en-US" sz="1800" dirty="0"/>
              <a:t>）</a:t>
            </a:r>
            <a:endParaRPr kumimoji="1" lang="zh-TW" altLang="en-US" dirty="0"/>
          </a:p>
        </p:txBody>
      </p:sp>
      <p:sp>
        <p:nvSpPr>
          <p:cNvPr id="4" name="日期版面配置區 3">
            <a:extLst>
              <a:ext uri="{FF2B5EF4-FFF2-40B4-BE49-F238E27FC236}">
                <a16:creationId xmlns:a16="http://schemas.microsoft.com/office/drawing/2014/main" id="{DC0FACD7-E70E-FE0F-988B-D8CB82D7A60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B87DD45-D244-2F6E-6EF8-93376942EF6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546668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B415F0-566F-ADA5-C6C4-05474FE14C8C}"/>
              </a:ext>
            </a:extLst>
          </p:cNvPr>
          <p:cNvSpPr>
            <a:spLocks noGrp="1"/>
          </p:cNvSpPr>
          <p:nvPr>
            <p:ph type="title"/>
          </p:nvPr>
        </p:nvSpPr>
        <p:spPr/>
        <p:txBody>
          <a:bodyPr>
            <a:normAutofit/>
          </a:bodyPr>
          <a:lstStyle/>
          <a:p>
            <a:r>
              <a:rPr kumimoji="1" lang="zh-TW" altLang="en-US" dirty="0"/>
              <a:t>如何避免局部極小值？</a:t>
            </a:r>
          </a:p>
        </p:txBody>
      </p:sp>
      <p:sp>
        <p:nvSpPr>
          <p:cNvPr id="3" name="內容版面配置區 2">
            <a:extLst>
              <a:ext uri="{FF2B5EF4-FFF2-40B4-BE49-F238E27FC236}">
                <a16:creationId xmlns:a16="http://schemas.microsoft.com/office/drawing/2014/main" id="{75868E30-83D2-7333-936F-81A173366E4B}"/>
              </a:ext>
            </a:extLst>
          </p:cNvPr>
          <p:cNvSpPr>
            <a:spLocks noGrp="1"/>
          </p:cNvSpPr>
          <p:nvPr>
            <p:ph idx="1"/>
          </p:nvPr>
        </p:nvSpPr>
        <p:spPr>
          <a:xfrm>
            <a:off x="1097280" y="2108201"/>
            <a:ext cx="10058400" cy="4176852"/>
          </a:xfrm>
        </p:spPr>
        <p:txBody>
          <a:bodyPr>
            <a:normAutofit/>
          </a:bodyPr>
          <a:lstStyle/>
          <a:p>
            <a:r>
              <a:rPr kumimoji="1" lang="zh-TW" altLang="en-US" dirty="0"/>
              <a:t>電腦科學家們為了避免梯度下降時陷入局部極小值，發現了許多方法。這些方法被稱為優化器（</a:t>
            </a:r>
            <a:r>
              <a:rPr kumimoji="1" lang="en-US" altLang="zh-TW" dirty="0"/>
              <a:t>optimizer</a:t>
            </a:r>
            <a:r>
              <a:rPr kumimoji="1" lang="zh-TW" altLang="en-US" dirty="0"/>
              <a:t>）。常見的有：</a:t>
            </a:r>
            <a:endParaRPr kumimoji="1" lang="en-US" altLang="zh-TW" dirty="0"/>
          </a:p>
          <a:p>
            <a:pPr marL="457200" indent="-457200">
              <a:buFont typeface="+mj-lt"/>
              <a:buAutoNum type="arabicPeriod"/>
            </a:pPr>
            <a:r>
              <a:rPr kumimoji="1" lang="en-US" altLang="zh-TW" dirty="0"/>
              <a:t>Gradient Descent With Momentum</a:t>
            </a:r>
            <a:r>
              <a:rPr kumimoji="1" lang="zh-TW" altLang="en-US" sz="1800" dirty="0"/>
              <a:t>（*</a:t>
            </a:r>
            <a:r>
              <a:rPr kumimoji="1" lang="en-US" altLang="zh-TW" sz="1800" dirty="0"/>
              <a:t>.</a:t>
            </a:r>
            <a:r>
              <a:rPr kumimoji="1" lang="zh-TW" altLang="en-US" sz="1800" dirty="0"/>
              <a:t> </a:t>
            </a:r>
            <a:r>
              <a:rPr kumimoji="1" lang="en-US" altLang="zh-TW" sz="1800" dirty="0" err="1"/>
              <a:t>tf.keras.optimizers.SGD</a:t>
            </a:r>
            <a:r>
              <a:rPr kumimoji="1" lang="zh-TW" altLang="en-US" sz="1800" dirty="0"/>
              <a:t> 帶有 </a:t>
            </a:r>
            <a:r>
              <a:rPr kumimoji="1" lang="en-US" altLang="zh-TW" sz="1800" dirty="0"/>
              <a:t>momentum</a:t>
            </a:r>
            <a:r>
              <a:rPr kumimoji="1" lang="zh-TW" altLang="en-US" sz="1800" dirty="0"/>
              <a:t>，可直接設定參數）</a:t>
            </a:r>
            <a:endParaRPr kumimoji="1" lang="en-US" altLang="zh-TW" dirty="0"/>
          </a:p>
          <a:p>
            <a:pPr marL="457200" indent="-457200">
              <a:buFont typeface="+mj-lt"/>
              <a:buAutoNum type="arabicPeriod"/>
            </a:pPr>
            <a:r>
              <a:rPr kumimoji="1" lang="en-US" altLang="zh-TW" dirty="0"/>
              <a:t>RMSprop</a:t>
            </a:r>
          </a:p>
          <a:p>
            <a:pPr marL="457200" indent="-457200">
              <a:buFont typeface="+mj-lt"/>
              <a:buAutoNum type="arabicPeriod"/>
            </a:pPr>
            <a:r>
              <a:rPr kumimoji="1" lang="en-US" altLang="zh-TW" dirty="0"/>
              <a:t>Adam</a:t>
            </a:r>
          </a:p>
          <a:p>
            <a:pPr marL="457200" indent="-457200">
              <a:buFont typeface="+mj-lt"/>
              <a:buAutoNum type="arabicPeriod"/>
            </a:pPr>
            <a:endParaRPr kumimoji="1" lang="en-US" altLang="zh-TW" dirty="0"/>
          </a:p>
          <a:p>
            <a:endParaRPr kumimoji="1" lang="en-US" altLang="zh-TW" dirty="0"/>
          </a:p>
        </p:txBody>
      </p:sp>
      <p:sp>
        <p:nvSpPr>
          <p:cNvPr id="4" name="日期版面配置區 3">
            <a:extLst>
              <a:ext uri="{FF2B5EF4-FFF2-40B4-BE49-F238E27FC236}">
                <a16:creationId xmlns:a16="http://schemas.microsoft.com/office/drawing/2014/main" id="{9CA613DA-1517-A114-A264-6F2BCF73C6D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42193FE-EF05-1F6D-6175-43B61C5E399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49162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E559D3-ADB6-FE04-C978-33EF7C5B0E07}"/>
              </a:ext>
            </a:extLst>
          </p:cNvPr>
          <p:cNvSpPr>
            <a:spLocks noGrp="1"/>
          </p:cNvSpPr>
          <p:nvPr>
            <p:ph type="title"/>
          </p:nvPr>
        </p:nvSpPr>
        <p:spPr/>
        <p:txBody>
          <a:bodyPr/>
          <a:lstStyle/>
          <a:p>
            <a:r>
              <a:rPr kumimoji="1" lang="en-US" altLang="zh-TW" dirty="0"/>
              <a:t>Momentum</a:t>
            </a:r>
            <a:endParaRPr kumimoji="1" lang="zh-TW" altLang="en-US" dirty="0"/>
          </a:p>
        </p:txBody>
      </p:sp>
      <p:sp>
        <p:nvSpPr>
          <p:cNvPr id="3" name="內容版面配置區 2">
            <a:extLst>
              <a:ext uri="{FF2B5EF4-FFF2-40B4-BE49-F238E27FC236}">
                <a16:creationId xmlns:a16="http://schemas.microsoft.com/office/drawing/2014/main" id="{C24032DF-FBB6-9A32-4627-30D86EBBBECE}"/>
              </a:ext>
            </a:extLst>
          </p:cNvPr>
          <p:cNvSpPr>
            <a:spLocks noGrp="1"/>
          </p:cNvSpPr>
          <p:nvPr>
            <p:ph idx="1"/>
          </p:nvPr>
        </p:nvSpPr>
        <p:spPr/>
        <p:txBody>
          <a:bodyPr/>
          <a:lstStyle/>
          <a:p>
            <a:r>
              <a:rPr kumimoji="1" lang="en-US" altLang="zh-TW" dirty="0"/>
              <a:t>Momentum </a:t>
            </a:r>
            <a:r>
              <a:rPr kumimoji="1" lang="zh-TW" altLang="en-US" dirty="0"/>
              <a:t>的想法（直覺）：先想像你在山上，往下推一顆球。球帶有</a:t>
            </a:r>
            <a:r>
              <a:rPr kumimoji="1" lang="zh-TW" altLang="en-US" dirty="0">
                <a:solidFill>
                  <a:srgbClr val="FF0000"/>
                </a:solidFill>
              </a:rPr>
              <a:t>動量（</a:t>
            </a:r>
            <a:r>
              <a:rPr kumimoji="1" lang="en-US" altLang="zh-TW" dirty="0"/>
              <a:t> </a:t>
            </a:r>
            <a:r>
              <a:rPr kumimoji="1" lang="en-US" altLang="zh-TW" dirty="0">
                <a:solidFill>
                  <a:srgbClr val="FF0000"/>
                </a:solidFill>
              </a:rPr>
              <a:t>Momentum</a:t>
            </a:r>
            <a:r>
              <a:rPr kumimoji="1" lang="en-US" altLang="zh-TW" dirty="0"/>
              <a:t> </a:t>
            </a:r>
            <a:r>
              <a:rPr kumimoji="1" lang="zh-TW" altLang="en-US" dirty="0">
                <a:solidFill>
                  <a:srgbClr val="FF0000"/>
                </a:solidFill>
              </a:rPr>
              <a:t>）</a:t>
            </a:r>
            <a:r>
              <a:rPr kumimoji="1" lang="zh-TW" altLang="en-US" dirty="0"/>
              <a:t>，會記住過去走的方向與速度。</a:t>
            </a:r>
            <a:endParaRPr kumimoji="1" lang="en-US" altLang="zh-TW" dirty="0"/>
          </a:p>
          <a:p>
            <a:pPr>
              <a:buFont typeface="Wingdings" pitchFamily="2" charset="2"/>
              <a:buChar char="n"/>
            </a:pPr>
            <a:r>
              <a:rPr kumimoji="1" lang="zh-TW" altLang="en-US" dirty="0"/>
              <a:t> 當球一直往同一個方向下降，就越走越快。</a:t>
            </a:r>
            <a:endParaRPr kumimoji="1" lang="en-US" altLang="zh-TW" dirty="0"/>
          </a:p>
          <a:p>
            <a:pPr>
              <a:buFont typeface="Wingdings" pitchFamily="2" charset="2"/>
              <a:buChar char="n"/>
            </a:pPr>
            <a:r>
              <a:rPr kumimoji="1" lang="zh-TW" altLang="en-US" dirty="0"/>
              <a:t> 當球遇到小的上坡時，過去的動量可以將球帶出此區域。</a:t>
            </a:r>
            <a:endParaRPr kumimoji="1" lang="en-US" altLang="zh-TW" dirty="0"/>
          </a:p>
          <a:p>
            <a:pPr>
              <a:buFont typeface="Wingdings" pitchFamily="2" charset="2"/>
              <a:buChar char="n"/>
            </a:pPr>
            <a:r>
              <a:rPr kumimoji="1" lang="zh-TW" altLang="en-US" dirty="0"/>
              <a:t> 在小幅度來回震盪的方向會被抵消掉。</a:t>
            </a:r>
            <a:endParaRPr kumimoji="1" lang="en-US" altLang="zh-TW" dirty="0"/>
          </a:p>
        </p:txBody>
      </p:sp>
      <p:sp>
        <p:nvSpPr>
          <p:cNvPr id="4" name="日期版面配置區 3">
            <a:extLst>
              <a:ext uri="{FF2B5EF4-FFF2-40B4-BE49-F238E27FC236}">
                <a16:creationId xmlns:a16="http://schemas.microsoft.com/office/drawing/2014/main" id="{0413AF73-DECC-9B8A-427A-7592403D07C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7942378-989E-EBE3-4439-FE999B97249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241624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2BD35A-BC99-4831-A358-06E2CEB96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noFill/>
          <a:ln w="69850">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內容版面配置區 5" descr="一張含有 文字, 圖表, 繪圖, 行 的圖片&#10;&#10;AI 產生的內容可能不正確。">
            <a:extLst>
              <a:ext uri="{FF2B5EF4-FFF2-40B4-BE49-F238E27FC236}">
                <a16:creationId xmlns:a16="http://schemas.microsoft.com/office/drawing/2014/main" id="{A6AA8398-3891-DCDA-5CFF-08DBA4F51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229" y="905933"/>
            <a:ext cx="8399546" cy="5039728"/>
          </a:xfrm>
          <a:prstGeom prst="rect">
            <a:avLst/>
          </a:prstGeom>
        </p:spPr>
      </p:pic>
      <p:sp>
        <p:nvSpPr>
          <p:cNvPr id="3" name="投影片編號版面配置區 2">
            <a:extLst>
              <a:ext uri="{FF2B5EF4-FFF2-40B4-BE49-F238E27FC236}">
                <a16:creationId xmlns:a16="http://schemas.microsoft.com/office/drawing/2014/main" id="{58AFDB2A-A549-F4F3-E864-E7E5A4B9B5D1}"/>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solidFill>
                  <a:schemeClr val="tx1">
                    <a:lumMod val="85000"/>
                    <a:lumOff val="15000"/>
                  </a:schemeClr>
                </a:solidFill>
              </a:rPr>
              <a:t>Deep Learning</a:t>
            </a:r>
          </a:p>
        </p:txBody>
      </p:sp>
    </p:spTree>
    <p:extLst>
      <p:ext uri="{BB962C8B-B14F-4D97-AF65-F5344CB8AC3E}">
        <p14:creationId xmlns:p14="http://schemas.microsoft.com/office/powerpoint/2010/main" val="2399168382"/>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CB427C-6965-34DE-9064-4F343A3072F9}"/>
              </a:ext>
            </a:extLst>
          </p:cNvPr>
          <p:cNvSpPr>
            <a:spLocks noGrp="1"/>
          </p:cNvSpPr>
          <p:nvPr>
            <p:ph type="title"/>
          </p:nvPr>
        </p:nvSpPr>
        <p:spPr/>
        <p:txBody>
          <a:bodyPr/>
          <a:lstStyle/>
          <a:p>
            <a:r>
              <a:rPr kumimoji="1" lang="en-US" altLang="zh-TW" dirty="0"/>
              <a:t>Momentum</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9EF3272-871F-9240-D2F5-4EBD4F868786}"/>
                  </a:ext>
                </a:extLst>
              </p:cNvPr>
              <p:cNvSpPr>
                <a:spLocks noGrp="1"/>
              </p:cNvSpPr>
              <p:nvPr>
                <p:ph idx="1"/>
              </p:nvPr>
            </p:nvSpPr>
            <p:spPr>
              <a:xfrm>
                <a:off x="590309" y="2108201"/>
                <a:ext cx="11183283" cy="4246300"/>
              </a:xfrm>
            </p:spPr>
            <p:txBody>
              <a:bodyPr>
                <a:normAutofit lnSpcReduction="10000"/>
              </a:bodyPr>
              <a:lstStyle/>
              <a:p>
                <a:r>
                  <a:rPr kumimoji="1" lang="en-US" altLang="zh-TW" dirty="0"/>
                  <a:t>Momentum</a:t>
                </a:r>
                <a:r>
                  <a:rPr kumimoji="1" lang="zh-TW" altLang="en-US" dirty="0"/>
                  <a:t> 的公式為：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𝛽</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𝛽</m:t>
                          </m:r>
                        </m:e>
                      </m:d>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r>
                        <a:rPr kumimoji="1" lang="el-GR" altLang="zh-TW" i="1">
                          <a:latin typeface="Cambria Math" panose="02040503050406030204" pitchFamily="18" charset="0"/>
                        </a:rPr>
                        <m:t>𝜂</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oMath>
                  </m:oMathPara>
                </a14:m>
                <a:endParaRPr kumimoji="1" lang="en-US" altLang="zh-TW" dirty="0"/>
              </a:p>
              <a:p>
                <a:pPr marL="457200" indent="-457200">
                  <a:buFont typeface="+mj-lt"/>
                  <a:buAutoNum type="arabicPeriod"/>
                </a:pP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oMath>
                </a14:m>
                <a:r>
                  <a:rPr kumimoji="1" lang="zh-TW" altLang="en-US" dirty="0">
                    <a:ea typeface="Cambria Math" panose="02040503050406030204" pitchFamily="18" charset="0"/>
                  </a:rPr>
                  <a:t> </a:t>
                </a:r>
                <a:r>
                  <a:rPr kumimoji="1" lang="zh-TW" altLang="en-US" dirty="0">
                    <a:latin typeface="+mn-ea"/>
                  </a:rPr>
                  <a:t>代表當前動量，是由過去動量與當前梯度組合而成。</a:t>
                </a:r>
                <a:endParaRPr kumimoji="1" lang="en-US" altLang="zh-TW" dirty="0">
                  <a:latin typeface="+mn-ea"/>
                </a:endParaRPr>
              </a:p>
              <a:p>
                <a:pPr marL="457200" indent="-457200">
                  <a:buFont typeface="+mj-lt"/>
                  <a:buAutoNum type="arabicPeriod"/>
                </a:pPr>
                <a14:m>
                  <m:oMath xmlns:m="http://schemas.openxmlformats.org/officeDocument/2006/math">
                    <m:r>
                      <a:rPr kumimoji="1" lang="en-US" altLang="zh-TW" i="1">
                        <a:latin typeface="Cambria Math" panose="02040503050406030204" pitchFamily="18" charset="0"/>
                        <a:ea typeface="Cambria Math" panose="02040503050406030204" pitchFamily="18" charset="0"/>
                      </a:rPr>
                      <m:t>𝛽</m:t>
                    </m:r>
                  </m:oMath>
                </a14:m>
                <a:r>
                  <a:rPr kumimoji="1" lang="zh-TW" altLang="en-US" dirty="0"/>
                  <a:t> 為動量係數，通常設定為 </a:t>
                </a:r>
                <a:r>
                  <a:rPr kumimoji="1" lang="en-US" altLang="zh-TW" dirty="0"/>
                  <a:t>0.9</a:t>
                </a:r>
                <a:r>
                  <a:rPr kumimoji="1" lang="zh-TW" altLang="en-US" dirty="0"/>
                  <a:t>。此數值越高，則越看重過去動量。</a:t>
                </a:r>
                <a:endParaRPr kumimoji="1" lang="en-US" altLang="zh-TW" dirty="0"/>
              </a:p>
              <a:p>
                <a:pPr marL="457200" indent="-457200">
                  <a:buFont typeface="+mj-lt"/>
                  <a:buAutoNum type="arabicPeriod"/>
                </a:pPr>
                <a14:m>
                  <m:oMath xmlns:m="http://schemas.openxmlformats.org/officeDocument/2006/math">
                    <m:r>
                      <a:rPr kumimoji="1" lang="el-GR" altLang="zh-TW" i="1">
                        <a:latin typeface="Cambria Math" panose="02040503050406030204" pitchFamily="18" charset="0"/>
                      </a:rPr>
                      <m:t>𝜂</m:t>
                    </m:r>
                  </m:oMath>
                </a14:m>
                <a:r>
                  <a:rPr kumimoji="1" lang="zh-TW" altLang="en-US" dirty="0"/>
                  <a:t> 為學習率、</a:t>
                </a:r>
                <a:r>
                  <a:rPr kumimoji="1" lang="en-US" altLang="zh-TW" dirty="0">
                    <a:ea typeface="Cambria Math" panose="02040503050406030204" pitchFamily="18" charset="0"/>
                  </a:rPr>
                  <a:t> </a:t>
                </a:r>
                <a14:m>
                  <m:oMath xmlns:m="http://schemas.openxmlformats.org/officeDocument/2006/math">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oMath>
                </a14:m>
                <a:r>
                  <a:rPr kumimoji="1" lang="zh-TW" altLang="en-US" dirty="0"/>
                  <a:t> 為當前訓練數據的梯度。</a:t>
                </a:r>
                <a:endParaRPr kumimoji="1" lang="en-US" altLang="zh-TW" dirty="0"/>
              </a:p>
              <a:p>
                <a:pPr marL="457200" indent="-457200">
                  <a:buFont typeface="+mj-lt"/>
                  <a:buAutoNum type="arabicPeriod"/>
                </a:pPr>
                <a:r>
                  <a:rPr kumimoji="1" lang="zh-TW" altLang="en-US" dirty="0"/>
                  <a:t>若當前梯度與過去動量同方向，則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oMath>
                </a14:m>
                <a:r>
                  <a:rPr kumimoji="1" lang="zh-TW" altLang="en-US" dirty="0"/>
                  <a:t> 增大。反之，則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oMath>
                </a14:m>
                <a:r>
                  <a:rPr kumimoji="1" lang="zh-TW" altLang="en-US" dirty="0"/>
                  <a:t> 減少。</a:t>
                </a:r>
                <a:endParaRPr kumimoji="1" lang="en-US" altLang="zh-TW" dirty="0"/>
              </a:p>
              <a:p>
                <a:pPr marL="457200" indent="-457200">
                  <a:buFont typeface="+mj-lt"/>
                  <a:buAutoNum type="arabicPeriod"/>
                </a:pPr>
                <a:r>
                  <a:rPr kumimoji="1" lang="zh-TW" altLang="en-US" dirty="0"/>
                  <a:t>與梯度下降相比，參數更新的方向由「單次梯度」改為「歷史梯度的加權累積方向」。將過去的梯度方向累積起來，使更新方向具有「慣性」。</a:t>
                </a:r>
              </a:p>
            </p:txBody>
          </p:sp>
        </mc:Choice>
        <mc:Fallback xmlns="">
          <p:sp>
            <p:nvSpPr>
              <p:cNvPr id="3" name="內容版面配置區 2">
                <a:extLst>
                  <a:ext uri="{FF2B5EF4-FFF2-40B4-BE49-F238E27FC236}">
                    <a16:creationId xmlns:a16="http://schemas.microsoft.com/office/drawing/2014/main" id="{C9EF3272-871F-9240-D2F5-4EBD4F868786}"/>
                  </a:ext>
                </a:extLst>
              </p:cNvPr>
              <p:cNvSpPr>
                <a:spLocks noGrp="1" noRot="1" noChangeAspect="1" noMove="1" noResize="1" noEditPoints="1" noAdjustHandles="1" noChangeArrowheads="1" noChangeShapeType="1" noTextEdit="1"/>
              </p:cNvSpPr>
              <p:nvPr>
                <p:ph idx="1"/>
              </p:nvPr>
            </p:nvSpPr>
            <p:spPr>
              <a:xfrm>
                <a:off x="590309" y="2108201"/>
                <a:ext cx="11183283" cy="4246300"/>
              </a:xfrm>
              <a:blipFill>
                <a:blip r:embed="rId2"/>
                <a:stretch>
                  <a:fillRect l="-1589" t="-2388" r="-124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21AF7EFE-00B3-4548-02F8-929864684C9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B152850-FC56-AD25-835E-2D77660A4A8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1925298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F73DFF-BB13-2B90-974E-F8BA0C45171C}"/>
              </a:ext>
            </a:extLst>
          </p:cNvPr>
          <p:cNvSpPr>
            <a:spLocks noGrp="1"/>
          </p:cNvSpPr>
          <p:nvPr>
            <p:ph type="title"/>
          </p:nvPr>
        </p:nvSpPr>
        <p:spPr/>
        <p:txBody>
          <a:bodyPr/>
          <a:lstStyle/>
          <a:p>
            <a:r>
              <a:rPr kumimoji="1" lang="en-US" altLang="zh-TW" dirty="0" err="1"/>
              <a:t>RMSProp</a:t>
            </a:r>
            <a:endParaRPr kumimoji="1" lang="zh-TW" altLang="en-US" dirty="0"/>
          </a:p>
        </p:txBody>
      </p:sp>
      <p:sp>
        <p:nvSpPr>
          <p:cNvPr id="3" name="內容版面配置區 2">
            <a:extLst>
              <a:ext uri="{FF2B5EF4-FFF2-40B4-BE49-F238E27FC236}">
                <a16:creationId xmlns:a16="http://schemas.microsoft.com/office/drawing/2014/main" id="{D68DFC2F-2366-D7EC-EB2B-E9B8A3127301}"/>
              </a:ext>
            </a:extLst>
          </p:cNvPr>
          <p:cNvSpPr>
            <a:spLocks noGrp="1"/>
          </p:cNvSpPr>
          <p:nvPr>
            <p:ph idx="1"/>
          </p:nvPr>
        </p:nvSpPr>
        <p:spPr>
          <a:xfrm>
            <a:off x="1097280" y="2108201"/>
            <a:ext cx="10058400" cy="4176852"/>
          </a:xfrm>
        </p:spPr>
        <p:txBody>
          <a:bodyPr/>
          <a:lstStyle/>
          <a:p>
            <a:r>
              <a:rPr kumimoji="1" lang="en-US" altLang="zh-TW" dirty="0"/>
              <a:t>Root Mean Square Propagation (</a:t>
            </a:r>
            <a:r>
              <a:rPr kumimoji="1" lang="en-US" altLang="zh-TW" dirty="0" err="1"/>
              <a:t>RMSProp</a:t>
            </a:r>
            <a:r>
              <a:rPr kumimoji="1" lang="en-US" altLang="zh-TW" dirty="0"/>
              <a:t>)</a:t>
            </a:r>
            <a:r>
              <a:rPr kumimoji="1" lang="zh-TW" altLang="en-US" dirty="0"/>
              <a:t> 的核心想法是要解決以下問題。在一般的梯度下降中需固定學習率，則：</a:t>
            </a:r>
            <a:endParaRPr kumimoji="1" lang="en-US" altLang="zh-TW" dirty="0"/>
          </a:p>
          <a:p>
            <a:pPr>
              <a:buFont typeface="Wingdings" pitchFamily="2" charset="2"/>
              <a:buChar char="l"/>
            </a:pPr>
            <a:r>
              <a:rPr kumimoji="1" lang="zh-TW" altLang="en-US" dirty="0"/>
              <a:t> 如果某個方向梯度很大 → 容易震盪</a:t>
            </a:r>
            <a:endParaRPr kumimoji="1" lang="en-US" altLang="zh-TW" dirty="0"/>
          </a:p>
          <a:p>
            <a:pPr>
              <a:buFont typeface="Wingdings" pitchFamily="2" charset="2"/>
              <a:buChar char="l"/>
            </a:pPr>
            <a:r>
              <a:rPr kumimoji="1" lang="zh-TW" altLang="en-US" dirty="0"/>
              <a:t> 如果某個方向梯度很小 → 更新太慢</a:t>
            </a:r>
            <a:endParaRPr kumimoji="1" lang="en-US" altLang="zh-TW" dirty="0"/>
          </a:p>
          <a:p>
            <a:r>
              <a:rPr kumimoji="1" lang="en-US" altLang="zh-TW" dirty="0" err="1"/>
              <a:t>RMSProp</a:t>
            </a:r>
            <a:r>
              <a:rPr kumimoji="1" lang="zh-TW" altLang="en-US" dirty="0"/>
              <a:t> 為每一個參數設計「自己的學習率」。做法是先記錄過去梯度大小，然後：</a:t>
            </a:r>
            <a:endParaRPr kumimoji="1" lang="en-US" altLang="zh-TW" dirty="0"/>
          </a:p>
          <a:p>
            <a:pPr>
              <a:buFont typeface="Wingdings" pitchFamily="2" charset="2"/>
              <a:buChar char="l"/>
            </a:pPr>
            <a:r>
              <a:rPr kumimoji="1" lang="zh-TW" altLang="en-US" dirty="0"/>
              <a:t> 如果某維度梯度常常很大 → 將學習率除以較大的數 → 降低更新幅度</a:t>
            </a:r>
            <a:endParaRPr kumimoji="1" lang="en-US" altLang="zh-TW" dirty="0"/>
          </a:p>
          <a:p>
            <a:pPr>
              <a:buFont typeface="Wingdings" pitchFamily="2" charset="2"/>
              <a:buChar char="l"/>
            </a:pPr>
            <a:r>
              <a:rPr kumimoji="1" lang="zh-TW" altLang="en-US" dirty="0"/>
              <a:t> 如果某維度梯度常常很小 → 將學習率除以較小的數 → 放大更新幅度</a:t>
            </a:r>
            <a:endParaRPr kumimoji="1" lang="en-US" altLang="zh-TW" dirty="0"/>
          </a:p>
        </p:txBody>
      </p:sp>
      <p:sp>
        <p:nvSpPr>
          <p:cNvPr id="4" name="日期版面配置區 3">
            <a:extLst>
              <a:ext uri="{FF2B5EF4-FFF2-40B4-BE49-F238E27FC236}">
                <a16:creationId xmlns:a16="http://schemas.microsoft.com/office/drawing/2014/main" id="{46E5D6F7-A9B9-2820-3D78-6F7838C058B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50BCB88-9913-2EF1-EFCB-2B5DCD7186A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90341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348BA31-8B52-C410-514F-CC9D9793BF22}"/>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A03DAE13-635A-6664-6F9A-C738CB7234DB}"/>
              </a:ext>
            </a:extLst>
          </p:cNvPr>
          <p:cNvSpPr>
            <a:spLocks noGrp="1"/>
          </p:cNvSpPr>
          <p:nvPr>
            <p:ph type="sldNum" sz="quarter" idx="12"/>
          </p:nvPr>
        </p:nvSpPr>
        <p:spPr/>
        <p:txBody>
          <a:bodyPr/>
          <a:lstStyle/>
          <a:p>
            <a:r>
              <a:rPr lang="en-US" altLang="zh-TW" dirty="0"/>
              <a:t>Deep Learning</a:t>
            </a:r>
          </a:p>
        </p:txBody>
      </p:sp>
      <p:pic>
        <p:nvPicPr>
          <p:cNvPr id="4" name="圖片 3" descr="一張含有 圓形, space, 旋渦, 天文學 的圖片&#10;&#10;AI 產生的內容可能不正確。">
            <a:extLst>
              <a:ext uri="{FF2B5EF4-FFF2-40B4-BE49-F238E27FC236}">
                <a16:creationId xmlns:a16="http://schemas.microsoft.com/office/drawing/2014/main" id="{FA76DC28-7441-9BDB-A764-B493457DF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362" y="220878"/>
            <a:ext cx="5299675" cy="3312295"/>
          </a:xfrm>
          <a:prstGeom prst="rect">
            <a:avLst/>
          </a:prstGeom>
        </p:spPr>
      </p:pic>
      <p:pic>
        <p:nvPicPr>
          <p:cNvPr id="5" name="圖片 4" descr="一張含有 圓形, 旋渦, 天文學, 螺旋形 的圖片&#10;&#10;AI 產生的內容可能不正確。">
            <a:extLst>
              <a:ext uri="{FF2B5EF4-FFF2-40B4-BE49-F238E27FC236}">
                <a16:creationId xmlns:a16="http://schemas.microsoft.com/office/drawing/2014/main" id="{5F6879B6-EA96-9546-D7D9-73D4996F66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408" y="219280"/>
            <a:ext cx="5302232" cy="3313893"/>
          </a:xfrm>
          <a:prstGeom prst="rect">
            <a:avLst/>
          </a:prstGeom>
        </p:spPr>
      </p:pic>
      <p:sp>
        <p:nvSpPr>
          <p:cNvPr id="6" name="文字方塊 5">
            <a:extLst>
              <a:ext uri="{FF2B5EF4-FFF2-40B4-BE49-F238E27FC236}">
                <a16:creationId xmlns:a16="http://schemas.microsoft.com/office/drawing/2014/main" id="{83EBE8D3-641E-F7B0-A5C5-6B69F4FDB142}"/>
              </a:ext>
            </a:extLst>
          </p:cNvPr>
          <p:cNvSpPr txBox="1"/>
          <p:nvPr/>
        </p:nvSpPr>
        <p:spPr>
          <a:xfrm>
            <a:off x="1118886" y="3835843"/>
            <a:ext cx="9954228" cy="2308324"/>
          </a:xfrm>
          <a:prstGeom prst="rect">
            <a:avLst/>
          </a:prstGeom>
          <a:noFill/>
        </p:spPr>
        <p:txBody>
          <a:bodyPr wrap="square" rtlCol="0">
            <a:spAutoFit/>
          </a:bodyPr>
          <a:lstStyle/>
          <a:p>
            <a:r>
              <a:rPr kumimoji="1" lang="zh-TW" altLang="en-US" dirty="0"/>
              <a:t>上圖中的 </a:t>
            </a:r>
            <a:r>
              <a:rPr kumimoji="1" lang="en-US" altLang="zh-TW" dirty="0"/>
              <a:t>Loss</a:t>
            </a:r>
            <a:r>
              <a:rPr kumimoji="1" lang="zh-TW" altLang="en-US" dirty="0"/>
              <a:t> </a:t>
            </a:r>
            <a:r>
              <a:rPr kumimoji="1" lang="en-US" altLang="zh-TW" dirty="0"/>
              <a:t>Surface</a:t>
            </a:r>
            <a:r>
              <a:rPr kumimoji="1" lang="zh-TW" altLang="en-US" dirty="0"/>
              <a:t> 在垂直方向的梯度大、水平方向梯度小。</a:t>
            </a:r>
            <a:endParaRPr kumimoji="1" lang="en-US" altLang="zh-TW" dirty="0"/>
          </a:p>
          <a:p>
            <a:endParaRPr kumimoji="1" lang="en-US" altLang="zh-TW" dirty="0"/>
          </a:p>
          <a:p>
            <a:r>
              <a:rPr kumimoji="1" lang="zh-TW" altLang="en-US" dirty="0"/>
              <a:t>若使用一般的梯度下降，則梯度更新路徑震盪（見左圖）。</a:t>
            </a:r>
            <a:endParaRPr kumimoji="1" lang="en-US" altLang="zh-TW" dirty="0"/>
          </a:p>
          <a:p>
            <a:endParaRPr kumimoji="1" lang="en-US" altLang="zh-TW" dirty="0"/>
          </a:p>
          <a:p>
            <a:r>
              <a:rPr kumimoji="1" lang="zh-TW" altLang="en-US" dirty="0"/>
              <a:t>若使用 </a:t>
            </a:r>
            <a:r>
              <a:rPr kumimoji="1" lang="en-US" altLang="zh-TW" dirty="0" err="1"/>
              <a:t>RMSProp</a:t>
            </a:r>
            <a:r>
              <a:rPr kumimoji="1" lang="zh-TW" altLang="en-US" dirty="0"/>
              <a:t>，則在垂直方向的學習率會降低，水平方向的學習率會升高（見右圖）。</a:t>
            </a:r>
            <a:endParaRPr kumimoji="1" lang="en-US" altLang="zh-TW" dirty="0"/>
          </a:p>
          <a:p>
            <a:endParaRPr kumimoji="1" lang="en-US" altLang="zh-TW" dirty="0"/>
          </a:p>
          <a:p>
            <a:r>
              <a:rPr kumimoji="1" lang="zh-TW" altLang="en-US" dirty="0"/>
              <a:t>結果上來說，我們可以看到右圖的垂直方向跨步較一般梯度下降時來得更小，水平方向跨步較一般梯度下降時來得更大。整體的梯度更新路徑</a:t>
            </a:r>
            <a:r>
              <a:rPr kumimoji="1" lang="zh-TW" altLang="en-US" dirty="0">
                <a:solidFill>
                  <a:srgbClr val="FF0000"/>
                </a:solidFill>
              </a:rPr>
              <a:t>更平穩</a:t>
            </a:r>
            <a:r>
              <a:rPr kumimoji="1" lang="zh-TW" altLang="en-US" dirty="0"/>
              <a:t>。</a:t>
            </a:r>
            <a:endParaRPr kumimoji="1" lang="en-US" altLang="zh-TW" dirty="0"/>
          </a:p>
        </p:txBody>
      </p:sp>
    </p:spTree>
    <p:extLst>
      <p:ext uri="{BB962C8B-B14F-4D97-AF65-F5344CB8AC3E}">
        <p14:creationId xmlns:p14="http://schemas.microsoft.com/office/powerpoint/2010/main" val="31144707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919FE3-C4FF-0E76-8A31-896DBAC1B074}"/>
              </a:ext>
            </a:extLst>
          </p:cNvPr>
          <p:cNvSpPr>
            <a:spLocks noGrp="1"/>
          </p:cNvSpPr>
          <p:nvPr>
            <p:ph type="title"/>
          </p:nvPr>
        </p:nvSpPr>
        <p:spPr/>
        <p:txBody>
          <a:bodyPr/>
          <a:lstStyle/>
          <a:p>
            <a:r>
              <a:rPr kumimoji="1" lang="en-US" altLang="zh-TW" dirty="0" err="1"/>
              <a:t>RMSProp</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9E7CF46-8067-7355-13BC-7334E6D804C7}"/>
                  </a:ext>
                </a:extLst>
              </p:cNvPr>
              <p:cNvSpPr>
                <a:spLocks noGrp="1"/>
              </p:cNvSpPr>
              <p:nvPr>
                <p:ph idx="1"/>
              </p:nvPr>
            </p:nvSpPr>
            <p:spPr>
              <a:xfrm>
                <a:off x="104172" y="1979271"/>
                <a:ext cx="11956648" cy="4328932"/>
              </a:xfrm>
            </p:spPr>
            <p:txBody>
              <a:bodyPr>
                <a:normAutofit/>
              </a:bodyPr>
              <a:lstStyle/>
              <a:p>
                <a:r>
                  <a:rPr kumimoji="1" lang="en-US" altLang="zh-TW" dirty="0"/>
                  <a:t>RMSProp</a:t>
                </a:r>
                <a:r>
                  <a:rPr kumimoji="1" lang="zh-TW" altLang="en-US" dirty="0"/>
                  <a:t> 的公式是：</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𝛽</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𝑠</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𝛽</m:t>
                          </m:r>
                        </m:e>
                      </m:d>
                      <m:sSup>
                        <m:sSupPr>
                          <m:ctrlPr>
                            <a:rPr kumimoji="1" lang="en-US" altLang="zh-TW" i="1" smtClean="0">
                              <a:latin typeface="Cambria Math" panose="02040503050406030204" pitchFamily="18" charset="0"/>
                              <a:ea typeface="Cambria Math" panose="02040503050406030204" pitchFamily="18" charset="0"/>
                            </a:rPr>
                          </m:ctrlPr>
                        </m:sSupPr>
                        <m:e>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e>
                        <m:sup>
                          <m:r>
                            <a:rPr kumimoji="1" lang="en-US" altLang="zh-TW" b="0" i="1" smtClean="0">
                              <a:latin typeface="Cambria Math" panose="02040503050406030204" pitchFamily="18" charset="0"/>
                              <a:ea typeface="Cambria Math" panose="02040503050406030204" pitchFamily="18" charset="0"/>
                            </a:rPr>
                            <m:t>2</m:t>
                          </m:r>
                        </m:sup>
                      </m:sSup>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f>
                        <m:fPr>
                          <m:ctrlPr>
                            <a:rPr kumimoji="1" lang="en-US" altLang="zh-TW" i="1" smtClean="0">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smtClean="0">
                                  <a:latin typeface="Cambria Math" panose="02040503050406030204" pitchFamily="18" charset="0"/>
                                </a:rPr>
                              </m:ctrlPr>
                            </m:radPr>
                            <m:deg/>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𝜖</m:t>
                              </m:r>
                            </m:e>
                          </m:rad>
                        </m:den>
                      </m:f>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oMath>
                  </m:oMathPara>
                </a14:m>
                <a:endParaRPr kumimoji="1" lang="en-US" altLang="zh-TW" dirty="0"/>
              </a:p>
              <a:p>
                <a:pPr marL="457200" indent="-457200">
                  <a:buFont typeface="+mj-lt"/>
                  <a:buAutoNum type="arabicPeriod"/>
                </a:pPr>
                <a:r>
                  <a:rPr kumimoji="1" lang="zh-TW" altLang="en-US" dirty="0"/>
                  <a:t>梯度更新的公式與一般的梯度下降幾乎相同，唯讀學習率需要除以 </a:t>
                </a:r>
                <a14:m>
                  <m:oMath xmlns:m="http://schemas.openxmlformats.org/officeDocument/2006/math">
                    <m:rad>
                      <m:radPr>
                        <m:degHide m:val="on"/>
                        <m:ctrlPr>
                          <a:rPr kumimoji="1" lang="en-US" altLang="zh-TW" i="1">
                            <a:latin typeface="Cambria Math" panose="02040503050406030204" pitchFamily="18" charset="0"/>
                          </a:rPr>
                        </m:ctrlPr>
                      </m:radPr>
                      <m:deg/>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oMath>
                </a14:m>
                <a:r>
                  <a:rPr kumimoji="1" lang="zh-TW" altLang="en-US" dirty="0"/>
                  <a:t>。</a:t>
                </a:r>
                <a14:m>
                  <m:oMath xmlns:m="http://schemas.openxmlformats.org/officeDocument/2006/math">
                    <m:r>
                      <a:rPr kumimoji="1" lang="zh-TW" altLang="en-US" i="1" dirty="0" smtClean="0">
                        <a:latin typeface="Cambria Math" panose="02040503050406030204" pitchFamily="18" charset="0"/>
                      </a:rPr>
                      <m:t>𝜖</m:t>
                    </m:r>
                  </m:oMath>
                </a14:m>
                <a:r>
                  <a:rPr kumimoji="1" lang="zh-TW" altLang="en-US" dirty="0"/>
                  <a:t> 為非常小的常數，目的是避免除以 </a:t>
                </a:r>
                <a:r>
                  <a:rPr kumimoji="1" lang="en-US" altLang="zh-TW" dirty="0"/>
                  <a:t>0</a:t>
                </a:r>
                <a:r>
                  <a:rPr kumimoji="1" lang="zh-TW" altLang="en-US" dirty="0"/>
                  <a:t>。通常取 </a:t>
                </a:r>
                <a:r>
                  <a:rPr kumimoji="1" lang="en-US" altLang="zh-TW" dirty="0"/>
                  <a:t>1e-8</a:t>
                </a:r>
                <a:r>
                  <a:rPr kumimoji="1" lang="zh-TW" altLang="en-US" dirty="0"/>
                  <a:t>。</a:t>
                </a:r>
                <a:endParaRPr kumimoji="1" lang="en-US" altLang="zh-TW" dirty="0"/>
              </a:p>
              <a:p>
                <a:pPr marL="457200" indent="-457200">
                  <a:buFont typeface="+mj-lt"/>
                  <a:buAutoNum type="arabicPeriod"/>
                </a:pPr>
                <a:r>
                  <a:rPr kumimoji="1" lang="zh-TW" altLang="en-US" dirty="0"/>
                  <a:t>若梯度長期大，則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oMath>
                </a14:m>
                <a:r>
                  <a:rPr kumimoji="1" lang="zh-TW" altLang="en-US" dirty="0"/>
                  <a:t> 大、</a:t>
                </a:r>
                <a:r>
                  <a:rPr kumimoji="1" lang="en-US" altLang="zh-TW" dirty="0"/>
                  <a:t> </a:t>
                </a:r>
                <a14:m>
                  <m:oMath xmlns:m="http://schemas.openxmlformats.org/officeDocument/2006/math">
                    <m:f>
                      <m:fPr>
                        <m:ctrlPr>
                          <a:rPr kumimoji="1" lang="en-US" altLang="zh-TW" i="1">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a:latin typeface="Cambria Math" panose="02040503050406030204" pitchFamily="18" charset="0"/>
                              </a:rPr>
                            </m:ctrlPr>
                          </m:radPr>
                          <m:deg/>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den>
                    </m:f>
                  </m:oMath>
                </a14:m>
                <a:r>
                  <a:rPr kumimoji="1" lang="zh-TW" altLang="en-US" dirty="0"/>
                  <a:t> 小。反之，則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zh-TW" altLang="en-US" b="0" i="1" smtClean="0">
                        <a:latin typeface="Cambria Math" panose="02040503050406030204" pitchFamily="18" charset="0"/>
                      </a:rPr>
                      <m:t> </m:t>
                    </m:r>
                  </m:oMath>
                </a14:m>
                <a:r>
                  <a:rPr kumimoji="1" lang="zh-TW" altLang="en-US" dirty="0"/>
                  <a:t>小、</a:t>
                </a:r>
                <a:r>
                  <a:rPr kumimoji="1" lang="en-US" altLang="zh-TW" dirty="0"/>
                  <a:t> </a:t>
                </a:r>
                <a14:m>
                  <m:oMath xmlns:m="http://schemas.openxmlformats.org/officeDocument/2006/math">
                    <m:f>
                      <m:fPr>
                        <m:ctrlPr>
                          <a:rPr kumimoji="1" lang="en-US" altLang="zh-TW" i="1">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a:latin typeface="Cambria Math" panose="02040503050406030204" pitchFamily="18" charset="0"/>
                              </a:rPr>
                            </m:ctrlPr>
                          </m:radPr>
                          <m:deg/>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den>
                    </m:f>
                  </m:oMath>
                </a14:m>
                <a:r>
                  <a:rPr kumimoji="1" lang="zh-TW" altLang="en-US" dirty="0"/>
                  <a:t> 大。</a:t>
                </a:r>
                <a:endParaRPr kumimoji="1" lang="en-US" altLang="zh-TW" dirty="0"/>
              </a:p>
              <a:p>
                <a:pPr marL="457200" indent="-457200">
                  <a:buFont typeface="+mj-lt"/>
                  <a:buAutoNum type="arabicPeriod"/>
                </a:pPr>
                <a:r>
                  <a:rPr kumimoji="1" lang="en-US" altLang="zh-TW" dirty="0" err="1"/>
                  <a:t>RMSProp</a:t>
                </a:r>
                <a:r>
                  <a:rPr kumimoji="1" lang="zh-TW" altLang="en-US" dirty="0"/>
                  <a:t> 只關心梯度的大小而非正負方向。因此，開平方再開根號可以消除正負號。這與 </a:t>
                </a:r>
                <a:r>
                  <a:rPr kumimoji="1" lang="en-US" altLang="zh-TW" dirty="0"/>
                  <a:t>momentum </a:t>
                </a:r>
                <a:r>
                  <a:rPr kumimoji="1" lang="zh-TW" altLang="en-US" dirty="0"/>
                  <a:t>累積梯度方向的核心理念不同。</a:t>
                </a:r>
              </a:p>
            </p:txBody>
          </p:sp>
        </mc:Choice>
        <mc:Fallback xmlns="">
          <p:sp>
            <p:nvSpPr>
              <p:cNvPr id="3" name="內容版面配置區 2">
                <a:extLst>
                  <a:ext uri="{FF2B5EF4-FFF2-40B4-BE49-F238E27FC236}">
                    <a16:creationId xmlns:a16="http://schemas.microsoft.com/office/drawing/2014/main" id="{D9E7CF46-8067-7355-13BC-7334E6D804C7}"/>
                  </a:ext>
                </a:extLst>
              </p:cNvPr>
              <p:cNvSpPr>
                <a:spLocks noGrp="1" noRot="1" noChangeAspect="1" noMove="1" noResize="1" noEditPoints="1" noAdjustHandles="1" noChangeArrowheads="1" noChangeShapeType="1" noTextEdit="1"/>
              </p:cNvSpPr>
              <p:nvPr>
                <p:ph idx="1"/>
              </p:nvPr>
            </p:nvSpPr>
            <p:spPr>
              <a:xfrm>
                <a:off x="104172" y="1979271"/>
                <a:ext cx="11956648" cy="4328932"/>
              </a:xfrm>
              <a:blipFill>
                <a:blip r:embed="rId2"/>
                <a:stretch>
                  <a:fillRect l="-1486" t="-1173" r="-42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59BC1AF-5B78-DB10-EB43-686C1FA661D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F2330A7-A933-0C45-D3C6-BC8001999AB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5540566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AC8CB2-D07E-0D0E-5493-6CF5A97A92DD}"/>
              </a:ext>
            </a:extLst>
          </p:cNvPr>
          <p:cNvSpPr>
            <a:spLocks noGrp="1"/>
          </p:cNvSpPr>
          <p:nvPr>
            <p:ph type="title"/>
          </p:nvPr>
        </p:nvSpPr>
        <p:spPr/>
        <p:txBody>
          <a:bodyPr>
            <a:normAutofit/>
          </a:bodyPr>
          <a:lstStyle/>
          <a:p>
            <a:r>
              <a:rPr kumimoji="1" lang="en-US" altLang="zh-TW" dirty="0"/>
              <a:t>Adam</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DDAF3C2-148D-C46A-5163-3A1A8E5FF92A}"/>
                  </a:ext>
                </a:extLst>
              </p:cNvPr>
              <p:cNvSpPr>
                <a:spLocks noGrp="1"/>
              </p:cNvSpPr>
              <p:nvPr>
                <p:ph idx="1"/>
              </p:nvPr>
            </p:nvSpPr>
            <p:spPr/>
            <p:txBody>
              <a:bodyPr/>
              <a:lstStyle/>
              <a:p>
                <a:r>
                  <a:rPr kumimoji="1" lang="en-US" altLang="zh-TW" dirty="0"/>
                  <a:t>Adaptive Moment Estimation</a:t>
                </a:r>
                <a:r>
                  <a:rPr kumimoji="1" lang="zh-TW" altLang="en-US" dirty="0"/>
                  <a:t> </a:t>
                </a:r>
                <a:r>
                  <a:rPr kumimoji="1" lang="en-US" altLang="zh-TW" dirty="0"/>
                  <a:t>(Adam)</a:t>
                </a:r>
                <a:r>
                  <a:rPr kumimoji="1" lang="zh-TW" altLang="en-US" dirty="0"/>
                  <a:t> 的概念很簡單，就是把 </a:t>
                </a:r>
                <a:r>
                  <a:rPr kumimoji="1" lang="en-US" altLang="zh-TW" dirty="0"/>
                  <a:t>Momentum</a:t>
                </a:r>
                <a:r>
                  <a:rPr kumimoji="1" lang="zh-TW" altLang="en-US" dirty="0"/>
                  <a:t> 與 </a:t>
                </a:r>
                <a:r>
                  <a:rPr kumimoji="1" lang="en-US" altLang="zh-TW" dirty="0" err="1"/>
                  <a:t>RMSProp</a:t>
                </a:r>
                <a:r>
                  <a:rPr kumimoji="1" lang="zh-TW" altLang="en-US" dirty="0"/>
                  <a:t> 合併即可。這樣做可以同時擁有兩者的優點。</a:t>
                </a:r>
                <a:r>
                  <a:rPr kumimoji="1" lang="en-US" altLang="zh-TW" dirty="0"/>
                  <a:t>Adam</a:t>
                </a:r>
                <a:r>
                  <a:rPr kumimoji="1" lang="zh-TW" altLang="en-US" dirty="0"/>
                  <a:t> 的公式為：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𝛽</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𝛽</m:t>
                          </m:r>
                        </m:e>
                      </m:d>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smtClean="0">
                          <a:latin typeface="Cambria Math" panose="02040503050406030204" pitchFamily="18" charset="0"/>
                          <a:ea typeface="Cambria Math" panose="02040503050406030204" pitchFamily="18" charset="0"/>
                        </a:rPr>
                        <m:t>𝛾</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𝛾</m:t>
                          </m:r>
                        </m:e>
                      </m:d>
                      <m:sSup>
                        <m:sSupPr>
                          <m:ctrlPr>
                            <a:rPr kumimoji="1" lang="en-US" altLang="zh-TW" i="1">
                              <a:latin typeface="Cambria Math" panose="02040503050406030204" pitchFamily="18" charset="0"/>
                              <a:ea typeface="Cambria Math" panose="02040503050406030204" pitchFamily="18" charset="0"/>
                            </a:rPr>
                          </m:ctrlPr>
                        </m:sSupPr>
                        <m:e>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e>
                        <m:sup>
                          <m:r>
                            <a:rPr kumimoji="1" lang="en-US" altLang="zh-TW" i="1">
                              <a:latin typeface="Cambria Math" panose="02040503050406030204" pitchFamily="18" charset="0"/>
                              <a:ea typeface="Cambria Math" panose="02040503050406030204" pitchFamily="18" charset="0"/>
                            </a:rPr>
                            <m:t>2</m:t>
                          </m:r>
                        </m:sup>
                      </m:sSup>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kumimoji="1" lang="en-US" altLang="zh-TW" i="1" smtClean="0">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r>
                        <a:rPr kumimoji="1" lang="en-US" altLang="zh-TW" b="0" i="1" smtClean="0">
                          <a:latin typeface="Cambria Math" panose="02040503050406030204" pitchFamily="18" charset="0"/>
                          <a:ea typeface="Cambria Math" panose="02040503050406030204" pitchFamily="18" charset="0"/>
                        </a:rPr>
                        <m:t>=</m:t>
                      </m:r>
                      <m:f>
                        <m:fPr>
                          <m:ctrlPr>
                            <a:rPr kumimoji="1" lang="en-US" altLang="zh-TW" b="0" i="1" smtClean="0">
                              <a:latin typeface="Cambria Math" panose="02040503050406030204" pitchFamily="18" charset="0"/>
                              <a:ea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num>
                        <m:den>
                          <m:r>
                            <a:rPr kumimoji="1" lang="en-US" altLang="zh-TW" b="0" i="1" smtClean="0">
                              <a:latin typeface="Cambria Math" panose="02040503050406030204" pitchFamily="18" charset="0"/>
                              <a:ea typeface="Cambria Math" panose="02040503050406030204" pitchFamily="18" charset="0"/>
                            </a:rPr>
                            <m:t>1−</m:t>
                          </m:r>
                          <m:sSup>
                            <m:sSupPr>
                              <m:ctrlPr>
                                <a:rPr kumimoji="1" lang="en-US" altLang="zh-TW" b="0" i="1" smtClean="0">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𝛽</m:t>
                              </m:r>
                            </m:e>
                            <m:sup>
                              <m:r>
                                <a:rPr kumimoji="1" lang="en-US" altLang="zh-TW" b="0" i="1" smtClean="0">
                                  <a:latin typeface="Cambria Math" panose="02040503050406030204" pitchFamily="18" charset="0"/>
                                  <a:ea typeface="Cambria Math" panose="02040503050406030204" pitchFamily="18" charset="0"/>
                                </a:rPr>
                                <m:t>𝑡</m:t>
                              </m:r>
                            </m:sup>
                          </m:sSup>
                        </m:den>
                      </m:f>
                      <m:r>
                        <a:rPr kumimoji="1" lang="en-US" altLang="zh-TW" b="0" i="1" smtClean="0">
                          <a:latin typeface="Cambria Math" panose="02040503050406030204" pitchFamily="18" charset="0"/>
                          <a:ea typeface="Cambria Math" panose="02040503050406030204" pitchFamily="18" charset="0"/>
                        </a:rPr>
                        <m:t>,</m:t>
                      </m:r>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ea typeface="Cambria Math" panose="02040503050406030204" pitchFamily="18" charset="0"/>
                        </a:rPr>
                        <m:t>=</m:t>
                      </m:r>
                      <m:f>
                        <m:fPr>
                          <m:ctrlPr>
                            <a:rPr kumimoji="1" lang="en-US" altLang="zh-TW" i="1">
                              <a:latin typeface="Cambria Math" panose="02040503050406030204" pitchFamily="18" charset="0"/>
                              <a:ea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𝑠</m:t>
                              </m:r>
                            </m:e>
                            <m:sub>
                              <m:r>
                                <a:rPr kumimoji="1" lang="en-US" altLang="zh-TW" i="1">
                                  <a:latin typeface="Cambria Math" panose="02040503050406030204" pitchFamily="18" charset="0"/>
                                </a:rPr>
                                <m:t>𝑡</m:t>
                              </m:r>
                            </m:sub>
                          </m:sSub>
                        </m:num>
                        <m:den>
                          <m:r>
                            <a:rPr kumimoji="1" lang="en-US" altLang="zh-TW" i="1">
                              <a:latin typeface="Cambria Math" panose="02040503050406030204" pitchFamily="18" charset="0"/>
                              <a:ea typeface="Cambria Math" panose="02040503050406030204" pitchFamily="18" charset="0"/>
                            </a:rPr>
                            <m:t>1−</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𝛾</m:t>
                              </m:r>
                            </m:e>
                            <m:sup>
                              <m:r>
                                <a:rPr kumimoji="1" lang="en-US" altLang="zh-TW" i="1">
                                  <a:latin typeface="Cambria Math" panose="02040503050406030204" pitchFamily="18" charset="0"/>
                                  <a:ea typeface="Cambria Math" panose="02040503050406030204" pitchFamily="18" charset="0"/>
                                </a:rPr>
                                <m:t>𝑡</m:t>
                              </m:r>
                            </m:sup>
                          </m:sSup>
                        </m:den>
                      </m:f>
                    </m:oMath>
                  </m:oMathPara>
                </a14:m>
                <a:endParaRPr kumimoji="1"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a:latin typeface="Cambria Math" panose="02040503050406030204" pitchFamily="18" charset="0"/>
                                </a:rPr>
                              </m:ctrlPr>
                            </m:radPr>
                            <m:deg/>
                            <m:e>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den>
                      </m:f>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oMath>
                  </m:oMathPara>
                </a14:m>
                <a:endParaRPr kumimoji="1" lang="en-US" altLang="zh-TW" dirty="0"/>
              </a:p>
              <a:p>
                <a:pPr marL="0" indent="0">
                  <a:buNone/>
                </a:pPr>
                <a:endParaRPr kumimoji="1" lang="en-US" altLang="zh-TW" i="1" dirty="0">
                  <a:latin typeface="Cambria Math" panose="02040503050406030204" pitchFamily="18" charset="0"/>
                  <a:ea typeface="Cambria Math" panose="02040503050406030204" pitchFamily="18" charset="0"/>
                </a:endParaRPr>
              </a:p>
            </p:txBody>
          </p:sp>
        </mc:Choice>
        <mc:Fallback xmlns="">
          <p:sp>
            <p:nvSpPr>
              <p:cNvPr id="3" name="內容版面配置區 2">
                <a:extLst>
                  <a:ext uri="{FF2B5EF4-FFF2-40B4-BE49-F238E27FC236}">
                    <a16:creationId xmlns:a16="http://schemas.microsoft.com/office/drawing/2014/main" id="{0DDAF3C2-148D-C46A-5163-3A1A8E5FF92A}"/>
                  </a:ext>
                </a:extLst>
              </p:cNvPr>
              <p:cNvSpPr>
                <a:spLocks noGrp="1" noRot="1" noChangeAspect="1" noMove="1" noResize="1" noEditPoints="1" noAdjustHandles="1" noChangeArrowheads="1" noChangeShapeType="1" noTextEdit="1"/>
              </p:cNvSpPr>
              <p:nvPr>
                <p:ph idx="1"/>
              </p:nvPr>
            </p:nvSpPr>
            <p:spPr>
              <a:blipFill>
                <a:blip r:embed="rId2"/>
                <a:stretch>
                  <a:fillRect l="-1009" t="-134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12331F7-FF73-689A-6794-B228AC4EB94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0903126-9A91-5D1A-44B9-8594B79523D0}"/>
              </a:ext>
            </a:extLst>
          </p:cNvPr>
          <p:cNvSpPr>
            <a:spLocks noGrp="1"/>
          </p:cNvSpPr>
          <p:nvPr>
            <p:ph type="sldNum" sz="quarter" idx="12"/>
          </p:nvPr>
        </p:nvSpPr>
        <p:spPr/>
        <p:txBody>
          <a:bodyPr/>
          <a:lstStyle/>
          <a:p>
            <a:r>
              <a:rPr lang="en-US" altLang="zh-TW" dirty="0"/>
              <a:t>Deep Learning</a:t>
            </a:r>
          </a:p>
        </p:txBody>
      </p:sp>
      <p:cxnSp>
        <p:nvCxnSpPr>
          <p:cNvPr id="9" name="直線箭頭接點 8">
            <a:extLst>
              <a:ext uri="{FF2B5EF4-FFF2-40B4-BE49-F238E27FC236}">
                <a16:creationId xmlns:a16="http://schemas.microsoft.com/office/drawing/2014/main" id="{50041099-0462-8B9D-616E-D662A5D886ED}"/>
              </a:ext>
            </a:extLst>
          </p:cNvPr>
          <p:cNvCxnSpPr>
            <a:cxnSpLocks/>
          </p:cNvCxnSpPr>
          <p:nvPr/>
        </p:nvCxnSpPr>
        <p:spPr>
          <a:xfrm flipH="1" flipV="1">
            <a:off x="7870785" y="3310359"/>
            <a:ext cx="1640066" cy="118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2C913C3F-7AE4-D209-197A-7653F3861BA9}"/>
              </a:ext>
            </a:extLst>
          </p:cNvPr>
          <p:cNvSpPr txBox="1"/>
          <p:nvPr/>
        </p:nvSpPr>
        <p:spPr>
          <a:xfrm>
            <a:off x="9551252" y="3122603"/>
            <a:ext cx="2222340" cy="646331"/>
          </a:xfrm>
          <a:prstGeom prst="rect">
            <a:avLst/>
          </a:prstGeom>
          <a:noFill/>
        </p:spPr>
        <p:txBody>
          <a:bodyPr wrap="square" rtlCol="0">
            <a:spAutoFit/>
          </a:bodyPr>
          <a:lstStyle/>
          <a:p>
            <a:r>
              <a:rPr kumimoji="1" lang="zh-TW" altLang="en-US" dirty="0"/>
              <a:t>前兩行與 </a:t>
            </a:r>
            <a:r>
              <a:rPr kumimoji="1" lang="en-US" altLang="zh-TW" dirty="0"/>
              <a:t>Momentum,</a:t>
            </a:r>
            <a:r>
              <a:rPr kumimoji="1" lang="zh-TW" altLang="en-US" dirty="0"/>
              <a:t> </a:t>
            </a:r>
            <a:r>
              <a:rPr kumimoji="1" lang="en-US" altLang="zh-TW" dirty="0" err="1"/>
              <a:t>RMSProp</a:t>
            </a:r>
            <a:r>
              <a:rPr kumimoji="1" lang="zh-TW" altLang="en-US" dirty="0"/>
              <a:t> 相同。</a:t>
            </a:r>
          </a:p>
        </p:txBody>
      </p:sp>
      <p:cxnSp>
        <p:nvCxnSpPr>
          <p:cNvPr id="16" name="直線箭頭接點 15">
            <a:extLst>
              <a:ext uri="{FF2B5EF4-FFF2-40B4-BE49-F238E27FC236}">
                <a16:creationId xmlns:a16="http://schemas.microsoft.com/office/drawing/2014/main" id="{DD181086-B28C-7BBC-0846-A43899F848B4}"/>
              </a:ext>
            </a:extLst>
          </p:cNvPr>
          <p:cNvCxnSpPr>
            <a:cxnSpLocks/>
          </p:cNvCxnSpPr>
          <p:nvPr/>
        </p:nvCxnSpPr>
        <p:spPr>
          <a:xfrm flipH="1" flipV="1">
            <a:off x="7687520" y="4967468"/>
            <a:ext cx="1248136" cy="333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66D81A4-BEC2-58A8-AB4F-1F9BA4F429E2}"/>
                  </a:ext>
                </a:extLst>
              </p:cNvPr>
              <p:cNvSpPr txBox="1"/>
              <p:nvPr/>
            </p:nvSpPr>
            <p:spPr>
              <a:xfrm>
                <a:off x="8934498" y="5134336"/>
                <a:ext cx="2222340" cy="923330"/>
              </a:xfrm>
              <a:prstGeom prst="rect">
                <a:avLst/>
              </a:prstGeom>
              <a:noFill/>
            </p:spPr>
            <p:txBody>
              <a:bodyPr wrap="square" rtlCol="0">
                <a:spAutoFit/>
              </a:bodyPr>
              <a:lstStyle/>
              <a:p>
                <a:r>
                  <a:rPr kumimoji="1" lang="zh-TW" altLang="en-US" dirty="0"/>
                  <a:t>此行即是讓 </a:t>
                </a:r>
                <a14:m>
                  <m:oMath xmlns:m="http://schemas.openxmlformats.org/officeDocument/2006/math">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oMath>
                </a14:m>
                <a:r>
                  <a:rPr kumimoji="1" lang="zh-TW" altLang="en-US" dirty="0"/>
                  <a:t> 為梯度更新方向，並且用 </a:t>
                </a:r>
                <a14:m>
                  <m:oMath xmlns:m="http://schemas.openxmlformats.org/officeDocument/2006/math">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zh-TW" altLang="en-US" b="0" i="1" smtClean="0">
                        <a:latin typeface="Cambria Math" panose="02040503050406030204" pitchFamily="18" charset="0"/>
                      </a:rPr>
                      <m:t> </m:t>
                    </m:r>
                  </m:oMath>
                </a14:m>
                <a:r>
                  <a:rPr kumimoji="1" lang="zh-TW" altLang="en-US" dirty="0"/>
                  <a:t>控制學習率。</a:t>
                </a:r>
              </a:p>
            </p:txBody>
          </p:sp>
        </mc:Choice>
        <mc:Fallback xmlns="">
          <p:sp>
            <p:nvSpPr>
              <p:cNvPr id="18" name="文字方塊 17">
                <a:extLst>
                  <a:ext uri="{FF2B5EF4-FFF2-40B4-BE49-F238E27FC236}">
                    <a16:creationId xmlns:a16="http://schemas.microsoft.com/office/drawing/2014/main" id="{C66D81A4-BEC2-58A8-AB4F-1F9BA4F429E2}"/>
                  </a:ext>
                </a:extLst>
              </p:cNvPr>
              <p:cNvSpPr txBox="1">
                <a:spLocks noRot="1" noChangeAspect="1" noMove="1" noResize="1" noEditPoints="1" noAdjustHandles="1" noChangeArrowheads="1" noChangeShapeType="1" noTextEdit="1"/>
              </p:cNvSpPr>
              <p:nvPr/>
            </p:nvSpPr>
            <p:spPr>
              <a:xfrm>
                <a:off x="8934498" y="5134336"/>
                <a:ext cx="2222340" cy="923330"/>
              </a:xfrm>
              <a:prstGeom prst="rect">
                <a:avLst/>
              </a:prstGeom>
              <a:blipFill>
                <a:blip r:embed="rId3"/>
                <a:stretch>
                  <a:fillRect l="-2273" t="-2703" b="-9459"/>
                </a:stretch>
              </a:blipFill>
            </p:spPr>
            <p:txBody>
              <a:bodyPr/>
              <a:lstStyle/>
              <a:p>
                <a:r>
                  <a:rPr lang="zh-TW" altLang="en-US">
                    <a:noFill/>
                  </a:rPr>
                  <a:t> </a:t>
                </a:r>
              </a:p>
            </p:txBody>
          </p:sp>
        </mc:Fallback>
      </mc:AlternateContent>
      <p:cxnSp>
        <p:nvCxnSpPr>
          <p:cNvPr id="19" name="直線箭頭接點 18">
            <a:extLst>
              <a:ext uri="{FF2B5EF4-FFF2-40B4-BE49-F238E27FC236}">
                <a16:creationId xmlns:a16="http://schemas.microsoft.com/office/drawing/2014/main" id="{A6003165-5170-9439-18CF-63C8E9C8CD68}"/>
              </a:ext>
            </a:extLst>
          </p:cNvPr>
          <p:cNvCxnSpPr>
            <a:cxnSpLocks/>
          </p:cNvCxnSpPr>
          <p:nvPr/>
        </p:nvCxnSpPr>
        <p:spPr>
          <a:xfrm flipV="1">
            <a:off x="3194613" y="4097438"/>
            <a:ext cx="1203767" cy="243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2FD9EA24-0ED6-026D-F1D1-6FE4805D15B4}"/>
              </a:ext>
            </a:extLst>
          </p:cNvPr>
          <p:cNvSpPr txBox="1"/>
          <p:nvPr/>
        </p:nvSpPr>
        <p:spPr>
          <a:xfrm>
            <a:off x="787658" y="4218972"/>
            <a:ext cx="2407534" cy="923330"/>
          </a:xfrm>
          <a:prstGeom prst="rect">
            <a:avLst/>
          </a:prstGeom>
          <a:noFill/>
        </p:spPr>
        <p:txBody>
          <a:bodyPr wrap="square" rtlCol="0">
            <a:spAutoFit/>
          </a:bodyPr>
          <a:lstStyle/>
          <a:p>
            <a:r>
              <a:rPr kumimoji="1" lang="zh-TW" altLang="en-US" dirty="0"/>
              <a:t>第三行是唯一特別之處。</a:t>
            </a:r>
            <a:r>
              <a:rPr kumimoji="1" lang="en-US" altLang="zh-TW" dirty="0"/>
              <a:t>Adam</a:t>
            </a:r>
            <a:r>
              <a:rPr kumimoji="1" lang="zh-TW" altLang="en-US" dirty="0"/>
              <a:t> 的這一步就做 </a:t>
            </a:r>
            <a:r>
              <a:rPr kumimoji="1" lang="en-US" altLang="zh-TW" dirty="0"/>
              <a:t>bias</a:t>
            </a:r>
            <a:r>
              <a:rPr kumimoji="1" lang="zh-TW" altLang="en-US" dirty="0"/>
              <a:t> </a:t>
            </a:r>
            <a:r>
              <a:rPr kumimoji="1" lang="en-US" altLang="zh-TW" dirty="0"/>
              <a:t>correction</a:t>
            </a:r>
            <a:r>
              <a:rPr kumimoji="1" lang="zh-TW" altLang="en-US" dirty="0"/>
              <a:t>。</a:t>
            </a:r>
          </a:p>
        </p:txBody>
      </p:sp>
    </p:spTree>
    <p:extLst>
      <p:ext uri="{BB962C8B-B14F-4D97-AF65-F5344CB8AC3E}">
        <p14:creationId xmlns:p14="http://schemas.microsoft.com/office/powerpoint/2010/main" val="2097242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F8FAE3-F3C2-E0A7-B388-343EE37915FD}"/>
              </a:ext>
            </a:extLst>
          </p:cNvPr>
          <p:cNvSpPr>
            <a:spLocks noGrp="1"/>
          </p:cNvSpPr>
          <p:nvPr>
            <p:ph type="title"/>
          </p:nvPr>
        </p:nvSpPr>
        <p:spPr/>
        <p:txBody>
          <a:bodyPr/>
          <a:lstStyle/>
          <a:p>
            <a:r>
              <a:rPr kumimoji="1" lang="en-US" altLang="zh-TW" dirty="0"/>
              <a:t>Adam</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18CD4E8-E9C4-0DDC-8533-AC4D9347BFF4}"/>
                  </a:ext>
                </a:extLst>
              </p:cNvPr>
              <p:cNvSpPr>
                <a:spLocks noGrp="1"/>
              </p:cNvSpPr>
              <p:nvPr>
                <p:ph idx="1"/>
              </p:nvPr>
            </p:nvSpPr>
            <p:spPr>
              <a:xfrm>
                <a:off x="925975" y="2108201"/>
                <a:ext cx="10440364" cy="3760891"/>
              </a:xfrm>
            </p:spPr>
            <p:txBody>
              <a:bodyPr>
                <a:noAutofit/>
              </a:bodyPr>
              <a:lstStyle/>
              <a:p>
                <a:r>
                  <a:rPr kumimoji="1" lang="zh-TW" altLang="en-US" dirty="0"/>
                  <a:t>當 </a:t>
                </a:r>
                <a14:m>
                  <m:oMath xmlns:m="http://schemas.openxmlformats.org/officeDocument/2006/math">
                    <m:r>
                      <a:rPr kumimoji="1" lang="en-US" altLang="zh-TW" i="1">
                        <a:latin typeface="Cambria Math" panose="02040503050406030204" pitchFamily="18" charset="0"/>
                      </a:rPr>
                      <m:t>𝑡</m:t>
                    </m:r>
                    <m:r>
                      <a:rPr kumimoji="1" lang="en-US" altLang="zh-TW" i="1">
                        <a:latin typeface="Cambria Math" panose="02040503050406030204" pitchFamily="18" charset="0"/>
                      </a:rPr>
                      <m:t>=1</m:t>
                    </m:r>
                  </m:oMath>
                </a14:m>
                <a:r>
                  <a:rPr kumimoji="1" lang="zh-TW" altLang="en-US" dirty="0"/>
                  <a:t> 時，</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𝛽</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𝛽</m:t>
                        </m:r>
                      </m:e>
                    </m:d>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r>
                      <a:rPr kumimoji="1" lang="en-US" altLang="zh-TW" i="1">
                        <a:latin typeface="Cambria Math" panose="02040503050406030204" pitchFamily="18" charset="0"/>
                        <a:ea typeface="Cambria Math" panose="02040503050406030204" pitchFamily="18" charset="0"/>
                      </a:rPr>
                      <m:t>,</m:t>
                    </m:r>
                    <m:r>
                      <a:rPr kumimoji="1" lang="zh-TW" altLang="en-US" i="1">
                        <a:latin typeface="Cambria Math" panose="02040503050406030204" pitchFamily="18" charset="0"/>
                        <a:ea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𝛾</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𝛾</m:t>
                        </m:r>
                      </m:e>
                    </m:d>
                    <m:sSup>
                      <m:sSupPr>
                        <m:ctrlPr>
                          <a:rPr kumimoji="1" lang="en-US" altLang="zh-TW" i="1">
                            <a:latin typeface="Cambria Math" panose="02040503050406030204" pitchFamily="18" charset="0"/>
                            <a:ea typeface="Cambria Math" panose="02040503050406030204" pitchFamily="18" charset="0"/>
                          </a:rPr>
                        </m:ctrlPr>
                      </m:sSupPr>
                      <m:e>
                        <m:r>
                          <m:rPr>
                            <m:sty m:val="p"/>
                          </m:rP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e>
                      <m:sup>
                        <m:r>
                          <a:rPr kumimoji="1" lang="en-US" altLang="zh-TW" i="1">
                            <a:latin typeface="Cambria Math" panose="02040503050406030204" pitchFamily="18" charset="0"/>
                            <a:ea typeface="Cambria Math" panose="02040503050406030204" pitchFamily="18" charset="0"/>
                          </a:rPr>
                          <m:t>2</m:t>
                        </m:r>
                      </m:sup>
                    </m:sSup>
                  </m:oMath>
                </a14:m>
                <a:r>
                  <a:rPr kumimoji="1" lang="zh-TW" altLang="en-US" dirty="0">
                    <a:latin typeface="+mn-ea"/>
                  </a:rPr>
                  <a:t> 這兩個算式中使用了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0</m:t>
                        </m:r>
                      </m:sub>
                    </m:sSub>
                    <m:r>
                      <a:rPr kumimoji="1" lang="en-US" altLang="zh-TW" i="1">
                        <a:latin typeface="Cambria Math" panose="02040503050406030204" pitchFamily="18" charset="0"/>
                      </a:rPr>
                      <m:t>=0,</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0</m:t>
                        </m:r>
                      </m:sub>
                    </m:sSub>
                    <m:r>
                      <a:rPr kumimoji="1" lang="en-US" altLang="zh-TW" i="1">
                        <a:latin typeface="Cambria Math" panose="02040503050406030204" pitchFamily="18" charset="0"/>
                      </a:rPr>
                      <m:t>=0</m:t>
                    </m:r>
                  </m:oMath>
                </a14:m>
                <a:r>
                  <a:rPr kumimoji="1" lang="zh-TW" altLang="en-US" dirty="0">
                    <a:latin typeface="+mn-ea"/>
                  </a:rPr>
                  <a:t>。因為 </a:t>
                </a:r>
                <a14:m>
                  <m:oMath xmlns:m="http://schemas.openxmlformats.org/officeDocument/2006/math">
                    <m:r>
                      <a:rPr kumimoji="1" lang="zh-TW" altLang="en-US" i="1" smtClean="0">
                        <a:latin typeface="Cambria Math" panose="02040503050406030204" pitchFamily="18" charset="0"/>
                      </a:rPr>
                      <m:t>𝛽</m:t>
                    </m:r>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zh-TW" altLang="en-US" b="0" i="1" smtClean="0">
                        <a:latin typeface="Cambria Math" panose="02040503050406030204" pitchFamily="18" charset="0"/>
                      </a:rPr>
                      <m:t>𝛾</m:t>
                    </m:r>
                  </m:oMath>
                </a14:m>
                <a:r>
                  <a:rPr kumimoji="1" lang="zh-TW" altLang="en-US" dirty="0">
                    <a:latin typeface="+mn-ea"/>
                  </a:rPr>
                  <a:t> 通常設定為 </a:t>
                </a:r>
                <a:r>
                  <a:rPr kumimoji="1" lang="en-US" altLang="zh-TW" dirty="0"/>
                  <a:t>0.9</a:t>
                </a:r>
                <a:r>
                  <a:rPr kumimoji="1" lang="zh-TW" altLang="en-US" dirty="0"/>
                  <a:t>，所以計算結果中只會包含梯度的 </a:t>
                </a:r>
                <a:r>
                  <a:rPr kumimoji="1" lang="en-US" altLang="zh-TW" dirty="0"/>
                  <a:t>0.1</a:t>
                </a:r>
                <a:r>
                  <a:rPr kumimoji="1" lang="zh-TW" altLang="en-US" dirty="0"/>
                  <a:t> 倍，所以</a:t>
                </a:r>
                <a:r>
                  <a:rPr kumimoji="1" lang="zh-TW" altLang="en-US" dirty="0">
                    <a:latin typeface="+mn-ea"/>
                  </a:rPr>
                  <a:t>計算結果被嚴重</a:t>
                </a:r>
                <a:r>
                  <a:rPr kumimoji="1" lang="zh-TW" altLang="en-US" dirty="0"/>
                  <a:t>低估了（</a:t>
                </a:r>
                <a:r>
                  <a:rPr kumimoji="1" lang="en-US" altLang="zh-TW" dirty="0"/>
                  <a:t>biased</a:t>
                </a:r>
                <a:r>
                  <a:rPr kumimoji="1" lang="zh-TW" altLang="en-US" dirty="0"/>
                  <a:t> </a:t>
                </a:r>
                <a:r>
                  <a:rPr kumimoji="1" lang="en-US" altLang="zh-TW" dirty="0"/>
                  <a:t>towards</a:t>
                </a:r>
                <a:r>
                  <a:rPr kumimoji="1" lang="zh-TW" altLang="en-US" dirty="0"/>
                  <a:t> </a:t>
                </a:r>
                <a:r>
                  <a:rPr kumimoji="1" lang="en-US" altLang="zh-TW" dirty="0"/>
                  <a:t>0</a:t>
                </a:r>
                <a:r>
                  <a:rPr kumimoji="1" lang="zh-TW" altLang="en-US" dirty="0"/>
                  <a:t>）。</a:t>
                </a:r>
                <a:endParaRPr kumimoji="1" lang="en-US" altLang="zh-TW" dirty="0"/>
              </a:p>
              <a:p>
                <a:r>
                  <a:rPr kumimoji="1" lang="zh-TW" altLang="en-US" dirty="0"/>
                  <a:t>為了避免這樣的 </a:t>
                </a:r>
                <a:r>
                  <a:rPr kumimoji="1" lang="en-US" altLang="zh-TW" dirty="0"/>
                  <a:t>bias</a:t>
                </a:r>
                <a:r>
                  <a:rPr kumimoji="1" lang="zh-TW" altLang="en-US" dirty="0"/>
                  <a:t>，我們可以引入 </a:t>
                </a:r>
                <a14:m>
                  <m:oMath xmlns:m="http://schemas.openxmlformats.org/officeDocument/2006/math">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ea typeface="Cambria Math" panose="02040503050406030204" pitchFamily="18" charset="0"/>
                      </a:rPr>
                      <m:t>=</m:t>
                    </m:r>
                    <m:f>
                      <m:fPr>
                        <m:ctrlPr>
                          <a:rPr kumimoji="1" lang="en-US" altLang="zh-TW" i="1">
                            <a:latin typeface="Cambria Math" panose="02040503050406030204" pitchFamily="18" charset="0"/>
                            <a:ea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num>
                      <m:den>
                        <m:r>
                          <a:rPr kumimoji="1" lang="en-US" altLang="zh-TW" i="1">
                            <a:latin typeface="Cambria Math" panose="02040503050406030204" pitchFamily="18" charset="0"/>
                            <a:ea typeface="Cambria Math" panose="02040503050406030204" pitchFamily="18" charset="0"/>
                          </a:rPr>
                          <m:t>1−</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𝛽</m:t>
                            </m:r>
                          </m:e>
                          <m:sup>
                            <m:r>
                              <a:rPr kumimoji="1" lang="en-US" altLang="zh-TW" i="1">
                                <a:latin typeface="Cambria Math" panose="02040503050406030204" pitchFamily="18" charset="0"/>
                                <a:ea typeface="Cambria Math" panose="02040503050406030204" pitchFamily="18" charset="0"/>
                              </a:rPr>
                              <m:t>𝑡</m:t>
                            </m:r>
                          </m:sup>
                        </m:sSup>
                      </m:den>
                    </m:f>
                    <m:r>
                      <a:rPr kumimoji="1" lang="en-US" altLang="zh-TW" i="1">
                        <a:latin typeface="Cambria Math" panose="02040503050406030204" pitchFamily="18" charset="0"/>
                        <a:ea typeface="Cambria Math" panose="02040503050406030204" pitchFamily="18" charset="0"/>
                      </a:rPr>
                      <m:t>,</m:t>
                    </m:r>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ea typeface="Cambria Math" panose="02040503050406030204" pitchFamily="18" charset="0"/>
                      </a:rPr>
                      <m:t>=</m:t>
                    </m:r>
                    <m:f>
                      <m:fPr>
                        <m:ctrlPr>
                          <a:rPr kumimoji="1" lang="en-US" altLang="zh-TW" i="1">
                            <a:latin typeface="Cambria Math" panose="02040503050406030204" pitchFamily="18" charset="0"/>
                            <a:ea typeface="Cambria Math" panose="02040503050406030204" pitchFamily="18" charset="0"/>
                          </a:rPr>
                        </m:ctrlPr>
                      </m:fPr>
                      <m:num>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num>
                      <m:den>
                        <m:r>
                          <a:rPr kumimoji="1" lang="en-US" altLang="zh-TW" i="1">
                            <a:latin typeface="Cambria Math" panose="02040503050406030204" pitchFamily="18" charset="0"/>
                            <a:ea typeface="Cambria Math" panose="02040503050406030204" pitchFamily="18" charset="0"/>
                          </a:rPr>
                          <m:t>1−</m:t>
                        </m:r>
                        <m:sSup>
                          <m:sSupPr>
                            <m:ctrlPr>
                              <a:rPr kumimoji="1" lang="en-US" altLang="zh-TW" i="1">
                                <a:latin typeface="Cambria Math" panose="02040503050406030204" pitchFamily="18" charset="0"/>
                                <a:ea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𝛾</m:t>
                            </m:r>
                          </m:e>
                          <m:sup>
                            <m:r>
                              <a:rPr kumimoji="1" lang="en-US" altLang="zh-TW" i="1">
                                <a:latin typeface="Cambria Math" panose="02040503050406030204" pitchFamily="18" charset="0"/>
                                <a:ea typeface="Cambria Math" panose="02040503050406030204" pitchFamily="18" charset="0"/>
                              </a:rPr>
                              <m:t>𝑡</m:t>
                            </m:r>
                          </m:sup>
                        </m:sSup>
                      </m:den>
                    </m:f>
                  </m:oMath>
                </a14:m>
                <a:r>
                  <a:rPr kumimoji="1" lang="zh-TW" altLang="en-US" i="1" dirty="0">
                    <a:latin typeface="Cambria Math" panose="02040503050406030204" pitchFamily="18" charset="0"/>
                  </a:rPr>
                  <a:t> </a:t>
                </a:r>
                <a:r>
                  <a:rPr kumimoji="1" lang="zh-TW" altLang="en-US" dirty="0"/>
                  <a:t>這兩行校正計算。</a:t>
                </a:r>
                <a:endParaRPr kumimoji="1" lang="en-US" altLang="zh-TW" dirty="0"/>
              </a:p>
              <a:p>
                <a:pPr marL="457200" indent="-457200">
                  <a:buFont typeface="+mj-lt"/>
                  <a:buAutoNum type="arabicPeriod"/>
                </a:pPr>
                <a:r>
                  <a:rPr kumimoji="1" lang="zh-TW" altLang="en-US" dirty="0"/>
                  <a:t>當 </a:t>
                </a:r>
                <a14:m>
                  <m:oMath xmlns:m="http://schemas.openxmlformats.org/officeDocument/2006/math">
                    <m:r>
                      <a:rPr kumimoji="1" lang="en-US" altLang="zh-TW" i="1" dirty="0" smtClean="0">
                        <a:latin typeface="Cambria Math" panose="02040503050406030204" pitchFamily="18" charset="0"/>
                      </a:rPr>
                      <m:t>𝑡</m:t>
                    </m:r>
                    <m:r>
                      <a:rPr kumimoji="1" lang="en-US" altLang="zh-TW" i="1" dirty="0" smtClean="0">
                        <a:latin typeface="Cambria Math" panose="02040503050406030204" pitchFamily="18" charset="0"/>
                      </a:rPr>
                      <m:t>=1</m:t>
                    </m:r>
                  </m:oMath>
                </a14:m>
                <a:r>
                  <a:rPr kumimoji="1" lang="zh-TW" altLang="en-US" dirty="0"/>
                  <a:t> 時，分母就是 </a:t>
                </a:r>
                <a14:m>
                  <m:oMath xmlns:m="http://schemas.openxmlformats.org/officeDocument/2006/math">
                    <m:r>
                      <a:rPr kumimoji="1" lang="en-US" altLang="zh-TW" i="1" dirty="0" smtClean="0">
                        <a:latin typeface="Cambria Math" panose="02040503050406030204" pitchFamily="18" charset="0"/>
                      </a:rPr>
                      <m:t>1−0.9=0.1</m:t>
                    </m:r>
                  </m:oMath>
                </a14:m>
                <a:r>
                  <a:rPr kumimoji="1" lang="zh-TW" altLang="en-US" dirty="0"/>
                  <a:t>，所以 </a:t>
                </a:r>
                <a14:m>
                  <m:oMath xmlns:m="http://schemas.openxmlformats.org/officeDocument/2006/math">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r>
                      <a:rPr kumimoji="1" lang="en-US" altLang="zh-TW" b="0" i="1" smtClean="0">
                        <a:latin typeface="Cambria Math" panose="02040503050406030204" pitchFamily="18" charset="0"/>
                      </a:rPr>
                      <m:t>,</m:t>
                    </m:r>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oMath>
                </a14:m>
                <a:r>
                  <a:rPr kumimoji="1" lang="zh-TW" altLang="en-US" dirty="0"/>
                  <a:t>可以將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oMath>
                </a14:m>
                <a:r>
                  <a:rPr kumimoji="1" lang="zh-TW" altLang="en-US" dirty="0"/>
                  <a:t>放大回來。</a:t>
                </a:r>
                <a:endParaRPr kumimoji="1" lang="en-US" altLang="zh-TW" dirty="0"/>
              </a:p>
              <a:p>
                <a:pPr marL="457200" indent="-457200">
                  <a:buFont typeface="+mj-lt"/>
                  <a:buAutoNum type="arabicPeriod"/>
                </a:pPr>
                <a:r>
                  <a:rPr kumimoji="1" lang="zh-TW" altLang="en-US" dirty="0"/>
                  <a:t>當 </a:t>
                </a:r>
                <a14:m>
                  <m:oMath xmlns:m="http://schemas.openxmlformats.org/officeDocument/2006/math">
                    <m:r>
                      <a:rPr kumimoji="1" lang="en-US" altLang="zh-TW" i="1" dirty="0">
                        <a:latin typeface="Cambria Math" panose="02040503050406030204" pitchFamily="18" charset="0"/>
                      </a:rPr>
                      <m:t>𝑡</m:t>
                    </m:r>
                    <m:r>
                      <a:rPr kumimoji="1" lang="en-US" altLang="zh-TW" i="1" dirty="0">
                        <a:latin typeface="Cambria Math" panose="02040503050406030204" pitchFamily="18" charset="0"/>
                      </a:rPr>
                      <m:t>=100</m:t>
                    </m:r>
                  </m:oMath>
                </a14:m>
                <a:r>
                  <a:rPr kumimoji="1" lang="zh-TW" altLang="en-US" dirty="0"/>
                  <a:t> 時，分母就是 </a:t>
                </a:r>
                <a14:m>
                  <m:oMath xmlns:m="http://schemas.openxmlformats.org/officeDocument/2006/math">
                    <m:r>
                      <a:rPr kumimoji="1" lang="en-US" altLang="zh-TW" i="1" dirty="0">
                        <a:latin typeface="Cambria Math" panose="02040503050406030204" pitchFamily="18" charset="0"/>
                      </a:rPr>
                      <m:t>1</m:t>
                    </m:r>
                    <m:r>
                      <a:rPr kumimoji="1" lang="en-US" altLang="zh-TW" b="0" i="1" dirty="0" smtClean="0">
                        <a:latin typeface="Cambria Math" panose="02040503050406030204" pitchFamily="18" charset="0"/>
                      </a:rPr>
                      <m:t>−</m:t>
                    </m:r>
                    <m:sSup>
                      <m:sSupPr>
                        <m:ctrlPr>
                          <a:rPr kumimoji="1" lang="en-US" altLang="zh-TW" i="1" dirty="0">
                            <a:latin typeface="Cambria Math" panose="02040503050406030204" pitchFamily="18" charset="0"/>
                          </a:rPr>
                        </m:ctrlPr>
                      </m:sSupPr>
                      <m:e>
                        <m:r>
                          <a:rPr kumimoji="1" lang="en-US" altLang="zh-TW" b="0" i="1" dirty="0" smtClean="0">
                            <a:latin typeface="Cambria Math" panose="02040503050406030204" pitchFamily="18" charset="0"/>
                          </a:rPr>
                          <m:t>0.9</m:t>
                        </m:r>
                      </m:e>
                      <m:sup>
                        <m:r>
                          <a:rPr kumimoji="1" lang="en-US" altLang="zh-TW" b="0" i="1" dirty="0" smtClean="0">
                            <a:latin typeface="Cambria Math" panose="02040503050406030204" pitchFamily="18" charset="0"/>
                          </a:rPr>
                          <m:t>100</m:t>
                        </m:r>
                      </m:sup>
                    </m:sSup>
                    <m:r>
                      <a:rPr kumimoji="1" lang="en-US" altLang="zh-TW" i="1" dirty="0" smtClean="0">
                        <a:latin typeface="Cambria Math" panose="02040503050406030204" pitchFamily="18" charset="0"/>
                        <a:ea typeface="Cambria Math" panose="02040503050406030204" pitchFamily="18" charset="0"/>
                      </a:rPr>
                      <m:t>≈</m:t>
                    </m:r>
                    <m:r>
                      <a:rPr kumimoji="1" lang="en-US" altLang="zh-TW" b="0" i="1" dirty="0" smtClean="0">
                        <a:latin typeface="Cambria Math" panose="02040503050406030204" pitchFamily="18" charset="0"/>
                        <a:ea typeface="Cambria Math" panose="02040503050406030204" pitchFamily="18" charset="0"/>
                      </a:rPr>
                      <m:t>1</m:t>
                    </m:r>
                  </m:oMath>
                </a14:m>
                <a:r>
                  <a:rPr kumimoji="1" lang="zh-TW" altLang="en-US" dirty="0"/>
                  <a:t>，所以 </a:t>
                </a:r>
                <a14:m>
                  <m:oMath xmlns:m="http://schemas.openxmlformats.org/officeDocument/2006/math">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rPr>
                      <m:t>,</m:t>
                    </m:r>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oMath>
                </a14:m>
                <a:r>
                  <a:rPr kumimoji="1" lang="zh-TW" altLang="en-US" dirty="0"/>
                  <a:t> 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oMath>
                </a14:m>
                <a:r>
                  <a:rPr kumimoji="1" lang="zh-TW" altLang="en-US" dirty="0"/>
                  <a:t> 幾乎相等。</a:t>
                </a:r>
                <a:endParaRPr kumimoji="1" lang="en-US" altLang="zh-TW" dirty="0"/>
              </a:p>
              <a:p>
                <a:pPr marL="0" indent="0">
                  <a:buNone/>
                </a:pPr>
                <a:r>
                  <a:rPr kumimoji="1" lang="zh-TW" altLang="en-US" dirty="0"/>
                  <a:t>*</a:t>
                </a:r>
                <a:r>
                  <a:rPr kumimoji="1" lang="en-US" altLang="zh-TW" dirty="0"/>
                  <a:t>.</a:t>
                </a:r>
                <a:r>
                  <a:rPr kumimoji="1" lang="zh-TW" altLang="en-US" dirty="0"/>
                  <a:t> </a:t>
                </a:r>
                <a:r>
                  <a:rPr kumimoji="1" lang="en-US" altLang="zh-TW" dirty="0"/>
                  <a:t>Bias correction </a:t>
                </a:r>
                <a:r>
                  <a:rPr kumimoji="1" lang="zh-TW" altLang="en-US" dirty="0"/>
                  <a:t>作為校正計算步驟，只影響「訓練初期」。</a:t>
                </a:r>
                <a:endParaRPr kumimoji="1" lang="en-US" altLang="zh-TW" dirty="0"/>
              </a:p>
            </p:txBody>
          </p:sp>
        </mc:Choice>
        <mc:Fallback xmlns="">
          <p:sp>
            <p:nvSpPr>
              <p:cNvPr id="3" name="內容版面配置區 2">
                <a:extLst>
                  <a:ext uri="{FF2B5EF4-FFF2-40B4-BE49-F238E27FC236}">
                    <a16:creationId xmlns:a16="http://schemas.microsoft.com/office/drawing/2014/main" id="{218CD4E8-E9C4-0DDC-8533-AC4D9347BFF4}"/>
                  </a:ext>
                </a:extLst>
              </p:cNvPr>
              <p:cNvSpPr>
                <a:spLocks noGrp="1" noRot="1" noChangeAspect="1" noMove="1" noResize="1" noEditPoints="1" noAdjustHandles="1" noChangeArrowheads="1" noChangeShapeType="1" noTextEdit="1"/>
              </p:cNvSpPr>
              <p:nvPr>
                <p:ph idx="1"/>
              </p:nvPr>
            </p:nvSpPr>
            <p:spPr>
              <a:xfrm>
                <a:off x="925975" y="2108201"/>
                <a:ext cx="10440364" cy="3760891"/>
              </a:xfrm>
              <a:blipFill>
                <a:blip r:embed="rId2"/>
                <a:stretch>
                  <a:fillRect l="-1699" t="-1347" r="-169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486EA74-73AD-EF5C-E9BC-48CF0D10092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664FF08-2FA1-5E1D-0A2D-7EBA40EA104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6849949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9BBF4C-6933-A717-2943-0F58B0923FA9}"/>
              </a:ext>
            </a:extLst>
          </p:cNvPr>
          <p:cNvSpPr>
            <a:spLocks noGrp="1"/>
          </p:cNvSpPr>
          <p:nvPr>
            <p:ph type="title"/>
          </p:nvPr>
        </p:nvSpPr>
        <p:spPr/>
        <p:txBody>
          <a:bodyPr/>
          <a:lstStyle/>
          <a:p>
            <a:r>
              <a:rPr kumimoji="1" lang="en-US" altLang="zh-TW" dirty="0"/>
              <a:t>Optimizer</a:t>
            </a:r>
            <a:r>
              <a:rPr kumimoji="1" lang="zh-TW" altLang="en-US" dirty="0"/>
              <a:t> 比較與整理</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9584ED3-76EC-88FE-7618-BA6494B225D8}"/>
                  </a:ext>
                </a:extLst>
              </p:cNvPr>
              <p:cNvSpPr>
                <a:spLocks noGrp="1"/>
              </p:cNvSpPr>
              <p:nvPr>
                <p:ph idx="1"/>
              </p:nvPr>
            </p:nvSpPr>
            <p:spPr/>
            <p:txBody>
              <a:bodyPr>
                <a:normAutofit/>
              </a:bodyPr>
              <a:lstStyle/>
              <a:p>
                <a:pPr>
                  <a:buFont typeface="Wingdings" pitchFamily="2" charset="2"/>
                  <a:buChar char="l"/>
                </a:pPr>
                <a:r>
                  <a:rPr kumimoji="1" lang="zh-TW" altLang="en-US" dirty="0"/>
                  <a:t> </a:t>
                </a:r>
                <a:r>
                  <a:rPr kumimoji="1" lang="en-US" altLang="zh-TW" dirty="0"/>
                  <a:t>Momentum</a:t>
                </a:r>
                <a:r>
                  <a:rPr kumimoji="1" lang="zh-TW" altLang="en-US" dirty="0"/>
                  <a:t>：透過累積梯度的方向來形成動量。</a:t>
                </a:r>
                <a:endParaRPr kumimoji="1" lang="en-US" altLang="zh-TW" dirty="0"/>
              </a:p>
              <a:p>
                <a:pPr>
                  <a:buFont typeface="Wingdings" pitchFamily="2" charset="2"/>
                  <a:buChar char="l"/>
                </a:pPr>
                <a:r>
                  <a:rPr kumimoji="1" lang="zh-TW" altLang="en-US" dirty="0"/>
                  <a:t> </a:t>
                </a:r>
                <a:r>
                  <a:rPr kumimoji="1" lang="en-US" altLang="zh-TW" dirty="0"/>
                  <a:t>RMSprop</a:t>
                </a:r>
                <a:r>
                  <a:rPr kumimoji="1" lang="zh-TW" altLang="en-US" dirty="0"/>
                  <a:t>：透過計算梯度大小來調整學習率。</a:t>
                </a:r>
                <a:endParaRPr kumimoji="1" lang="en-US" altLang="zh-TW" dirty="0"/>
              </a:p>
              <a:p>
                <a:pPr>
                  <a:buFont typeface="Wingdings" pitchFamily="2" charset="2"/>
                  <a:buChar char="l"/>
                </a:pPr>
                <a:r>
                  <a:rPr kumimoji="1" lang="zh-TW" altLang="en-US" dirty="0"/>
                  <a:t> </a:t>
                </a:r>
                <a:r>
                  <a:rPr kumimoji="1" lang="en-US" altLang="zh-TW" dirty="0"/>
                  <a:t>Adam</a:t>
                </a:r>
                <a:r>
                  <a:rPr kumimoji="1" lang="zh-TW" altLang="en-US" dirty="0"/>
                  <a:t>：合併兩者，一起使用。</a:t>
                </a:r>
                <a:endParaRPr kumimoji="1" lang="en-US" altLang="zh-TW" dirty="0"/>
              </a:p>
              <a:p>
                <a:pPr>
                  <a:buFont typeface="Wingdings" pitchFamily="2" charset="2"/>
                  <a:buChar char="l"/>
                </a:pPr>
                <a:r>
                  <a:rPr kumimoji="1" lang="zh-TW" altLang="en-US" dirty="0"/>
                  <a:t> </a:t>
                </a:r>
                <a:r>
                  <a:rPr kumimoji="1" lang="en-US" altLang="zh-TW" dirty="0" err="1"/>
                  <a:t>AdamW</a:t>
                </a:r>
                <a:r>
                  <a:rPr kumimoji="1" lang="en-US" altLang="zh-TW" dirty="0"/>
                  <a:t> </a:t>
                </a:r>
                <a:r>
                  <a:rPr kumimoji="1" lang="zh-TW" altLang="en-US" dirty="0"/>
                  <a:t>（</a:t>
                </a:r>
                <a:r>
                  <a:rPr kumimoji="1" lang="en-US" altLang="zh-TW" dirty="0"/>
                  <a:t>W = Weight decay decoupled</a:t>
                </a:r>
                <a:r>
                  <a:rPr kumimoji="1" lang="zh-TW" altLang="en-US" dirty="0"/>
                  <a:t>） ：本質上是 </a:t>
                </a:r>
                <a:r>
                  <a:rPr kumimoji="1" lang="en-US" altLang="zh-TW" dirty="0"/>
                  <a:t>Adam</a:t>
                </a:r>
                <a:r>
                  <a:rPr kumimoji="1" lang="zh-TW" altLang="en-US" dirty="0"/>
                  <a:t>，但加上了 </a:t>
                </a:r>
                <a:r>
                  <a:rPr kumimoji="1" lang="en-US" altLang="zh-TW" dirty="0"/>
                  <a:t>L2</a:t>
                </a:r>
                <a:r>
                  <a:rPr kumimoji="1" lang="zh-TW" altLang="en-US" dirty="0"/>
                  <a:t> </a:t>
                </a:r>
                <a:r>
                  <a:rPr kumimoji="1" lang="en-US" altLang="zh-TW" dirty="0"/>
                  <a:t>Regularization</a:t>
                </a:r>
                <a:r>
                  <a:rPr kumimoji="1" lang="zh-TW" altLang="en-US" dirty="0"/>
                  <a:t>。公式與 </a:t>
                </a:r>
                <a:r>
                  <a:rPr kumimoji="1" lang="en-US" altLang="zh-TW" dirty="0"/>
                  <a:t>Adam</a:t>
                </a:r>
                <a:r>
                  <a:rPr kumimoji="1" lang="zh-TW" altLang="en-US" dirty="0"/>
                  <a:t> 相同，唯獨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a:latin typeface="Cambria Math" panose="02040503050406030204" pitchFamily="18" charset="0"/>
                              </a:rPr>
                            </m:ctrlPr>
                          </m:radPr>
                          <m:deg/>
                          <m:e>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den>
                    </m:f>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oMath>
                </a14:m>
                <a:r>
                  <a:rPr kumimoji="1" lang="zh-TW" altLang="en-US" dirty="0"/>
                  <a:t> 這行需改為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l-GR" altLang="zh-TW" i="1">
                            <a:latin typeface="Cambria Math" panose="02040503050406030204" pitchFamily="18" charset="0"/>
                          </a:rPr>
                          <m:t>𝜂</m:t>
                        </m:r>
                      </m:num>
                      <m:den>
                        <m:rad>
                          <m:radPr>
                            <m:degHide m:val="on"/>
                            <m:ctrlPr>
                              <a:rPr kumimoji="1" lang="en-US" altLang="zh-TW" i="1">
                                <a:latin typeface="Cambria Math" panose="02040503050406030204" pitchFamily="18" charset="0"/>
                              </a:rPr>
                            </m:ctrlPr>
                          </m:radPr>
                          <m:deg/>
                          <m:e>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𝑠</m:t>
                                    </m:r>
                                  </m:e>
                                  <m:sub>
                                    <m:r>
                                      <a:rPr kumimoji="1" lang="en-US" altLang="zh-TW" i="1">
                                        <a:latin typeface="Cambria Math" panose="02040503050406030204" pitchFamily="18" charset="0"/>
                                      </a:rPr>
                                      <m:t>𝑡</m:t>
                                    </m:r>
                                  </m:sub>
                                </m:sSub>
                              </m:e>
                            </m:acc>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𝜖</m:t>
                            </m:r>
                          </m:e>
                        </m:rad>
                      </m:den>
                    </m:f>
                    <m:acc>
                      <m:accPr>
                        <m:chr m:val="̂"/>
                        <m:ctrlPr>
                          <a:rPr kumimoji="1" lang="en-US" altLang="zh-TW" i="1">
                            <a:latin typeface="Cambria Math" panose="02040503050406030204" pitchFamily="18" charset="0"/>
                            <a:ea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𝑚</m:t>
                            </m:r>
                          </m:e>
                          <m:sub>
                            <m:r>
                              <a:rPr kumimoji="1" lang="en-US" altLang="zh-TW" i="1">
                                <a:latin typeface="Cambria Math" panose="02040503050406030204" pitchFamily="18" charset="0"/>
                              </a:rPr>
                              <m:t>𝑡</m:t>
                            </m:r>
                          </m:sub>
                        </m:sSub>
                      </m:e>
                    </m:acc>
                    <m:r>
                      <a:rPr kumimoji="1" lang="en-US" altLang="zh-TW" b="0" i="1" smtClean="0">
                        <a:latin typeface="Cambria Math" panose="02040503050406030204" pitchFamily="18" charset="0"/>
                      </a:rPr>
                      <m:t>−</m:t>
                    </m:r>
                    <m:r>
                      <a:rPr kumimoji="1" lang="el-GR" altLang="zh-TW" i="1">
                        <a:latin typeface="Cambria Math" panose="02040503050406030204" pitchFamily="18" charset="0"/>
                      </a:rPr>
                      <m:t>𝜂</m:t>
                    </m:r>
                    <m:r>
                      <a:rPr kumimoji="1" lang="el-GR" altLang="zh-TW" i="1" smtClean="0">
                        <a:latin typeface="Cambria Math" panose="02040503050406030204" pitchFamily="18" charset="0"/>
                        <a:ea typeface="Cambria Math" panose="02040503050406030204" pitchFamily="18" charset="0"/>
                      </a:rPr>
                      <m:t>𝜆</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𝑡</m:t>
                        </m:r>
                        <m:r>
                          <a:rPr kumimoji="1" lang="en-US" altLang="zh-TW" i="1">
                            <a:latin typeface="Cambria Math" panose="02040503050406030204" pitchFamily="18" charset="0"/>
                          </a:rPr>
                          <m:t>−1</m:t>
                        </m:r>
                      </m:sub>
                    </m:sSub>
                  </m:oMath>
                </a14:m>
                <a:r>
                  <a:rPr kumimoji="1" lang="zh-TW" altLang="en-US" dirty="0"/>
                  <a:t>。</a:t>
                </a:r>
                <a14:m>
                  <m:oMath xmlns:m="http://schemas.openxmlformats.org/officeDocument/2006/math">
                    <m:r>
                      <a:rPr kumimoji="1" lang="el-GR" altLang="zh-TW" i="1">
                        <a:latin typeface="Cambria Math" panose="02040503050406030204" pitchFamily="18" charset="0"/>
                        <a:ea typeface="Cambria Math" panose="02040503050406030204" pitchFamily="18" charset="0"/>
                      </a:rPr>
                      <m:t>𝜆</m:t>
                    </m:r>
                  </m:oMath>
                </a14:m>
                <a:r>
                  <a:rPr kumimoji="1" lang="zh-TW" altLang="en-US" dirty="0"/>
                  <a:t> 為可自行調整的超參數，用來控制 </a:t>
                </a:r>
                <a:r>
                  <a:rPr kumimoji="1" lang="en-US" altLang="zh-TW" dirty="0"/>
                  <a:t>L2</a:t>
                </a:r>
                <a:r>
                  <a:rPr kumimoji="1" lang="zh-TW" altLang="en-US" dirty="0"/>
                  <a:t> </a:t>
                </a:r>
                <a:r>
                  <a:rPr kumimoji="1" lang="en-US" altLang="zh-TW" dirty="0"/>
                  <a:t>Regularization</a:t>
                </a:r>
                <a:r>
                  <a:rPr kumimoji="1" lang="zh-TW" altLang="en-US" dirty="0"/>
                  <a:t> 的力度。</a:t>
                </a:r>
                <a:endParaRPr kumimoji="1" lang="en-US" altLang="zh-TW" dirty="0"/>
              </a:p>
            </p:txBody>
          </p:sp>
        </mc:Choice>
        <mc:Fallback xmlns="">
          <p:sp>
            <p:nvSpPr>
              <p:cNvPr id="3" name="內容版面配置區 2">
                <a:extLst>
                  <a:ext uri="{FF2B5EF4-FFF2-40B4-BE49-F238E27FC236}">
                    <a16:creationId xmlns:a16="http://schemas.microsoft.com/office/drawing/2014/main" id="{19584ED3-76EC-88FE-7618-BA6494B225D8}"/>
                  </a:ext>
                </a:extLst>
              </p:cNvPr>
              <p:cNvSpPr>
                <a:spLocks noGrp="1" noRot="1" noChangeAspect="1" noMove="1" noResize="1" noEditPoints="1" noAdjustHandles="1" noChangeArrowheads="1" noChangeShapeType="1" noTextEdit="1"/>
              </p:cNvSpPr>
              <p:nvPr>
                <p:ph idx="1"/>
              </p:nvPr>
            </p:nvSpPr>
            <p:spPr>
              <a:blipFill>
                <a:blip r:embed="rId2"/>
                <a:stretch>
                  <a:fillRect l="-1765" t="-1347" r="-1513"/>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BB544FFE-C146-9348-4C1F-98CA0ECD3154}"/>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87DA6A5-B222-F734-33C9-4B4ABA690F53}"/>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9766271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45385A-B2E6-BC32-3E75-BCED67CE5BD8}"/>
              </a:ext>
            </a:extLst>
          </p:cNvPr>
          <p:cNvSpPr>
            <a:spLocks noGrp="1"/>
          </p:cNvSpPr>
          <p:nvPr>
            <p:ph type="title"/>
          </p:nvPr>
        </p:nvSpPr>
        <p:spPr/>
        <p:txBody>
          <a:bodyPr/>
          <a:lstStyle/>
          <a:p>
            <a:r>
              <a:rPr kumimoji="1" lang="en-US" altLang="zh-TW"/>
              <a:t>Optimizer</a:t>
            </a:r>
            <a:r>
              <a:rPr kumimoji="1" lang="zh-TW" altLang="en-US"/>
              <a:t> 比較與整理</a:t>
            </a:r>
            <a:endParaRPr kumimoji="1" lang="zh-TW" altLang="en-US" dirty="0"/>
          </a:p>
        </p:txBody>
      </p:sp>
      <p:sp>
        <p:nvSpPr>
          <p:cNvPr id="4" name="日期版面配置區 3">
            <a:extLst>
              <a:ext uri="{FF2B5EF4-FFF2-40B4-BE49-F238E27FC236}">
                <a16:creationId xmlns:a16="http://schemas.microsoft.com/office/drawing/2014/main" id="{ABDA054D-144A-BB41-E28C-369C6B54440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FC2A796-ED37-7BE8-EAAC-D81E7B658C04}"/>
              </a:ext>
            </a:extLst>
          </p:cNvPr>
          <p:cNvSpPr>
            <a:spLocks noGrp="1"/>
          </p:cNvSpPr>
          <p:nvPr>
            <p:ph type="sldNum" sz="quarter" idx="12"/>
          </p:nvPr>
        </p:nvSpPr>
        <p:spPr/>
        <p:txBody>
          <a:bodyPr/>
          <a:lstStyle/>
          <a:p>
            <a:r>
              <a:rPr lang="en-US" altLang="zh-TW" dirty="0"/>
              <a:t>Deep Learning</a:t>
            </a:r>
          </a:p>
        </p:txBody>
      </p:sp>
      <p:pic>
        <p:nvPicPr>
          <p:cNvPr id="17" name="圖片 16" descr="一張含有 螢幕擷取畫面, 圖表 的圖片&#10;&#10;AI 產生的內容可能不正確。">
            <a:extLst>
              <a:ext uri="{FF2B5EF4-FFF2-40B4-BE49-F238E27FC236}">
                <a16:creationId xmlns:a16="http://schemas.microsoft.com/office/drawing/2014/main" id="{637B3A4E-F25C-4082-DFC8-EF09113CCC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26" y="2104747"/>
            <a:ext cx="3634810" cy="28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1" name="圖片 20" descr="一張含有 文字, 行, 繪圖, 圖表 的圖片&#10;&#10;AI 產生的內容可能不正確。">
            <a:extLst>
              <a:ext uri="{FF2B5EF4-FFF2-40B4-BE49-F238E27FC236}">
                <a16:creationId xmlns:a16="http://schemas.microsoft.com/office/drawing/2014/main" id="{26AB8461-A4D9-6050-4FEA-59F3E88F35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283" y="2104747"/>
            <a:ext cx="3693434" cy="28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5" name="圖片 24" descr="一張含有 行, 繪圖, 圖表, 文字 的圖片&#10;&#10;AI 產生的內容可能不正確。">
            <a:extLst>
              <a:ext uri="{FF2B5EF4-FFF2-40B4-BE49-F238E27FC236}">
                <a16:creationId xmlns:a16="http://schemas.microsoft.com/office/drawing/2014/main" id="{E467CF51-4F8B-F5AF-C0CE-02CC409BF6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2165" y="2104747"/>
            <a:ext cx="3651427" cy="28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文字方塊 26">
            <a:extLst>
              <a:ext uri="{FF2B5EF4-FFF2-40B4-BE49-F238E27FC236}">
                <a16:creationId xmlns:a16="http://schemas.microsoft.com/office/drawing/2014/main" id="{D05E622C-4B96-99A3-9859-AD658917C1F9}"/>
              </a:ext>
            </a:extLst>
          </p:cNvPr>
          <p:cNvSpPr txBox="1"/>
          <p:nvPr/>
        </p:nvSpPr>
        <p:spPr>
          <a:xfrm>
            <a:off x="613459" y="5741043"/>
            <a:ext cx="3227102" cy="369332"/>
          </a:xfrm>
          <a:prstGeom prst="rect">
            <a:avLst/>
          </a:prstGeom>
          <a:noFill/>
        </p:spPr>
        <p:txBody>
          <a:bodyPr wrap="none" rtlCol="0">
            <a:spAutoFit/>
          </a:bodyPr>
          <a:lstStyle/>
          <a:p>
            <a:r>
              <a:rPr kumimoji="1" lang="zh-TW" altLang="en-US" dirty="0"/>
              <a:t>*</a:t>
            </a:r>
            <a:r>
              <a:rPr kumimoji="1" lang="en-US" altLang="zh-TW" dirty="0"/>
              <a:t>.</a:t>
            </a:r>
            <a:r>
              <a:rPr kumimoji="1" lang="zh-TW" altLang="en-US" dirty="0"/>
              <a:t> </a:t>
            </a:r>
            <a:r>
              <a:rPr kumimoji="1" lang="en-US" altLang="zh-TW" dirty="0"/>
              <a:t>Chapter_3_Simple_Test.ipynb</a:t>
            </a:r>
            <a:endParaRPr kumimoji="1" lang="zh-TW" altLang="en-US" dirty="0"/>
          </a:p>
        </p:txBody>
      </p:sp>
    </p:spTree>
    <p:extLst>
      <p:ext uri="{BB962C8B-B14F-4D97-AF65-F5344CB8AC3E}">
        <p14:creationId xmlns:p14="http://schemas.microsoft.com/office/powerpoint/2010/main" val="1613115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CB32AC-BC68-2B1D-253B-35A7179B377E}"/>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F544DCCE-8716-3EF8-C250-D000B473B56E}"/>
              </a:ext>
            </a:extLst>
          </p:cNvPr>
          <p:cNvSpPr>
            <a:spLocks noGrp="1"/>
          </p:cNvSpPr>
          <p:nvPr>
            <p:ph idx="1"/>
          </p:nvPr>
        </p:nvSpPr>
        <p:spPr/>
        <p:txBody>
          <a:bodyPr/>
          <a:lstStyle/>
          <a:p>
            <a:r>
              <a:rPr kumimoji="1" lang="en-US" altLang="zh-TW" dirty="0"/>
              <a:t>Overfitting</a:t>
            </a:r>
            <a:r>
              <a:rPr kumimoji="1" lang="zh-TW" altLang="en-US" dirty="0"/>
              <a:t>（過度擬合）是機器學習與深度學習中的常見問題，指模型在訓練資料上表現很好，但在測試資料或真實世界資料上表現很差，表示模型過度記住了訓練資料的細節與雜訊，卻缺乏泛化能力。</a:t>
            </a:r>
          </a:p>
        </p:txBody>
      </p:sp>
      <p:sp>
        <p:nvSpPr>
          <p:cNvPr id="4" name="日期版面配置區 3">
            <a:extLst>
              <a:ext uri="{FF2B5EF4-FFF2-40B4-BE49-F238E27FC236}">
                <a16:creationId xmlns:a16="http://schemas.microsoft.com/office/drawing/2014/main" id="{8B5226EA-AD3C-28B1-50D7-7C114DA5BDC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64D9EB8-6334-28F9-E26E-BD48F4A01E84}"/>
              </a:ext>
            </a:extLst>
          </p:cNvPr>
          <p:cNvSpPr>
            <a:spLocks noGrp="1"/>
          </p:cNvSpPr>
          <p:nvPr>
            <p:ph type="sldNum" sz="quarter" idx="12"/>
          </p:nvPr>
        </p:nvSpPr>
        <p:spPr/>
        <p:txBody>
          <a:bodyPr/>
          <a:lstStyle/>
          <a:p>
            <a:r>
              <a:rPr lang="en-US" altLang="zh-TW" dirty="0"/>
              <a:t>Deep Learning</a:t>
            </a:r>
          </a:p>
        </p:txBody>
      </p:sp>
      <p:pic>
        <p:nvPicPr>
          <p:cNvPr id="7" name="圖片 6" descr="一張含有 草, 戶外, 樹狀, 領域 的圖片&#10;&#10;AI 產生的內容可能不正確。">
            <a:extLst>
              <a:ext uri="{FF2B5EF4-FFF2-40B4-BE49-F238E27FC236}">
                <a16:creationId xmlns:a16="http://schemas.microsoft.com/office/drawing/2014/main" id="{DA8F47D7-A69E-3DB5-C2D1-DAB98B108E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62" y="5111997"/>
            <a:ext cx="1567727" cy="1045968"/>
          </a:xfrm>
          <a:prstGeom prst="rect">
            <a:avLst/>
          </a:prstGeom>
        </p:spPr>
      </p:pic>
      <p:pic>
        <p:nvPicPr>
          <p:cNvPr id="9" name="圖片 8" descr="一張含有 草, 戶外, 母牛, 牛 的圖片&#10;&#10;AI 產生的內容可能不正確。">
            <a:extLst>
              <a:ext uri="{FF2B5EF4-FFF2-40B4-BE49-F238E27FC236}">
                <a16:creationId xmlns:a16="http://schemas.microsoft.com/office/drawing/2014/main" id="{DC258D30-5A82-9582-74B7-1A1443409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6664" y="4670981"/>
            <a:ext cx="1567727" cy="1045968"/>
          </a:xfrm>
          <a:prstGeom prst="rect">
            <a:avLst/>
          </a:prstGeom>
        </p:spPr>
      </p:pic>
      <p:pic>
        <p:nvPicPr>
          <p:cNvPr id="11" name="圖片 10" descr="一張含有 草, 戶外, 天空, 雲 的圖片&#10;&#10;AI 產生的內容可能不正確。">
            <a:extLst>
              <a:ext uri="{FF2B5EF4-FFF2-40B4-BE49-F238E27FC236}">
                <a16:creationId xmlns:a16="http://schemas.microsoft.com/office/drawing/2014/main" id="{40BF576D-7542-269A-D84E-98FB19FC9E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6092" y="3514489"/>
            <a:ext cx="1157294" cy="1542456"/>
          </a:xfrm>
          <a:prstGeom prst="rect">
            <a:avLst/>
          </a:prstGeom>
        </p:spPr>
      </p:pic>
      <p:pic>
        <p:nvPicPr>
          <p:cNvPr id="13" name="圖片 12" descr="一張含有 草, 戶外, 天空, 牛 的圖片&#10;&#10;AI 產生的內容可能不正確。">
            <a:extLst>
              <a:ext uri="{FF2B5EF4-FFF2-40B4-BE49-F238E27FC236}">
                <a16:creationId xmlns:a16="http://schemas.microsoft.com/office/drawing/2014/main" id="{794BA9BB-36E0-3BB1-9BB6-08325955D0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6659" y="3514489"/>
            <a:ext cx="1028304" cy="1542456"/>
          </a:xfrm>
          <a:prstGeom prst="rect">
            <a:avLst/>
          </a:prstGeom>
        </p:spPr>
      </p:pic>
      <p:pic>
        <p:nvPicPr>
          <p:cNvPr id="15" name="圖片 14" descr="一張含有 草, 戶外, 牛, 哺乳動物 的圖片&#10;&#10;AI 產生的內容可能不正確。">
            <a:extLst>
              <a:ext uri="{FF2B5EF4-FFF2-40B4-BE49-F238E27FC236}">
                <a16:creationId xmlns:a16="http://schemas.microsoft.com/office/drawing/2014/main" id="{B2B71DC2-01FA-F402-4ABB-61C76E88F5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9980" y="3514489"/>
            <a:ext cx="1525883" cy="1018050"/>
          </a:xfrm>
          <a:prstGeom prst="rect">
            <a:avLst/>
          </a:prstGeom>
        </p:spPr>
      </p:pic>
      <p:pic>
        <p:nvPicPr>
          <p:cNvPr id="17" name="圖片 16">
            <a:extLst>
              <a:ext uri="{FF2B5EF4-FFF2-40B4-BE49-F238E27FC236}">
                <a16:creationId xmlns:a16="http://schemas.microsoft.com/office/drawing/2014/main" id="{E1800086-263C-CCA7-9136-086D6382A9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53758" y="3514489"/>
            <a:ext cx="2429829" cy="1822372"/>
          </a:xfrm>
          <a:prstGeom prst="rect">
            <a:avLst/>
          </a:prstGeom>
        </p:spPr>
      </p:pic>
      <p:sp>
        <p:nvSpPr>
          <p:cNvPr id="18" name="文字方塊 17">
            <a:extLst>
              <a:ext uri="{FF2B5EF4-FFF2-40B4-BE49-F238E27FC236}">
                <a16:creationId xmlns:a16="http://schemas.microsoft.com/office/drawing/2014/main" id="{C8BE6059-B667-A92B-0AF8-0429DE447512}"/>
              </a:ext>
            </a:extLst>
          </p:cNvPr>
          <p:cNvSpPr txBox="1"/>
          <p:nvPr/>
        </p:nvSpPr>
        <p:spPr>
          <a:xfrm>
            <a:off x="4663190" y="3548512"/>
            <a:ext cx="4130764" cy="2308324"/>
          </a:xfrm>
          <a:prstGeom prst="rect">
            <a:avLst/>
          </a:prstGeom>
          <a:noFill/>
        </p:spPr>
        <p:txBody>
          <a:bodyPr wrap="square" rtlCol="0">
            <a:spAutoFit/>
          </a:bodyPr>
          <a:lstStyle/>
          <a:p>
            <a:r>
              <a:rPr kumimoji="1" lang="zh-TW" altLang="en-US" dirty="0"/>
              <a:t>訓練集中所有牛的照片都包含草地。過度擬合（</a:t>
            </a:r>
            <a:r>
              <a:rPr kumimoji="1" lang="en-US" altLang="zh-TW" dirty="0"/>
              <a:t>overfitting</a:t>
            </a:r>
            <a:r>
              <a:rPr kumimoji="1" lang="zh-TW" altLang="en-US" dirty="0"/>
              <a:t>）的模型並不會真正學到「牛的特徵」，而是錯誤地學成「只要草地上有東西的照片，就是牛」。</a:t>
            </a:r>
            <a:endParaRPr kumimoji="1" lang="en-US" altLang="zh-TW" dirty="0"/>
          </a:p>
          <a:p>
            <a:endParaRPr kumimoji="1" lang="en-US" altLang="zh-TW" dirty="0"/>
          </a:p>
          <a:p>
            <a:r>
              <a:rPr kumimoji="1" lang="zh-TW" altLang="en-US" dirty="0"/>
              <a:t>因此，當右邊的牛照片沒有草地時，模型就誤判為「這不是牛。這比較可能是豬或是其他動物」。</a:t>
            </a:r>
          </a:p>
        </p:txBody>
      </p:sp>
    </p:spTree>
    <p:extLst>
      <p:ext uri="{BB962C8B-B14F-4D97-AF65-F5344CB8AC3E}">
        <p14:creationId xmlns:p14="http://schemas.microsoft.com/office/powerpoint/2010/main" val="2124431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45B3D-0008-FBBE-FF0B-E326B9C2E7C3}"/>
              </a:ext>
            </a:extLst>
          </p:cNvPr>
          <p:cNvSpPr>
            <a:spLocks noGrp="1"/>
          </p:cNvSpPr>
          <p:nvPr>
            <p:ph type="title"/>
          </p:nvPr>
        </p:nvSpPr>
        <p:spPr/>
        <p:txBody>
          <a:bodyPr/>
          <a:lstStyle/>
          <a:p>
            <a:r>
              <a:rPr kumimoji="1" lang="en-US" altLang="zh-TW" dirty="0"/>
              <a:t>Regularization</a:t>
            </a:r>
            <a:endParaRPr kumimoji="1" lang="zh-TW" altLang="en-US" dirty="0"/>
          </a:p>
        </p:txBody>
      </p:sp>
      <p:sp>
        <p:nvSpPr>
          <p:cNvPr id="4" name="日期版面配置區 3">
            <a:extLst>
              <a:ext uri="{FF2B5EF4-FFF2-40B4-BE49-F238E27FC236}">
                <a16:creationId xmlns:a16="http://schemas.microsoft.com/office/drawing/2014/main" id="{37D372D5-5DCA-CF0E-2505-77F8D3D12F5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F328FC3-381B-D412-9C20-04B1A5CCD53C}"/>
              </a:ext>
            </a:extLst>
          </p:cNvPr>
          <p:cNvSpPr>
            <a:spLocks noGrp="1"/>
          </p:cNvSpPr>
          <p:nvPr>
            <p:ph type="sldNum" sz="quarter" idx="12"/>
          </p:nvPr>
        </p:nvSpPr>
        <p:spPr/>
        <p:txBody>
          <a:bodyPr/>
          <a:lstStyle/>
          <a:p>
            <a:r>
              <a:rPr lang="en-US" altLang="zh-TW" dirty="0"/>
              <a:t>Deep Learning</a:t>
            </a:r>
          </a:p>
        </p:txBody>
      </p:sp>
      <p:pic>
        <p:nvPicPr>
          <p:cNvPr id="6" name="內容版面配置區 5" descr="一張含有 螢幕擷取畫面, 圖形, 鮮豔, 黑暗 的圖片&#10;&#10;AI 產生的內容可能不正確。">
            <a:extLst>
              <a:ext uri="{FF2B5EF4-FFF2-40B4-BE49-F238E27FC236}">
                <a16:creationId xmlns:a16="http://schemas.microsoft.com/office/drawing/2014/main" id="{82EA05DD-A9BD-B093-67A7-84F77A1746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2455441"/>
            <a:ext cx="4724985" cy="3760788"/>
          </a:xfrm>
          <a:prstGeom prst="rect">
            <a:avLst/>
          </a:prstGeom>
        </p:spPr>
      </p:pic>
      <p:sp>
        <p:nvSpPr>
          <p:cNvPr id="7" name="文字方塊 6">
            <a:extLst>
              <a:ext uri="{FF2B5EF4-FFF2-40B4-BE49-F238E27FC236}">
                <a16:creationId xmlns:a16="http://schemas.microsoft.com/office/drawing/2014/main" id="{87FCA45A-E88D-75B5-6495-1B636EAA41B0}"/>
              </a:ext>
            </a:extLst>
          </p:cNvPr>
          <p:cNvSpPr txBox="1"/>
          <p:nvPr/>
        </p:nvSpPr>
        <p:spPr>
          <a:xfrm>
            <a:off x="6369737" y="3064844"/>
            <a:ext cx="4976249"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TW" altLang="en-US" dirty="0"/>
              <a:t>當 </a:t>
            </a:r>
            <a:r>
              <a:rPr kumimoji="1" lang="en-US" altLang="zh-TW" dirty="0"/>
              <a:t>overfitting</a:t>
            </a:r>
            <a:r>
              <a:rPr kumimoji="1" lang="zh-TW" altLang="en-US" dirty="0"/>
              <a:t> 發生時，在損失曲線會觀察到： </a:t>
            </a:r>
            <a:endParaRPr kumimoji="1" lang="en-US" altLang="zh-TW" dirty="0"/>
          </a:p>
          <a:p>
            <a:pPr marL="285750" indent="-285750">
              <a:buFont typeface="Arial" panose="020B0604020202020204" pitchFamily="34" charset="0"/>
              <a:buChar char="•"/>
            </a:pPr>
            <a:r>
              <a:rPr kumimoji="1" lang="en-US" altLang="zh-TW" dirty="0"/>
              <a:t>Training</a:t>
            </a:r>
            <a:r>
              <a:rPr kumimoji="1" lang="zh-TW" altLang="en-US" dirty="0"/>
              <a:t> </a:t>
            </a:r>
            <a:r>
              <a:rPr kumimoji="1" lang="en-US" altLang="zh-TW" dirty="0"/>
              <a:t>Loss</a:t>
            </a:r>
            <a:r>
              <a:rPr kumimoji="1" lang="zh-TW" altLang="en-US" dirty="0"/>
              <a:t> 持續下降</a:t>
            </a:r>
            <a:endParaRPr kumimoji="1" lang="en-US" altLang="zh-TW" dirty="0"/>
          </a:p>
          <a:p>
            <a:pPr marL="285750" indent="-285750">
              <a:buFont typeface="Arial" panose="020B0604020202020204" pitchFamily="34" charset="0"/>
              <a:buChar char="•"/>
            </a:pPr>
            <a:r>
              <a:rPr kumimoji="1" lang="en-US" altLang="zh-TW" dirty="0"/>
              <a:t>Validation</a:t>
            </a:r>
            <a:r>
              <a:rPr kumimoji="1" lang="zh-TW" altLang="en-US" dirty="0"/>
              <a:t> </a:t>
            </a:r>
            <a:r>
              <a:rPr kumimoji="1" lang="en-US" altLang="zh-TW" dirty="0"/>
              <a:t>/</a:t>
            </a:r>
            <a:r>
              <a:rPr kumimoji="1" lang="zh-TW" altLang="en-US" dirty="0"/>
              <a:t> </a:t>
            </a:r>
            <a:r>
              <a:rPr kumimoji="1" lang="en-US" altLang="zh-TW" dirty="0"/>
              <a:t>Test</a:t>
            </a:r>
            <a:r>
              <a:rPr kumimoji="1" lang="zh-TW" altLang="en-US" dirty="0"/>
              <a:t> </a:t>
            </a:r>
            <a:r>
              <a:rPr kumimoji="1" lang="en-US" altLang="zh-TW" dirty="0"/>
              <a:t>Loss</a:t>
            </a:r>
            <a:r>
              <a:rPr kumimoji="1" lang="zh-TW" altLang="en-US" dirty="0"/>
              <a:t> 在某個時刻開始上升</a:t>
            </a:r>
            <a:endParaRPr kumimoji="1" lang="en-US" altLang="zh-TW" dirty="0"/>
          </a:p>
          <a:p>
            <a:endParaRPr kumimoji="1" lang="en-US" altLang="zh-TW" dirty="0"/>
          </a:p>
          <a:p>
            <a:r>
              <a:rPr kumimoji="1" lang="zh-TW" altLang="en-US" dirty="0"/>
              <a:t>也就是說，模型在訓練集上越學越好，但在驗證集上的誤差反而越變越大。這就是典型的 </a:t>
            </a:r>
            <a:r>
              <a:rPr kumimoji="1" lang="en-US" altLang="zh-TW" dirty="0"/>
              <a:t>overfitting</a:t>
            </a:r>
            <a:r>
              <a:rPr kumimoji="1" lang="zh-TW" altLang="en-US" dirty="0"/>
              <a:t> 訊號。</a:t>
            </a:r>
          </a:p>
        </p:txBody>
      </p:sp>
    </p:spTree>
    <p:extLst>
      <p:ext uri="{BB962C8B-B14F-4D97-AF65-F5344CB8AC3E}">
        <p14:creationId xmlns:p14="http://schemas.microsoft.com/office/powerpoint/2010/main" val="32204489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DE2B-BAB7-BA0A-6208-5647AF9AB427}"/>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6611F152-1AD4-B244-686B-E1E3D5D496E7}"/>
              </a:ext>
            </a:extLst>
          </p:cNvPr>
          <p:cNvSpPr>
            <a:spLocks noGrp="1"/>
          </p:cNvSpPr>
          <p:nvPr>
            <p:ph idx="1"/>
          </p:nvPr>
        </p:nvSpPr>
        <p:spPr/>
        <p:txBody>
          <a:bodyPr/>
          <a:lstStyle/>
          <a:p>
            <a:r>
              <a:rPr lang="zh-TW" altLang="en-US" dirty="0"/>
              <a:t>永遠不要低估你的 </a:t>
            </a:r>
            <a:r>
              <a:rPr lang="en-US" altLang="zh-TW" dirty="0"/>
              <a:t>model </a:t>
            </a:r>
            <a:r>
              <a:rPr lang="zh-TW" altLang="en-US" dirty="0"/>
              <a:t>會 </a:t>
            </a:r>
            <a:r>
              <a:rPr lang="en-US" altLang="zh-TW" dirty="0"/>
              <a:t>overfitting </a:t>
            </a:r>
            <a:r>
              <a:rPr lang="zh-TW" altLang="en-US" dirty="0"/>
              <a:t>的能力！！！為什麼神經網路特別容易 </a:t>
            </a:r>
            <a:r>
              <a:rPr lang="en-US" altLang="zh-TW" dirty="0"/>
              <a:t>Overfit</a:t>
            </a:r>
            <a:r>
              <a:rPr lang="zh-TW" altLang="en-US" dirty="0"/>
              <a:t>？ 深度神經網路具有： 大量參數（百萬、千萬甚至上億） 強大的非線性表示能力 幾乎可以逼近任何函數（</a:t>
            </a:r>
            <a:r>
              <a:rPr lang="en-US" altLang="zh-TW" dirty="0"/>
              <a:t>Universal Approximation</a:t>
            </a:r>
            <a:r>
              <a:rPr lang="zh-TW" altLang="en-US" dirty="0"/>
              <a:t>） 結果是： 只要給它足夠時間，它可以把資料「背起來」。</a:t>
            </a:r>
            <a:endParaRPr lang="en-US" altLang="zh-TW" dirty="0"/>
          </a:p>
          <a:p>
            <a:r>
              <a:rPr lang="zh-TW" altLang="en-US" dirty="0"/>
              <a:t>假設： 參數數量 </a:t>
            </a:r>
            <a:r>
              <a:rPr lang="en-US" altLang="zh-TW" dirty="0"/>
              <a:t>= 10,000,000 </a:t>
            </a:r>
            <a:r>
              <a:rPr lang="zh-TW" altLang="en-US" dirty="0"/>
              <a:t>訓練資料 </a:t>
            </a:r>
            <a:r>
              <a:rPr lang="en-US" altLang="zh-TW" dirty="0"/>
              <a:t>= 10,000 </a:t>
            </a:r>
            <a:r>
              <a:rPr lang="zh-TW" altLang="en-US" dirty="0"/>
              <a:t>筆 這代表： 每筆資料可以被大量參數「記住」</a:t>
            </a:r>
            <a:endParaRPr lang="en-US" altLang="zh-TW" dirty="0"/>
          </a:p>
          <a:p>
            <a:r>
              <a:rPr lang="en-US" altLang="zh-TW" dirty="0"/>
              <a:t>Never underestimate the ability of your neural network to overfit!!</a:t>
            </a:r>
          </a:p>
          <a:p>
            <a:endParaRPr kumimoji="1" lang="zh-TW" altLang="en-US" dirty="0"/>
          </a:p>
        </p:txBody>
      </p:sp>
      <p:sp>
        <p:nvSpPr>
          <p:cNvPr id="4" name="日期版面配置區 3">
            <a:extLst>
              <a:ext uri="{FF2B5EF4-FFF2-40B4-BE49-F238E27FC236}">
                <a16:creationId xmlns:a16="http://schemas.microsoft.com/office/drawing/2014/main" id="{B2902361-94BD-8173-2565-02CACDD8BFE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80A9169-9033-9961-51AD-C7F0C2DCD3A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3194999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A99A5-9192-AD4E-CCE2-AF4C9E39238B}"/>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5B61F037-15D0-730E-6079-3D7EE63F3A0B}"/>
              </a:ext>
            </a:extLst>
          </p:cNvPr>
          <p:cNvSpPr>
            <a:spLocks noGrp="1"/>
          </p:cNvSpPr>
          <p:nvPr>
            <p:ph idx="1"/>
          </p:nvPr>
        </p:nvSpPr>
        <p:spPr>
          <a:xfrm>
            <a:off x="625033" y="2108201"/>
            <a:ext cx="11148559" cy="4026381"/>
          </a:xfrm>
        </p:spPr>
        <p:txBody>
          <a:bodyPr>
            <a:normAutofit/>
          </a:bodyPr>
          <a:lstStyle/>
          <a:p>
            <a:pPr algn="ctr"/>
            <a:r>
              <a:rPr kumimoji="1" lang="en-US" altLang="zh-TW" sz="2800" b="1" i="1" dirty="0">
                <a:solidFill>
                  <a:srgbClr val="FF0000"/>
                </a:solidFill>
              </a:rPr>
              <a:t>Never underestimate the ability of your neural network to overfit!!</a:t>
            </a:r>
          </a:p>
          <a:p>
            <a:r>
              <a:rPr kumimoji="1" lang="zh-TW" altLang="en-US" dirty="0"/>
              <a:t>為什麼神經網路特別容易 </a:t>
            </a:r>
            <a:r>
              <a:rPr kumimoji="1" lang="en-US" altLang="zh-TW" dirty="0"/>
              <a:t>Overfitting</a:t>
            </a:r>
            <a:r>
              <a:rPr kumimoji="1" lang="zh-TW" altLang="en-US" dirty="0"/>
              <a:t>？</a:t>
            </a:r>
            <a:endParaRPr kumimoji="1" lang="en-US" altLang="zh-TW" dirty="0"/>
          </a:p>
          <a:p>
            <a:pPr marL="457200" indent="-457200">
              <a:buFont typeface="+mj-lt"/>
              <a:buAutoNum type="arabicPeriod"/>
            </a:pPr>
            <a:r>
              <a:rPr kumimoji="1" lang="zh-TW" altLang="en-US" dirty="0"/>
              <a:t>大量參數（數百萬、數千萬，甚至上億） </a:t>
            </a:r>
            <a:endParaRPr kumimoji="1" lang="en-US" altLang="zh-TW" dirty="0"/>
          </a:p>
          <a:p>
            <a:pPr marL="457200" indent="-457200">
              <a:buFont typeface="+mj-lt"/>
              <a:buAutoNum type="arabicPeriod"/>
            </a:pPr>
            <a:r>
              <a:rPr kumimoji="1" lang="zh-TW" altLang="en-US" dirty="0"/>
              <a:t>強大的非線性表示能力</a:t>
            </a:r>
            <a:endParaRPr kumimoji="1" lang="en-US" altLang="zh-TW" dirty="0"/>
          </a:p>
          <a:p>
            <a:pPr marL="457200" indent="-457200">
              <a:buFont typeface="+mj-lt"/>
              <a:buAutoNum type="arabicPeriod"/>
            </a:pPr>
            <a:r>
              <a:rPr kumimoji="1" lang="zh-TW" altLang="en-US" dirty="0"/>
              <a:t>可以逼近任何函數（</a:t>
            </a:r>
            <a:r>
              <a:rPr kumimoji="1" lang="en-US" altLang="zh-TW" dirty="0"/>
              <a:t>Universal Approximation Theorem</a:t>
            </a:r>
            <a:r>
              <a:rPr kumimoji="1" lang="zh-TW" altLang="en-US" dirty="0"/>
              <a:t>）</a:t>
            </a:r>
            <a:endParaRPr kumimoji="1" lang="en-US" altLang="zh-TW" dirty="0"/>
          </a:p>
          <a:p>
            <a:r>
              <a:rPr kumimoji="1" lang="zh-TW" altLang="en-US" dirty="0"/>
              <a:t>只要給它足夠的時間與訓練次數，它可以把資料「背起來」。想像一個情境 </a:t>
            </a:r>
            <a:r>
              <a:rPr kumimoji="1" lang="en-US" altLang="zh-TW" dirty="0"/>
              <a:t>–</a:t>
            </a:r>
            <a:r>
              <a:rPr kumimoji="1" lang="zh-TW" altLang="en-US" dirty="0"/>
              <a:t> </a:t>
            </a:r>
            <a:r>
              <a:rPr kumimoji="1" lang="en-US" altLang="zh-TW" dirty="0"/>
              <a:t>DNN</a:t>
            </a:r>
            <a:r>
              <a:rPr kumimoji="1" lang="zh-TW" altLang="en-US" dirty="0"/>
              <a:t>參數數量有 </a:t>
            </a:r>
            <a:r>
              <a:rPr kumimoji="1" lang="en-US" altLang="zh-TW" dirty="0"/>
              <a:t>10000000 </a:t>
            </a:r>
            <a:r>
              <a:rPr kumimoji="1" lang="zh-TW" altLang="en-US" dirty="0"/>
              <a:t>個、訓練資料有 </a:t>
            </a:r>
            <a:r>
              <a:rPr kumimoji="1" lang="en-US" altLang="zh-TW" dirty="0"/>
              <a:t>10000 </a:t>
            </a:r>
            <a:r>
              <a:rPr kumimoji="1" lang="zh-TW" altLang="en-US" dirty="0"/>
              <a:t>筆。這代表平均每一筆資料都有超大量參數可以專門去「記住它」。因此，模型不是在學習規律，而是在記憶資料。</a:t>
            </a:r>
          </a:p>
        </p:txBody>
      </p:sp>
      <p:sp>
        <p:nvSpPr>
          <p:cNvPr id="4" name="日期版面配置區 3">
            <a:extLst>
              <a:ext uri="{FF2B5EF4-FFF2-40B4-BE49-F238E27FC236}">
                <a16:creationId xmlns:a16="http://schemas.microsoft.com/office/drawing/2014/main" id="{642010D7-AEEB-6FB1-794D-D2E8E0D01FD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DED4355-4E63-0095-EF2A-93F141A57B20}"/>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3121087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F894C1-CFBD-8F8E-5584-66E551DE03F9}"/>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08E715CE-4DE7-612D-9B95-80C1F66DB8DC}"/>
              </a:ext>
            </a:extLst>
          </p:cNvPr>
          <p:cNvSpPr>
            <a:spLocks noGrp="1"/>
          </p:cNvSpPr>
          <p:nvPr>
            <p:ph idx="1"/>
          </p:nvPr>
        </p:nvSpPr>
        <p:spPr>
          <a:xfrm>
            <a:off x="1097280" y="2108201"/>
            <a:ext cx="10058400" cy="4095829"/>
          </a:xfrm>
        </p:spPr>
        <p:txBody>
          <a:bodyPr>
            <a:normAutofit/>
          </a:bodyPr>
          <a:lstStyle/>
          <a:p>
            <a:r>
              <a:rPr kumimoji="1" lang="en-US" altLang="zh-TW" dirty="0"/>
              <a:t>Regularization</a:t>
            </a:r>
            <a:r>
              <a:rPr kumimoji="1" lang="zh-TW" altLang="en-US" dirty="0"/>
              <a:t>（正則化）嚴格來說是指在損失函數中加入特定的項，以偏向某些參數選擇。然而在機器學習與深度學習中，這個術語通常用來指任何能夠提升泛化能力的策略。</a:t>
            </a:r>
            <a:endParaRPr kumimoji="1" lang="en-US" altLang="zh-TW" dirty="0"/>
          </a:p>
          <a:p>
            <a:r>
              <a:rPr kumimoji="1" lang="en-US" altLang="zh-TW" dirty="0"/>
              <a:t>Regularization</a:t>
            </a:r>
            <a:r>
              <a:rPr kumimoji="1" lang="zh-TW" altLang="en-US" dirty="0"/>
              <a:t> 可分為 </a:t>
            </a:r>
            <a:r>
              <a:rPr kumimoji="1" lang="en-US" altLang="zh-TW" dirty="0"/>
              <a:t>explicit regularization</a:t>
            </a:r>
            <a:r>
              <a:rPr kumimoji="1" lang="zh-TW" altLang="en-US" dirty="0"/>
              <a:t> 與 </a:t>
            </a:r>
            <a:r>
              <a:rPr kumimoji="1" lang="en-US" altLang="zh-TW" dirty="0"/>
              <a:t>implicit</a:t>
            </a:r>
            <a:r>
              <a:rPr kumimoji="1" lang="zh-TW" altLang="en-US" dirty="0"/>
              <a:t> </a:t>
            </a:r>
            <a:r>
              <a:rPr kumimoji="1" lang="en-US" altLang="zh-TW" dirty="0"/>
              <a:t>regularization</a:t>
            </a:r>
            <a:r>
              <a:rPr kumimoji="1" lang="zh-TW" altLang="en-US" dirty="0"/>
              <a:t> 兩種類型：</a:t>
            </a:r>
            <a:endParaRPr kumimoji="1" lang="en-US" altLang="zh-TW" dirty="0"/>
          </a:p>
          <a:p>
            <a:pPr marL="457200" indent="-457200">
              <a:buFont typeface="+mj-lt"/>
              <a:buAutoNum type="arabicPeriod"/>
            </a:pPr>
            <a:r>
              <a:rPr kumimoji="1" lang="en-US" altLang="zh-TW" dirty="0"/>
              <a:t>Explicit Regularization</a:t>
            </a:r>
            <a:r>
              <a:rPr kumimoji="1" lang="zh-TW" altLang="en-US" dirty="0"/>
              <a:t> 是指明確地修改損失函數的技巧。例如：</a:t>
            </a:r>
            <a:r>
              <a:rPr kumimoji="1" lang="en-US" altLang="zh-TW" dirty="0"/>
              <a:t>L1</a:t>
            </a:r>
            <a:r>
              <a:rPr kumimoji="1" lang="zh-TW" altLang="en-US" dirty="0"/>
              <a:t> </a:t>
            </a:r>
            <a:r>
              <a:rPr kumimoji="1" lang="en-US" altLang="zh-TW" dirty="0"/>
              <a:t>Regularization,</a:t>
            </a:r>
            <a:r>
              <a:rPr kumimoji="1" lang="zh-TW" altLang="en-US" dirty="0"/>
              <a:t> </a:t>
            </a:r>
            <a:r>
              <a:rPr kumimoji="1" lang="en-US" altLang="zh-TW" dirty="0"/>
              <a:t>L2</a:t>
            </a:r>
            <a:r>
              <a:rPr kumimoji="1" lang="zh-TW" altLang="en-US" dirty="0"/>
              <a:t> </a:t>
            </a:r>
            <a:r>
              <a:rPr kumimoji="1" lang="en-US" altLang="zh-TW" dirty="0"/>
              <a:t>Regularization</a:t>
            </a:r>
            <a:r>
              <a:rPr kumimoji="1" lang="zh-TW" altLang="en-US" dirty="0"/>
              <a:t>。</a:t>
            </a:r>
            <a:endParaRPr kumimoji="1" lang="en-US" altLang="zh-TW" dirty="0"/>
          </a:p>
          <a:p>
            <a:pPr marL="457200" indent="-457200">
              <a:buFont typeface="+mj-lt"/>
              <a:buAutoNum type="arabicPeriod"/>
            </a:pPr>
            <a:r>
              <a:rPr kumimoji="1" lang="en-US" altLang="zh-TW" dirty="0"/>
              <a:t>Implicit Regularization</a:t>
            </a:r>
            <a:r>
              <a:rPr kumimoji="1" lang="zh-TW" altLang="en-US" dirty="0"/>
              <a:t> 是指透過其他方式，達到對模型有「間接抑制 </a:t>
            </a:r>
            <a:r>
              <a:rPr kumimoji="1" lang="en-US" altLang="zh-TW" dirty="0"/>
              <a:t>Overfitting</a:t>
            </a:r>
            <a:r>
              <a:rPr kumimoji="1" lang="zh-TW" altLang="en-US" dirty="0"/>
              <a:t>」的做法。</a:t>
            </a:r>
            <a:endParaRPr kumimoji="1" lang="en-US" altLang="zh-TW" dirty="0"/>
          </a:p>
          <a:p>
            <a:pPr marL="457200" indent="-457200">
              <a:buFont typeface="+mj-lt"/>
              <a:buAutoNum type="arabicPeriod"/>
            </a:pPr>
            <a:endParaRPr kumimoji="1" lang="en-US" altLang="zh-TW" dirty="0"/>
          </a:p>
        </p:txBody>
      </p:sp>
      <p:sp>
        <p:nvSpPr>
          <p:cNvPr id="4" name="日期版面配置區 3">
            <a:extLst>
              <a:ext uri="{FF2B5EF4-FFF2-40B4-BE49-F238E27FC236}">
                <a16:creationId xmlns:a16="http://schemas.microsoft.com/office/drawing/2014/main" id="{98C00AC8-D3E3-44A0-D008-A0F01172B75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1FE6A5C-76BF-AED5-E2AC-40CD93AA72E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3102586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561E57-64BE-E7C2-608C-36BC9A837C3B}"/>
              </a:ext>
            </a:extLst>
          </p:cNvPr>
          <p:cNvSpPr>
            <a:spLocks noGrp="1"/>
          </p:cNvSpPr>
          <p:nvPr>
            <p:ph type="title"/>
          </p:nvPr>
        </p:nvSpPr>
        <p:spPr/>
        <p:txBody>
          <a:bodyPr/>
          <a:lstStyle/>
          <a:p>
            <a:r>
              <a:rPr kumimoji="1" lang="en-US" altLang="zh-TW" dirty="0"/>
              <a:t>Regularization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94FD345-003C-FB83-B31D-12CC3BB1001D}"/>
                  </a:ext>
                </a:extLst>
              </p:cNvPr>
              <p:cNvSpPr>
                <a:spLocks noGrp="1"/>
              </p:cNvSpPr>
              <p:nvPr>
                <p:ph idx="1"/>
              </p:nvPr>
            </p:nvSpPr>
            <p:spPr>
              <a:xfrm>
                <a:off x="682906" y="2108201"/>
                <a:ext cx="11007524" cy="4153703"/>
              </a:xfrm>
            </p:spPr>
            <p:txBody>
              <a:bodyPr>
                <a:normAutofit/>
              </a:bodyPr>
              <a:lstStyle/>
              <a:p>
                <a:r>
                  <a:rPr kumimoji="1" lang="en-US" altLang="zh-TW" dirty="0"/>
                  <a:t>L1,</a:t>
                </a:r>
                <a:r>
                  <a:rPr kumimoji="1" lang="zh-TW" altLang="en-US" dirty="0"/>
                  <a:t> </a:t>
                </a:r>
                <a:r>
                  <a:rPr kumimoji="1" lang="en-US" altLang="zh-TW" dirty="0"/>
                  <a:t>L2</a:t>
                </a:r>
                <a:r>
                  <a:rPr kumimoji="1" lang="zh-TW" altLang="en-US" dirty="0"/>
                  <a:t> </a:t>
                </a:r>
                <a:r>
                  <a:rPr kumimoji="1" lang="en-US" altLang="zh-TW" dirty="0"/>
                  <a:t>Regularization</a:t>
                </a:r>
                <a:r>
                  <a:rPr kumimoji="1" lang="zh-TW" altLang="en-US" dirty="0"/>
                  <a:t> 差異在於懲罰項的不同。</a:t>
                </a:r>
                <a:endParaRPr kumimoji="1" lang="en-US" altLang="zh-TW" dirty="0"/>
              </a:p>
              <a:p>
                <a:pPr>
                  <a:buFont typeface="Wingdings" pitchFamily="2" charset="2"/>
                  <a:buChar char="l"/>
                </a:pPr>
                <a:r>
                  <a:rPr kumimoji="1" lang="zh-TW" altLang="en-US" dirty="0"/>
                  <a:t> </a:t>
                </a:r>
                <a:r>
                  <a:rPr kumimoji="1" lang="en-US" altLang="zh-TW" dirty="0"/>
                  <a:t>L1</a:t>
                </a:r>
                <a:r>
                  <a:rPr kumimoji="1" lang="zh-TW" altLang="en-US" dirty="0"/>
                  <a:t> </a:t>
                </a:r>
                <a:r>
                  <a:rPr kumimoji="1" lang="en-US" altLang="zh-TW" dirty="0"/>
                  <a:t>Regularization</a:t>
                </a:r>
                <a:r>
                  <a:rPr kumimoji="1" lang="zh-TW" altLang="en-US" dirty="0"/>
                  <a:t>（</a:t>
                </a:r>
                <a:r>
                  <a:rPr kumimoji="1" lang="en-US" altLang="zh-TW" dirty="0"/>
                  <a:t>Lasso Regression</a:t>
                </a:r>
                <a:r>
                  <a:rPr kumimoji="1" lang="zh-TW" altLang="en-US" dirty="0"/>
                  <a:t>）：</a:t>
                </a:r>
                <a:endParaRPr kumimoji="1" lang="en-US" altLang="zh-TW" dirty="0"/>
              </a:p>
              <a:p>
                <a:pPr marL="201168" lvl="1" indent="0">
                  <a:buNone/>
                </a:pPr>
                <a14:m>
                  <m:oMathPara xmlns:m="http://schemas.openxmlformats.org/officeDocument/2006/math">
                    <m:oMathParaPr>
                      <m:jc m:val="centerGroup"/>
                    </m:oMathParaPr>
                    <m:oMath xmlns:m="http://schemas.openxmlformats.org/officeDocument/2006/math">
                      <m:sSub>
                        <m:sSubPr>
                          <m:ctrlPr>
                            <a:rPr kumimoji="1" lang="en-US" altLang="zh-TW" sz="2400" i="1">
                              <a:latin typeface="Cambria Math" panose="02040503050406030204" pitchFamily="18" charset="0"/>
                            </a:rPr>
                          </m:ctrlPr>
                        </m:sSubPr>
                        <m:e>
                          <m:r>
                            <a:rPr kumimoji="1" lang="en-US" altLang="zh-TW" sz="2400" i="1">
                              <a:latin typeface="Cambria Math" panose="02040503050406030204" pitchFamily="18" charset="0"/>
                            </a:rPr>
                            <m:t>𝐿𝑜𝑠𝑠</m:t>
                          </m:r>
                        </m:e>
                        <m:sub>
                          <m:r>
                            <a:rPr kumimoji="1" lang="en-US" altLang="zh-TW" sz="2400" i="1">
                              <a:latin typeface="Cambria Math" panose="02040503050406030204" pitchFamily="18" charset="0"/>
                            </a:rPr>
                            <m:t>𝑛𝑒𝑤</m:t>
                          </m:r>
                        </m:sub>
                      </m:sSub>
                      <m:r>
                        <a:rPr kumimoji="1" lang="en-US" altLang="zh-TW" sz="2400" i="1">
                          <a:latin typeface="Cambria Math" panose="02040503050406030204" pitchFamily="18" charset="0"/>
                        </a:rPr>
                        <m:t>=</m:t>
                      </m:r>
                      <m:sSub>
                        <m:sSubPr>
                          <m:ctrlPr>
                            <a:rPr kumimoji="1" lang="en-US" altLang="zh-TW" sz="2400" i="1">
                              <a:latin typeface="Cambria Math" panose="02040503050406030204" pitchFamily="18" charset="0"/>
                            </a:rPr>
                          </m:ctrlPr>
                        </m:sSubPr>
                        <m:e>
                          <m:r>
                            <a:rPr kumimoji="1" lang="en-US" altLang="zh-TW" sz="2400" i="1">
                              <a:latin typeface="Cambria Math" panose="02040503050406030204" pitchFamily="18" charset="0"/>
                            </a:rPr>
                            <m:t>𝐿𝑜𝑠𝑠</m:t>
                          </m:r>
                        </m:e>
                        <m:sub>
                          <m:r>
                            <a:rPr kumimoji="1" lang="en-US" altLang="zh-TW" sz="2400" i="1">
                              <a:latin typeface="Cambria Math" panose="02040503050406030204" pitchFamily="18" charset="0"/>
                            </a:rPr>
                            <m:t>𝑜𝑙𝑑</m:t>
                          </m:r>
                        </m:sub>
                      </m:sSub>
                      <m:r>
                        <a:rPr kumimoji="1" lang="en-US" altLang="zh-TW" sz="2400" i="1">
                          <a:latin typeface="Cambria Math" panose="02040503050406030204" pitchFamily="18" charset="0"/>
                        </a:rPr>
                        <m:t>+</m:t>
                      </m:r>
                      <m:r>
                        <a:rPr kumimoji="1" lang="zh-TW" altLang="en-US" sz="2400" i="1">
                          <a:latin typeface="Cambria Math" panose="02040503050406030204" pitchFamily="18" charset="0"/>
                        </a:rPr>
                        <m:t>𝜆</m:t>
                      </m:r>
                      <m:r>
                        <m:rPr>
                          <m:nor/>
                        </m:rPr>
                        <a:rPr kumimoji="1" lang="zh-TW" altLang="en-US" sz="2400" dirty="0"/>
                        <m:t> </m:t>
                      </m:r>
                      <m:nary>
                        <m:naryPr>
                          <m:chr m:val="∑"/>
                          <m:ctrlPr>
                            <a:rPr kumimoji="1" lang="zh-TW" altLang="en-US" sz="2400" i="1" dirty="0">
                              <a:latin typeface="Cambria Math" panose="02040503050406030204" pitchFamily="18" charset="0"/>
                            </a:rPr>
                          </m:ctrlPr>
                        </m:naryPr>
                        <m:sub>
                          <m:r>
                            <m:rPr>
                              <m:brk m:alnAt="23"/>
                            </m:rPr>
                            <a:rPr kumimoji="1" lang="en-US" altLang="zh-TW" sz="2400" i="1" dirty="0">
                              <a:latin typeface="Cambria Math" panose="02040503050406030204" pitchFamily="18" charset="0"/>
                            </a:rPr>
                            <m:t>𝑖</m:t>
                          </m:r>
                          <m:r>
                            <a:rPr kumimoji="1" lang="en-US" altLang="zh-TW" sz="2400" i="1" dirty="0">
                              <a:latin typeface="Cambria Math" panose="02040503050406030204" pitchFamily="18" charset="0"/>
                            </a:rPr>
                            <m:t>=1</m:t>
                          </m:r>
                        </m:sub>
                        <m:sup>
                          <m:r>
                            <a:rPr kumimoji="1" lang="en-US" altLang="zh-TW" sz="2400" i="1" dirty="0">
                              <a:latin typeface="Cambria Math" panose="02040503050406030204" pitchFamily="18" charset="0"/>
                            </a:rPr>
                            <m:t>𝑛</m:t>
                          </m:r>
                        </m:sup>
                        <m:e>
                          <m:r>
                            <a:rPr kumimoji="1" lang="en-US" altLang="zh-TW" sz="2400" i="1" dirty="0">
                              <a:latin typeface="Cambria Math" panose="02040503050406030204" pitchFamily="18" charset="0"/>
                            </a:rPr>
                            <m:t>|</m:t>
                          </m:r>
                          <m:sSub>
                            <m:sSubPr>
                              <m:ctrlPr>
                                <a:rPr kumimoji="1" lang="en-US" altLang="zh-TW" sz="2400" i="1" dirty="0">
                                  <a:latin typeface="Cambria Math" panose="02040503050406030204" pitchFamily="18" charset="0"/>
                                </a:rPr>
                              </m:ctrlPr>
                            </m:sSubPr>
                            <m:e>
                              <m:r>
                                <a:rPr kumimoji="1" lang="en-US" altLang="zh-TW" sz="2400" i="1" dirty="0">
                                  <a:latin typeface="Cambria Math" panose="02040503050406030204" pitchFamily="18" charset="0"/>
                                </a:rPr>
                                <m:t>𝑤</m:t>
                              </m:r>
                            </m:e>
                            <m:sub>
                              <m:r>
                                <a:rPr kumimoji="1" lang="en-US" altLang="zh-TW" sz="2400" i="1" dirty="0">
                                  <a:latin typeface="Cambria Math" panose="02040503050406030204" pitchFamily="18" charset="0"/>
                                </a:rPr>
                                <m:t>𝑖</m:t>
                              </m:r>
                            </m:sub>
                          </m:sSub>
                          <m:r>
                            <a:rPr kumimoji="1" lang="en-US" altLang="zh-TW" sz="2400" i="1" dirty="0">
                              <a:latin typeface="Cambria Math" panose="02040503050406030204" pitchFamily="18" charset="0"/>
                            </a:rPr>
                            <m:t>|</m:t>
                          </m:r>
                        </m:e>
                      </m:nary>
                    </m:oMath>
                  </m:oMathPara>
                </a14:m>
                <a:endParaRPr kumimoji="1" lang="en-US" altLang="zh-TW" sz="2400" dirty="0"/>
              </a:p>
              <a:p>
                <a:pPr>
                  <a:buFont typeface="Wingdings" pitchFamily="2" charset="2"/>
                  <a:buChar char="l"/>
                </a:pPr>
                <a:r>
                  <a:rPr kumimoji="1" lang="zh-TW" altLang="en-US" dirty="0"/>
                  <a:t> </a:t>
                </a:r>
                <a:r>
                  <a:rPr kumimoji="1" lang="en-US" altLang="zh-TW" dirty="0"/>
                  <a:t>L2</a:t>
                </a:r>
                <a:r>
                  <a:rPr kumimoji="1" lang="zh-TW" altLang="en-US" dirty="0"/>
                  <a:t> </a:t>
                </a:r>
                <a:r>
                  <a:rPr kumimoji="1" lang="en-US" altLang="zh-TW" dirty="0"/>
                  <a:t>Regularization</a:t>
                </a:r>
                <a:r>
                  <a:rPr kumimoji="1" lang="zh-TW" altLang="en-US" dirty="0"/>
                  <a:t>（</a:t>
                </a:r>
                <a:r>
                  <a:rPr kumimoji="1" lang="en-US" altLang="zh-TW" dirty="0"/>
                  <a:t>Ridge</a:t>
                </a:r>
                <a:r>
                  <a:rPr kumimoji="1" lang="zh-TW" altLang="en-US" dirty="0"/>
                  <a:t> </a:t>
                </a:r>
                <a:r>
                  <a:rPr kumimoji="1" lang="en-US" altLang="zh-TW" dirty="0"/>
                  <a:t>Regression,</a:t>
                </a:r>
                <a:r>
                  <a:rPr kumimoji="1" lang="zh-TW" altLang="en-US" dirty="0"/>
                  <a:t> </a:t>
                </a:r>
                <a:r>
                  <a:rPr kumimoji="1" lang="en-US" altLang="zh-TW" dirty="0"/>
                  <a:t>Weight</a:t>
                </a:r>
                <a:r>
                  <a:rPr kumimoji="1" lang="zh-TW" altLang="en-US" dirty="0"/>
                  <a:t> </a:t>
                </a:r>
                <a:r>
                  <a:rPr kumimoji="1" lang="en-US" altLang="zh-TW" dirty="0"/>
                  <a:t>Decay</a:t>
                </a:r>
                <a:r>
                  <a:rPr kumimoji="1" lang="zh-TW" altLang="en-US" dirty="0"/>
                  <a:t>）：</a:t>
                </a:r>
                <a:r>
                  <a:rPr kumimoji="1" lang="en-US" altLang="zh-TW" dirty="0"/>
                  <a:t> </a:t>
                </a: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𝑛𝑒𝑤</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𝑜𝑙𝑑</m:t>
                          </m:r>
                        </m:sub>
                      </m:sSub>
                      <m:r>
                        <a:rPr kumimoji="1" lang="en-US" altLang="zh-TW" i="1">
                          <a:latin typeface="Cambria Math" panose="02040503050406030204" pitchFamily="18" charset="0"/>
                        </a:rPr>
                        <m:t>+</m:t>
                      </m:r>
                      <m:r>
                        <a:rPr kumimoji="1" lang="zh-TW" altLang="en-US" i="1">
                          <a:latin typeface="Cambria Math" panose="02040503050406030204" pitchFamily="18" charset="0"/>
                        </a:rPr>
                        <m:t>𝜆</m:t>
                      </m:r>
                      <m:r>
                        <m:rPr>
                          <m:nor/>
                        </m:rPr>
                        <a:rPr kumimoji="1" lang="zh-TW" altLang="en-US" dirty="0"/>
                        <m:t> </m:t>
                      </m:r>
                      <m:nary>
                        <m:naryPr>
                          <m:chr m:val="∑"/>
                          <m:ctrlPr>
                            <a:rPr kumimoji="1" lang="zh-TW" altLang="en-US" i="1" dirty="0">
                              <a:latin typeface="Cambria Math" panose="02040503050406030204" pitchFamily="18" charset="0"/>
                            </a:rPr>
                          </m:ctrlPr>
                        </m:naryPr>
                        <m:sub>
                          <m:r>
                            <m:rPr>
                              <m:brk m:alnAt="23"/>
                            </m:rPr>
                            <a:rPr kumimoji="1" lang="en-US" altLang="zh-TW" i="1" dirty="0">
                              <a:latin typeface="Cambria Math" panose="02040503050406030204" pitchFamily="18" charset="0"/>
                            </a:rPr>
                            <m:t>𝑖</m:t>
                          </m:r>
                          <m:r>
                            <a:rPr kumimoji="1" lang="en-US" altLang="zh-TW" i="1" dirty="0">
                              <a:latin typeface="Cambria Math" panose="02040503050406030204" pitchFamily="18" charset="0"/>
                            </a:rPr>
                            <m:t>=1</m:t>
                          </m:r>
                        </m:sub>
                        <m:sup>
                          <m:r>
                            <a:rPr kumimoji="1" lang="en-US" altLang="zh-TW" i="1" dirty="0">
                              <a:latin typeface="Cambria Math" panose="02040503050406030204" pitchFamily="18" charset="0"/>
                            </a:rPr>
                            <m:t>𝑛</m:t>
                          </m:r>
                        </m:sup>
                        <m:e>
                          <m:sSubSup>
                            <m:sSubSupPr>
                              <m:ctrlPr>
                                <a:rPr kumimoji="1" lang="en-US" altLang="zh-TW" i="1" dirty="0">
                                  <a:latin typeface="Cambria Math" panose="02040503050406030204" pitchFamily="18" charset="0"/>
                                </a:rPr>
                              </m:ctrlPr>
                            </m:sSubSupPr>
                            <m:e>
                              <m:r>
                                <a:rPr kumimoji="1" lang="en-US" altLang="zh-TW" i="1" dirty="0">
                                  <a:latin typeface="Cambria Math" panose="02040503050406030204" pitchFamily="18" charset="0"/>
                                </a:rPr>
                                <m:t>𝑤</m:t>
                              </m:r>
                            </m:e>
                            <m:sub>
                              <m:r>
                                <a:rPr kumimoji="1" lang="en-US" altLang="zh-TW" i="1" dirty="0">
                                  <a:latin typeface="Cambria Math" panose="02040503050406030204" pitchFamily="18" charset="0"/>
                                </a:rPr>
                                <m:t>𝑖</m:t>
                              </m:r>
                            </m:sub>
                            <m:sup>
                              <m:r>
                                <a:rPr kumimoji="1" lang="en-US" altLang="zh-TW" i="1" dirty="0">
                                  <a:latin typeface="Cambria Math" panose="02040503050406030204" pitchFamily="18" charset="0"/>
                                </a:rPr>
                                <m:t>2</m:t>
                              </m:r>
                            </m:sup>
                          </m:sSubSup>
                        </m:e>
                      </m:nary>
                    </m:oMath>
                  </m:oMathPara>
                </a14:m>
                <a:endParaRPr kumimoji="1" lang="en-US" altLang="zh-TW" dirty="0"/>
              </a:p>
              <a:p>
                <a:pPr marL="0" indent="0">
                  <a:buNone/>
                </a:pPr>
                <a:r>
                  <a:rPr kumimoji="1" lang="zh-TW" altLang="en-US" sz="1800" dirty="0"/>
                  <a:t>（另外還有兩者的綜合版本 </a:t>
                </a:r>
                <a:r>
                  <a:rPr kumimoji="1" lang="en-US" altLang="zh-TW" sz="1800" dirty="0" err="1"/>
                  <a:t>ElasticNet</a:t>
                </a:r>
                <a:r>
                  <a:rPr kumimoji="1" lang="zh-TW" altLang="en-US" sz="1800" dirty="0"/>
                  <a:t> </a:t>
                </a:r>
                <a:r>
                  <a:rPr kumimoji="1" lang="en-US" altLang="zh-TW" sz="1800" dirty="0"/>
                  <a:t>Loss</a:t>
                </a:r>
                <a:r>
                  <a:rPr kumimoji="1" lang="zh-TW" altLang="en-US" sz="1800" dirty="0"/>
                  <a:t>： </a:t>
                </a:r>
                <a14:m>
                  <m:oMath xmlns:m="http://schemas.openxmlformats.org/officeDocument/2006/math">
                    <m:sSub>
                      <m:sSubPr>
                        <m:ctrlPr>
                          <a:rPr kumimoji="1" lang="en-US" altLang="zh-TW" sz="1800" i="1">
                            <a:latin typeface="Cambria Math" panose="02040503050406030204" pitchFamily="18" charset="0"/>
                          </a:rPr>
                        </m:ctrlPr>
                      </m:sSubPr>
                      <m:e>
                        <m:r>
                          <a:rPr kumimoji="1" lang="en-US" altLang="zh-TW" sz="1800" i="1">
                            <a:latin typeface="Cambria Math" panose="02040503050406030204" pitchFamily="18" charset="0"/>
                          </a:rPr>
                          <m:t>𝐿𝑜𝑠𝑠</m:t>
                        </m:r>
                      </m:e>
                      <m:sub>
                        <m:r>
                          <a:rPr kumimoji="1" lang="en-US" altLang="zh-TW" sz="1800" i="1">
                            <a:latin typeface="Cambria Math" panose="02040503050406030204" pitchFamily="18" charset="0"/>
                          </a:rPr>
                          <m:t>𝑛𝑒𝑤</m:t>
                        </m:r>
                      </m:sub>
                    </m:sSub>
                    <m:r>
                      <a:rPr kumimoji="1" lang="en-US" altLang="zh-TW" sz="1800" i="1">
                        <a:latin typeface="Cambria Math" panose="02040503050406030204" pitchFamily="18" charset="0"/>
                      </a:rPr>
                      <m:t>=</m:t>
                    </m:r>
                    <m:sSub>
                      <m:sSubPr>
                        <m:ctrlPr>
                          <a:rPr kumimoji="1" lang="en-US" altLang="zh-TW" sz="1800" i="1">
                            <a:latin typeface="Cambria Math" panose="02040503050406030204" pitchFamily="18" charset="0"/>
                          </a:rPr>
                        </m:ctrlPr>
                      </m:sSubPr>
                      <m:e>
                        <m:r>
                          <a:rPr kumimoji="1" lang="en-US" altLang="zh-TW" sz="1800" i="1">
                            <a:latin typeface="Cambria Math" panose="02040503050406030204" pitchFamily="18" charset="0"/>
                          </a:rPr>
                          <m:t>𝐿𝑜𝑠𝑠</m:t>
                        </m:r>
                      </m:e>
                      <m:sub>
                        <m:r>
                          <a:rPr kumimoji="1" lang="en-US" altLang="zh-TW" sz="1800" i="1">
                            <a:latin typeface="Cambria Math" panose="02040503050406030204" pitchFamily="18" charset="0"/>
                          </a:rPr>
                          <m:t>𝑜𝑙𝑑</m:t>
                        </m:r>
                      </m:sub>
                    </m:sSub>
                    <m:r>
                      <a:rPr kumimoji="1" lang="en-US" altLang="zh-TW" sz="1800" i="1">
                        <a:latin typeface="Cambria Math" panose="02040503050406030204" pitchFamily="18" charset="0"/>
                      </a:rPr>
                      <m:t>+</m:t>
                    </m:r>
                    <m:r>
                      <a:rPr kumimoji="1" lang="zh-TW" altLang="en-US" sz="1800" i="1">
                        <a:latin typeface="Cambria Math" panose="02040503050406030204" pitchFamily="18" charset="0"/>
                      </a:rPr>
                      <m:t>𝜆</m:t>
                    </m:r>
                    <m:r>
                      <m:rPr>
                        <m:nor/>
                      </m:rPr>
                      <a:rPr kumimoji="1" lang="zh-TW" altLang="en-US" sz="1800" dirty="0"/>
                      <m:t> </m:t>
                    </m:r>
                    <m:nary>
                      <m:naryPr>
                        <m:chr m:val="∑"/>
                        <m:ctrlPr>
                          <a:rPr kumimoji="1" lang="zh-TW" altLang="en-US" sz="1800" i="1" dirty="0">
                            <a:latin typeface="Cambria Math" panose="02040503050406030204" pitchFamily="18" charset="0"/>
                          </a:rPr>
                        </m:ctrlPr>
                      </m:naryPr>
                      <m:sub>
                        <m:r>
                          <m:rPr>
                            <m:brk m:alnAt="23"/>
                          </m:rPr>
                          <a:rPr kumimoji="1" lang="en-US" altLang="zh-TW" sz="1800" i="1" dirty="0">
                            <a:latin typeface="Cambria Math" panose="02040503050406030204" pitchFamily="18" charset="0"/>
                          </a:rPr>
                          <m:t>𝑖</m:t>
                        </m:r>
                        <m:r>
                          <a:rPr kumimoji="1" lang="en-US" altLang="zh-TW" sz="1800" i="1" dirty="0">
                            <a:latin typeface="Cambria Math" panose="02040503050406030204" pitchFamily="18" charset="0"/>
                          </a:rPr>
                          <m:t>=1</m:t>
                        </m:r>
                      </m:sub>
                      <m:sup>
                        <m:r>
                          <a:rPr kumimoji="1" lang="en-US" altLang="zh-TW" sz="1800" i="1" dirty="0">
                            <a:latin typeface="Cambria Math" panose="02040503050406030204" pitchFamily="18" charset="0"/>
                          </a:rPr>
                          <m:t>𝑛</m:t>
                        </m:r>
                      </m:sup>
                      <m:e>
                        <m:r>
                          <a:rPr kumimoji="1" lang="en-US" altLang="zh-TW" sz="1800" i="1" dirty="0">
                            <a:latin typeface="Cambria Math" panose="02040503050406030204" pitchFamily="18" charset="0"/>
                          </a:rPr>
                          <m:t>(</m:t>
                        </m:r>
                        <m:d>
                          <m:dPr>
                            <m:begChr m:val="|"/>
                            <m:endChr m:val="|"/>
                            <m:ctrlPr>
                              <a:rPr kumimoji="1" lang="en-US" altLang="zh-TW" sz="1800" i="1" dirty="0">
                                <a:latin typeface="Cambria Math" panose="02040503050406030204" pitchFamily="18" charset="0"/>
                              </a:rPr>
                            </m:ctrlPr>
                          </m:dPr>
                          <m:e>
                            <m:sSub>
                              <m:sSubPr>
                                <m:ctrlPr>
                                  <a:rPr kumimoji="1" lang="en-US" altLang="zh-TW" sz="1800" i="1" dirty="0">
                                    <a:latin typeface="Cambria Math" panose="02040503050406030204" pitchFamily="18" charset="0"/>
                                  </a:rPr>
                                </m:ctrlPr>
                              </m:sSubPr>
                              <m:e>
                                <m:r>
                                  <a:rPr kumimoji="1" lang="en-US" altLang="zh-TW" sz="1800" i="1" dirty="0">
                                    <a:latin typeface="Cambria Math" panose="02040503050406030204" pitchFamily="18" charset="0"/>
                                  </a:rPr>
                                  <m:t>𝑤</m:t>
                                </m:r>
                              </m:e>
                              <m:sub>
                                <m:r>
                                  <a:rPr kumimoji="1" lang="en-US" altLang="zh-TW" sz="1800" i="1" dirty="0">
                                    <a:latin typeface="Cambria Math" panose="02040503050406030204" pitchFamily="18" charset="0"/>
                                  </a:rPr>
                                  <m:t>𝑖</m:t>
                                </m:r>
                              </m:sub>
                            </m:sSub>
                          </m:e>
                        </m:d>
                        <m:r>
                          <a:rPr kumimoji="1" lang="en-US" altLang="zh-TW" sz="1800" i="1" dirty="0">
                            <a:latin typeface="Cambria Math" panose="02040503050406030204" pitchFamily="18" charset="0"/>
                          </a:rPr>
                          <m:t>+</m:t>
                        </m:r>
                        <m:sSubSup>
                          <m:sSubSupPr>
                            <m:ctrlPr>
                              <a:rPr kumimoji="1" lang="en-US" altLang="zh-TW" sz="1800" i="1" dirty="0">
                                <a:latin typeface="Cambria Math" panose="02040503050406030204" pitchFamily="18" charset="0"/>
                              </a:rPr>
                            </m:ctrlPr>
                          </m:sSubSupPr>
                          <m:e>
                            <m:r>
                              <a:rPr kumimoji="1" lang="en-US" altLang="zh-TW" sz="1800" i="1" dirty="0">
                                <a:latin typeface="Cambria Math" panose="02040503050406030204" pitchFamily="18" charset="0"/>
                              </a:rPr>
                              <m:t>𝑤</m:t>
                            </m:r>
                          </m:e>
                          <m:sub>
                            <m:r>
                              <a:rPr kumimoji="1" lang="en-US" altLang="zh-TW" sz="1800" i="1" dirty="0">
                                <a:latin typeface="Cambria Math" panose="02040503050406030204" pitchFamily="18" charset="0"/>
                              </a:rPr>
                              <m:t>𝑖</m:t>
                            </m:r>
                          </m:sub>
                          <m:sup>
                            <m:r>
                              <a:rPr kumimoji="1" lang="en-US" altLang="zh-TW" sz="1800" i="1" dirty="0">
                                <a:latin typeface="Cambria Math" panose="02040503050406030204" pitchFamily="18" charset="0"/>
                              </a:rPr>
                              <m:t>2</m:t>
                            </m:r>
                          </m:sup>
                        </m:sSubSup>
                        <m:r>
                          <a:rPr kumimoji="1" lang="en-US" altLang="zh-TW" sz="1800" i="1" dirty="0">
                            <a:latin typeface="Cambria Math" panose="02040503050406030204" pitchFamily="18" charset="0"/>
                          </a:rPr>
                          <m:t>)</m:t>
                        </m:r>
                      </m:e>
                    </m:nary>
                    <m:r>
                      <a:rPr kumimoji="1" lang="en-US" altLang="zh-TW" sz="1800" i="1" dirty="0">
                        <a:latin typeface="Cambria Math" panose="02040503050406030204" pitchFamily="18" charset="0"/>
                      </a:rPr>
                      <m:t> </m:t>
                    </m:r>
                  </m:oMath>
                </a14:m>
                <a:r>
                  <a:rPr kumimoji="1" lang="zh-TW" altLang="en-US" sz="1800" dirty="0"/>
                  <a:t>）</a:t>
                </a:r>
                <a:endParaRPr kumimoji="1" lang="en-US" altLang="zh-TW" sz="1800" dirty="0"/>
              </a:p>
            </p:txBody>
          </p:sp>
        </mc:Choice>
        <mc:Fallback xmlns="">
          <p:sp>
            <p:nvSpPr>
              <p:cNvPr id="3" name="內容版面配置區 2">
                <a:extLst>
                  <a:ext uri="{FF2B5EF4-FFF2-40B4-BE49-F238E27FC236}">
                    <a16:creationId xmlns:a16="http://schemas.microsoft.com/office/drawing/2014/main" id="{294FD345-003C-FB83-B31D-12CC3BB1001D}"/>
                  </a:ext>
                </a:extLst>
              </p:cNvPr>
              <p:cNvSpPr>
                <a:spLocks noGrp="1" noRot="1" noChangeAspect="1" noMove="1" noResize="1" noEditPoints="1" noAdjustHandles="1" noChangeArrowheads="1" noChangeShapeType="1" noTextEdit="1"/>
              </p:cNvSpPr>
              <p:nvPr>
                <p:ph idx="1"/>
              </p:nvPr>
            </p:nvSpPr>
            <p:spPr>
              <a:xfrm>
                <a:off x="682906" y="2108201"/>
                <a:ext cx="11007524" cy="4153703"/>
              </a:xfrm>
              <a:blipFill>
                <a:blip r:embed="rId2"/>
                <a:stretch>
                  <a:fillRect l="-1613" t="-6422" b="-3088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3B6EB526-92BC-D617-450D-597FC35022F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9EE12AA-E762-F828-0A63-C1F37B26BCB8}"/>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023671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B8AE95-A118-D594-47B4-D8829AC6E691}"/>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9AD91E8D-3D2E-DB49-09AA-1E0D46C6643F}"/>
              </a:ext>
            </a:extLst>
          </p:cNvPr>
          <p:cNvSpPr>
            <a:spLocks noGrp="1"/>
          </p:cNvSpPr>
          <p:nvPr>
            <p:ph idx="1"/>
          </p:nvPr>
        </p:nvSpPr>
        <p:spPr/>
        <p:txBody>
          <a:bodyPr/>
          <a:lstStyle/>
          <a:p>
            <a:r>
              <a:rPr kumimoji="1" lang="en-US" altLang="zh-TW" dirty="0"/>
              <a:t>L1, L2 Regularization </a:t>
            </a:r>
            <a:r>
              <a:rPr kumimoji="1" lang="zh-TW" altLang="en-US" dirty="0"/>
              <a:t>特性：</a:t>
            </a:r>
            <a:endParaRPr kumimoji="1" lang="en-US" altLang="zh-TW" dirty="0"/>
          </a:p>
          <a:p>
            <a:pPr marL="457200" indent="-457200">
              <a:buFont typeface="+mj-lt"/>
              <a:buAutoNum type="arabicPeriod"/>
            </a:pPr>
            <a:r>
              <a:rPr kumimoji="1" lang="zh-TW" altLang="en-US" dirty="0"/>
              <a:t>改變損失函數的最小值位置，有助於解決過度擬合問題。</a:t>
            </a:r>
            <a:endParaRPr kumimoji="1" lang="en-US" altLang="zh-TW" dirty="0"/>
          </a:p>
          <a:p>
            <a:pPr marL="457200" indent="-457200">
              <a:buFont typeface="+mj-lt"/>
              <a:buAutoNum type="arabicPeriod"/>
            </a:pPr>
            <a:r>
              <a:rPr kumimoji="1" lang="zh-TW" altLang="en-US" dirty="0"/>
              <a:t>使</a:t>
            </a:r>
            <a:r>
              <a:rPr kumimoji="1" lang="en-US" altLang="zh-TW" dirty="0"/>
              <a:t> Loss Surface </a:t>
            </a:r>
            <a:r>
              <a:rPr kumimoji="1" lang="zh-TW" altLang="en-US" dirty="0"/>
              <a:t>更平滑，提升梯度下降的訓練過程穩定性，減少陷入局部極小值的機率，加快模型收斂速度。</a:t>
            </a:r>
            <a:endParaRPr kumimoji="1" lang="en-US" altLang="zh-TW" dirty="0"/>
          </a:p>
          <a:p>
            <a:r>
              <a:rPr kumimoji="1" lang="zh-TW" altLang="en-US" dirty="0"/>
              <a:t>*</a:t>
            </a:r>
            <a:r>
              <a:rPr kumimoji="1" lang="en-US" altLang="zh-TW" dirty="0"/>
              <a:t>.</a:t>
            </a:r>
            <a:r>
              <a:rPr kumimoji="1" lang="zh-TW" altLang="en-US" dirty="0"/>
              <a:t> </a:t>
            </a:r>
            <a:r>
              <a:rPr kumimoji="1" lang="en-US" altLang="zh-TW" dirty="0"/>
              <a:t>Chapter_3_Smooth_Surface.ipynb</a:t>
            </a:r>
          </a:p>
        </p:txBody>
      </p:sp>
      <p:sp>
        <p:nvSpPr>
          <p:cNvPr id="4" name="日期版面配置區 3">
            <a:extLst>
              <a:ext uri="{FF2B5EF4-FFF2-40B4-BE49-F238E27FC236}">
                <a16:creationId xmlns:a16="http://schemas.microsoft.com/office/drawing/2014/main" id="{4E064351-64DE-3853-827E-DE339328B0B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5F23EAB-EA73-97A7-58E6-C0C58F2642D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5175349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8B7449A5-3E92-6992-DAEC-8DD55D92A19F}"/>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D2E3705E-9799-48C2-4744-3B02E106D3FF}"/>
              </a:ext>
            </a:extLst>
          </p:cNvPr>
          <p:cNvSpPr>
            <a:spLocks noGrp="1"/>
          </p:cNvSpPr>
          <p:nvPr>
            <p:ph type="sldNum" sz="quarter" idx="12"/>
          </p:nvPr>
        </p:nvSpPr>
        <p:spPr/>
        <p:txBody>
          <a:bodyPr/>
          <a:lstStyle/>
          <a:p>
            <a:r>
              <a:rPr lang="en-US" altLang="zh-TW" dirty="0"/>
              <a:t>Deep Learning</a:t>
            </a:r>
          </a:p>
        </p:txBody>
      </p:sp>
      <p:pic>
        <p:nvPicPr>
          <p:cNvPr id="4" name="圖片 3" descr="一張含有 文字, 行, 繪圖, 圖表 的圖片&#10;&#10;AI 產生的內容可能不正確。">
            <a:extLst>
              <a:ext uri="{FF2B5EF4-FFF2-40B4-BE49-F238E27FC236}">
                <a16:creationId xmlns:a16="http://schemas.microsoft.com/office/drawing/2014/main" id="{AACA978D-57D3-7392-400A-70D8B9900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193" y="343277"/>
            <a:ext cx="5337112" cy="56929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文字方塊 4">
            <a:extLst>
              <a:ext uri="{FF2B5EF4-FFF2-40B4-BE49-F238E27FC236}">
                <a16:creationId xmlns:a16="http://schemas.microsoft.com/office/drawing/2014/main" id="{96CE17FD-90B3-C4F0-76D6-452283C2EEED}"/>
              </a:ext>
            </a:extLst>
          </p:cNvPr>
          <p:cNvSpPr txBox="1"/>
          <p:nvPr/>
        </p:nvSpPr>
        <p:spPr>
          <a:xfrm>
            <a:off x="6823162" y="1666242"/>
            <a:ext cx="4560425" cy="304698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Font typeface="+mj-lt"/>
              <a:buAutoNum type="arabicPeriod"/>
            </a:pPr>
            <a:r>
              <a:rPr kumimoji="1" lang="en-US" altLang="zh-TW" sz="2400" dirty="0"/>
              <a:t>The</a:t>
            </a:r>
            <a:r>
              <a:rPr kumimoji="1" lang="zh-TW" altLang="en-US" sz="2400" dirty="0"/>
              <a:t> </a:t>
            </a:r>
            <a:r>
              <a:rPr kumimoji="1" lang="en-US" altLang="zh-TW" sz="2400" dirty="0"/>
              <a:t>4 original non-smooth loss surface graphs are identical. </a:t>
            </a:r>
          </a:p>
          <a:p>
            <a:pPr marL="342900" indent="-342900">
              <a:buFont typeface="+mj-lt"/>
              <a:buAutoNum type="arabicPeriod"/>
            </a:pPr>
            <a:r>
              <a:rPr kumimoji="1" lang="en-US" altLang="zh-TW" sz="2400" dirty="0"/>
              <a:t>The L2 regularization graphs with different lambda values use different y-scales. </a:t>
            </a:r>
          </a:p>
          <a:p>
            <a:pPr marL="342900" indent="-342900">
              <a:buFont typeface="+mj-lt"/>
              <a:buAutoNum type="arabicPeriod"/>
            </a:pPr>
            <a:r>
              <a:rPr kumimoji="1" lang="en-US" altLang="zh-TW" sz="2400" dirty="0"/>
              <a:t>With L2 regularization, as the lambda value increases, the loss surface becomes smoother.</a:t>
            </a:r>
            <a:endParaRPr kumimoji="1" lang="zh-TW" altLang="en-US" sz="2400" dirty="0"/>
          </a:p>
        </p:txBody>
      </p:sp>
    </p:spTree>
    <p:extLst>
      <p:ext uri="{BB962C8B-B14F-4D97-AF65-F5344CB8AC3E}">
        <p14:creationId xmlns:p14="http://schemas.microsoft.com/office/powerpoint/2010/main" val="9697098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451F56-CDE9-B61B-4FA2-4CFE40382426}"/>
              </a:ext>
            </a:extLst>
          </p:cNvPr>
          <p:cNvSpPr>
            <a:spLocks noGrp="1"/>
          </p:cNvSpPr>
          <p:nvPr>
            <p:ph type="title"/>
          </p:nvPr>
        </p:nvSpPr>
        <p:spPr/>
        <p:txBody>
          <a:bodyPr/>
          <a:lstStyle/>
          <a:p>
            <a:r>
              <a:rPr kumimoji="1" lang="en-US" altLang="zh-TW" dirty="0"/>
              <a:t>Regularization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B5B7A55-C311-3B85-A9D6-2DC0F317D733}"/>
                  </a:ext>
                </a:extLst>
              </p:cNvPr>
              <p:cNvSpPr>
                <a:spLocks noGrp="1"/>
              </p:cNvSpPr>
              <p:nvPr>
                <p:ph idx="1"/>
              </p:nvPr>
            </p:nvSpPr>
            <p:spPr>
              <a:xfrm>
                <a:off x="983848" y="2108201"/>
                <a:ext cx="10359342" cy="3760891"/>
              </a:xfrm>
            </p:spPr>
            <p:txBody>
              <a:bodyPr>
                <a:noAutofit/>
              </a:bodyPr>
              <a:lstStyle/>
              <a:p>
                <a:r>
                  <a:rPr kumimoji="1" lang="en-US" altLang="zh-TW" dirty="0"/>
                  <a:t>L2</a:t>
                </a:r>
                <a:r>
                  <a:rPr kumimoji="1" lang="zh-TW" altLang="en-US" dirty="0"/>
                  <a:t> </a:t>
                </a:r>
                <a:r>
                  <a:rPr kumimoji="1" lang="en-US" altLang="zh-TW" dirty="0"/>
                  <a:t>Regularization</a:t>
                </a:r>
                <a:r>
                  <a:rPr kumimoji="1" lang="zh-TW" altLang="en-US" dirty="0"/>
                  <a:t> 的權重更新步驟為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𝜂</m:t>
                    </m:r>
                    <m:r>
                      <a:rPr kumimoji="1" lang="en-US" altLang="zh-TW" i="1">
                        <a:latin typeface="Cambria Math" panose="02040503050406030204" pitchFamily="18" charset="0"/>
                      </a:rPr>
                      <m:t>)(</m:t>
                    </m:r>
                    <m:r>
                      <m:rPr>
                        <m:sty m:val="p"/>
                      </m:rPr>
                      <a:rPr kumimoji="1" lang="zh-TW" altLang="en-US"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𝑜𝑙𝑑</m:t>
                        </m:r>
                      </m:sub>
                    </m:sSub>
                    <m:r>
                      <a:rPr kumimoji="1" lang="en-US" altLang="zh-TW" i="1">
                        <a:latin typeface="Cambria Math" panose="02040503050406030204" pitchFamily="18" charset="0"/>
                      </a:rPr>
                      <m:t>+</m:t>
                    </m:r>
                    <m:r>
                      <a:rPr kumimoji="1" lang="zh-TW" altLang="en-US" i="1">
                        <a:latin typeface="Cambria Math" panose="02040503050406030204" pitchFamily="18" charset="0"/>
                      </a:rPr>
                      <m:t>𝜆</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oMath>
                </a14:m>
                <a:r>
                  <a:rPr kumimoji="1" lang="zh-TW" altLang="en-US" dirty="0"/>
                  <a:t>。右邊乘開後可得到 </a:t>
                </a:r>
                <a:endParaRPr kumimoji="1" lang="en-US" altLang="zh-TW" dirty="0"/>
              </a:p>
              <a:p>
                <a:pPr algn="ctr"/>
                <a14:m>
                  <m:oMath xmlns:m="http://schemas.openxmlformats.org/officeDocument/2006/math">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𝜂</m:t>
                        </m:r>
                        <m:r>
                          <a:rPr kumimoji="1" lang="zh-TW" altLang="en-US" i="1">
                            <a:latin typeface="Cambria Math" panose="02040503050406030204" pitchFamily="18" charset="0"/>
                          </a:rPr>
                          <m:t>𝜆</m:t>
                        </m:r>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𝜂</m:t>
                    </m:r>
                    <m:r>
                      <m:rPr>
                        <m:sty m:val="p"/>
                      </m:rPr>
                      <a:rPr kumimoji="1" lang="zh-TW" altLang="en-US"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𝑜𝑙𝑑</m:t>
                        </m:r>
                      </m:sub>
                    </m:sSub>
                  </m:oMath>
                </a14:m>
                <a:r>
                  <a:rPr kumimoji="1" lang="zh-TW" altLang="en-US" dirty="0"/>
                  <a:t> </a:t>
                </a:r>
                <a:endParaRPr kumimoji="1" lang="en-US" altLang="zh-TW" dirty="0"/>
              </a:p>
              <a:p>
                <a:r>
                  <a:rPr kumimoji="1" lang="zh-TW" altLang="en-US" dirty="0"/>
                  <a:t>因為 </a:t>
                </a:r>
                <a14:m>
                  <m:oMath xmlns:m="http://schemas.openxmlformats.org/officeDocument/2006/math">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𝜂</m:t>
                        </m:r>
                        <m:r>
                          <a:rPr kumimoji="1" lang="zh-TW" altLang="en-US" i="1">
                            <a:latin typeface="Cambria Math" panose="02040503050406030204" pitchFamily="18" charset="0"/>
                          </a:rPr>
                          <m:t>𝜆</m:t>
                        </m:r>
                      </m:e>
                    </m:d>
                  </m:oMath>
                </a14:m>
                <a:r>
                  <a:rPr kumimoji="1" lang="zh-TW" altLang="en-US" dirty="0"/>
                  <a:t> 約為 </a:t>
                </a:r>
                <a:r>
                  <a:rPr kumimoji="1" lang="en-US" altLang="zh-TW" dirty="0"/>
                  <a:t>0.9999</a:t>
                </a:r>
                <a:r>
                  <a:rPr kumimoji="1" lang="zh-TW" altLang="en-US" dirty="0"/>
                  <a:t>，所以每次權重更新時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zh-TW" altLang="en-US" b="0" i="1" smtClean="0">
                        <a:latin typeface="Cambria Math" panose="02040503050406030204" pitchFamily="18" charset="0"/>
                      </a:rPr>
                      <m:t> </m:t>
                    </m:r>
                  </m:oMath>
                </a14:m>
                <a:r>
                  <a:rPr kumimoji="1" lang="zh-TW" altLang="en-US" dirty="0"/>
                  <a:t>會乘上此數字，會讓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oMath>
                </a14:m>
                <a:r>
                  <a:rPr kumimoji="1" lang="zh-TW" altLang="en-US" dirty="0"/>
                  <a:t>變得更小一點。這就是 </a:t>
                </a:r>
                <a:r>
                  <a:rPr kumimoji="1" lang="en-US" altLang="zh-TW" dirty="0"/>
                  <a:t>L2</a:t>
                </a:r>
                <a:r>
                  <a:rPr kumimoji="1" lang="zh-TW" altLang="en-US" dirty="0"/>
                  <a:t> </a:t>
                </a:r>
                <a:r>
                  <a:rPr kumimoji="1" lang="en-US" altLang="zh-TW" dirty="0"/>
                  <a:t>Regularization</a:t>
                </a:r>
                <a:r>
                  <a:rPr kumimoji="1" lang="zh-TW" altLang="en-US" dirty="0"/>
                  <a:t> 又被稱為 </a:t>
                </a:r>
                <a:r>
                  <a:rPr kumimoji="1" lang="en-US" altLang="zh-TW" dirty="0"/>
                  <a:t>Weight</a:t>
                </a:r>
                <a:r>
                  <a:rPr kumimoji="1" lang="zh-TW" altLang="en-US" dirty="0"/>
                  <a:t> </a:t>
                </a:r>
                <a:r>
                  <a:rPr kumimoji="1" lang="en-US" altLang="zh-TW" dirty="0"/>
                  <a:t>Decay</a:t>
                </a:r>
                <a:r>
                  <a:rPr kumimoji="1" lang="zh-TW" altLang="en-US" dirty="0"/>
                  <a:t> 的原因。</a:t>
                </a:r>
                <a:endParaRPr kumimoji="1" lang="en-US" altLang="zh-TW" dirty="0"/>
              </a:p>
            </p:txBody>
          </p:sp>
        </mc:Choice>
        <mc:Fallback xmlns="">
          <p:sp>
            <p:nvSpPr>
              <p:cNvPr id="3" name="內容版面配置區 2">
                <a:extLst>
                  <a:ext uri="{FF2B5EF4-FFF2-40B4-BE49-F238E27FC236}">
                    <a16:creationId xmlns:a16="http://schemas.microsoft.com/office/drawing/2014/main" id="{8B5B7A55-C311-3B85-A9D6-2DC0F317D733}"/>
                  </a:ext>
                </a:extLst>
              </p:cNvPr>
              <p:cNvSpPr>
                <a:spLocks noGrp="1" noRot="1" noChangeAspect="1" noMove="1" noResize="1" noEditPoints="1" noAdjustHandles="1" noChangeArrowheads="1" noChangeShapeType="1" noTextEdit="1"/>
              </p:cNvSpPr>
              <p:nvPr>
                <p:ph idx="1"/>
              </p:nvPr>
            </p:nvSpPr>
            <p:spPr>
              <a:xfrm>
                <a:off x="983848" y="2108201"/>
                <a:ext cx="10359342" cy="3760891"/>
              </a:xfrm>
              <a:blipFill>
                <a:blip r:embed="rId2"/>
                <a:stretch>
                  <a:fillRect l="-857" t="-134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7425FCD-6E4A-81BA-CC18-3E7FB251892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8CB4698-109D-5B12-32A8-69F98C7A41BB}"/>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8069741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9BA577-3B66-BFCD-34AF-E7570688D244}"/>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E36085D0-09D1-999A-1F79-F1B212FCF271}"/>
              </a:ext>
            </a:extLst>
          </p:cNvPr>
          <p:cNvSpPr>
            <a:spLocks noGrp="1"/>
          </p:cNvSpPr>
          <p:nvPr>
            <p:ph idx="1"/>
          </p:nvPr>
        </p:nvSpPr>
        <p:spPr>
          <a:xfrm>
            <a:off x="972273" y="2108201"/>
            <a:ext cx="10336193" cy="4084255"/>
          </a:xfrm>
        </p:spPr>
        <p:txBody>
          <a:bodyPr>
            <a:normAutofit lnSpcReduction="10000"/>
          </a:bodyPr>
          <a:lstStyle/>
          <a:p>
            <a:r>
              <a:rPr kumimoji="1" lang="en-US" altLang="zh-TW" dirty="0"/>
              <a:t>Implicit Regularization </a:t>
            </a:r>
            <a:r>
              <a:rPr kumimoji="1" lang="zh-TW" altLang="en-US" dirty="0"/>
              <a:t>常見的做法：</a:t>
            </a:r>
            <a:endParaRPr kumimoji="1" lang="en-US" altLang="zh-TW" dirty="0"/>
          </a:p>
          <a:p>
            <a:pPr>
              <a:buFont typeface="Wingdings" pitchFamily="2" charset="2"/>
              <a:buChar char="n"/>
            </a:pPr>
            <a:r>
              <a:rPr kumimoji="1" lang="zh-TW" altLang="en-US" dirty="0"/>
              <a:t> 獲取更多數據</a:t>
            </a:r>
            <a:endParaRPr kumimoji="1" lang="en-US" altLang="zh-TW" dirty="0"/>
          </a:p>
          <a:p>
            <a:pPr lvl="1">
              <a:buFont typeface="Wingdings" pitchFamily="2" charset="2"/>
              <a:buChar char="n"/>
            </a:pPr>
            <a:r>
              <a:rPr kumimoji="1" lang="zh-TW" altLang="en-US" dirty="0"/>
              <a:t> 最直觀的方法。例如，如果訓練集中的牛圖片有包含「不站在草地上的牛」的話，模型就不會只認為「只要草地上有東西的照片，就是牛」。</a:t>
            </a:r>
            <a:endParaRPr kumimoji="1" lang="en-US" altLang="zh-TW" dirty="0"/>
          </a:p>
          <a:p>
            <a:pPr lvl="1">
              <a:buFont typeface="Wingdings" pitchFamily="2" charset="2"/>
              <a:buChar char="n"/>
            </a:pPr>
            <a:r>
              <a:rPr kumimoji="1" lang="zh-TW" altLang="en-US" dirty="0"/>
              <a:t> 通常來說，獲取更多數據的難度很高，因為現實生活中的數據收集需要大量的時間、預算與人力投入。</a:t>
            </a:r>
            <a:endParaRPr kumimoji="1" lang="en-US" altLang="zh-TW" dirty="0"/>
          </a:p>
          <a:p>
            <a:pPr>
              <a:buFont typeface="Wingdings" pitchFamily="2" charset="2"/>
              <a:buChar char="n"/>
            </a:pPr>
            <a:r>
              <a:rPr kumimoji="1" lang="zh-TW" altLang="en-US" dirty="0"/>
              <a:t> 使用 </a:t>
            </a:r>
            <a:r>
              <a:rPr kumimoji="1" lang="en-US" altLang="zh-TW" dirty="0"/>
              <a:t>SGD</a:t>
            </a:r>
            <a:r>
              <a:rPr kumimoji="1" lang="zh-TW" altLang="en-US" dirty="0"/>
              <a:t> 或 </a:t>
            </a:r>
            <a:r>
              <a:rPr kumimoji="1" lang="en-US" altLang="zh-TW" dirty="0"/>
              <a:t>Mini-Batch</a:t>
            </a:r>
            <a:r>
              <a:rPr kumimoji="1" lang="zh-TW" altLang="en-US" dirty="0"/>
              <a:t> </a:t>
            </a:r>
            <a:r>
              <a:rPr kumimoji="1" lang="en-US" altLang="zh-TW" dirty="0"/>
              <a:t>GD</a:t>
            </a:r>
          </a:p>
          <a:p>
            <a:pPr lvl="1">
              <a:buFont typeface="Wingdings" pitchFamily="2" charset="2"/>
              <a:buChar char="n"/>
            </a:pPr>
            <a:r>
              <a:rPr kumimoji="1" lang="zh-TW" altLang="en-US" dirty="0"/>
              <a:t> 因為 </a:t>
            </a:r>
            <a:r>
              <a:rPr kumimoji="1" lang="en-US" altLang="zh-TW" dirty="0"/>
              <a:t>SGD,</a:t>
            </a:r>
            <a:r>
              <a:rPr kumimoji="1" lang="zh-TW" altLang="en-US" dirty="0"/>
              <a:t> </a:t>
            </a:r>
            <a:r>
              <a:rPr kumimoji="1" lang="en-US" altLang="zh-TW" dirty="0"/>
              <a:t>Mini-Batch</a:t>
            </a:r>
            <a:r>
              <a:rPr kumimoji="1" lang="zh-TW" altLang="en-US" dirty="0"/>
              <a:t> </a:t>
            </a:r>
            <a:r>
              <a:rPr kumimoji="1" lang="en-US" altLang="zh-TW" dirty="0"/>
              <a:t>GD</a:t>
            </a:r>
            <a:r>
              <a:rPr kumimoji="1" lang="zh-TW" altLang="en-US" dirty="0"/>
              <a:t> 每次更新只使用部分數據來計算損失函數與梯度，所以每一步的梯度方向不是完全正確的。</a:t>
            </a:r>
            <a:endParaRPr kumimoji="1" lang="en-US" altLang="zh-TW" dirty="0"/>
          </a:p>
          <a:p>
            <a:pPr lvl="1">
              <a:buFont typeface="Wingdings" pitchFamily="2" charset="2"/>
              <a:buChar char="n"/>
            </a:pPr>
            <a:r>
              <a:rPr kumimoji="1" lang="zh-TW" altLang="en-US" dirty="0"/>
              <a:t> 每次只用部分數據更新，讓模型「看不清全貌」，自然會限制模型把訓練資料「背起來」的能力。</a:t>
            </a:r>
            <a:endParaRPr kumimoji="1" lang="en-US" altLang="zh-TW" dirty="0"/>
          </a:p>
        </p:txBody>
      </p:sp>
      <p:sp>
        <p:nvSpPr>
          <p:cNvPr id="4" name="日期版面配置區 3">
            <a:extLst>
              <a:ext uri="{FF2B5EF4-FFF2-40B4-BE49-F238E27FC236}">
                <a16:creationId xmlns:a16="http://schemas.microsoft.com/office/drawing/2014/main" id="{FF2647C7-96B9-77ED-4E25-8089D4C880F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6D44CBD-3717-BE5B-4B72-413D6C81E5E2}"/>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4879154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EA81D2-CB36-0372-CB30-3C3B9E9D46CF}"/>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3DFC7CC2-5A95-7576-9D1A-DC64C240BCA5}"/>
              </a:ext>
            </a:extLst>
          </p:cNvPr>
          <p:cNvSpPr>
            <a:spLocks noGrp="1"/>
          </p:cNvSpPr>
          <p:nvPr>
            <p:ph idx="1"/>
          </p:nvPr>
        </p:nvSpPr>
        <p:spPr>
          <a:xfrm>
            <a:off x="613458" y="2108201"/>
            <a:ext cx="10984375" cy="4014807"/>
          </a:xfrm>
        </p:spPr>
        <p:txBody>
          <a:bodyPr>
            <a:normAutofit lnSpcReduction="10000"/>
          </a:bodyPr>
          <a:lstStyle/>
          <a:p>
            <a:pPr>
              <a:buFont typeface="Wingdings" pitchFamily="2" charset="2"/>
              <a:buChar char="n"/>
            </a:pPr>
            <a:r>
              <a:rPr kumimoji="1" lang="zh-TW" altLang="en-US" dirty="0"/>
              <a:t> </a:t>
            </a:r>
            <a:r>
              <a:rPr kumimoji="1" lang="en-US" altLang="zh-TW" dirty="0"/>
              <a:t>Dropout</a:t>
            </a:r>
            <a:r>
              <a:rPr kumimoji="1" lang="zh-TW" altLang="en-US" dirty="0"/>
              <a:t> </a:t>
            </a:r>
            <a:r>
              <a:rPr kumimoji="1" lang="en-US" altLang="zh-TW" dirty="0"/>
              <a:t>Layer</a:t>
            </a:r>
          </a:p>
          <a:p>
            <a:pPr lvl="1">
              <a:buFont typeface="Wingdings" pitchFamily="2" charset="2"/>
              <a:buChar char="n"/>
            </a:pPr>
            <a:r>
              <a:rPr kumimoji="1" lang="zh-TW" altLang="en-US" dirty="0"/>
              <a:t> </a:t>
            </a:r>
            <a:r>
              <a:rPr kumimoji="1" lang="en-US" altLang="zh-TW" dirty="0"/>
              <a:t>Dropout</a:t>
            </a:r>
            <a:r>
              <a:rPr kumimoji="1" lang="zh-TW" altLang="en-US" dirty="0"/>
              <a:t> 是指在在訓練時，我們可以會隨機「關掉」一部分神經元，也就是將它們的輸出設為 </a:t>
            </a:r>
            <a:r>
              <a:rPr kumimoji="1" lang="en-US" altLang="zh-TW" dirty="0"/>
              <a:t>0</a:t>
            </a:r>
            <a:r>
              <a:rPr kumimoji="1" lang="zh-TW" altLang="en-US" dirty="0"/>
              <a:t>。例如，某層有 </a:t>
            </a:r>
            <a:r>
              <a:rPr kumimoji="1" lang="en-US" altLang="zh-TW" dirty="0"/>
              <a:t>100 </a:t>
            </a:r>
            <a:r>
              <a:rPr kumimoji="1" lang="zh-TW" altLang="en-US" dirty="0"/>
              <a:t>個神經元且我們設定 </a:t>
            </a:r>
            <a:r>
              <a:rPr kumimoji="1" lang="en-US" altLang="zh-TW" dirty="0"/>
              <a:t>dropout rate = 0.3</a:t>
            </a:r>
            <a:r>
              <a:rPr kumimoji="1" lang="zh-TW" altLang="en-US" dirty="0"/>
              <a:t>，則每次訓練時會隨機關掉 </a:t>
            </a:r>
            <a:r>
              <a:rPr kumimoji="1" lang="en-US" altLang="zh-TW" dirty="0"/>
              <a:t>30 </a:t>
            </a:r>
            <a:r>
              <a:rPr kumimoji="1" lang="zh-TW" altLang="en-US" dirty="0"/>
              <a:t>個神經元。</a:t>
            </a:r>
            <a:endParaRPr kumimoji="1" lang="en-US" altLang="zh-TW" dirty="0"/>
          </a:p>
          <a:p>
            <a:pPr lvl="1">
              <a:buFont typeface="Wingdings" pitchFamily="2" charset="2"/>
              <a:buChar char="n"/>
            </a:pPr>
            <a:r>
              <a:rPr kumimoji="1" lang="zh-TW" altLang="en-US" dirty="0"/>
              <a:t> 原理是要防止共適應（</a:t>
            </a:r>
            <a:r>
              <a:rPr kumimoji="1" lang="en-US" altLang="zh-TW" dirty="0"/>
              <a:t>co-adaptation</a:t>
            </a:r>
            <a:r>
              <a:rPr kumimoji="1" lang="zh-TW" altLang="en-US" dirty="0"/>
              <a:t>）。如果神經元總是依賴其他固定神經元，它容易過擬合。</a:t>
            </a:r>
            <a:r>
              <a:rPr kumimoji="1" lang="en-US" altLang="zh-TW" dirty="0"/>
              <a:t>Dropout </a:t>
            </a:r>
            <a:r>
              <a:rPr kumimoji="1" lang="zh-TW" altLang="en-US" dirty="0"/>
              <a:t>打亂這種依賴，迫使每個神經元學到更獨立的特徵。（</a:t>
            </a:r>
            <a:r>
              <a:rPr kumimoji="1" lang="en-US" altLang="zh-TW" dirty="0">
                <a:hlinkClick r:id="rId2"/>
              </a:rPr>
              <a:t>https://arxiv.org/abs/1207.0580</a:t>
            </a:r>
            <a:r>
              <a:rPr kumimoji="1" lang="zh-TW" altLang="en-US" dirty="0"/>
              <a:t>）</a:t>
            </a:r>
            <a:endParaRPr kumimoji="1" lang="en-US" altLang="zh-TW" dirty="0"/>
          </a:p>
          <a:p>
            <a:pPr lvl="1">
              <a:buFont typeface="Wingdings" pitchFamily="2" charset="2"/>
              <a:buChar char="n"/>
            </a:pPr>
            <a:r>
              <a:rPr kumimoji="1" lang="zh-TW" altLang="en-US" dirty="0"/>
              <a:t> 另一種對 </a:t>
            </a:r>
            <a:r>
              <a:rPr kumimoji="1" lang="en-US" altLang="zh-TW" dirty="0"/>
              <a:t>Dropout</a:t>
            </a:r>
            <a:r>
              <a:rPr kumimoji="1" lang="zh-TW" altLang="en-US" dirty="0"/>
              <a:t> 的看法是，它有類似 </a:t>
            </a:r>
            <a:r>
              <a:rPr kumimoji="1" lang="en-US" altLang="zh-TW" dirty="0"/>
              <a:t>Ensemble</a:t>
            </a:r>
            <a:r>
              <a:rPr kumimoji="1" lang="zh-TW" altLang="en-US" dirty="0"/>
              <a:t> </a:t>
            </a:r>
            <a:r>
              <a:rPr kumimoji="1" lang="en-US" altLang="zh-TW" dirty="0"/>
              <a:t>Learning</a:t>
            </a:r>
            <a:r>
              <a:rPr kumimoji="1" lang="zh-TW" altLang="en-US" dirty="0"/>
              <a:t> 的效果。每次 </a:t>
            </a:r>
            <a:r>
              <a:rPr kumimoji="1" lang="en-US" altLang="zh-TW" dirty="0"/>
              <a:t>forward pass </a:t>
            </a:r>
            <a:r>
              <a:rPr kumimoji="1" lang="zh-TW" altLang="en-US" dirty="0"/>
              <a:t>都是不同的子網路，訓練完就等於訓練了很多小網路的平均效果，即可提高泛化能力。</a:t>
            </a:r>
            <a:endParaRPr kumimoji="1" lang="en-US" altLang="zh-TW" dirty="0"/>
          </a:p>
          <a:p>
            <a:pPr>
              <a:buFont typeface="Wingdings" pitchFamily="2" charset="2"/>
              <a:buChar char="n"/>
            </a:pPr>
            <a:r>
              <a:rPr kumimoji="1" lang="zh-TW" altLang="en-US" dirty="0"/>
              <a:t> </a:t>
            </a:r>
            <a:r>
              <a:rPr kumimoji="1" lang="en-US" altLang="zh-TW" dirty="0"/>
              <a:t>Early Stopping </a:t>
            </a:r>
          </a:p>
          <a:p>
            <a:pPr lvl="1">
              <a:buFont typeface="Wingdings" pitchFamily="2" charset="2"/>
              <a:buChar char="n"/>
            </a:pPr>
            <a:r>
              <a:rPr kumimoji="1" lang="zh-TW" altLang="en-US" dirty="0"/>
              <a:t> 在訓練過程中當模型在驗證集（</a:t>
            </a:r>
            <a:r>
              <a:rPr kumimoji="1" lang="en-US" altLang="zh-TW" dirty="0"/>
              <a:t>validation set</a:t>
            </a:r>
            <a:r>
              <a:rPr kumimoji="1" lang="zh-TW" altLang="en-US" dirty="0"/>
              <a:t>）的表現不再提升時，就提前停止訓練。 也就是不讓模型完全收斂在訓練集上。 這也可以避免模型過度擬合訓練資料。</a:t>
            </a:r>
            <a:endParaRPr kumimoji="1" lang="en-US" altLang="zh-TW" dirty="0"/>
          </a:p>
        </p:txBody>
      </p:sp>
      <p:sp>
        <p:nvSpPr>
          <p:cNvPr id="4" name="日期版面配置區 3">
            <a:extLst>
              <a:ext uri="{FF2B5EF4-FFF2-40B4-BE49-F238E27FC236}">
                <a16:creationId xmlns:a16="http://schemas.microsoft.com/office/drawing/2014/main" id="{FAFCF2AD-B4EE-0C43-6617-EF3BF8AEDAD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6C79CC0-4810-7044-BB9E-87299C84FC4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0960912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8108FB-52D8-5ECF-C7CF-5238DBE23CBB}"/>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93430476-38E8-722B-88ED-820160444235}"/>
              </a:ext>
            </a:extLst>
          </p:cNvPr>
          <p:cNvSpPr>
            <a:spLocks noGrp="1"/>
          </p:cNvSpPr>
          <p:nvPr>
            <p:ph idx="1"/>
          </p:nvPr>
        </p:nvSpPr>
        <p:spPr>
          <a:xfrm>
            <a:off x="879676" y="2108201"/>
            <a:ext cx="10567686" cy="4211576"/>
          </a:xfrm>
        </p:spPr>
        <p:txBody>
          <a:bodyPr>
            <a:normAutofit/>
          </a:bodyPr>
          <a:lstStyle/>
          <a:p>
            <a:pPr>
              <a:buFont typeface="Wingdings" pitchFamily="2" charset="2"/>
              <a:buChar char="n"/>
            </a:pPr>
            <a:r>
              <a:rPr kumimoji="1" lang="zh-TW" altLang="en-US" dirty="0"/>
              <a:t> </a:t>
            </a:r>
            <a:r>
              <a:rPr kumimoji="1" lang="en-US" altLang="zh-TW" dirty="0"/>
              <a:t>Ensemble</a:t>
            </a:r>
            <a:r>
              <a:rPr kumimoji="1" lang="zh-TW" altLang="en-US" dirty="0"/>
              <a:t> </a:t>
            </a:r>
            <a:r>
              <a:rPr kumimoji="1" lang="en-US" altLang="zh-TW" dirty="0"/>
              <a:t>Learning</a:t>
            </a:r>
          </a:p>
          <a:p>
            <a:pPr lvl="1">
              <a:buFont typeface="Wingdings" pitchFamily="2" charset="2"/>
              <a:buChar char="n"/>
            </a:pPr>
            <a:r>
              <a:rPr kumimoji="1" lang="zh-TW" altLang="en-US" dirty="0"/>
              <a:t> </a:t>
            </a:r>
            <a:r>
              <a:rPr kumimoji="1" lang="en-US" altLang="zh-TW" dirty="0"/>
              <a:t>Ensemble</a:t>
            </a:r>
            <a:r>
              <a:rPr kumimoji="1" lang="zh-TW" altLang="en-US" dirty="0"/>
              <a:t> </a:t>
            </a:r>
            <a:r>
              <a:rPr kumimoji="1" lang="en-US" altLang="zh-TW" dirty="0"/>
              <a:t>Learning</a:t>
            </a:r>
            <a:r>
              <a:rPr kumimoji="1" lang="zh-TW" altLang="en-US" dirty="0"/>
              <a:t> 是指組合多個模型（投票或對結果計算平均），來獲得比單獨使用任何一種模型更好的方法。</a:t>
            </a:r>
            <a:endParaRPr kumimoji="1" lang="en-US" altLang="zh-TW" dirty="0"/>
          </a:p>
          <a:p>
            <a:pPr lvl="1">
              <a:buFont typeface="Wingdings" pitchFamily="2" charset="2"/>
              <a:buChar char="n"/>
            </a:pPr>
            <a:r>
              <a:rPr kumimoji="1" lang="zh-TW" altLang="en-US" dirty="0"/>
              <a:t> 常見的做法有（</a:t>
            </a:r>
            <a:r>
              <a:rPr kumimoji="1" lang="en-US" altLang="zh-TW" dirty="0"/>
              <a:t>1</a:t>
            </a:r>
            <a:r>
              <a:rPr kumimoji="1" lang="zh-TW" altLang="en-US" dirty="0"/>
              <a:t>）對同一模型使用不同隨機初始權重進行訓練，並且分別儲存訓練結果。（</a:t>
            </a:r>
            <a:r>
              <a:rPr kumimoji="1" lang="en-US" altLang="zh-TW" dirty="0"/>
              <a:t>2</a:t>
            </a:r>
            <a:r>
              <a:rPr kumimoji="1" lang="zh-TW" altLang="en-US" dirty="0"/>
              <a:t>）透過 </a:t>
            </a:r>
            <a:r>
              <a:rPr kumimoji="1" lang="en-US" altLang="zh-TW" dirty="0"/>
              <a:t>resampling</a:t>
            </a:r>
            <a:r>
              <a:rPr kumimoji="1" lang="zh-TW" altLang="en-US" dirty="0"/>
              <a:t> 生成多個訓練資料集，然後對每個資料集訓練一個模型。這個做法被稱為 </a:t>
            </a:r>
            <a:r>
              <a:rPr kumimoji="1" lang="en-US" altLang="zh-TW" dirty="0"/>
              <a:t>Bagging</a:t>
            </a:r>
            <a:r>
              <a:rPr kumimoji="1" lang="zh-TW" altLang="en-US" dirty="0"/>
              <a:t>。（</a:t>
            </a:r>
            <a:r>
              <a:rPr kumimoji="1" lang="en-US" altLang="zh-TW" dirty="0"/>
              <a:t>3</a:t>
            </a:r>
            <a:r>
              <a:rPr kumimoji="1" lang="zh-TW" altLang="en-US" dirty="0"/>
              <a:t>）使用不同超參數訓練模型、訓練不同架構或不同類型的模型。</a:t>
            </a:r>
            <a:endParaRPr kumimoji="1" lang="en-US" altLang="zh-TW" dirty="0"/>
          </a:p>
          <a:p>
            <a:pPr>
              <a:buFont typeface="Wingdings" pitchFamily="2" charset="2"/>
              <a:buChar char="n"/>
            </a:pPr>
            <a:r>
              <a:rPr kumimoji="1" lang="zh-TW" altLang="en-US" dirty="0"/>
              <a:t> </a:t>
            </a:r>
            <a:r>
              <a:rPr kumimoji="1" lang="en-US" altLang="zh-TW" dirty="0"/>
              <a:t>Data</a:t>
            </a:r>
            <a:r>
              <a:rPr kumimoji="1" lang="zh-TW" altLang="en-US" dirty="0"/>
              <a:t> </a:t>
            </a:r>
            <a:r>
              <a:rPr kumimoji="1" lang="en-US" altLang="zh-TW" dirty="0"/>
              <a:t>Augmentation</a:t>
            </a:r>
          </a:p>
          <a:p>
            <a:pPr lvl="1">
              <a:buFont typeface="Wingdings" pitchFamily="2" charset="2"/>
              <a:buChar char="n"/>
            </a:pPr>
            <a:r>
              <a:rPr kumimoji="1" lang="zh-TW" altLang="en-US" dirty="0"/>
              <a:t> 若現實生活中的數據太難取得，我們可以透過對現有資料做各種隨機變換，生成更多樣本。</a:t>
            </a:r>
            <a:endParaRPr kumimoji="1" lang="en-US" altLang="zh-TW" dirty="0"/>
          </a:p>
          <a:p>
            <a:pPr lvl="1">
              <a:buFont typeface="Wingdings" pitchFamily="2" charset="2"/>
              <a:buChar char="n"/>
            </a:pPr>
            <a:r>
              <a:rPr kumimoji="1" lang="zh-TW" altLang="en-US" dirty="0"/>
              <a:t> 例如，我們可以對圖片做旋轉（</a:t>
            </a:r>
            <a:r>
              <a:rPr kumimoji="1" lang="en-US" altLang="zh-TW" dirty="0"/>
              <a:t>Rotation</a:t>
            </a:r>
            <a:r>
              <a:rPr kumimoji="1" lang="zh-TW" altLang="en-US" dirty="0"/>
              <a:t>）、翻轉（</a:t>
            </a:r>
            <a:r>
              <a:rPr kumimoji="1" lang="en-US" altLang="zh-TW" dirty="0"/>
              <a:t>Flip</a:t>
            </a:r>
            <a:r>
              <a:rPr kumimoji="1" lang="zh-TW" altLang="en-US" dirty="0"/>
              <a:t>）、顏色 </a:t>
            </a:r>
            <a:r>
              <a:rPr kumimoji="1" lang="en-US" altLang="zh-TW" dirty="0"/>
              <a:t>/</a:t>
            </a:r>
            <a:r>
              <a:rPr kumimoji="1" lang="zh-TW" altLang="en-US" dirty="0"/>
              <a:t> 亮度變換、隨機噪音（</a:t>
            </a:r>
            <a:r>
              <a:rPr kumimoji="1" lang="en-US" altLang="zh-TW" dirty="0"/>
              <a:t>Noise Injection</a:t>
            </a:r>
            <a:r>
              <a:rPr kumimoji="1" lang="zh-TW" altLang="en-US" dirty="0"/>
              <a:t>）。</a:t>
            </a:r>
            <a:endParaRPr kumimoji="1" lang="en-US" altLang="zh-TW" dirty="0"/>
          </a:p>
          <a:p>
            <a:pPr lvl="1">
              <a:buFont typeface="Wingdings" pitchFamily="2" charset="2"/>
              <a:buChar char="n"/>
            </a:pPr>
            <a:r>
              <a:rPr kumimoji="1" lang="zh-TW" altLang="en-US" dirty="0"/>
              <a:t> 要注意的是，變換不應改變標籤本質。例如把「</a:t>
            </a:r>
            <a:r>
              <a:rPr kumimoji="1" lang="en-US" altLang="zh-TW" dirty="0"/>
              <a:t>3</a:t>
            </a:r>
            <a:r>
              <a:rPr kumimoji="1" lang="zh-TW" altLang="en-US" dirty="0"/>
              <a:t>」旋轉 </a:t>
            </a:r>
            <a:r>
              <a:rPr kumimoji="1" lang="en-US" altLang="zh-TW" dirty="0"/>
              <a:t>180° </a:t>
            </a:r>
            <a:r>
              <a:rPr kumimoji="1" lang="zh-TW" altLang="en-US" dirty="0"/>
              <a:t>就可能變成「</a:t>
            </a:r>
            <a:r>
              <a:rPr kumimoji="1" lang="en-US" altLang="zh-TW" dirty="0"/>
              <a:t>E</a:t>
            </a:r>
            <a:r>
              <a:rPr kumimoji="1" lang="zh-TW" altLang="en-US" dirty="0"/>
              <a:t>」。</a:t>
            </a:r>
          </a:p>
        </p:txBody>
      </p:sp>
      <p:sp>
        <p:nvSpPr>
          <p:cNvPr id="4" name="日期版面配置區 3">
            <a:extLst>
              <a:ext uri="{FF2B5EF4-FFF2-40B4-BE49-F238E27FC236}">
                <a16:creationId xmlns:a16="http://schemas.microsoft.com/office/drawing/2014/main" id="{308AEDF3-8BED-203F-9576-214AE86BDD6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0DE540B-7B06-070D-EFB7-4165EF92621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5984566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34D031-1205-BEB0-34F1-10F9825F1CA7}"/>
              </a:ext>
            </a:extLst>
          </p:cNvPr>
          <p:cNvSpPr>
            <a:spLocks noGrp="1"/>
          </p:cNvSpPr>
          <p:nvPr>
            <p:ph type="title"/>
          </p:nvPr>
        </p:nvSpPr>
        <p:spPr/>
        <p:txBody>
          <a:bodyPr/>
          <a:lstStyle/>
          <a:p>
            <a:r>
              <a:rPr kumimoji="1" lang="en-US" altLang="zh-TW" dirty="0"/>
              <a:t>Regularization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E30303E-D06C-8C09-EC5C-7C28CC16F2BE}"/>
                  </a:ext>
                </a:extLst>
              </p:cNvPr>
              <p:cNvSpPr>
                <a:spLocks noGrp="1"/>
              </p:cNvSpPr>
              <p:nvPr>
                <p:ph idx="1"/>
              </p:nvPr>
            </p:nvSpPr>
            <p:spPr>
              <a:xfrm>
                <a:off x="150471" y="2108201"/>
                <a:ext cx="11864051" cy="4246300"/>
              </a:xfrm>
            </p:spPr>
            <p:txBody>
              <a:bodyPr>
                <a:normAutofit/>
              </a:bodyPr>
              <a:lstStyle/>
              <a:p>
                <a:pPr>
                  <a:buFont typeface="Wingdings" pitchFamily="2" charset="2"/>
                  <a:buChar char="n"/>
                </a:pPr>
                <a:r>
                  <a:rPr kumimoji="1" lang="zh-TW" altLang="en-US" dirty="0"/>
                  <a:t> </a:t>
                </a:r>
                <a:r>
                  <a:rPr kumimoji="1" lang="en-US" altLang="zh-TW" dirty="0"/>
                  <a:t>Label</a:t>
                </a:r>
                <a:r>
                  <a:rPr kumimoji="1" lang="zh-TW" altLang="en-US" dirty="0"/>
                  <a:t> </a:t>
                </a:r>
                <a:r>
                  <a:rPr kumimoji="1" lang="en-US" altLang="zh-TW" dirty="0"/>
                  <a:t>Smoothing</a:t>
                </a:r>
              </a:p>
              <a:p>
                <a:pPr lvl="1">
                  <a:buFont typeface="Wingdings" pitchFamily="2" charset="2"/>
                  <a:buChar char="n"/>
                </a:pPr>
                <a:r>
                  <a:rPr kumimoji="1" lang="zh-TW" altLang="en-US" dirty="0"/>
                  <a:t> 最初的論文是在圖像分類任務中提出 </a:t>
                </a:r>
                <a:r>
                  <a:rPr kumimoji="1" lang="en-US" altLang="zh-TW" dirty="0"/>
                  <a:t>Label Smoothing</a:t>
                </a:r>
                <a:r>
                  <a:rPr kumimoji="1" lang="zh-TW" altLang="en-US" dirty="0"/>
                  <a:t>（</a:t>
                </a:r>
                <a:r>
                  <a:rPr kumimoji="1" lang="en-US" altLang="zh-TW" dirty="0"/>
                  <a:t> </a:t>
                </a:r>
                <a:r>
                  <a:rPr kumimoji="1" lang="en-US" altLang="zh-TW" dirty="0">
                    <a:hlinkClick r:id="rId2"/>
                  </a:rPr>
                  <a:t>https://arxiv.org/pdf/1512.00567</a:t>
                </a:r>
                <a:r>
                  <a:rPr kumimoji="1" lang="zh-TW" altLang="en-US" dirty="0"/>
                  <a:t>），後續研究發現對語音識別、機器翻譯等領域也有效。</a:t>
                </a:r>
                <a:endParaRPr kumimoji="1" lang="en-US" altLang="zh-TW" dirty="0"/>
              </a:p>
              <a:p>
                <a:pPr lvl="1">
                  <a:buFont typeface="Wingdings" pitchFamily="2" charset="2"/>
                  <a:buChar char="n"/>
                </a:pPr>
                <a:r>
                  <a:rPr kumimoji="1" lang="zh-TW" altLang="en-US" dirty="0"/>
                  <a:t> 公式為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𝑠𝑚𝑜𝑜𝑡h</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ea typeface="Cambria Math" panose="02040503050406030204" pitchFamily="18" charset="0"/>
                          </a:rPr>
                          <m:t>𝛼</m:t>
                        </m:r>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𝑜𝑛𝑒</m:t>
                        </m:r>
                        <m:r>
                          <a:rPr kumimoji="1" lang="en-US" altLang="zh-TW" i="1">
                            <a:latin typeface="Cambria Math" panose="02040503050406030204" pitchFamily="18" charset="0"/>
                          </a:rPr>
                          <m:t>−</m:t>
                        </m:r>
                        <m:r>
                          <a:rPr kumimoji="1" lang="en-US" altLang="zh-TW" i="1">
                            <a:latin typeface="Cambria Math" panose="02040503050406030204" pitchFamily="18" charset="0"/>
                          </a:rPr>
                          <m:t>h𝑜𝑡</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𝛼</m:t>
                        </m:r>
                      </m:num>
                      <m:den>
                        <m:r>
                          <a:rPr kumimoji="1" lang="en-US" altLang="zh-TW" i="1">
                            <a:latin typeface="Cambria Math" panose="02040503050406030204" pitchFamily="18" charset="0"/>
                          </a:rPr>
                          <m:t>𝐾</m:t>
                        </m:r>
                      </m:den>
                    </m:f>
                  </m:oMath>
                </a14:m>
                <a:r>
                  <a:rPr kumimoji="1" lang="zh-TW" altLang="en-US" dirty="0"/>
                  <a:t>，其中 </a:t>
                </a:r>
                <a:r>
                  <a:rPr kumimoji="1" lang="en-US" altLang="zh-TW" dirty="0"/>
                  <a:t>K</a:t>
                </a:r>
                <a:r>
                  <a:rPr kumimoji="1" lang="zh-TW" altLang="en-US" dirty="0"/>
                  <a:t> 為類別數量、</a:t>
                </a:r>
                <a14:m>
                  <m:oMath xmlns:m="http://schemas.openxmlformats.org/officeDocument/2006/math">
                    <m:r>
                      <a:rPr kumimoji="1" lang="zh-TW" altLang="en-US" i="1">
                        <a:latin typeface="Cambria Math" panose="02040503050406030204" pitchFamily="18" charset="0"/>
                      </a:rPr>
                      <m:t>𝛼</m:t>
                    </m:r>
                  </m:oMath>
                </a14:m>
                <a:r>
                  <a:rPr kumimoji="1" lang="zh-TW" altLang="en-US" dirty="0"/>
                  <a:t> 為超參數。</a:t>
                </a:r>
                <a:endParaRPr kumimoji="1" lang="en-US" altLang="zh-TW" dirty="0"/>
              </a:p>
              <a:p>
                <a:pPr lvl="1">
                  <a:buFont typeface="Wingdings" pitchFamily="2" charset="2"/>
                  <a:buChar char="n"/>
                </a:pPr>
                <a:r>
                  <a:rPr kumimoji="1" lang="zh-TW" altLang="en-US" dirty="0"/>
                  <a:t> 假定分類任務有 </a:t>
                </a:r>
                <a:r>
                  <a:rPr kumimoji="1" lang="en-US" altLang="zh-TW" dirty="0"/>
                  <a:t>5 </a:t>
                </a:r>
                <a:r>
                  <a:rPr kumimoji="1" lang="zh-TW" altLang="en-US" dirty="0"/>
                  <a:t>個類別、</a:t>
                </a:r>
                <a14:m>
                  <m:oMath xmlns:m="http://schemas.openxmlformats.org/officeDocument/2006/math">
                    <m:r>
                      <a:rPr kumimoji="1" lang="zh-TW" altLang="en-US" i="1">
                        <a:latin typeface="Cambria Math" panose="02040503050406030204" pitchFamily="18" charset="0"/>
                      </a:rPr>
                      <m:t>𝛼</m:t>
                    </m:r>
                    <m:r>
                      <a:rPr kumimoji="1" lang="en-US" altLang="zh-TW" i="1">
                        <a:latin typeface="Cambria Math" panose="02040503050406030204" pitchFamily="18" charset="0"/>
                      </a:rPr>
                      <m:t>=0.1</m:t>
                    </m:r>
                  </m:oMath>
                </a14:m>
                <a:r>
                  <a:rPr kumimoji="1" lang="zh-TW" altLang="en-US" dirty="0"/>
                  <a:t>，</a:t>
                </a:r>
                <a:r>
                  <a:rPr kumimoji="1" lang="en-US" altLang="zh-TW" dirty="0"/>
                  <a:t>one-hot</a:t>
                </a:r>
                <a:r>
                  <a:rPr kumimoji="1" lang="zh-TW" altLang="en-US" dirty="0"/>
                  <a:t> </a:t>
                </a:r>
                <a:r>
                  <a:rPr kumimoji="1" lang="en-US" altLang="zh-TW" dirty="0"/>
                  <a:t>encoding</a:t>
                </a:r>
                <a:r>
                  <a:rPr kumimoji="1" lang="zh-TW" altLang="en-US" dirty="0"/>
                  <a:t> 是 </a:t>
                </a:r>
                <a:r>
                  <a:rPr kumimoji="1" lang="en-US" altLang="zh-TW" dirty="0"/>
                  <a:t>[0,</a:t>
                </a:r>
                <a:r>
                  <a:rPr kumimoji="1" lang="zh-TW" altLang="en-US" dirty="0"/>
                  <a:t> </a:t>
                </a:r>
                <a:r>
                  <a:rPr kumimoji="1" lang="en-US" altLang="zh-TW" dirty="0"/>
                  <a:t>1,</a:t>
                </a:r>
                <a:r>
                  <a:rPr kumimoji="1" lang="zh-TW" altLang="en-US" dirty="0"/>
                  <a:t> </a:t>
                </a:r>
                <a:r>
                  <a:rPr kumimoji="1" lang="en-US" altLang="zh-TW" dirty="0"/>
                  <a:t>0,</a:t>
                </a:r>
                <a:r>
                  <a:rPr kumimoji="1" lang="zh-TW" altLang="en-US" dirty="0"/>
                  <a:t> </a:t>
                </a:r>
                <a:r>
                  <a:rPr kumimoji="1" lang="en-US" altLang="zh-TW" dirty="0"/>
                  <a:t>0,</a:t>
                </a:r>
                <a:r>
                  <a:rPr kumimoji="1" lang="zh-TW" altLang="en-US" dirty="0"/>
                  <a:t> </a:t>
                </a:r>
                <a:r>
                  <a:rPr kumimoji="1" lang="en-US" altLang="zh-TW" dirty="0"/>
                  <a:t>0]</a:t>
                </a:r>
                <a:r>
                  <a:rPr kumimoji="1" lang="zh-TW" altLang="en-US" dirty="0"/>
                  <a:t>，</a:t>
                </a:r>
                <a:r>
                  <a:rPr kumimoji="1" lang="en-US" altLang="zh-TW" dirty="0"/>
                  <a:t>label</a:t>
                </a:r>
                <a:r>
                  <a:rPr kumimoji="1" lang="zh-TW" altLang="en-US" dirty="0"/>
                  <a:t> </a:t>
                </a:r>
                <a:r>
                  <a:rPr kumimoji="1" lang="en-US" altLang="zh-TW" dirty="0"/>
                  <a:t>smoothing</a:t>
                </a:r>
                <a:r>
                  <a:rPr kumimoji="1" lang="zh-TW" altLang="en-US" dirty="0"/>
                  <a:t> 會將此標籤改為 </a:t>
                </a:r>
                <a:r>
                  <a:rPr kumimoji="1" lang="en-US" altLang="zh-TW" dirty="0"/>
                  <a:t>[0.02,</a:t>
                </a:r>
                <a:r>
                  <a:rPr kumimoji="1" lang="zh-TW" altLang="en-US" dirty="0"/>
                  <a:t> </a:t>
                </a:r>
                <a:r>
                  <a:rPr kumimoji="1" lang="en-US" altLang="zh-TW" dirty="0"/>
                  <a:t>0.92,</a:t>
                </a:r>
                <a:r>
                  <a:rPr kumimoji="1" lang="zh-TW" altLang="en-US" dirty="0"/>
                  <a:t> </a:t>
                </a:r>
                <a:r>
                  <a:rPr kumimoji="1" lang="en-US" altLang="zh-TW" dirty="0"/>
                  <a:t>0.02,</a:t>
                </a:r>
                <a:r>
                  <a:rPr kumimoji="1" lang="zh-TW" altLang="en-US" dirty="0"/>
                  <a:t> </a:t>
                </a:r>
                <a:r>
                  <a:rPr kumimoji="1" lang="en-US" altLang="zh-TW" dirty="0"/>
                  <a:t>0.02,</a:t>
                </a:r>
                <a:r>
                  <a:rPr kumimoji="1" lang="zh-TW" altLang="en-US" dirty="0"/>
                  <a:t> </a:t>
                </a:r>
                <a:r>
                  <a:rPr kumimoji="1" lang="en-US" altLang="zh-TW" dirty="0"/>
                  <a:t>0.02]</a:t>
                </a:r>
                <a:r>
                  <a:rPr kumimoji="1" lang="zh-TW" altLang="en-US" dirty="0"/>
                  <a:t>。</a:t>
                </a:r>
                <a:endParaRPr kumimoji="1" lang="en-US" altLang="zh-TW" dirty="0"/>
              </a:p>
              <a:p>
                <a:pPr lvl="1">
                  <a:buFont typeface="Wingdings" pitchFamily="2" charset="2"/>
                  <a:buChar char="n"/>
                </a:pPr>
                <a:r>
                  <a:rPr kumimoji="1" lang="zh-TW" altLang="en-US" dirty="0"/>
                  <a:t> </a:t>
                </a:r>
                <a:r>
                  <a:rPr kumimoji="1" lang="en-US" altLang="zh-TW" dirty="0"/>
                  <a:t>Label Smoothing </a:t>
                </a:r>
                <a:r>
                  <a:rPr kumimoji="1" lang="zh-TW" altLang="en-US" dirty="0"/>
                  <a:t>能提升模型泛化能力的原因，目前還尚未完全清楚。但有研究員提出解釋可能是因為它改善了模型輸出機率，讓模型不要對訓練資料「過份自信」，進而緩解 </a:t>
                </a:r>
                <a:r>
                  <a:rPr kumimoji="1" lang="en-US" altLang="zh-TW" dirty="0"/>
                  <a:t>overfitting</a:t>
                </a:r>
                <a:r>
                  <a:rPr kumimoji="1" lang="zh-TW" altLang="en-US" dirty="0"/>
                  <a:t> 問題（</a:t>
                </a:r>
                <a:r>
                  <a:rPr kumimoji="1" lang="en-US" altLang="zh-TW" dirty="0"/>
                  <a:t> </a:t>
                </a:r>
                <a:r>
                  <a:rPr kumimoji="1" lang="en-US" altLang="zh-TW" dirty="0">
                    <a:hlinkClick r:id="rId3"/>
                  </a:rPr>
                  <a:t>https://arxiv.org/abs/1906.02629</a:t>
                </a:r>
                <a:r>
                  <a:rPr kumimoji="1" lang="en-US" altLang="zh-TW" dirty="0"/>
                  <a:t> </a:t>
                </a:r>
                <a:r>
                  <a:rPr kumimoji="1" lang="zh-TW" altLang="en-US" dirty="0"/>
                  <a:t>）。</a:t>
                </a:r>
                <a:endParaRPr kumimoji="1" lang="en-US" altLang="zh-TW" dirty="0"/>
              </a:p>
              <a:p>
                <a:pPr>
                  <a:buFont typeface="Wingdings" pitchFamily="2" charset="2"/>
                  <a:buChar char="n"/>
                </a:pPr>
                <a:r>
                  <a:rPr kumimoji="1" lang="zh-TW" altLang="en-US" dirty="0"/>
                  <a:t> </a:t>
                </a:r>
                <a:r>
                  <a:rPr kumimoji="1" lang="en-US" altLang="zh-TW" dirty="0"/>
                  <a:t>Reduce</a:t>
                </a:r>
                <a:r>
                  <a:rPr kumimoji="1" lang="zh-TW" altLang="en-US" dirty="0"/>
                  <a:t> </a:t>
                </a:r>
                <a:r>
                  <a:rPr kumimoji="1" lang="en-US" altLang="zh-TW" dirty="0"/>
                  <a:t>Model</a:t>
                </a:r>
                <a:r>
                  <a:rPr kumimoji="1" lang="zh-TW" altLang="en-US" dirty="0"/>
                  <a:t> </a:t>
                </a:r>
                <a:r>
                  <a:rPr kumimoji="1" lang="en-US" altLang="zh-TW" dirty="0"/>
                  <a:t>Size</a:t>
                </a:r>
              </a:p>
              <a:p>
                <a:pPr lvl="1">
                  <a:buFont typeface="Wingdings" pitchFamily="2" charset="2"/>
                  <a:buChar char="n"/>
                </a:pPr>
                <a:r>
                  <a:rPr kumimoji="1" lang="zh-TW" altLang="en-US" dirty="0"/>
                  <a:t> 減少層數、減少每層神經元數量，讓模型更輕量，參數更少。</a:t>
                </a:r>
                <a:endParaRPr kumimoji="1" lang="en-US" altLang="zh-TW" dirty="0"/>
              </a:p>
            </p:txBody>
          </p:sp>
        </mc:Choice>
        <mc:Fallback xmlns="">
          <p:sp>
            <p:nvSpPr>
              <p:cNvPr id="3" name="內容版面配置區 2">
                <a:extLst>
                  <a:ext uri="{FF2B5EF4-FFF2-40B4-BE49-F238E27FC236}">
                    <a16:creationId xmlns:a16="http://schemas.microsoft.com/office/drawing/2014/main" id="{0E30303E-D06C-8C09-EC5C-7C28CC16F2BE}"/>
                  </a:ext>
                </a:extLst>
              </p:cNvPr>
              <p:cNvSpPr>
                <a:spLocks noGrp="1" noRot="1" noChangeAspect="1" noMove="1" noResize="1" noEditPoints="1" noAdjustHandles="1" noChangeArrowheads="1" noChangeShapeType="1" noTextEdit="1"/>
              </p:cNvSpPr>
              <p:nvPr>
                <p:ph idx="1"/>
              </p:nvPr>
            </p:nvSpPr>
            <p:spPr>
              <a:xfrm>
                <a:off x="150471" y="2108201"/>
                <a:ext cx="11864051" cy="4246300"/>
              </a:xfrm>
              <a:blipFill>
                <a:blip r:embed="rId4"/>
                <a:stretch>
                  <a:fillRect l="-1497" t="-1194" r="-428" b="-1493"/>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75430B37-831B-F9E9-D8F4-2F53B9F8FED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7A60ED79-03BC-6D1F-DFC0-2B9AFC0DB4C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037151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52AF7-1620-96AE-2769-598C31338CB6}"/>
              </a:ext>
            </a:extLst>
          </p:cNvPr>
          <p:cNvSpPr>
            <a:spLocks noGrp="1"/>
          </p:cNvSpPr>
          <p:nvPr>
            <p:ph type="title"/>
          </p:nvPr>
        </p:nvSpPr>
        <p:spPr/>
        <p:txBody>
          <a:bodyPr/>
          <a:lstStyle/>
          <a:p>
            <a:r>
              <a:rPr kumimoji="1" lang="en-US" altLang="zh-TW" dirty="0"/>
              <a:t>Regularization</a:t>
            </a:r>
            <a:endParaRPr kumimoji="1" lang="zh-TW" altLang="en-US" dirty="0"/>
          </a:p>
        </p:txBody>
      </p:sp>
      <p:sp>
        <p:nvSpPr>
          <p:cNvPr id="3" name="內容版面配置區 2">
            <a:extLst>
              <a:ext uri="{FF2B5EF4-FFF2-40B4-BE49-F238E27FC236}">
                <a16:creationId xmlns:a16="http://schemas.microsoft.com/office/drawing/2014/main" id="{EAC1577A-09DE-6228-A3E6-424D38F00BAF}"/>
              </a:ext>
            </a:extLst>
          </p:cNvPr>
          <p:cNvSpPr>
            <a:spLocks noGrp="1"/>
          </p:cNvSpPr>
          <p:nvPr>
            <p:ph idx="1"/>
          </p:nvPr>
        </p:nvSpPr>
        <p:spPr/>
        <p:txBody>
          <a:bodyPr/>
          <a:lstStyle/>
          <a:p>
            <a:r>
              <a:rPr kumimoji="1" lang="en-US" altLang="zh-TW" dirty="0"/>
              <a:t>Regularization</a:t>
            </a:r>
            <a:r>
              <a:rPr kumimoji="1" lang="zh-TW" altLang="en-US" dirty="0"/>
              <a:t> 相關的程式碼，會在 </a:t>
            </a:r>
            <a:r>
              <a:rPr kumimoji="1" lang="en-US" altLang="zh-TW" dirty="0"/>
              <a:t>Chapter</a:t>
            </a:r>
            <a:r>
              <a:rPr kumimoji="1" lang="zh-TW" altLang="en-US" dirty="0"/>
              <a:t> </a:t>
            </a:r>
            <a:r>
              <a:rPr kumimoji="1" lang="en-US" altLang="zh-TW" dirty="0"/>
              <a:t>4</a:t>
            </a:r>
            <a:r>
              <a:rPr kumimoji="1" lang="zh-TW" altLang="en-US" dirty="0"/>
              <a:t> 介紹完卷積神經網路後一併示範。</a:t>
            </a:r>
          </a:p>
        </p:txBody>
      </p:sp>
      <p:sp>
        <p:nvSpPr>
          <p:cNvPr id="4" name="日期版面配置區 3">
            <a:extLst>
              <a:ext uri="{FF2B5EF4-FFF2-40B4-BE49-F238E27FC236}">
                <a16:creationId xmlns:a16="http://schemas.microsoft.com/office/drawing/2014/main" id="{97CA5AF1-7B93-1622-E9AB-A2D59BF1093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3560193-4C91-F77F-5A9B-FB9300CD6A01}"/>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600949819"/>
      </p:ext>
    </p:extLst>
  </p:cSld>
  <p:clrMapOvr>
    <a:masterClrMapping/>
  </p:clrMapOvr>
</p:sld>
</file>

<file path=ppt/theme/theme1.xml><?xml version="1.0" encoding="utf-8"?>
<a:theme xmlns:a="http://schemas.openxmlformats.org/drawingml/2006/main" name="RetrospectVTI">
  <a:themeElements>
    <a:clrScheme name="自訂 2">
      <a:dk1>
        <a:srgbClr val="000000"/>
      </a:dk1>
      <a:lt1>
        <a:srgbClr val="FFFFFF"/>
      </a:lt1>
      <a:dk2>
        <a:srgbClr val="1C2031"/>
      </a:dk2>
      <a:lt2>
        <a:srgbClr val="F2F3F0"/>
      </a:lt2>
      <a:accent1>
        <a:srgbClr val="15C554"/>
      </a:accent1>
      <a:accent2>
        <a:srgbClr val="3732DA"/>
      </a:accent2>
      <a:accent3>
        <a:srgbClr val="2973E7"/>
      </a:accent3>
      <a:accent4>
        <a:srgbClr val="17B0D5"/>
      </a:accent4>
      <a:accent5>
        <a:srgbClr val="22C29E"/>
      </a:accent5>
      <a:accent6>
        <a:srgbClr val="16C655"/>
      </a:accent6>
      <a:hlink>
        <a:srgbClr val="339A95"/>
      </a:hlink>
      <a:folHlink>
        <a:srgbClr val="7F7F7F"/>
      </a:folHlink>
    </a:clrScheme>
    <a:fontScheme name="自訂 6">
      <a:majorFont>
        <a:latin typeface="Times New Roman"/>
        <a:ea typeface="Taipei Sans TC Beta"/>
        <a:cs typeface=""/>
      </a:majorFont>
      <a:minorFont>
        <a:latin typeface="Times New Roman"/>
        <a:ea typeface="Taipei Sans TC Beta"/>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28770</TotalTime>
  <Words>7170</Words>
  <Application>Microsoft Macintosh PowerPoint</Application>
  <PresentationFormat>寬螢幕</PresentationFormat>
  <Paragraphs>570</Paragraphs>
  <Slides>73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73</vt:i4>
      </vt:variant>
    </vt:vector>
  </HeadingPairs>
  <TitlesOfParts>
    <vt:vector size="80" baseType="lpstr">
      <vt:lpstr>Aptos</vt:lpstr>
      <vt:lpstr>Arial</vt:lpstr>
      <vt:lpstr>Calibri</vt:lpstr>
      <vt:lpstr>Cambria Math</vt:lpstr>
      <vt:lpstr>Times New Roman</vt:lpstr>
      <vt:lpstr>Wingdings</vt:lpstr>
      <vt:lpstr>RetrospectVTI</vt:lpstr>
      <vt:lpstr>模型訓練</vt:lpstr>
      <vt:lpstr>模型訓練</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 output layer 的激活函數</vt:lpstr>
      <vt:lpstr>損失函數與輸出層激活函數的總整理</vt:lpstr>
      <vt:lpstr>損失函數與輸出層激活函數的總整理</vt:lpstr>
      <vt:lpstr>梯度消失與梯度爆炸</vt:lpstr>
      <vt:lpstr>梯度消失與梯度爆炸</vt:lpstr>
      <vt:lpstr>梯度消失與梯度爆炸</vt:lpstr>
      <vt:lpstr>梯度消失與梯度爆炸</vt:lpstr>
      <vt:lpstr>梯度消失與梯度爆炸</vt:lpstr>
      <vt:lpstr>梯度消失與梯度爆炸</vt:lpstr>
      <vt:lpstr>梯度消失與梯度爆炸</vt:lpstr>
      <vt:lpstr>梯度消失與梯度爆炸</vt:lpstr>
      <vt:lpstr>PowerPoint 簡報</vt:lpstr>
      <vt:lpstr>He Initialization</vt:lpstr>
      <vt:lpstr>He Initialization</vt:lpstr>
      <vt:lpstr>He Initialization</vt:lpstr>
      <vt:lpstr>He Initialization</vt:lpstr>
      <vt:lpstr>He Initialization</vt:lpstr>
      <vt:lpstr>He Initialization</vt:lpstr>
      <vt:lpstr>梯度消失與梯度爆炸</vt:lpstr>
      <vt:lpstr>梯度消失與梯度爆炸</vt:lpstr>
      <vt:lpstr>梯度消失與梯度爆炸</vt:lpstr>
      <vt:lpstr>激活函式比較</vt:lpstr>
      <vt:lpstr>激活函式比較</vt:lpstr>
      <vt:lpstr>激活函式比較</vt:lpstr>
      <vt:lpstr>PowerPoint 簡報</vt:lpstr>
      <vt:lpstr>PowerPoint 簡報</vt:lpstr>
      <vt:lpstr>梯度下降演算法討論</vt:lpstr>
      <vt:lpstr>PowerPoint 簡報</vt:lpstr>
      <vt:lpstr>梯度下降演算法討論</vt:lpstr>
      <vt:lpstr>梯度下降演算法討論</vt:lpstr>
      <vt:lpstr>梯度下降演算法討論</vt:lpstr>
      <vt:lpstr>梯度下降演算法討論</vt:lpstr>
      <vt:lpstr>梯度下降演算法討論</vt:lpstr>
      <vt:lpstr>梯度下降演算法討論</vt:lpstr>
      <vt:lpstr>如何避免局部極小值？</vt:lpstr>
      <vt:lpstr>Momentum</vt:lpstr>
      <vt:lpstr>PowerPoint 簡報</vt:lpstr>
      <vt:lpstr>Momentum</vt:lpstr>
      <vt:lpstr>RMSProp</vt:lpstr>
      <vt:lpstr>PowerPoint 簡報</vt:lpstr>
      <vt:lpstr>RMSProp</vt:lpstr>
      <vt:lpstr>Adam</vt:lpstr>
      <vt:lpstr>Adam</vt:lpstr>
      <vt:lpstr>Optimizer 比較與整理</vt:lpstr>
      <vt:lpstr>Optimizer 比較與整理</vt:lpstr>
      <vt:lpstr>Regularization</vt:lpstr>
      <vt:lpstr>Regularization</vt:lpstr>
      <vt:lpstr>Regularization</vt:lpstr>
      <vt:lpstr>Regularization</vt:lpstr>
      <vt:lpstr>Regularization</vt:lpstr>
      <vt:lpstr>Regularization</vt:lpstr>
      <vt:lpstr>Regularization</vt:lpstr>
      <vt:lpstr>PowerPoint 簡報</vt:lpstr>
      <vt:lpstr>Regularization</vt:lpstr>
      <vt:lpstr>Regularization</vt:lpstr>
      <vt:lpstr>Regularization</vt:lpstr>
      <vt:lpstr>Regularization</vt:lpstr>
      <vt:lpstr>Regularization</vt:lpstr>
      <vt:lpstr>Regularization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Algorithm Design</dc:title>
  <dc:creator>Yu-Hsien Jen</dc:creator>
  <cp:lastModifiedBy>宇賢 任</cp:lastModifiedBy>
  <cp:revision>3057</cp:revision>
  <dcterms:created xsi:type="dcterms:W3CDTF">2021-02-23T11:38:50Z</dcterms:created>
  <dcterms:modified xsi:type="dcterms:W3CDTF">2026-04-24T00:46:47Z</dcterms:modified>
</cp:coreProperties>
</file>